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2263F"/>
                </a:solidFill>
                <a:latin typeface="Calibri"/>
              </a:rPr>
              <a:t>Thời gian chạy EFIM (giây)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(s)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7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43B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A (p=1)
minUtil 2% = 181.165</c:v>
                </c:pt>
                <c:pt idx="1">
                  <c:v>B
minUtil 2% = 87.086</c:v>
                </c:pt>
                <c:pt idx="2">
                  <c:v>C
minUtil 2% = 124.237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338.1</c:v>
                </c:pt>
                <c:pt idx="1">
                  <c:v>23.3</c:v>
                </c:pt>
                <c:pt idx="2">
                  <c:v>12.4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HUIM union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 (86 WAP)
minUtil 1,9294% = 174.770</c:v>
                </c:pt>
                <c:pt idx="1">
                  <c:v>B (79 WAP)
minUtil 2% = 87.086</c:v>
                </c:pt>
                <c:pt idx="2">
                  <c:v>C (91 WAP)
minUtil 1,7321% = 107.595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64.99</c:v>
                </c:pt>
                <c:pt idx="1">
                  <c:v>66.79</c:v>
                </c:pt>
                <c:pt idx="2">
                  <c:v>71.56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theo MI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 (86 WAP)
minUtil 1,9294% = 174.770</c:v>
                </c:pt>
                <c:pt idx="1">
                  <c:v>B (79 WAP)
minUtil 2% = 87.086</c:v>
                </c:pt>
                <c:pt idx="2">
                  <c:v>C (91 WAP)
minUtil 1,7321% = 107.595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71.38</c:v>
                </c:pt>
                <c:pt idx="1">
                  <c:v>70.21</c:v>
                </c:pt>
                <c:pt idx="2">
                  <c:v>74.44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 theo tần suất</c:v>
                </c:pt>
              </c:strCache>
            </c:strRef>
          </c:tx>
          <c:spPr>
            <a:solidFill>
              <a:srgbClr val="12263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 (86 WAP)
minUtil 1,9294% = 174.770</c:v>
                </c:pt>
                <c:pt idx="1">
                  <c:v>B (79 WAP)
minUtil 2% = 87.086</c:v>
                </c:pt>
                <c:pt idx="2">
                  <c:v>C (91 WAP)
minUtil 1,7321% = 107.595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70.21</c:v>
                </c:pt>
                <c:pt idx="1">
                  <c:v>69.67</c:v>
                </c:pt>
                <c:pt idx="2">
                  <c:v>71.83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Ngẫu nhiên (TB 3 seed)</c:v>
                </c:pt>
              </c:strCache>
            </c:strRef>
          </c:tx>
          <c:spPr>
            <a:solidFill>
              <a:srgbClr val="A9B4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 (86 WAP)
minUtil 1,9294% = 174.770</c:v>
                </c:pt>
                <c:pt idx="1">
                  <c:v>B (79 WAP)
minUtil 2% = 87.086</c:v>
                </c:pt>
                <c:pt idx="2">
                  <c:v>C (91 WAP)
minUtil 1,7321% = 107.595</c:v>
                </c:pt>
              </c:strCache>
            </c:strRef>
          </c:cat>
          <c:val>
            <c:numRef>
              <c:f>Sheet1!$E$2:$E$4</c:f>
              <c:numCache>
                <c:formatCode>0.0</c:formatCode>
                <c:ptCount val="3"/>
                <c:pt idx="0">
                  <c:v>64.81</c:v>
                </c:pt>
                <c:pt idx="1">
                  <c:v>57.22</c:v>
                </c:pt>
                <c:pt idx="2">
                  <c:v>69.4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HUIM gốc là bài toán giỏ hàng (q = số lượng, p = lợi nhuận). Fingerprint Wi-Fi không có hai đại lượng này nên q và p là quyết định thiết kế của nhóm, không phải chuẩn trong tài liệu. Dữ liệu: UJIIndoorLoc, 19.937 dòng train, 520 WAP, 13 lớp tòa nhà-tầng.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I(WAP;tầng) là mutual information tính từ trainingData, 6 trạng thái tín hiệu (không thấy + 5 bin dBm). p luôn được ép dương (sàn 1e-6) vì EFIM yêu cầu utility dương. Mã nguồn: src/utility_models.py dòng 153-226. p chỉ được tính từ train, có chặn cứng chống rò rỉ.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Số liệu từ results/metrics/huim_runs.csv tại minUtil 2%: A 338,1 s (130 HUI), B 23,3 s (24.621 HUI), C 12,4 s (1.001 HUI). Ở ngưỡng thấp hơn, A chạm giới hạn 600 s (A ở 1,8612% bị ABORTED), còn B và C đến 1,5% mới bị cắt. Lý do: TWU, local utility và subtree utility là các cận trên; khi p đều bằng 1 thì các cận này gần như không phân hoá được item nên cắt tỉa ít.</a:t>
            </a:r>
          </a:p>
          <a:p>
            <a:r>
              <a:t>Ngưỡng minUtil (minUtil% x tổng utility CSDL = minUtil tuyệt đối):</a:t>
            </a:r>
          </a:p>
          <a:p>
            <a:r>
              <a:t>A: 2% x 9.058.242 = 181.165 -&gt; 130 HUI, 338.1 s (A_signal__2pct)</a:t>
            </a:r>
          </a:p>
          <a:p>
            <a:r>
              <a:t>B: 2% x 4.354.299 = 87.086 -&gt; 24.621 HUI, 23.3 s (B_discriminative__2pct)</a:t>
            </a:r>
          </a:p>
          <a:p>
            <a:r>
              <a:t>C: 2% x 6.211.852 = 124.237 -&gt; 1.001 HUI, 12.4 s (C_rare_discriminative__2pct)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Số liệu từ results/metrics/ips_results.csv. HUIM union là hợp các WAP xuất hiện trong ít nhất một HUI tại ngưỡng chạy xong thấp nhất của mỗi model (A 1,9294%, B 2%, C 1,7321%). Các đối chứng dùng đúng cùng số WAP: control_top_mi__n86/n79/n91, control_top_support__n86/n79/n91, trung bình control_random 3 seed. k-NN cố định: k=1, manhattan, uniform. Đây là adaptation study, không tuyên bố HUIM vượt trội.</a:t>
            </a:r>
          </a:p>
          <a:p>
            <a:r>
              <a:t>Ngưỡng minUtil (minUtil% x tổng utility CSDL = minUtil tuyệt đối):</a:t>
            </a:r>
          </a:p>
          <a:p>
            <a:r>
              <a:t>A: 1,9294% x 9.058.242 = 174.770; 853 HUI -&gt; 86 WAP (huim_union__A_signal__1.9294pct)</a:t>
            </a:r>
          </a:p>
          <a:p>
            <a:r>
              <a:t>B: 2% x 4.354.299 = 87.086; 24.621 HUI -&gt; 79 WAP (huim_union__B_discriminative__2pct)</a:t>
            </a:r>
          </a:p>
          <a:p>
            <a:r>
              <a:t>C: 1,7321% x 6.211.852 = 107.595; 52.902 HUI -&gt; 91 WAP (huim_union__C_rare_discriminative__1.7321pct)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fingerprint Wi-Fi đến bài toán HUIM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không có sẵn q và p, nên phải tự định nghĩa</a:t>
            </a:r>
            <a:endParaRPr lang="en-US" sz="1400" dirty="0"/>
          </a:p>
        </p:txBody>
      </p:sp>
      <p:pic>
        <p:nvPicPr>
          <p:cNvPr id="4" name="Hình minh hoạ" descr="d:/HUIM-IPS-/figures/fig23_uji_to_u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863840" cy="2094716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828800"/>
                <a:gridCol w="219456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q(i,T)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WAP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lần đo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RSSI chuẩn hoá 1..100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định nghĩa: Model A, B,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WAP utility 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thay p(i), giữ nguyên mọi thứ khác: 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dữ liệu, cùng q, cùng EFIM, cùng k-NN.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cách định nghĩa p(i)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q(i,T); chỉ khác ý nghĩa của giá trị p</a:t>
            </a:r>
            <a:endParaRPr lang="en-US" sz="1400" dirty="0"/>
          </a:p>
        </p:txBody>
      </p:sp>
      <p:sp>
        <p:nvSpPr>
          <p:cNvPr id="4" name="Thẻ model A"/>
          <p:cNvSpPr/>
          <p:nvPr/>
        </p:nvSpPr>
        <p:spPr>
          <a:xfrm>
            <a:off x="45720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Huy hiệu A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p(i) =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nhìn cường độ sóng và mức đồng xuất hiện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chứng</a:t>
            </a:r>
            <a:endParaRPr lang="en-US" sz="1400" dirty="0"/>
          </a:p>
        </p:txBody>
      </p:sp>
      <p:sp>
        <p:nvSpPr>
          <p:cNvPr id="11" name="Thẻ model B"/>
          <p:cNvSpPr/>
          <p:nvPr/>
        </p:nvSpPr>
        <p:spPr>
          <a:xfrm>
            <a:off x="324612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Huy hiệu B"/>
          <p:cNvSpPr/>
          <p:nvPr/>
        </p:nvSpPr>
        <p:spPr>
          <a:xfrm>
            <a:off x="3429000" y="15087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p(i) = I(WAP_i ; tầng) / max 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nào giúp biết đang ở tầng nào thì có giá trị cao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chính</a:t>
            </a:r>
            <a:endParaRPr lang="en-US" sz="1400" dirty="0"/>
          </a:p>
        </p:txBody>
      </p:sp>
      <p:sp>
        <p:nvSpPr>
          <p:cNvPr id="18" name="Thẻ model C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Huy hiệu C"/>
          <p:cNvSpPr/>
          <p:nvPr/>
        </p:nvSpPr>
        <p:spPr>
          <a:xfrm>
            <a:off x="6217920" y="1508760"/>
            <a:ext cx="640080" cy="64008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Rare-discriminative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p(i) ∝ I(WAP_i ; tầng) × log(N / (1+support))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B, nhưng phạt WAP có mặt ở khắp nơi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thể thứ ba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p(i) quyết định chi phí khai phá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ngưỡng minUtil = 2% tổng utility, EFIM chạy trên 19.937 fingerprint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hẻ số liệu 1"/>
          <p:cNvSpPr/>
          <p:nvPr/>
        </p:nvSpPr>
        <p:spPr>
          <a:xfrm>
            <a:off x="5669280" y="132588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4173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14–27×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chậm hơn B và C</a:t>
            </a:r>
            <a:endParaRPr lang="en-US" sz="3600" dirty="0"/>
          </a:p>
        </p:txBody>
      </p:sp>
      <p:sp>
        <p:nvSpPr>
          <p:cNvPr id="7" name="Thẻ số liệu 2"/>
          <p:cNvSpPr/>
          <p:nvPr/>
        </p:nvSpPr>
        <p:spPr>
          <a:xfrm>
            <a:off x="5669280" y="301752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31089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vs 24.621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HUI của A so với B. A có ít HUI hơn nhưng vẫn chậm hơn, vì p = 1 làm các cận trên cắt tỉa kém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HUIM có hơn các đối chứng không?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joint (tòa nhà + tầng) trên validationData, cùng số WAP; baseline 520 WAP = 87,76%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82296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hung kết luận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3308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trung thực: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HUIM thắng ngẫu nhiên ở B và C, nhưng thua Top-MI ở cả ba model. Giá trị là giảm ~82–85% số WAP; mọi cách chọn đều thấp hơn dùng đủ 520 WAP.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HUIM - Model A/B/C</dc:title>
  <dc:subject>PptxGenJS Presentation</dc:subject>
  <dc:creator>PptxGenJS</dc:creator>
  <cp:lastModifiedBy>PptxGenJS</cp:lastModifiedBy>
  <cp:revision>1</cp:revision>
  <dcterms:created xsi:type="dcterms:W3CDTF">2026-10-08T01:45:07Z</dcterms:created>
  <dcterms:modified xsi:type="dcterms:W3CDTF">2026-10-08T01:45:07Z</dcterms:modified>
</cp:coreProperties>
</file>