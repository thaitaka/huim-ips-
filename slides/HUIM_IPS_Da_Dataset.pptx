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889000"/>
            <a:ext cx="8636000" cy="419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4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HUIM &amp; IPS</a:t>
            </a:r>
          </a:p>
          <a:p>
            <a:pPr algn="l">
              <a:lnSpc>
                <a:spcPct val="94000"/>
              </a:lnSpc>
            </a:pPr>
            <a:r>
              <a:rPr sz="84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trên nhiều</a:t>
            </a:r>
          </a:p>
          <a:p>
            <a:pPr algn="l">
              <a:lnSpc>
                <a:spcPct val="94000"/>
              </a:lnSpc>
            </a:pPr>
            <a:r>
              <a:rPr sz="84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bộ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5207000"/>
            <a:ext cx="7747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0" i="0" u="none">
                <a:solidFill>
                  <a:srgbClr val="DCE3EE"/>
                </a:solidFill>
                <a:latin typeface="Public Sans"/>
              </a:rPr>
              <a:t>Chỉ thay dữ liệu, giữ nguyên phương pháp: HUIM chọn AP, k-NN và quy trình tối ưu sai số theo mét — đánh giá tòa nhà, tầng, khoảng cách và thời gian trên 5 bộ dữ liệu Wi-Fi.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7772400"/>
            <a:ext cx="5969000" cy="609600"/>
          </a:xfrm>
          <a:prstGeom prst="roundRect">
            <a:avLst>
              <a:gd name="adj" fmla="val 50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7772400"/>
            <a:ext cx="5969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 u="none">
                <a:solidFill>
                  <a:srgbClr val="14223A"/>
                </a:solidFill>
                <a:latin typeface="Public Sans"/>
              </a:rPr>
              <a:t>MỞ RỘNG ĐA DỮ LIỆU  ·  13/10/2026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8636000"/>
            <a:ext cx="812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 u="none">
                <a:solidFill>
                  <a:srgbClr val="A9B8CC"/>
                </a:solidFill>
                <a:latin typeface="Public Sans"/>
              </a:rPr>
              <a:t>Tiếp nối Version 1 và Version 2 (UJIIndoorLoc). Mọi số liệu sinh tự động từ results/multi_dataset/.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94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Mục tiêu và </a:t>
            </a:r>
            <a:r>
              <a:rPr sz="58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câu hỏi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Một kết quả đo trên MỘT bộ dữ liệu có thể chỉ là đặc thù của bộ đó — nên cùng một chương trình được chạy trên mọi bộ trong thư mục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159000"/>
            <a:ext cx="4089400" cy="4191000"/>
          </a:xfrm>
          <a:prstGeom prst="roundRect">
            <a:avLst>
              <a:gd name="adj" fmla="val 6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3600" y="2387600"/>
            <a:ext cx="3556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 u="none">
                <a:solidFill>
                  <a:srgbClr val="F2BE3A"/>
                </a:solidFill>
                <a:latin typeface="Public Sans"/>
              </a:rPr>
              <a:t>CH1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600" y="3124200"/>
            <a:ext cx="3556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 u="none">
                <a:solidFill>
                  <a:srgbClr val="FFFFFF"/>
                </a:solidFill>
                <a:latin typeface="Public Sans"/>
              </a:rPr>
              <a:t>Áp dụng được?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3810000"/>
            <a:ext cx="35560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 u="none">
                <a:solidFill>
                  <a:srgbClr val="DCE3EE"/>
                </a:solidFill>
                <a:latin typeface="Public Sans"/>
              </a:rPr>
              <a:t>Quy trình HUIM </a:t>
            </a:r>
            <a:r>
              <a:rPr sz="1900" b="0" i="0" u="none">
                <a:solidFill>
                  <a:srgbClr val="DCE3EE"/>
                </a:solidFill>
                <a:latin typeface="Segoe UI Symbol"/>
              </a:rPr>
              <a:t>→</a:t>
            </a:r>
            <a:r>
              <a:rPr sz="1900" b="0" i="0" u="none">
                <a:solidFill>
                  <a:srgbClr val="DCE3EE"/>
                </a:solidFill>
                <a:latin typeface="Public Sans"/>
              </a:rPr>
              <a:t> chọn AP </a:t>
            </a:r>
            <a:r>
              <a:rPr sz="1900" b="0" i="0" u="none">
                <a:solidFill>
                  <a:srgbClr val="DCE3EE"/>
                </a:solidFill>
                <a:latin typeface="Segoe UI Symbol"/>
              </a:rPr>
              <a:t>→</a:t>
            </a:r>
            <a:r>
              <a:rPr sz="1900" b="0" i="0" u="none">
                <a:solidFill>
                  <a:srgbClr val="DCE3EE"/>
                </a:solidFill>
                <a:latin typeface="Public Sans"/>
              </a:rPr>
              <a:t> định vị chạy trên dữ liệu khác mà không phải sửa phương pháp?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02200" y="2159000"/>
            <a:ext cx="4089400" cy="4191000"/>
          </a:xfrm>
          <a:prstGeom prst="roundRect">
            <a:avLst>
              <a:gd name="adj" fmla="val 6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81600" y="2387600"/>
            <a:ext cx="3556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 u="none">
                <a:solidFill>
                  <a:srgbClr val="F2BE3A"/>
                </a:solidFill>
                <a:latin typeface="Public Sans"/>
              </a:rPr>
              <a:t>CH2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0" y="3124200"/>
            <a:ext cx="3556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 u="none">
                <a:solidFill>
                  <a:srgbClr val="FFFFFF"/>
                </a:solidFill>
                <a:latin typeface="Public Sans"/>
              </a:rPr>
              <a:t>Kết quả ra sao?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600" y="3810000"/>
            <a:ext cx="35560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 u="none">
                <a:solidFill>
                  <a:srgbClr val="DCE3EE"/>
                </a:solidFill>
                <a:latin typeface="Public Sans"/>
              </a:rPr>
              <a:t>Độ chính xác tòa nhà, tầng, sai số mét và thời gian định vị trên từng bộ?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20200" y="2159000"/>
            <a:ext cx="4089400" cy="4191000"/>
          </a:xfrm>
          <a:prstGeom prst="roundRect">
            <a:avLst>
              <a:gd name="adj" fmla="val 6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99600" y="2387600"/>
            <a:ext cx="3556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 u="none">
                <a:solidFill>
                  <a:srgbClr val="F2BE3A"/>
                </a:solidFill>
                <a:latin typeface="Public Sans"/>
              </a:rPr>
              <a:t>CH3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9600" y="3124200"/>
            <a:ext cx="3556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 u="none">
                <a:solidFill>
                  <a:srgbClr val="FFFFFF"/>
                </a:solidFill>
                <a:latin typeface="Public Sans"/>
              </a:rPr>
              <a:t>Tối ưu còn hiệu quả?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0" y="3810000"/>
            <a:ext cx="35560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 u="none">
                <a:solidFill>
                  <a:srgbClr val="DCE3EE"/>
                </a:solidFill>
                <a:latin typeface="Public Sans"/>
              </a:rPr>
              <a:t>Quy trình 9,28 m </a:t>
            </a:r>
            <a:r>
              <a:rPr sz="1900" b="0" i="0" u="none">
                <a:solidFill>
                  <a:srgbClr val="DCE3EE"/>
                </a:solidFill>
                <a:latin typeface="Segoe UI Symbol"/>
              </a:rPr>
              <a:t>→</a:t>
            </a:r>
            <a:r>
              <a:rPr sz="1900" b="0" i="0" u="none">
                <a:solidFill>
                  <a:srgbClr val="DCE3EE"/>
                </a:solidFill>
                <a:latin typeface="Public Sans"/>
              </a:rPr>
              <a:t> 5,36 m còn giúp? Cấu hình 5,36 m dùng lại nguyên xi được?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38200" y="2159000"/>
            <a:ext cx="4089400" cy="4191000"/>
          </a:xfrm>
          <a:prstGeom prst="roundRect">
            <a:avLst>
              <a:gd name="adj" fmla="val 6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817600" y="2387600"/>
            <a:ext cx="3556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 u="none">
                <a:solidFill>
                  <a:srgbClr val="F2BE3A"/>
                </a:solidFill>
                <a:latin typeface="Public Sans"/>
              </a:rPr>
              <a:t>CH4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17600" y="3124200"/>
            <a:ext cx="3556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 u="none">
                <a:solidFill>
                  <a:srgbClr val="FFFFFF"/>
                </a:solidFill>
                <a:latin typeface="Public Sans"/>
              </a:rPr>
              <a:t>HUIM hơn đối chứng?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17600" y="3810000"/>
            <a:ext cx="35560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 u="none">
                <a:solidFill>
                  <a:srgbClr val="DCE3EE"/>
                </a:solidFill>
                <a:latin typeface="Public Sans"/>
              </a:rPr>
              <a:t>Tập AP do HUIM chọn có tốt hơn cách chọn đơn giản cùng số AP?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4200" y="6731000"/>
            <a:ext cx="17119600" cy="2921000"/>
          </a:xfrm>
          <a:prstGeom prst="roundRect">
            <a:avLst>
              <a:gd name="adj" fmla="val 4000"/>
            </a:avLst>
          </a:prstGeom>
          <a:solidFill>
            <a:srgbClr val="0D2645"/>
          </a:solidFill>
          <a:ln w="15875">
            <a:solidFill>
              <a:srgbClr val="F2B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90600" y="701040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 u="none">
                <a:solidFill>
                  <a:srgbClr val="F2BE3A"/>
                </a:solidFill>
                <a:latin typeface="Public Sans"/>
              </a:rPr>
              <a:t>NGUYÊN TẮC: CHỈ ĐỔI DỮ LIỆU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" y="7594600"/>
            <a:ext cx="163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2885" indent="-222885">
              <a:lnSpc>
                <a:spcPct val="110000"/>
              </a:lnSpc>
              <a:buClr>
                <a:srgbClr val="F2BE3A"/>
              </a:buClr>
              <a:buFont typeface="Public Sans"/>
              <a:buChar char="–"/>
            </a:pPr>
            <a:r>
              <a:rPr sz="1950" b="0" i="0" u="none">
                <a:solidFill>
                  <a:srgbClr val="FFFFFF"/>
                </a:solidFill>
                <a:latin typeface="Public Sans"/>
              </a:rPr>
              <a:t>Gọi lại đúng mã nguồn và hằng số của nghiên cứu: chuẩn hoá RSSI, ba mô hình p(i), EFIM, lưới minUtil và ngân sách, quy tắc chọn AP, lưới k-NN, các bước S0–S4.</a:t>
            </a:r>
          </a:p>
          <a:p>
            <a:pPr algn="l" marL="222885" indent="-222885">
              <a:lnSpc>
                <a:spcPct val="110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–"/>
            </a:pPr>
            <a:r>
              <a:rPr sz="1950" b="0" i="0" u="none">
                <a:solidFill>
                  <a:srgbClr val="FFFFFF"/>
                </a:solidFill>
                <a:latin typeface="Public Sans"/>
              </a:rPr>
              <a:t>Chỉ quyết định riêng những gì dữ liệu buộc phải có: giá trị ‘không phát hiện’, đơn vị toạ độ, nhãn vị trí khi chỉ có một tầng, cách chia fold.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x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3700" y="584200"/>
            <a:ext cx="1727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Quy trình thực nghiệm </a:t>
            </a:r>
            <a:r>
              <a:rPr sz="62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đa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2781300"/>
            <a:ext cx="317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 u="none">
                <a:solidFill>
                  <a:srgbClr val="F2BE3A"/>
                </a:solidFill>
                <a:latin typeface="Public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6500"/>
            <a:ext cx="317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bộ dữ liệu (thêm HUS gốc để đối chiếu)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4724400"/>
            <a:ext cx="317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 u="none">
                <a:solidFill>
                  <a:srgbClr val="F2BE3A"/>
                </a:solidFill>
                <a:latin typeface="Public San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89600"/>
            <a:ext cx="317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tập kiểm tra độc lập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" y="6705600"/>
            <a:ext cx="317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 u="none">
                <a:solidFill>
                  <a:srgbClr val="F2BE3A"/>
                </a:solidFill>
                <a:latin typeface="Public Sans"/>
              </a:rPr>
              <a:t>135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670800"/>
            <a:ext cx="317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lần chạy EFIM mới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7100" y="2387600"/>
            <a:ext cx="889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u="none">
                <a:solidFill>
                  <a:srgbClr val="FFFFFF"/>
                </a:solidFill>
                <a:latin typeface="Public Sans"/>
              </a:rPr>
              <a:t>CÙNG MỘT QUY TRÌNH CHO MỌI BỘ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00" y="34290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600" b="1" i="0" u="none">
                <a:solidFill>
                  <a:srgbClr val="F2BE3A"/>
                </a:solidFill>
                <a:latin typeface="Public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00" y="4927600"/>
            <a:ext cx="2413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 u="none">
                <a:solidFill>
                  <a:srgbClr val="FFFFFF"/>
                </a:solidFill>
                <a:latin typeface="Public Sans"/>
              </a:rPr>
              <a:t>CHUẨN HOÁ</a:t>
            </a:r>
          </a:p>
          <a:p>
            <a:pPr algn="ctr">
              <a:lnSpc>
                <a:spcPct val="100000"/>
              </a:lnSpc>
            </a:pPr>
            <a:r>
              <a:rPr sz="1900" b="1" i="0" u="none">
                <a:solidFill>
                  <a:srgbClr val="FFFFFF"/>
                </a:solidFill>
                <a:latin typeface="Public Sans"/>
              </a:rPr>
              <a:t>DỮ LIỆU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3300" y="5867400"/>
            <a:ext cx="21336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về lược đồ UJI: cột AP, 100 = không thấy, X/Y, tòa/tầng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7100" y="34290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600" b="1" i="0" u="none">
                <a:solidFill>
                  <a:srgbClr val="F2BE3A"/>
                </a:solidFill>
                <a:latin typeface="Public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7100" y="4927600"/>
            <a:ext cx="2413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 u="none">
                <a:solidFill>
                  <a:srgbClr val="FFFFFF"/>
                </a:solidFill>
                <a:latin typeface="Public Sans"/>
              </a:rPr>
              <a:t>GIAO DỊCH</a:t>
            </a:r>
          </a:p>
          <a:p>
            <a:pPr algn="ctr">
              <a:lnSpc>
                <a:spcPct val="100000"/>
              </a:lnSpc>
            </a:pPr>
            <a:r>
              <a:rPr sz="1900" b="1" i="0" u="none">
                <a:solidFill>
                  <a:srgbClr val="FFFFFF"/>
                </a:solidFill>
                <a:latin typeface="Public Sans"/>
              </a:rPr>
              <a:t>UTILITY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6800" y="5867400"/>
            <a:ext cx="21336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q(i,T) = RSSI chuẩn hoá; p(i) theo Model A/B/C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7600" y="34290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600" b="1" i="0" u="none">
                <a:solidFill>
                  <a:srgbClr val="F2BE3A"/>
                </a:solidFill>
                <a:latin typeface="Public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7600" y="4927600"/>
            <a:ext cx="2413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 u="none">
                <a:solidFill>
                  <a:srgbClr val="FFFFFF"/>
                </a:solidFill>
                <a:latin typeface="Public Sans"/>
              </a:rPr>
              <a:t>KHAI PHÁ</a:t>
            </a:r>
          </a:p>
          <a:p>
            <a:pPr algn="ctr">
              <a:lnSpc>
                <a:spcPct val="100000"/>
              </a:lnSpc>
            </a:pPr>
            <a:r>
              <a:rPr sz="1900" b="1" i="0" u="none">
                <a:solidFill>
                  <a:srgbClr val="FFFFFF"/>
                </a:solidFill>
                <a:latin typeface="Public Sans"/>
              </a:rPr>
              <a:t>HUIM (EFIM)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7300" y="5867400"/>
            <a:ext cx="21336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0" i="0" u="none">
                <a:solidFill>
                  <a:srgbClr val="FFFFFF"/>
                </a:solidFill>
                <a:latin typeface="Segoe UI Symbol"/>
              </a:rPr>
              <a:t>θ</a:t>
            </a:r>
            <a:r>
              <a:rPr sz="1600" b="0" i="0" u="none">
                <a:solidFill>
                  <a:srgbClr val="FFFFFF"/>
                </a:solidFill>
                <a:latin typeface="Public Sans"/>
              </a:rPr>
              <a:t> từ 20% giảm dần, ngân sách 600 s / 1 triệu HUI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23800" y="34290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600" b="1" i="0" u="none">
                <a:solidFill>
                  <a:srgbClr val="F2BE3A"/>
                </a:solidFill>
                <a:latin typeface="Public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23800" y="4927600"/>
            <a:ext cx="2413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 u="none">
                <a:solidFill>
                  <a:srgbClr val="FFFFFF"/>
                </a:solidFill>
                <a:latin typeface="Public Sans"/>
              </a:rPr>
              <a:t>ĐỊNH VỊ</a:t>
            </a:r>
          </a:p>
          <a:p>
            <a:pPr algn="ctr">
              <a:lnSpc>
                <a:spcPct val="100000"/>
              </a:lnSpc>
            </a:pPr>
            <a:r>
              <a:rPr sz="1900" b="1" i="0" u="none">
                <a:solidFill>
                  <a:srgbClr val="FFFFFF"/>
                </a:solidFill>
                <a:latin typeface="Public Sans"/>
              </a:rPr>
              <a:t>k-NN + TỐI ƯU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63500" y="5867400"/>
            <a:ext cx="21336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k-NN nghiên cứu; S0 </a:t>
            </a:r>
            <a:r>
              <a:rPr sz="16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600" b="0" i="0" u="none">
                <a:solidFill>
                  <a:srgbClr val="FFFFFF"/>
                </a:solidFill>
                <a:latin typeface="Public Sans"/>
              </a:rPr>
              <a:t> S4 chọn trên fold của 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27300" y="34290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600" b="1" i="0" u="none">
                <a:solidFill>
                  <a:srgbClr val="F2BE3A"/>
                </a:solidFill>
                <a:latin typeface="Public San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27300" y="4927600"/>
            <a:ext cx="2413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 u="none">
                <a:solidFill>
                  <a:srgbClr val="FFFFFF"/>
                </a:solidFill>
                <a:latin typeface="Public Sans"/>
              </a:rPr>
              <a:t>ĐÁNH GIÁ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7000" y="5867400"/>
            <a:ext cx="21336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tòa nhà, tầng, sai số mét, thời gian; HUIM vs đối chứng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2400" y="8585200"/>
            <a:ext cx="2159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 u="none">
                <a:solidFill>
                  <a:srgbClr val="F2BE3A"/>
                </a:solidFill>
                <a:latin typeface="Public Sans"/>
              </a:rPr>
              <a:t>KẾT QUẢ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9400" y="82804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950" b="0" i="0" u="none">
                <a:solidFill>
                  <a:srgbClr val="FFFFFF"/>
                </a:solidFill>
                <a:latin typeface="Public Sans"/>
              </a:rPr>
              <a:t>Mọi tham số chọn chỉ trên tập huấn luyện của từng bộ; tập kiểm tra chỉ dùng để chấm điểm, một lần cho mỗi bước.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5 bộ dữ liệu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rất khác nhau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Từ 5 đến 620 AP, từ 1 phòng tới 3 tòa nhà, test trùng vị trí train hoặc ở vị trí mới hoàn toàn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2032000"/>
          <a:ext cx="17119600" cy="4876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29000"/>
                <a:gridCol w="1651000"/>
                <a:gridCol w="2540000"/>
                <a:gridCol w="1397000"/>
                <a:gridCol w="1778000"/>
                <a:gridCol w="6324600"/>
              </a:tblGrid>
              <a:tr h="812800">
                <a:tc>
                  <a:txBody>
                    <a:bodyPr wrap="square"/>
                    <a:lstStyle/>
                    <a:p>
                      <a:pPr algn="l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Bộ dữ liệu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Train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AP (thấy ở train)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Vị trí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Tòa / tầng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Tập kiểm tra (vị trí trùng train)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8128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19.937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520 (465)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933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 / 13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validationData: 1.111 dòng (18/1053)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8128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11.520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620 (306)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 / 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Test-01: 7.200 dòng (24/24)</a:t>
                      </a:r>
                    </a:p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Test-02: 7.200 dòng (0/24)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8128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13.000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 (17)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650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 / 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Testing: 6.500 dòng (650/650)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8128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11.370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347 (345)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379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 / 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test_HCXY: 860 dòng (0/86)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8128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(bỏ dòng chép)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20.091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 (5)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205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 / 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testcase1: 205 dòng (205/205)</a:t>
                      </a:r>
                    </a:p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testcase2: 205 dòng (205/205)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8483600"/>
            <a:ext cx="171196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 u="none">
                <a:solidFill>
                  <a:srgbClr val="F2BE3A"/>
                </a:solidFill>
                <a:latin typeface="Public Sans"/>
              </a:rPr>
              <a:t>Nguồn:</a:t>
            </a:r>
            <a:r>
              <a:rPr sz="1700" b="0" i="0" u="none">
                <a:solidFill>
                  <a:srgbClr val="DCE3EE"/>
                </a:solidFill>
                <a:latin typeface="Public Sans"/>
              </a:rPr>
              <a:t> UJIIndoorLoc [1]; UJI_LIB [2]; DLULIB, HCXY, HUS không có tài liệu kèm theo.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1700" b="0" i="0" u="none">
                <a:solidFill>
                  <a:srgbClr val="DCE3EE"/>
                </a:solidFill>
                <a:latin typeface="Public Sans"/>
              </a:rPr>
              <a:t>Thư mục rỗng (cả trong zip): UJI_LIB_DB_Floor_5, syl, tuji — có thể nằm ở các phần zip sau (…-1-002.zip).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Đưa mọi bộ về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một lược đồ chung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src/multi_datasets.py — mọi quyết định riêng được ghi vào dataset_summary.json của từng bộ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2032000"/>
          <a:ext cx="17119600" cy="4419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29000"/>
                <a:gridCol w="2159000"/>
                <a:gridCol w="2540000"/>
                <a:gridCol w="2159000"/>
                <a:gridCol w="6832600"/>
              </a:tblGrid>
              <a:tr h="736600"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Bộ dữ liệu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‘Không thấy’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Hệ số ra mét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Nhãn vị trí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Fold kiểm định (vì sao)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736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100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0,766126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tòa_tầng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USERID (test: người đo khác)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736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100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 (đã là mét)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RP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Month (test trải đủ 25 tháng)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736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−100 </a:t>
                      </a:r>
                      <a:r>
                        <a:rPr sz="1700" b="0" i="0" u="none">
                          <a:solidFill>
                            <a:srgbClr val="FFFFFF"/>
                          </a:solidFill>
                          <a:latin typeface="Segoe UI Symbol"/>
                        </a:rPr>
                        <a:t>→</a:t>
                      </a:r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 100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 (đã là mét)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tòa_tầng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SampleTimes (test đo lại đúng RP)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736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100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 (đã là mét)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RP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RP (RP test không có ở train)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736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(bỏ dòng chép)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không có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 (đã là mét)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RP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KFold ngẫu nhiên (không có cột người/thiết bị)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84200" y="6858000"/>
            <a:ext cx="17119600" cy="2794000"/>
          </a:xfrm>
          <a:prstGeom prst="roundRect">
            <a:avLst>
              <a:gd name="adj" fmla="val 4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9000" y="7061200"/>
            <a:ext cx="1651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Vì sao nhãn là RP khi chỉ có một tầng?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" y="7569200"/>
            <a:ext cx="165100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7170" indent="-217170">
              <a:lnSpc>
                <a:spcPct val="110000"/>
              </a:lnSpc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Model B, C dùng thông tin tương hỗ I(A;Y) [3] với Y = tòa_tầng. Một tầng </a:t>
            </a:r>
            <a:r>
              <a:rPr sz="1900" b="0" i="0" u="none">
                <a:solidFill>
                  <a:srgbClr val="FFFFFF"/>
                </a:solidFill>
                <a:latin typeface="Segoe UI Symbol"/>
              </a:rPr>
              <a:t>⇒</a:t>
            </a:r>
            <a:r>
              <a:rPr sz="1900" b="0" i="0" u="none">
                <a:solidFill>
                  <a:srgbClr val="FFFFFF"/>
                </a:solidFill>
                <a:latin typeface="Public Sans"/>
              </a:rPr>
              <a:t> Y không đổi </a:t>
            </a:r>
            <a:r>
              <a:rPr sz="1900" b="0" i="0" u="none">
                <a:solidFill>
                  <a:srgbClr val="FFFFFF"/>
                </a:solidFill>
                <a:latin typeface="Segoe UI Symbol"/>
              </a:rPr>
              <a:t>⇒</a:t>
            </a:r>
            <a:r>
              <a:rPr sz="1900" b="0" i="0" u="none">
                <a:solidFill>
                  <a:srgbClr val="FFFFFF"/>
                </a:solidFill>
                <a:latin typeface="Public Sans"/>
              </a:rPr>
              <a:t> I(A;Y) = 0 với mọi AP </a:t>
            </a:r>
            <a:r>
              <a:rPr sz="1900" b="0" i="0" u="none">
                <a:solidFill>
                  <a:srgbClr val="FFFFFF"/>
                </a:solidFill>
                <a:latin typeface="Segoe UI Symbol"/>
              </a:rPr>
              <a:t>⇒</a:t>
            </a:r>
            <a:r>
              <a:rPr sz="1900" b="0" i="0" u="none">
                <a:solidFill>
                  <a:srgbClr val="FFFFFF"/>
                </a:solidFill>
                <a:latin typeface="Public Sans"/>
              </a:rPr>
              <a:t> p(i) không xác định.</a:t>
            </a:r>
          </a:p>
          <a:p>
            <a:pPr algn="l" marL="217170" indent="-217170">
              <a:lnSpc>
                <a:spcPct val="110000"/>
              </a:lnSpc>
              <a:spcBef>
                <a:spcPts val="8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Khi đó dùng lớp vị trí mịn nhất mà dữ liệu có: điểm tham chiếu (RP). Độ chính xác tòa/tầng chỉ báo cáo ở bộ có nhiều hơn một lớp.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DLULIB: 17 AP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dùng chung</a:t>
            </a: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ba tầng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Ba file theo tầng chỉ được ghép thành một bài toán định vị tầng nếu cột AP_k là cùng một AP vật lý ở cả ba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032000"/>
            <a:ext cx="17119600" cy="431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lulib_ap_by_fl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2391605"/>
            <a:ext cx="16865600" cy="35987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4200" y="6654800"/>
            <a:ext cx="17119600" cy="292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7170" indent="-217170">
              <a:lnSpc>
                <a:spcPct val="110000"/>
              </a:lnSpc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Mỗi AP có một ‘tầng nhà’ nơi nó được thấy nhiều và mạnh nhất, yếu dần ở tầng khác — đúng như một AP cố định lan sóng qua sàn bê tông.</a:t>
            </a:r>
          </a:p>
          <a:p>
            <a:pPr algn="l" marL="217170" indent="-217170">
              <a:lnSpc>
                <a:spcPct val="110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AP mạnh nhất theo tầng: </a:t>
            </a:r>
            <a:r>
              <a:rPr sz="1900" b="1" i="0" u="none">
                <a:solidFill>
                  <a:srgbClr val="F2BE3A"/>
                </a:solidFill>
                <a:latin typeface="Public Sans"/>
              </a:rPr>
              <a:t>tầng 1</a:t>
            </a:r>
            <a:r>
              <a:rPr sz="1900" b="0" i="0" u="none">
                <a:solidFill>
                  <a:srgbClr val="FFFFFF"/>
                </a:solidFill>
                <a:latin typeface="Public Sans"/>
              </a:rPr>
              <a:t>: AP1, AP2, AP3, AP4, AP5, AP6, AP7; </a:t>
            </a:r>
            <a:r>
              <a:rPr sz="1900" b="1" i="0" u="none">
                <a:solidFill>
                  <a:srgbClr val="F2BE3A"/>
                </a:solidFill>
                <a:latin typeface="Public Sans"/>
              </a:rPr>
              <a:t>tầng 2</a:t>
            </a:r>
            <a:r>
              <a:rPr sz="1900" b="0" i="0" u="none">
                <a:solidFill>
                  <a:srgbClr val="FFFFFF"/>
                </a:solidFill>
                <a:latin typeface="Public Sans"/>
              </a:rPr>
              <a:t>: AP8, AP9, AP10, AP11, AP12, AP13; </a:t>
            </a:r>
            <a:r>
              <a:rPr sz="1900" b="1" i="0" u="none">
                <a:solidFill>
                  <a:srgbClr val="F2BE3A"/>
                </a:solidFill>
                <a:latin typeface="Public Sans"/>
              </a:rPr>
              <a:t>tầng 3</a:t>
            </a:r>
            <a:r>
              <a:rPr sz="1900" b="0" i="0" u="none">
                <a:solidFill>
                  <a:srgbClr val="FFFFFF"/>
                </a:solidFill>
                <a:latin typeface="Public Sans"/>
              </a:rPr>
              <a:t>: AP14, AP15, AP16, AP17.</a:t>
            </a:r>
          </a:p>
          <a:p>
            <a:pPr algn="l" marL="217170" indent="-217170">
              <a:lnSpc>
                <a:spcPct val="110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−100 dBm là giá trị ‘không thấy’ (số ô −100 lớn gấp hàng nghìn lần ô −99) </a:t>
            </a:r>
            <a:r>
              <a:rPr sz="1900" b="0" i="0" u="none">
                <a:solidFill>
                  <a:srgbClr val="FFFFFF"/>
                </a:solidFill>
                <a:latin typeface="Segoe UI Symbol"/>
              </a:rPr>
              <a:t>⇒</a:t>
            </a:r>
            <a:r>
              <a:rPr sz="1900" b="0" i="0" u="none">
                <a:solidFill>
                  <a:srgbClr val="FFFFFF"/>
                </a:solidFill>
                <a:latin typeface="Public Sans"/>
              </a:rPr>
              <a:t> đổi thành 100 như UJIIndoorLoc. Các file *_Mean không dùng vì nghiên cứu huấn luyện trên mẫu gốc.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HUS: tập test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chép từ tập 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Kiểm tra trước khi tin: đếm dòng test trùng hệt (cùng vị trí, cùng mọi RSSI) một dòng 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108200"/>
            <a:ext cx="5461000" cy="2159000"/>
          </a:xfrm>
          <a:prstGeom prst="roundRect">
            <a:avLst>
              <a:gd name="adj" fmla="val 6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9000" y="2311400"/>
            <a:ext cx="4953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 i="0" u="none">
                <a:solidFill>
                  <a:srgbClr val="F2BE3A"/>
                </a:solidFill>
                <a:latin typeface="Public Sans"/>
              </a:rPr>
              <a:t>204/205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" y="3352800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 u="none">
                <a:solidFill>
                  <a:srgbClr val="DCE3EE"/>
                </a:solidFill>
                <a:latin typeface="Public Sans"/>
              </a:rPr>
              <a:t>dòng testcase1 có bản sao y hệt trong 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600" y="2108200"/>
            <a:ext cx="5461000" cy="2159000"/>
          </a:xfrm>
          <a:prstGeom prst="roundRect">
            <a:avLst>
              <a:gd name="adj" fmla="val 6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29400" y="2311400"/>
            <a:ext cx="4953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 i="0" u="none">
                <a:solidFill>
                  <a:srgbClr val="F2BE3A"/>
                </a:solidFill>
                <a:latin typeface="Public Sans"/>
              </a:rPr>
              <a:t>205/205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352800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 u="none">
                <a:solidFill>
                  <a:srgbClr val="DCE3EE"/>
                </a:solidFill>
                <a:latin typeface="Public Sans"/>
              </a:rPr>
              <a:t>dòng testcase2 có bản sao y hệt trong 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65000" y="2108200"/>
            <a:ext cx="5461000" cy="2159000"/>
          </a:xfrm>
          <a:prstGeom prst="roundRect">
            <a:avLst>
              <a:gd name="adj" fmla="val 6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369800" y="2311400"/>
            <a:ext cx="4953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 i="0" u="none">
                <a:solidFill>
                  <a:srgbClr val="F2BE3A"/>
                </a:solidFill>
                <a:latin typeface="Public Sans"/>
              </a:rPr>
              <a:t>59,5%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69800" y="3352800"/>
            <a:ext cx="495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 u="none">
                <a:solidFill>
                  <a:srgbClr val="DCE3EE"/>
                </a:solidFill>
                <a:latin typeface="Public Sans"/>
              </a:rPr>
              <a:t>dòng train có ‘bản sao tự nhiên’ trong chính tập train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4200" y="4699000"/>
          <a:ext cx="11684000" cy="2133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04000"/>
                <a:gridCol w="2540000"/>
                <a:gridCol w="2540000"/>
              </a:tblGrid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Mô hình tối ưu, sai số TB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testcase1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testcase2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nguyên bản (còn bản sao)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0,07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0,06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bỏ dòng chép (dùng để kết luận)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2A4A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0,39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2A4A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0,25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2A4A2A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2700000" y="4699000"/>
            <a:ext cx="50038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1455" indent="-211455">
              <a:lnSpc>
                <a:spcPct val="110000"/>
              </a:lnSpc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Còn bản sao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⇒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k-NN chỉ việc tìm lại chính nó: sai số ‘gần 0’ là </a:t>
            </a:r>
            <a:r>
              <a:rPr sz="1850" b="1" i="0" u="none">
                <a:solidFill>
                  <a:srgbClr val="F2BE3A"/>
                </a:solidFill>
                <a:latin typeface="Public Sans"/>
              </a:rPr>
              <a:t>học thuộc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, không phải định vị.</a:t>
            </a:r>
          </a:p>
          <a:p>
            <a:pPr algn="l" marL="211455" indent="-211455">
              <a:lnSpc>
                <a:spcPct val="110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Sửa: bỏ đúng 409 dòng train mà hai tập test chép lại (một bản cho mỗi dòng test).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7366000"/>
            <a:ext cx="1168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u="none">
                <a:solidFill>
                  <a:srgbClr val="F2BE3A"/>
                </a:solidFill>
                <a:latin typeface="Public Sans"/>
              </a:rPr>
              <a:t>Các bộ khác: không có dòng test nào trùng 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7797800"/>
            <a:ext cx="11684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u="none">
                <a:solidFill>
                  <a:srgbClr val="DCE3EE"/>
                </a:solidFill>
                <a:latin typeface="Public Sans"/>
              </a:rPr>
              <a:t>UJIIndoorLoc · validationData: 0 / 1.111   ·   UJI_LIB tầng 3 · Test-01: 0 / 7.200   ·   UJI_LIB tầng 3 · Test-02: 0 / 7.200   ·   DLULIB · Testing: 0 / 6.500   ·   HCXY · test_HCXY: 0 / 860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000" y="660400"/>
            <a:ext cx="1651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Vân tay Wi-Fi thành </a:t>
            </a:r>
            <a:r>
              <a:rPr sz="60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giao dịch 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413000"/>
            <a:ext cx="3289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 u="none">
                <a:solidFill>
                  <a:srgbClr val="F2BE3A"/>
                </a:solidFill>
                <a:latin typeface="Public Sans"/>
              </a:rPr>
              <a:t>GIAO DỊCH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2895600"/>
            <a:ext cx="32893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một vân tay</a:t>
            </a:r>
          </a:p>
          <a:p>
            <a:pPr algn="ctr">
              <a:lnSpc>
                <a:spcPct val="106000"/>
              </a:lnSpc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= một lần quét Wi-Fi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1300" y="2413000"/>
            <a:ext cx="3073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 u="none">
                <a:solidFill>
                  <a:srgbClr val="F2BE3A"/>
                </a:solidFill>
                <a:latin typeface="Public Sans"/>
              </a:rPr>
              <a:t>ITEM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1300" y="2895600"/>
            <a:ext cx="30734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một AP được</a:t>
            </a:r>
          </a:p>
          <a:p>
            <a:pPr algn="ctr">
              <a:lnSpc>
                <a:spcPct val="106000"/>
              </a:lnSpc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phát hiện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800" y="22352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 u="none">
                <a:solidFill>
                  <a:srgbClr val="F2BE3A"/>
                </a:solidFill>
                <a:latin typeface="Public Sans"/>
              </a:rPr>
              <a:t>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0" y="2717800"/>
            <a:ext cx="3302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u(i,T) = q(i,T) × p(i)</a:t>
            </a:r>
          </a:p>
          <a:p>
            <a:pPr algn="ctr">
              <a:lnSpc>
                <a:spcPct val="106000"/>
              </a:lnSpc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q: RSSI chuẩn hoá</a:t>
            </a:r>
          </a:p>
          <a:p>
            <a:pPr algn="ctr">
              <a:lnSpc>
                <a:spcPct val="106000"/>
              </a:lnSpc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p: giá trị của 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7600" y="241300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 u="none">
                <a:solidFill>
                  <a:srgbClr val="F2BE3A"/>
                </a:solidFill>
                <a:latin typeface="Public Sans"/>
              </a:rPr>
              <a:t>HUI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17600" y="2895600"/>
            <a:ext cx="32766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nhóm AP có tổng</a:t>
            </a:r>
          </a:p>
          <a:p>
            <a:pPr algn="ctr">
              <a:lnSpc>
                <a:spcPct val="106000"/>
              </a:lnSpc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utility ≥ minUtil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940300"/>
            <a:ext cx="16637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 u="none">
                <a:solidFill>
                  <a:srgbClr val="F2BE3A"/>
                </a:solidFill>
                <a:latin typeface="Public Sans"/>
              </a:rPr>
              <a:t>BA MÔ HÌNH UTILITY — DÙNG CHUNG q(i,T), CHỈ KHÁC p(i) — ÁP NGUYÊN CHO MỌI BỘ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700" y="5791200"/>
            <a:ext cx="4699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 u="none">
                <a:solidFill>
                  <a:srgbClr val="F2BE3A"/>
                </a:solidFill>
                <a:latin typeface="Public Sans"/>
              </a:rPr>
              <a:t>MODEL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6299200"/>
            <a:ext cx="4699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0" i="0" u="none">
                <a:solidFill>
                  <a:srgbClr val="FFFFFF"/>
                </a:solidFill>
                <a:latin typeface="Public Sans"/>
              </a:rPr>
              <a:t>TÍN HIỆU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7010400"/>
            <a:ext cx="45974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p(i) = 1</a:t>
            </a:r>
          </a:p>
          <a:p>
            <a:pPr algn="ctr">
              <a:lnSpc>
                <a:spcPct val="108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đối chứng: utility chỉ do RSSI</a:t>
            </a:r>
          </a:p>
          <a:p>
            <a:pPr algn="ctr">
              <a:lnSpc>
                <a:spcPct val="108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và đồng xuất hiện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7700" y="5791200"/>
            <a:ext cx="5511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 u="none">
                <a:solidFill>
                  <a:srgbClr val="F2BE3A"/>
                </a:solidFill>
                <a:latin typeface="Public Sans"/>
              </a:rPr>
              <a:t>MODEL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7700" y="6299200"/>
            <a:ext cx="5511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0" i="0" u="none">
                <a:solidFill>
                  <a:srgbClr val="FFFFFF"/>
                </a:solidFill>
                <a:latin typeface="Public Sans"/>
              </a:rPr>
              <a:t>MUTUAL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8500" y="7010400"/>
            <a:ext cx="54102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p(i) </a:t>
            </a:r>
            <a:r>
              <a:rPr sz="1800" b="0" i="0" u="none">
                <a:solidFill>
                  <a:srgbClr val="FFFFFF"/>
                </a:solidFill>
                <a:latin typeface="Segoe UI Symbol"/>
              </a:rPr>
              <a:t>∝</a:t>
            </a:r>
            <a:r>
              <a:rPr sz="1800" b="0" i="0" u="none">
                <a:solidFill>
                  <a:srgbClr val="FFFFFF"/>
                </a:solidFill>
                <a:latin typeface="Public Sans"/>
              </a:rPr>
              <a:t> I(A_i; Y)</a:t>
            </a:r>
          </a:p>
          <a:p>
            <a:pPr algn="ctr">
              <a:lnSpc>
                <a:spcPct val="108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Y = tòa_tầng (UJI, DLULIB)</a:t>
            </a:r>
          </a:p>
          <a:p>
            <a:pPr algn="ctr">
              <a:lnSpc>
                <a:spcPct val="108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Y = RP (bộ chỉ có một tầng)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93500" y="5791200"/>
            <a:ext cx="58039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 u="none">
                <a:solidFill>
                  <a:srgbClr val="F2BE3A"/>
                </a:solidFill>
                <a:latin typeface="Public Sans"/>
              </a:rPr>
              <a:t>MODEL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93500" y="6299200"/>
            <a:ext cx="58039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0" i="0" u="none">
                <a:solidFill>
                  <a:srgbClr val="FFFFFF"/>
                </a:solidFill>
                <a:latin typeface="Public Sans"/>
              </a:rPr>
              <a:t>MI × ĐỘ HIẾM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44300" y="7010400"/>
            <a:ext cx="57023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p(i) </a:t>
            </a:r>
            <a:r>
              <a:rPr sz="1800" b="0" i="0" u="none">
                <a:solidFill>
                  <a:srgbClr val="FFFFFF"/>
                </a:solidFill>
                <a:latin typeface="Segoe UI Symbol"/>
              </a:rPr>
              <a:t>∝</a:t>
            </a:r>
            <a:r>
              <a:rPr sz="1800" b="0" i="0" u="none">
                <a:solidFill>
                  <a:srgbClr val="FFFFFF"/>
                </a:solidFill>
                <a:latin typeface="Public Sans"/>
              </a:rPr>
              <a:t> I(A_i; Y) · log(N / (1 + support))</a:t>
            </a:r>
          </a:p>
          <a:p>
            <a:pPr algn="ctr">
              <a:lnSpc>
                <a:spcPct val="108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phạt AP ở đâu cũng thấy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8686800"/>
            <a:ext cx="16002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 i="0" u="none">
                <a:solidFill>
                  <a:srgbClr val="F2BE3A"/>
                </a:solidFill>
                <a:latin typeface="Public Sans"/>
              </a:rPr>
              <a:t>Nguồn:</a:t>
            </a:r>
            <a:r>
              <a:rPr sz="1800" b="0" i="0" u="none">
                <a:solidFill>
                  <a:srgbClr val="FFFFFF"/>
                </a:solidFill>
                <a:latin typeface="Public Sans"/>
              </a:rPr>
              <a:t> utility của tập mục — Yao, Hamilton &amp; Butz [4]; thông tin tương hỗ — Shannon [3]; IDF — Spärck Jones [5]. Ánh xạ vân tay </a:t>
            </a:r>
            <a:r>
              <a:rPr sz="18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800" b="0" i="0" u="none">
                <a:solidFill>
                  <a:srgbClr val="FFFFFF"/>
                </a:solidFill>
                <a:latin typeface="Public Sans"/>
              </a:rPr>
              <a:t> giao dịch là thiết kế của bài tìm hiểu.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Công thức áp lên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một vân tay thật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DLULIB, dòng 2 của Training_DLULIB_Floor1_All_20.xlsx — tính bằng chính mã nguồn của nghiên cứu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032000"/>
            <a:ext cx="8128000" cy="7620000"/>
          </a:xfrm>
          <a:prstGeom prst="roundRect">
            <a:avLst>
              <a:gd name="adj" fmla="val 4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9000" y="22352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1 · Chuẩn hoá RSSI (utility nội)</a:t>
            </a:r>
          </a:p>
        </p:txBody>
      </p:sp>
      <p:pic>
        <p:nvPicPr>
          <p:cNvPr id="7" name="Picture 6" descr="formula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2768600"/>
            <a:ext cx="4870704" cy="475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9000" y="3810000"/>
            <a:ext cx="762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 u="none">
                <a:solidFill>
                  <a:srgbClr val="DCE3EE"/>
                </a:solidFill>
                <a:latin typeface="Public Sans"/>
              </a:rPr>
              <a:t>RSSI_min = −99 dBm, RSSI_max = −27 dBm (học trên train DLULIB)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45720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2 · Utility của AP, của tập, ngưỡng</a:t>
            </a:r>
          </a:p>
        </p:txBody>
      </p:sp>
      <p:pic>
        <p:nvPicPr>
          <p:cNvPr id="10" name="Picture 9" descr="formula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5105400"/>
            <a:ext cx="5407152" cy="618744"/>
          </a:xfrm>
          <a:prstGeom prst="rect">
            <a:avLst/>
          </a:prstGeom>
        </p:spPr>
      </p:pic>
      <p:pic>
        <p:nvPicPr>
          <p:cNvPr id="11" name="Picture 10" descr="formula_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" y="5969000"/>
            <a:ext cx="4931664" cy="5974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9000" y="6959600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50" b="1" i="0" u="none">
                <a:solidFill>
                  <a:srgbClr val="F2BE3A"/>
                </a:solidFill>
                <a:latin typeface="Public Sans"/>
              </a:rPr>
              <a:t>Kiểm tay</a:t>
            </a:r>
            <a:r>
              <a:rPr sz="1750" b="0" i="0" u="none">
                <a:solidFill>
                  <a:srgbClr val="FFFFFF"/>
                </a:solidFill>
                <a:latin typeface="Public Sans"/>
              </a:rPr>
              <a:t> AP1: RSSI −78 dBm</a:t>
            </a:r>
          </a:p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1750" b="0" i="0" u="none">
                <a:solidFill>
                  <a:srgbClr val="FFFFFF"/>
                </a:solidFill>
                <a:latin typeface="Public Sans"/>
              </a:rPr>
              <a:t>q = 1 + (−78 − (−99)) / (−27 − (−99)) × 99 = 29,875 </a:t>
            </a:r>
            <a:r>
              <a:rPr sz="175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750" b="0" i="0" u="none">
                <a:solidFill>
                  <a:srgbClr val="FFFFFF"/>
                </a:solidFill>
                <a:latin typeface="Public Sans"/>
              </a:rPr>
              <a:t> 30</a:t>
            </a:r>
          </a:p>
          <a:p>
            <a:pPr algn="l">
              <a:lnSpc>
                <a:spcPct val="108000"/>
              </a:lnSpc>
              <a:spcBef>
                <a:spcPts val="600"/>
              </a:spcBef>
            </a:pPr>
            <a:r>
              <a:rPr sz="1750" b="0" i="0" u="none">
                <a:solidFill>
                  <a:srgbClr val="FFFFFF"/>
                </a:solidFill>
                <a:latin typeface="Public Sans"/>
              </a:rPr>
              <a:t>u (Model B) = 30 × 0,6111 = 18,33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9169400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Yao, Hamilton &amp; Butz [4]; minUtil theo tỉ lệ — Liu, Liao &amp; Choudhary [6]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067800" y="2032000"/>
          <a:ext cx="8636000" cy="66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1000"/>
                <a:gridCol w="1524000"/>
                <a:gridCol w="1143000"/>
                <a:gridCol w="2032000"/>
                <a:gridCol w="2286000"/>
              </a:tblGrid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AP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RSSI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q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p Model 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u Model 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−78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0,6111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18,33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−68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0,3220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14,17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−59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1,0000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56,00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−60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0,2570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14,14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−83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0,1879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4,32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−65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0,9030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43,34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−71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0,9107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36,43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−83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0,2987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6,87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AP10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−72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0,3930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14,94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AP11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−69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0,3662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15,38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AP16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−83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0,5961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13,71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5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TU(T)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237,62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Ba mô hình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p(i)</a:t>
            </a: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trên từng bộ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Ước lượng chỉ trên tập huấn luyện; H(Y) = độ bất định của vị trí, max I(A;Y) = phần bất định mà AP tốt nhất gỡ được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2032000"/>
          <a:ext cx="17119600" cy="457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02000"/>
                <a:gridCol w="1651000"/>
                <a:gridCol w="1651000"/>
                <a:gridCol w="2159000"/>
                <a:gridCol w="3683000"/>
                <a:gridCol w="4673600"/>
              </a:tblGrid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Bộ dữ liệu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Nhãn 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H(Y) bit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max I(A;Y) bit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3 AP có I lớn nhất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Tổng utility A / B / 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tòa_tầng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3,639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0,438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WAP087, WAP496, WAP517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9.058.242 / 4.354.299 / 6.211.852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RP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4,585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0,972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AP12, AP22, AP33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5.922.123 / 2.787.544 / 2.718.506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tòa_tầng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1,512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0,673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AP3, AP7, AP6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5.379.700 / 2.744.409 / 2.423.560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RP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8,566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1,644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MAC4, MAC131, MAC1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13.916.057 / 9.021.822 / 10.951.705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(bỏ dòng chép)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RP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7,679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0,617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AP1, AP3, AP4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5.666.612 / 1.795.054 / 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ormula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985000"/>
            <a:ext cx="7168896" cy="664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128000"/>
            <a:ext cx="1651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0" i="0" u="none">
                <a:solidFill>
                  <a:srgbClr val="DCE3EE"/>
                </a:solidFill>
                <a:latin typeface="Public Sans"/>
              </a:rPr>
              <a:t>A_i có 6 trạng thái: không thấy và 5 khoảng RSSI (−104/−90/−80/−70/−60/0 dBm). Model C nhân thêm log(N/(1+support)).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Khai phá HUIM: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vùng chuyển pha</a:t>
            </a: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lặp lại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EFIM, </a:t>
            </a:r>
            <a:r>
              <a:rPr sz="1900" b="0" i="0" u="none">
                <a:solidFill>
                  <a:srgbClr val="A9B8CC"/>
                </a:solidFill>
                <a:latin typeface="Segoe UI Symbol"/>
              </a:rPr>
              <a:t>θ</a:t>
            </a:r>
            <a:r>
              <a:rPr sz="1900" b="0" i="0" u="none">
                <a:solidFill>
                  <a:srgbClr val="A9B8CC"/>
                </a:solidFill>
                <a:latin typeface="Public Sans"/>
              </a:rPr>
              <a:t> = 20% giảm dần; dừng ở lần đầu chạm 600 s hoặc 1.000.000 HUI; tinh chỉnh tối đa 3 lần (×: lần chạy chạm ngân sách)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032000"/>
            <a:ext cx="11049000" cy="762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huim_m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47" y="2159000"/>
            <a:ext cx="10709704" cy="7366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887200" y="2032000"/>
          <a:ext cx="6096000" cy="5613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59000"/>
                <a:gridCol w="889000"/>
                <a:gridCol w="1270000"/>
                <a:gridCol w="889000"/>
                <a:gridCol w="889000"/>
              </a:tblGrid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Bộ · Model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 u="none">
                          <a:solidFill>
                            <a:srgbClr val="F2BE3A"/>
                          </a:solidFill>
                          <a:latin typeface="Segoe UI Symbol"/>
                        </a:rPr>
                        <a:t>θ</a:t>
                      </a:r>
                      <a:r>
                        <a:rPr sz="13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 chính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HUI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AP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EFIM (s)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A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1,5%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568.656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72/620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152,8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B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1,5%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979.199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82/620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317,4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C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1,5%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925.013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74/620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196,8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 · A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1%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37.096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17/17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 · B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1%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32.680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17/17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 · C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1%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40.568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17/17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 · A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6,1237%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107.793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67/347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55,7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 · B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6,777%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43.168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71/347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141,9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 · C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7,5%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23.101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22/347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8,9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· A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0,125%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5/5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· B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0,125%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5/5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318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· C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0,125%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5/5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Tối ưu sai số: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cùng quy trình 5,36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Chọn trên 6 fold kiểm định lấy từ tập huấn luyện của TỪNG bộ — tập kiểm tra chỉ chấm điểm sau khi đã chọn xong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032000"/>
            <a:ext cx="8128000" cy="10922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8200" y="2209800"/>
            <a:ext cx="889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 u="none">
                <a:solidFill>
                  <a:srgbClr val="F2BE3A"/>
                </a:solidFill>
                <a:latin typeface="Public Sans"/>
              </a:rPr>
              <a:t>S0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21844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FFFFF"/>
                </a:solidFill>
                <a:latin typeface="Public Sans"/>
              </a:rPr>
              <a:t>k-NN của nghiên cứu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90800"/>
            <a:ext cx="660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DCE3EE"/>
                </a:solidFill>
                <a:latin typeface="Public Sans"/>
              </a:rPr>
              <a:t>dùng như bộ ước lượng toạ độ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3276600"/>
            <a:ext cx="8128000" cy="10922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8200" y="3454400"/>
            <a:ext cx="889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 u="none">
                <a:solidFill>
                  <a:srgbClr val="F2BE3A"/>
                </a:solidFill>
                <a:latin typeface="Public Sans"/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34290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FFFFF"/>
                </a:solidFill>
                <a:latin typeface="Public Sans"/>
              </a:rPr>
              <a:t>biểu diễn × khoảng cách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3835400"/>
            <a:ext cx="660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DCE3EE"/>
                </a:solidFill>
                <a:latin typeface="Public Sans"/>
              </a:rPr>
              <a:t>positive / powed / exponential × Euclid / Manhattan / Bray–Curtis / cosine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4200" y="4521200"/>
            <a:ext cx="8128000" cy="10922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8200" y="4699000"/>
            <a:ext cx="889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 u="none">
                <a:solidFill>
                  <a:srgbClr val="F2BE3A"/>
                </a:solidFill>
                <a:latin typeface="Public Sans"/>
              </a:rPr>
              <a:t>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46736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FFFFF"/>
                </a:solidFill>
                <a:latin typeface="Public Sans"/>
              </a:rPr>
              <a:t>số láng giềng, trọng số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5080000"/>
            <a:ext cx="660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DCE3EE"/>
                </a:solidFill>
                <a:latin typeface="Public Sans"/>
              </a:rPr>
              <a:t>k = 1…30, w = 1/d</a:t>
            </a:r>
            <a:r>
              <a:rPr sz="1600" b="0" i="0" u="none">
                <a:solidFill>
                  <a:srgbClr val="DCE3EE"/>
                </a:solidFill>
                <a:latin typeface="Segoe UI Symbol"/>
              </a:rPr>
              <a:t>ᵖ</a:t>
            </a:r>
            <a:r>
              <a:rPr sz="1600" b="0" i="0" u="none">
                <a:solidFill>
                  <a:srgbClr val="DCE3EE"/>
                </a:solidFill>
                <a:latin typeface="Public Sans"/>
              </a:rPr>
              <a:t>, p = 0…4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4200" y="5765800"/>
            <a:ext cx="8128000" cy="10922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8200" y="5943600"/>
            <a:ext cx="889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 u="none">
                <a:solidFill>
                  <a:srgbClr val="F2BE3A"/>
                </a:solidFill>
                <a:latin typeface="Public Sans"/>
              </a:rP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59182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FFFFF"/>
                </a:solidFill>
                <a:latin typeface="Public Sans"/>
              </a:rPr>
              <a:t>dò lệch thiết bị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5000" y="6324600"/>
            <a:ext cx="660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DCE3EE"/>
                </a:solidFill>
                <a:latin typeface="Segoe UI Symbol"/>
              </a:rPr>
              <a:t>δ</a:t>
            </a:r>
            <a:r>
              <a:rPr sz="1600" b="0" i="0" u="none">
                <a:solidFill>
                  <a:srgbClr val="DCE3EE"/>
                </a:solidFill>
                <a:latin typeface="Public Sans"/>
              </a:rPr>
              <a:t> </a:t>
            </a:r>
            <a:r>
              <a:rPr sz="1600" b="0" i="0" u="none">
                <a:solidFill>
                  <a:srgbClr val="DCE3EE"/>
                </a:solidFill>
                <a:latin typeface="Segoe UI Symbol"/>
              </a:rPr>
              <a:t>∈</a:t>
            </a:r>
            <a:r>
              <a:rPr sz="1600" b="0" i="0" u="none">
                <a:solidFill>
                  <a:srgbClr val="DCE3EE"/>
                </a:solidFill>
                <a:latin typeface="Public Sans"/>
              </a:rPr>
              <a:t> ±3, ±6, ±9 dB; giữ </a:t>
            </a:r>
            <a:r>
              <a:rPr sz="1600" b="0" i="0" u="none">
                <a:solidFill>
                  <a:srgbClr val="DCE3EE"/>
                </a:solidFill>
                <a:latin typeface="Segoe UI Symbol"/>
              </a:rPr>
              <a:t>δ</a:t>
            </a:r>
            <a:r>
              <a:rPr sz="1600" b="0" i="0" u="none">
                <a:solidFill>
                  <a:srgbClr val="DCE3EE"/>
                </a:solidFill>
                <a:latin typeface="Public Sans"/>
              </a:rPr>
              <a:t> có láng giềng gần nhất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4200" y="7010400"/>
            <a:ext cx="8128000" cy="10922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8200" y="7188200"/>
            <a:ext cx="8890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 u="none">
                <a:solidFill>
                  <a:srgbClr val="F2BE3A"/>
                </a:solidFill>
                <a:latin typeface="Public Sans"/>
              </a:rPr>
              <a:t>S4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5000" y="71628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FFFFF"/>
                </a:solidFill>
                <a:latin typeface="Public Sans"/>
              </a:rPr>
              <a:t>ghép hai biểu diễn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5000" y="7569200"/>
            <a:ext cx="660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DCE3EE"/>
                </a:solidFill>
                <a:latin typeface="Public Sans"/>
              </a:rPr>
              <a:t>trung bình toạ độ của hai mô hình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8382000"/>
            <a:ext cx="812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 u="none">
                <a:solidFill>
                  <a:srgbClr val="DCE3EE"/>
                </a:solidFill>
                <a:latin typeface="Public Sans"/>
              </a:rPr>
              <a:t>S3, S4 chỉ được nhận nếu giảm sai số dev ≥ 0,05 m. Ngoài ra: áp NGUYÊN XI cấu hình UJIIndoorLoc (5,36 m) lên từng bộ.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67800" y="2032000"/>
            <a:ext cx="8636000" cy="3810000"/>
          </a:xfrm>
          <a:prstGeom prst="roundRect">
            <a:avLst>
              <a:gd name="adj" fmla="val 4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72600" y="2209800"/>
            <a:ext cx="812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Công thức (nguồn)</a:t>
            </a:r>
          </a:p>
        </p:txBody>
      </p:sp>
      <p:pic>
        <p:nvPicPr>
          <p:cNvPr id="28" name="Picture 27" descr="formula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717800"/>
            <a:ext cx="4553712" cy="463295"/>
          </a:xfrm>
          <a:prstGeom prst="rect">
            <a:avLst/>
          </a:prstGeom>
        </p:spPr>
      </p:pic>
      <p:pic>
        <p:nvPicPr>
          <p:cNvPr id="29" name="Picture 28" descr="formula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3810000"/>
            <a:ext cx="4770120" cy="81686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72600" y="4978400"/>
            <a:ext cx="812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1" u="none">
                <a:solidFill>
                  <a:srgbClr val="A9B8CC"/>
                </a:solidFill>
                <a:latin typeface="Public Sans"/>
              </a:rPr>
              <a:t>Torres-Sospedra et al. [7]; Bray &amp; Curtis [8]; Shepard [9]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9067800" y="6096000"/>
          <a:ext cx="8636000" cy="3505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826000"/>
                <a:gridCol w="3810000"/>
              </a:tblGrid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Bộ dữ liệu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Fold nhóm theo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USERID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Month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SampleTimes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RP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(bỏ dòng chép)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KFold ngẫu nhiên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889000"/>
            <a:ext cx="863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2540000"/>
            <a:ext cx="8255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Tòa nhà, tầng,</a:t>
            </a:r>
          </a:p>
          <a:p>
            <a:pPr algn="l">
              <a:lnSpc>
                <a:spcPct val="98000"/>
              </a:lnSpc>
            </a:pPr>
            <a:r>
              <a:rPr sz="54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khoảng cách, thời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5461000"/>
            <a:ext cx="762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 u="none">
                <a:solidFill>
                  <a:srgbClr val="DCE3EE"/>
                </a:solidFill>
                <a:latin typeface="Public Sans"/>
              </a:rPr>
              <a:t>Mô hình tối ưu giảm sai số so với k-NN của nghiên cứu ở 6/7 tập kiểm 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25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Tòa nhà, tầng, </a:t>
            </a:r>
            <a:r>
              <a:rPr sz="54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sai số</a:t>
            </a:r>
            <a:r>
              <a:rPr sz="54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và </a:t>
            </a:r>
            <a:r>
              <a:rPr sz="54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thời gian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Mọi AP; ‘—’ = bộ chỉ có một tòa / một tầng; thời gian = ms cho mỗi vân tay trên tập test chính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2032000"/>
          <a:ext cx="17119600" cy="6299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91000"/>
                <a:gridCol w="1397000"/>
                <a:gridCol w="3175000"/>
                <a:gridCol w="1778000"/>
                <a:gridCol w="1778000"/>
                <a:gridCol w="1905000"/>
                <a:gridCol w="1524000"/>
                <a:gridCol w="1371600"/>
              </a:tblGrid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Bộ · tập test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Tòa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Tầng S0 </a:t>
                      </a:r>
                      <a:r>
                        <a:rPr sz="1600" b="1" i="0" u="none">
                          <a:solidFill>
                            <a:srgbClr val="F2BE3A"/>
                          </a:solidFill>
                          <a:latin typeface="Segoe UI Symbol"/>
                        </a:rPr>
                        <a:t>→</a:t>
                      </a:r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 tối ưu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Sai số TB: S0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UJI 5,36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Tối ưu lại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Trung vị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ms/vân tay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 · validationData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99,91%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87,94% </a:t>
                      </a:r>
                      <a:r>
                        <a:rPr sz="1600" b="0" i="0" u="none">
                          <a:solidFill>
                            <a:srgbClr val="FFFFFF"/>
                          </a:solidFill>
                          <a:latin typeface="Segoe UI Symbol"/>
                        </a:rPr>
                        <a:t>→</a:t>
                      </a:r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 </a:t>
                      </a:r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94,69%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9,28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5,36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5,36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3,52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30,79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Test-01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1,33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1,35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1,21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0,58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2,70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Test-02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1,94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1,91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2,03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1,54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 · Testing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99,22% </a:t>
                      </a:r>
                      <a:r>
                        <a:rPr sz="1600" b="0" i="0" u="none">
                          <a:solidFill>
                            <a:srgbClr val="FFFFFF"/>
                          </a:solidFill>
                          <a:latin typeface="Segoe UI Symbol"/>
                        </a:rPr>
                        <a:t>→</a:t>
                      </a:r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 </a:t>
                      </a:r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99,48%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4,18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3,95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3,43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2,52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 · test_HCXY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1,93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1,62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1,55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1,12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1,54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(bỏ dòng chép) · testcase1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0,42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0,54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0,39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0,00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(bỏ dòng chép) · testcase2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0,33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0,35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0,25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0,00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Tối ưu lại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thắng</a:t>
            </a: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dùng lại nguyên 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Sai số trung bình (m) trên từng tập kiểm tra: k-NN nghiên cứu, cấu hình UJIIndoorLoc áp nguyên, và quy trình chọn chạy lại trên bộ đó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032000"/>
            <a:ext cx="11557000" cy="762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main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51" y="2159000"/>
            <a:ext cx="10851696" cy="736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2446000" y="2032000"/>
            <a:ext cx="5257800" cy="7620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750800" y="2286000"/>
            <a:ext cx="469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u="none">
                <a:solidFill>
                  <a:srgbClr val="F2BE3A"/>
                </a:solidFill>
                <a:latin typeface="Public Sans"/>
              </a:rPr>
              <a:t>ĐIỀU RÚT 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50800" y="2870200"/>
            <a:ext cx="4699000" cy="66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5740" indent="-205740">
              <a:lnSpc>
                <a:spcPct val="110000"/>
              </a:lnSpc>
              <a:buClr>
                <a:srgbClr val="F2BE3A"/>
              </a:buClr>
              <a:buFont typeface="Public Sans"/>
              <a:buChar char="–"/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Cái tổng quát hoá được là </a:t>
            </a:r>
            <a:r>
              <a:rPr sz="1800" b="1" i="0" u="none">
                <a:solidFill>
                  <a:srgbClr val="F2BE3A"/>
                </a:solidFill>
                <a:latin typeface="Public Sans"/>
              </a:rPr>
              <a:t>quy trình chọn</a:t>
            </a:r>
            <a:r>
              <a:rPr sz="1800" b="0" i="0" u="none">
                <a:solidFill>
                  <a:srgbClr val="FFFFFF"/>
                </a:solidFill>
                <a:latin typeface="Public Sans"/>
              </a:rPr>
              <a:t> trên fold của train, không phải bộ siêu tham số của UJIIndoorLoc.</a:t>
            </a:r>
          </a:p>
          <a:p>
            <a:pPr algn="l" marL="205740" indent="-205740">
              <a:lnSpc>
                <a:spcPct val="110000"/>
              </a:lnSpc>
              <a:spcBef>
                <a:spcPts val="1400"/>
              </a:spcBef>
              <a:buClr>
                <a:srgbClr val="F2BE3A"/>
              </a:buClr>
              <a:buFont typeface="Public Sans"/>
              <a:buChar char="–"/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Cấu hình 5,36 m áp nguyên bằng/thắng mô hình chọn lại ở 2/7 tập (trên UJI hai mô hình là một).</a:t>
            </a:r>
          </a:p>
          <a:p>
            <a:pPr algn="l" marL="205740" indent="-205740">
              <a:lnSpc>
                <a:spcPct val="110000"/>
              </a:lnSpc>
              <a:spcBef>
                <a:spcPts val="1400"/>
              </a:spcBef>
              <a:buClr>
                <a:srgbClr val="F2BE3A"/>
              </a:buClr>
              <a:buFont typeface="Public Sans"/>
              <a:buChar char="–"/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Ngoại lệ: UJI_LIB tầng 3 · Test-02 (1,94 </a:t>
            </a:r>
            <a:r>
              <a:rPr sz="18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800" b="0" i="0" u="none">
                <a:solidFill>
                  <a:srgbClr val="FFFFFF"/>
                </a:solidFill>
                <a:latin typeface="Public Sans"/>
              </a:rPr>
              <a:t> 2,03 m) — fold kiểm định không mô phỏng được vị trí test mới.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Mỗi bộ chọn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một mô hình khác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Bước cuối được giữ trên dev (CHỌN) và sai số trên test (BÁO CÁO)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2032000"/>
          <a:ext cx="17119600" cy="4267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02000"/>
                <a:gridCol w="9652000"/>
                <a:gridCol w="1778000"/>
                <a:gridCol w="2387600"/>
              </a:tblGrid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Bộ dữ liệu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Cấu hình được chọn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Dev TB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Test TB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exponential+braycurtis, k=12, w=1/d^4, lệch ±6 dB, ghép positive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6,21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5,36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exponential+braycurtis, k=3, w=1/d^4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1,36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1,21 m · 2,03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powed+braycurtis, k=7, w=1/d^4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2,54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3,43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powed+braycurtis, k=30, w=1/d^3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1,41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1,55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(bỏ dòng chép)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powed+manhattan, k=4, w=1/d^4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0,41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0,39 m · 0,25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84200" y="7493000"/>
            <a:ext cx="17119600" cy="2159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F2B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7696200"/>
            <a:ext cx="1651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KIỂM TRA TÁI LẬP UJIIndoorLoc qua code chung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229600"/>
            <a:ext cx="1651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1455" indent="-211455">
              <a:lnSpc>
                <a:spcPct val="108000"/>
              </a:lnSpc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Nghiên cứu gốc: 5,3558 m, 94,69% đúng tòa–tầng · Code chung: 5,3558 m, 94,69%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</a:t>
            </a:r>
            <a:r>
              <a:rPr sz="1850" b="1" i="0" u="none">
                <a:solidFill>
                  <a:srgbClr val="F2BE3A"/>
                </a:solidFill>
                <a:latin typeface="Public Sans"/>
              </a:rPr>
              <a:t>TRÙNG KHỚP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.</a:t>
            </a:r>
          </a:p>
          <a:p>
            <a:pPr algn="l" marL="211455" indent="-211455">
              <a:lnSpc>
                <a:spcPct val="108000"/>
              </a:lnSpc>
              <a:spcBef>
                <a:spcPts val="6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PHASE I: 190/190 điều kiện chọn AP trùng tuyệt đối — phần mở rộng chỉ đổi dữ liệu, không đổi phương pháp.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Phân bố sai số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từng tập kiểm 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Đường càng lệch trái càng tốt: % vân tay có sai số ≤ x mét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032000"/>
            <a:ext cx="17119600" cy="762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error_c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556" y="2159000"/>
            <a:ext cx="15648886" cy="736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HUIM có hơn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đối chứng</a:t>
            </a: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Cùng mô hình tối ưu, cùng số AP: tập HUIM (union tốt nhất mỗi mô hình) so với top-n theo MI và theo tần suất phát hiện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032000"/>
            <a:ext cx="11557000" cy="762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huim_vs_contr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738" y="2159000"/>
            <a:ext cx="9977923" cy="7366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2446000" y="2032000"/>
            <a:ext cx="5257800" cy="7620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750800" y="2336800"/>
            <a:ext cx="4699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800" b="1" i="0" u="none">
                <a:solidFill>
                  <a:srgbClr val="F2BE3A"/>
                </a:solidFill>
                <a:latin typeface="Public Sans"/>
              </a:rPr>
              <a:t>3/42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50800" y="3429000"/>
            <a:ext cx="4699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 u="none">
                <a:solidFill>
                  <a:srgbClr val="DCE3EE"/>
                </a:solidFill>
                <a:latin typeface="Public Sans"/>
              </a:rPr>
              <a:t>tập AP của HUIM thắng hẳn cả hai đối chứng cùng số 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50800" y="4572000"/>
            <a:ext cx="4699000" cy="482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5740" indent="-205740">
              <a:lnSpc>
                <a:spcPct val="110000"/>
              </a:lnSpc>
              <a:buClr>
                <a:srgbClr val="F2BE3A"/>
              </a:buClr>
              <a:buFont typeface="Public Sans"/>
              <a:buChar char="–"/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Kết luận của nghiên cứu gốc lặp lại trên dữ liệu mới: HUIM tìm nhóm AP ‘mạnh và hay đi cùng nhau’, nhưng không vì thế mà định vị tốt hơn.</a:t>
            </a:r>
          </a:p>
          <a:p>
            <a:pPr algn="l" marL="205740" indent="-205740">
              <a:lnSpc>
                <a:spcPct val="110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Bộ ít AP (DLULIB 17, HUS 5): union lấy gần hết AP, nên tác dụng giảm AP chỉ thấy ở top-n (slide sau).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Cần giữ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bao nhiêu AP</a:t>
            </a: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Sai số của mô hình tối ưu theo số AP; bảng: số AP nhỏ nhất để sai số ≤ 1,1 × sai số dùng mọi 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032000"/>
            <a:ext cx="11557000" cy="762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error_vs_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777" y="2159000"/>
            <a:ext cx="10551845" cy="7366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395200" y="2032000"/>
          <a:ext cx="5308600" cy="3505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/>
                <a:gridCol w="838200"/>
                <a:gridCol w="838200"/>
                <a:gridCol w="838200"/>
                <a:gridCol w="889000"/>
              </a:tblGrid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Bộ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Mọi AP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HUIM B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Top-MI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Ngẫu nhiên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520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620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347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—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Thời gian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định vị</a:t>
            </a: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và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khai phá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Trung vị 3 lần đo trên tối đa 1.111 vân tay test, mọi lõi CPU, máy không chạy việc khác; EFIM chỉ chạy một lần khi xây dựng hệ thống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2032000"/>
          <a:ext cx="8483600" cy="73659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83000"/>
                <a:gridCol w="838200"/>
                <a:gridCol w="1270000"/>
                <a:gridCol w="1397000"/>
                <a:gridCol w="635000"/>
                <a:gridCol w="660400"/>
              </a:tblGrid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Bộ · tập AP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Số AP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k-NN (ms/vt)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Tối ưu (ms/vt)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CSDL (MB)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EFIM (s)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 · mọi AP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520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4,969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30,791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79,10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 · AP thấy ở train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465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4,442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27,325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70,73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 · HUIM A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0,815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5,593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13,08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578,5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 · HUIM B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0,763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7,284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12,02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23,3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 · HUIM C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0,901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5,920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13,84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26,8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 · HUIM A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4,827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11,41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578,5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 · HUIM B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0,719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4,821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11,41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23,3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UJIIndoorLoc · HUIM C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0,723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4,842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11,41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26,8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mọi AP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620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3,615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2,700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54,49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AP thấy ở train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306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2,128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1,416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26,89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HUIM A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0,535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0,429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7,29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328,7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HUIM B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0,597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0,450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7,65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291,0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HUIM C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0,562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0,416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6,94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241,5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HUIM A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0,351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0,268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4,39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152,8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HUIM B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0,482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0,383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6,59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317,4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UJI_LIB tầng 3 · HUIM C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0,330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0,278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4,39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196,8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 · mọi AP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0,167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0,139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1,69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 · AP thấy ở train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0,162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0,133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1,69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 · HUIM A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0,161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0,136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1,69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 · HUIM B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0,158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0,131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1,69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271000" y="2032000"/>
          <a:ext cx="8483600" cy="73659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83000"/>
                <a:gridCol w="838200"/>
                <a:gridCol w="1270000"/>
                <a:gridCol w="1397000"/>
                <a:gridCol w="635000"/>
                <a:gridCol w="660400"/>
              </a:tblGrid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Bộ · tập AP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Số AP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k-NN (ms/vt)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Tối ưu (ms/vt)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CSDL (MB)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EFIM (s)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 · HUIM C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0,166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0,134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1,69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 · HUIM A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0,166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0,135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1,69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 · HUIM B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0,163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0,140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1,69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DLULIB · HUIM C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0,164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0,136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1,69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 · mọi AP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347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2,663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1,542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30,10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 · AP thấy ở train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345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2,175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1,443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29,93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 · HUIM A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0,440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0,330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5,81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55,7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 · HUIM B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0,483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0,364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6,33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603,7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 · HUIM C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0,529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0,396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7,11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153,8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 · HUIM A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0,271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0,216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3,47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55,7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 · HUIM B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0,340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0,266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4,34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141,9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HCXY · HUIM C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0,161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0,124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1,74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8,9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· mọi AP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0,531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0,177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· AP thấy ở train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0,606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0,166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· HUIM A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0,535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0,170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· HUIM B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0,568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0,170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0,3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· HUIM C union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0,532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0,161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· HUIM A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0,524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0,174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· HUIM B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0,514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0,167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350761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HUS · HUIM C top-n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0,548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0,175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0,77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0,2</a:t>
                      </a:r>
                    </a:p>
                  </a:txBody>
                  <a:tcPr marL="50800" marR="50800" marT="27940" marB="279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94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Bài học </a:t>
            </a:r>
            <a:r>
              <a:rPr sz="58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từ dữ liệu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4200" y="1905000"/>
            <a:ext cx="8432800" cy="3556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184400"/>
            <a:ext cx="787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u="none">
                <a:solidFill>
                  <a:srgbClr val="F2BE3A"/>
                </a:solidFill>
                <a:latin typeface="Public Sans"/>
              </a:rPr>
              <a:t>Vị trí mới khó hơn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46400"/>
            <a:ext cx="7747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 u="none">
                <a:solidFill>
                  <a:srgbClr val="FFFFFF"/>
                </a:solidFill>
                <a:latin typeface="Public Sans"/>
              </a:rPr>
              <a:t>UJI_LIB: Test-01 (đo lại vị trí train) 1,21 m, Test-02 (vị trí mới) 2,03 m — cùng một mô hình.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71000" y="1905000"/>
            <a:ext cx="8432800" cy="3556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0" y="2184400"/>
            <a:ext cx="787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u="none">
                <a:solidFill>
                  <a:srgbClr val="F2BE3A"/>
                </a:solidFill>
                <a:latin typeface="Public Sans"/>
              </a:rPr>
              <a:t>Rò rỉ làm đẹp số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946400"/>
            <a:ext cx="7747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 u="none">
                <a:solidFill>
                  <a:srgbClr val="FFFFFF"/>
                </a:solidFill>
                <a:latin typeface="Public Sans"/>
              </a:rPr>
              <a:t>HUS testcase1: 0,07 m khi còn bản sao, 0,39 m khi bỏ bản sao.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4200" y="5715000"/>
            <a:ext cx="8432800" cy="3556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5994400"/>
            <a:ext cx="787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u="none">
                <a:solidFill>
                  <a:srgbClr val="F2BE3A"/>
                </a:solidFill>
                <a:latin typeface="Public Sans"/>
              </a:rPr>
              <a:t>Tầng có AP ‘riêng’ thì dễ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756400"/>
            <a:ext cx="7747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 u="none">
                <a:solidFill>
                  <a:srgbClr val="FFFFFF"/>
                </a:solidFill>
                <a:latin typeface="Public Sans"/>
              </a:rPr>
              <a:t>DLULIB đúng tầng 99,48% chỉ với 17 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71000" y="5715000"/>
            <a:ext cx="8432800" cy="3556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0" y="5994400"/>
            <a:ext cx="787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u="none">
                <a:solidFill>
                  <a:srgbClr val="F2BE3A"/>
                </a:solidFill>
                <a:latin typeface="Public Sans"/>
              </a:rPr>
              <a:t>UJIIndoorLoc khó nhất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756400"/>
            <a:ext cx="7747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 u="none">
                <a:solidFill>
                  <a:srgbClr val="FFFFFF"/>
                </a:solidFill>
                <a:latin typeface="Public Sans"/>
              </a:rPr>
              <a:t>5,36 m: người đo khác, điện thoại khác, sau 4 tháng, vị trí chưa khảo sát.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94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Kiểm chứng </a:t>
            </a:r>
            <a:r>
              <a:rPr sz="58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độc lập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732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Người đọc tự chạy lại / tự tính lại được, không cần tin mã thực nghiệm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235200"/>
            <a:ext cx="5435600" cy="5969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4892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EFIM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48000"/>
            <a:ext cx="47752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800" b="1" i="0" u="none">
                <a:solidFill>
                  <a:srgbClr val="F2BE3A"/>
                </a:solidFill>
                <a:latin typeface="Public Sans"/>
              </a:rPr>
              <a:t>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402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 u="none">
                <a:solidFill>
                  <a:srgbClr val="DCE3EE"/>
                </a:solidFill>
                <a:latin typeface="Public Sans"/>
              </a:rPr>
              <a:t>phép kiểm thử đạt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26000"/>
            <a:ext cx="47752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EFIM so với bộ duyệt vét cạn trên CSDL ngẫu nhiên; mô hình utility; công thức.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493000"/>
            <a:ext cx="4775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 u="none">
                <a:solidFill>
                  <a:srgbClr val="A9B8CC"/>
                </a:solidFill>
                <a:latin typeface="Consolas"/>
              </a:rPr>
              <a:t>python -m pytest tests -q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6200" y="2235200"/>
            <a:ext cx="5435600" cy="5969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56400" y="24892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TÁI LẬP UJI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6400" y="3048000"/>
            <a:ext cx="47752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800" b="1" i="0" u="none">
                <a:solidFill>
                  <a:srgbClr val="F2BE3A"/>
                </a:solidFill>
                <a:latin typeface="Public Sans"/>
              </a:rPr>
              <a:t>190/190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6400" y="41402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 u="none">
                <a:solidFill>
                  <a:srgbClr val="DCE3EE"/>
                </a:solidFill>
                <a:latin typeface="Public Sans"/>
              </a:rPr>
              <a:t>điều kiện PHASE I trùng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6400" y="4826000"/>
            <a:ext cx="47752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PHASE I3 qua code chung: 5,3558 m (gốc 5,3558 m).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6400" y="7493000"/>
            <a:ext cx="4775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 u="none">
                <a:solidFill>
                  <a:srgbClr val="A9B8CC"/>
                </a:solidFill>
                <a:latin typeface="Consolas"/>
              </a:rPr>
              <a:t>run_multi_dataset.py --dataset uji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268200" y="2235200"/>
            <a:ext cx="5435600" cy="5969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598400" y="24892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EXCEL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8400" y="3048000"/>
            <a:ext cx="47752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800" b="1" i="0" u="none">
                <a:solidFill>
                  <a:srgbClr val="F2BE3A"/>
                </a:solidFill>
                <a:latin typeface="Public Sans"/>
              </a:rPr>
              <a:t>547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8400" y="41402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 u="none">
                <a:solidFill>
                  <a:srgbClr val="DCE3EE"/>
                </a:solidFill>
                <a:latin typeface="Public Sans"/>
              </a:rPr>
              <a:t>ô kiểm tra KHỚP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98400" y="4826000"/>
            <a:ext cx="47752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0 ô lệch. Công thức Excel tính lại tòa, tầng, sai số, dựng lại (x, y) từ láng giềng và trọng số.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98400" y="7493000"/>
            <a:ext cx="4775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 u="none">
                <a:solidFill>
                  <a:srgbClr val="A9B8CC"/>
                </a:solidFill>
                <a:latin typeface="Consolas"/>
              </a:rPr>
              <a:t>verification/kiem_chung_da_dataset.xlsx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8585200"/>
            <a:ext cx="17145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 u="none">
                <a:solidFill>
                  <a:srgbClr val="DCE3EE"/>
                </a:solidFill>
                <a:latin typeface="Public Sans"/>
              </a:rPr>
              <a:t>Mọi số trên slide được src/make_multi_dataset_deck.py đọc từ results/multi_dataset/ lúc dựng (không gõ tay); mỗi biểu đồ có file CSV trong figures/deck_multi/.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i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736600"/>
            <a:ext cx="127000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7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Kết luận và</a:t>
            </a:r>
          </a:p>
          <a:p>
            <a:pPr algn="l">
              <a:lnSpc>
                <a:spcPct val="98000"/>
              </a:lnSpc>
            </a:pPr>
            <a:r>
              <a:rPr sz="72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hướng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759200"/>
            <a:ext cx="9652000" cy="6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10000"/>
              </a:lnSpc>
              <a:buClr>
                <a:srgbClr val="F2BE3A"/>
              </a:buClr>
              <a:buFont typeface="Public Sans"/>
              <a:buChar char="–"/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CH1:</a:t>
            </a:r>
            <a:r>
              <a:rPr sz="2000" b="0" i="0" u="none">
                <a:solidFill>
                  <a:srgbClr val="FFFFFF"/>
                </a:solidFill>
                <a:latin typeface="Public Sans"/>
              </a:rPr>
              <a:t> phương pháp chạy trên 5 bộ dữ liệu (5 </a:t>
            </a:r>
            <a:r>
              <a:rPr sz="20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000" b="0" i="0" u="none">
                <a:solidFill>
                  <a:srgbClr val="FFFFFF"/>
                </a:solidFill>
                <a:latin typeface="Public Sans"/>
              </a:rPr>
              <a:t> 620 AP, 1 </a:t>
            </a:r>
            <a:r>
              <a:rPr sz="20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000" b="0" i="0" u="none">
                <a:solidFill>
                  <a:srgbClr val="FFFFFF"/>
                </a:solidFill>
                <a:latin typeface="Public Sans"/>
              </a:rPr>
              <a:t> 13 lớp tòa–tầng) mà không sửa thuật toán.</a:t>
            </a:r>
          </a:p>
          <a:p>
            <a:pPr algn="l" marL="228600" indent="-228600">
              <a:lnSpc>
                <a:spcPct val="110000"/>
              </a:lnSpc>
              <a:spcBef>
                <a:spcPts val="1400"/>
              </a:spcBef>
              <a:buClr>
                <a:srgbClr val="F2BE3A"/>
              </a:buClr>
              <a:buFont typeface="Public Sans"/>
              <a:buChar char="–"/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CH2–3:</a:t>
            </a:r>
            <a:r>
              <a:rPr sz="2000" b="0" i="0" u="none">
                <a:solidFill>
                  <a:srgbClr val="FFFFFF"/>
                </a:solidFill>
                <a:latin typeface="Public Sans"/>
              </a:rPr>
              <a:t> tối ưu sai số giảm lỗi so với k-NN gốc ở 6/7 tập test; tổng quát hoá là QUY TRÌNH CHỌN, không phải siêu tham số của UJI.</a:t>
            </a:r>
          </a:p>
          <a:p>
            <a:pPr algn="l" marL="228600" indent="-228600">
              <a:lnSpc>
                <a:spcPct val="110000"/>
              </a:lnSpc>
              <a:spcBef>
                <a:spcPts val="1400"/>
              </a:spcBef>
              <a:buClr>
                <a:srgbClr val="F2BE3A"/>
              </a:buClr>
              <a:buFont typeface="Public Sans"/>
              <a:buChar char="–"/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CH4:</a:t>
            </a:r>
            <a:r>
              <a:rPr sz="2000" b="0" i="0" u="none">
                <a:solidFill>
                  <a:srgbClr val="FFFFFF"/>
                </a:solidFill>
                <a:latin typeface="Public Sans"/>
              </a:rPr>
              <a:t> HUIM vẫn không thắng đối chứng đơn giản cùng số AP.</a:t>
            </a:r>
          </a:p>
          <a:p>
            <a:pPr algn="l" marL="228600" indent="-228600">
              <a:lnSpc>
                <a:spcPct val="110000"/>
              </a:lnSpc>
              <a:spcBef>
                <a:spcPts val="1400"/>
              </a:spcBef>
              <a:buClr>
                <a:srgbClr val="F2BE3A"/>
              </a:buClr>
              <a:buFont typeface="Public Sans"/>
              <a:buChar char="–"/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Kiểm tra dữ liệu là một phần của phương pháp (HUS rò rỉ). Tiếp theo: lấy đủ các thư mục còn thiếu (syl, tuji, UJI_LIB tầng 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Tài liệu </a:t>
            </a:r>
            <a:r>
              <a:rPr sz="50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tham khảo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422400"/>
            <a:ext cx="17145000" cy="81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[1] J. Torres-Sospedra et al., "UJIIndoorLoc: A new multi-building and multi-floor database for WLAN fingerprint-based indoor localization problems," in Proc. Int. Conf. Indoor Positioning and Indoor Navigation (IPIN), 2014, pp. 261–270. doi:10.1109/IPIN.2014.7275492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[2] G. Mendoza-Silva, P. Richter, J. Torres-Sospedra, E. Lohan and J. Huerta, "Long-Term WiFi Fingerprinting Dataset for Research on Robust Indoor Positioning," Data, vol. 3, no. 1, pp. 3, 2018. doi:10.3390/data3010003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[3] C. E. Shannon, "A Mathematical Theory of Communication," Bell System Technical Journal, vol. 27, no. 3, pp. 379–423, 1948. doi:10.1002/j.1538-7305.1948.tb01338.x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[4] H. Yao, H. J. Hamilton, and C. J. Butz, "A foundational approach to mining itemset utilities from databases," in Proc. SIAM Int. Conf. Data Mining (SDM), 2004, pp. 482–486. doi:10.1137/1.9781611972740.51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[5] K. Spärck Jones, "A statistical interpretation of term specificity and its application in retrieval," Journal of Documentation, vol. 28, no. 1, pp. 11–21, 1972. doi:10.1108/eb026526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[6] Y. Liu, W.-K. Liao, and A. Choudhary, "A two-phase algorithm for fast discovery of high utility itemsets," in Lecture Notes in Computer Science (PAKDD), 2005, pp. 689–695. doi:10.1007/11430919_79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[7] J. Torres-Sospedra, R. Montoliu, S. Trilles, Ó. Belmonte, and J. Huerta, "Comprehensive analysis of distance and similarity measures for Wi-Fi fingerprinting indoor positioning systems," Expert Syst. Appl., vol. 42, no. 23, pp. 9263–9278, 2015. doi:10.1016/j.eswa.2015.08.013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[8] J. R. Bray and J. T. Curtis, "An Ordination of the Upland Forest Communities of Southern Wisconsin," Ecological Monographs, vol. 27, no. 4, pp. 325–349, 1957. doi:10.2307/1942268</a:t>
            </a:r>
          </a:p>
          <a:p>
            <a:pPr algn="l">
              <a:lnSpc>
                <a:spcPct val="104000"/>
              </a:lnSpc>
              <a:spcBef>
                <a:spcPts val="800"/>
              </a:spcBef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[9] D. Shepard, "A two-dimensional interpolation function for irregularly-spaced data," Proceedings of the 1968 23rd ACM national conference, pp. 517–524, 1968. doi:10.1145/800186.810616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9652000"/>
            <a:ext cx="1714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 u="none">
                <a:solidFill>
                  <a:srgbClr val="A9B8CC"/>
                </a:solidFill>
                <a:latin typeface="Public Sans"/>
              </a:rPr>
              <a:t>Mọi DOI đã kiểm tra qua Crossref (research/papers_table.csv, doi_verification_formulas.json, doi_verification_multi_dataset.json).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HUIM và IPS — mở rộng đa dữ liệu</dc:title>
  <dc:subject>HUIM chọn AP + k-NN + tối ưu sai số trên nhiều bộ Wi-Fi fingerprint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