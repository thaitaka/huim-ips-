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2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2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2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2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image" Target="../media/image3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Relationship Id="rId3" Type="http://schemas.openxmlformats.org/officeDocument/2006/relationships/image" Target="../media/image36.png"/><Relationship Id="rId4" Type="http://schemas.openxmlformats.org/officeDocument/2006/relationships/image" Target="../media/image3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image" Target="../media/image4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4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4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4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4200" y="787400"/>
            <a:ext cx="8382000" cy="419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2000"/>
              </a:lnSpc>
            </a:pPr>
            <a:r>
              <a:rPr sz="9000" b="1" i="0" u="none">
                <a:solidFill>
                  <a:srgbClr val="FFFFFF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High Utility</a:t>
            </a:r>
          </a:p>
          <a:p>
            <a:pPr algn="l">
              <a:lnSpc>
                <a:spcPct val="92000"/>
              </a:lnSpc>
            </a:pPr>
            <a:r>
              <a:rPr sz="9000" b="1" i="0" u="none">
                <a:solidFill>
                  <a:srgbClr val="FFFFFF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Itemset Mining</a:t>
            </a:r>
          </a:p>
          <a:p>
            <a:pPr algn="l">
              <a:lnSpc>
                <a:spcPct val="92000"/>
              </a:lnSpc>
            </a:pPr>
            <a:r>
              <a:rPr sz="8300" b="1" i="0" u="none">
                <a:solidFill>
                  <a:srgbClr val="F2BE3A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(HUIM)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000" y="5207000"/>
            <a:ext cx="7747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500" b="0" i="0" u="none">
                <a:solidFill>
                  <a:srgbClr val="DCE3EE"/>
                </a:solidFill>
                <a:latin typeface="Public Sans"/>
              </a:rPr>
              <a:t>Ứng dụng chọn Access Point cho định vị trong nhà bằng vân tay Wi-Fi — thực nghiệm trên UJIIndoorLoc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000" y="7772400"/>
            <a:ext cx="5080000" cy="609600"/>
          </a:xfrm>
          <a:prstGeom prst="roundRect">
            <a:avLst>
              <a:gd name="adj" fmla="val 50000"/>
            </a:avLst>
          </a:prstGeom>
          <a:solidFill>
            <a:srgbClr val="F2B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35000" y="7772400"/>
            <a:ext cx="50800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 u="none">
                <a:solidFill>
                  <a:srgbClr val="14223A"/>
                </a:solidFill>
                <a:latin typeface="Public Sans"/>
              </a:rPr>
              <a:t>VERSION 2  ·  cập nhật 13/10/2026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400" y="8636000"/>
            <a:ext cx="7874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50" b="0" i="0" u="none">
                <a:solidFill>
                  <a:srgbClr val="A9B8CC"/>
                </a:solidFill>
                <a:latin typeface="Public Sans"/>
              </a:rPr>
              <a:t>Thay thế Version 1 (bản Canva ngày 08/10/2026). Mọi số liệu sinh tự động từ results/ của dự án.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4200" y="457200"/>
            <a:ext cx="1714500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6000" b="1" i="0" u="none">
                <a:solidFill>
                  <a:srgbClr val="F2BE3A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Version 2</a:t>
            </a:r>
            <a:r>
              <a:rPr sz="6000" b="1" i="0" u="none">
                <a:solidFill>
                  <a:srgbClr val="FFFFFF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 có gì mới?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498600"/>
            <a:ext cx="1651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 i="0" u="none">
                <a:solidFill>
                  <a:srgbClr val="A9B8CC"/>
                </a:solidFill>
                <a:latin typeface="Public Sans"/>
              </a:rPr>
              <a:t>So với bản trình bày Version 1 (PDF Canva ngày 08/10/2026, 22 trang) — số liệu trên 1.111 fingerprint của validationData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4200" y="2133600"/>
            <a:ext cx="4089400" cy="2184400"/>
          </a:xfrm>
          <a:prstGeom prst="roundRect">
            <a:avLst>
              <a:gd name="adj" fmla="val 8000"/>
            </a:avLst>
          </a:prstGeom>
          <a:solidFill>
            <a:srgbClr val="0D2645"/>
          </a:solidFill>
          <a:ln w="15875">
            <a:solidFill>
              <a:srgbClr val="3A5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38200" y="2336800"/>
            <a:ext cx="35814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 u="none">
                <a:solidFill>
                  <a:srgbClr val="DCE3EE"/>
                </a:solidFill>
                <a:latin typeface="Public Sans"/>
              </a:rPr>
              <a:t>Sai số trung bình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2844800"/>
            <a:ext cx="3683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900" b="1" i="0" u="none">
                <a:solidFill>
                  <a:srgbClr val="FFFFFF"/>
                </a:solidFill>
                <a:latin typeface="Public Sans"/>
              </a:rPr>
              <a:t>9,28 </a:t>
            </a:r>
            <a:r>
              <a:rPr sz="2900" b="1" i="0" u="none">
                <a:solidFill>
                  <a:srgbClr val="FFFFFF"/>
                </a:solidFill>
                <a:latin typeface="Segoe UI Symbol"/>
              </a:rPr>
              <a:t>→</a:t>
            </a:r>
            <a:r>
              <a:rPr sz="2900" b="1" i="0" u="none">
                <a:solidFill>
                  <a:srgbClr val="FFFFFF"/>
                </a:solidFill>
                <a:latin typeface="Public Sans"/>
              </a:rPr>
              <a:t> </a:t>
            </a:r>
            <a:r>
              <a:rPr sz="2900" b="1" i="0" u="none">
                <a:solidFill>
                  <a:srgbClr val="F2BE3A"/>
                </a:solidFill>
                <a:latin typeface="Public Sans"/>
              </a:rPr>
              <a:t>5,36</a:t>
            </a:r>
            <a:r>
              <a:rPr sz="2900" b="1" i="0" u="none">
                <a:solidFill>
                  <a:srgbClr val="FFFFFF"/>
                </a:solidFill>
                <a:latin typeface="Public Sans"/>
              </a:rPr>
              <a:t> 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3708400"/>
            <a:ext cx="3581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1" u="none">
                <a:solidFill>
                  <a:srgbClr val="A9B8CC"/>
                </a:solidFill>
                <a:latin typeface="Public Sans"/>
              </a:rPr>
              <a:t>mét thực địa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02200" y="2133600"/>
            <a:ext cx="4089400" cy="2184400"/>
          </a:xfrm>
          <a:prstGeom prst="roundRect">
            <a:avLst>
              <a:gd name="adj" fmla="val 8000"/>
            </a:avLst>
          </a:prstGeom>
          <a:solidFill>
            <a:srgbClr val="0D2645"/>
          </a:solidFill>
          <a:ln w="15875">
            <a:solidFill>
              <a:srgbClr val="3A5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156200" y="2336800"/>
            <a:ext cx="35814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 u="none">
                <a:solidFill>
                  <a:srgbClr val="DCE3EE"/>
                </a:solidFill>
                <a:latin typeface="Public Sans"/>
              </a:rPr>
              <a:t>Sai số trung vị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56200" y="2844800"/>
            <a:ext cx="3683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900" b="1" i="0" u="none">
                <a:solidFill>
                  <a:srgbClr val="FFFFFF"/>
                </a:solidFill>
                <a:latin typeface="Public Sans"/>
              </a:rPr>
              <a:t>4,61 </a:t>
            </a:r>
            <a:r>
              <a:rPr sz="2900" b="1" i="0" u="none">
                <a:solidFill>
                  <a:srgbClr val="FFFFFF"/>
                </a:solidFill>
                <a:latin typeface="Segoe UI Symbol"/>
              </a:rPr>
              <a:t>→</a:t>
            </a:r>
            <a:r>
              <a:rPr sz="2900" b="1" i="0" u="none">
                <a:solidFill>
                  <a:srgbClr val="FFFFFF"/>
                </a:solidFill>
                <a:latin typeface="Public Sans"/>
              </a:rPr>
              <a:t> </a:t>
            </a:r>
            <a:r>
              <a:rPr sz="2900" b="1" i="0" u="none">
                <a:solidFill>
                  <a:srgbClr val="F2BE3A"/>
                </a:solidFill>
                <a:latin typeface="Public Sans"/>
              </a:rPr>
              <a:t>3,52</a:t>
            </a:r>
            <a:r>
              <a:rPr sz="2900" b="1" i="0" u="none">
                <a:solidFill>
                  <a:srgbClr val="FFFFFF"/>
                </a:solidFill>
                <a:latin typeface="Public Sans"/>
              </a:rPr>
              <a:t> 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56200" y="3708400"/>
            <a:ext cx="3581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1" u="none">
                <a:solidFill>
                  <a:srgbClr val="A9B8CC"/>
                </a:solidFill>
                <a:latin typeface="Public Sans"/>
              </a:rPr>
              <a:t>mét thực địa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20200" y="2133600"/>
            <a:ext cx="4089400" cy="2184400"/>
          </a:xfrm>
          <a:prstGeom prst="roundRect">
            <a:avLst>
              <a:gd name="adj" fmla="val 8000"/>
            </a:avLst>
          </a:prstGeom>
          <a:solidFill>
            <a:srgbClr val="0D2645"/>
          </a:solidFill>
          <a:ln w="15875">
            <a:solidFill>
              <a:srgbClr val="3A5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474200" y="2336800"/>
            <a:ext cx="35814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 u="none">
                <a:solidFill>
                  <a:srgbClr val="DCE3EE"/>
                </a:solidFill>
                <a:latin typeface="Public Sans"/>
              </a:rPr>
              <a:t>Độ chính xác tòa nhà + tầng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74200" y="2844800"/>
            <a:ext cx="3683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900" b="1" i="0" u="none">
                <a:solidFill>
                  <a:srgbClr val="FFFFFF"/>
                </a:solidFill>
                <a:latin typeface="Public Sans"/>
              </a:rPr>
              <a:t>87,76% </a:t>
            </a:r>
            <a:r>
              <a:rPr sz="2900" b="1" i="0" u="none">
                <a:solidFill>
                  <a:srgbClr val="FFFFFF"/>
                </a:solidFill>
                <a:latin typeface="Segoe UI Symbol"/>
              </a:rPr>
              <a:t>→</a:t>
            </a:r>
            <a:r>
              <a:rPr sz="2900" b="1" i="0" u="none">
                <a:solidFill>
                  <a:srgbClr val="FFFFFF"/>
                </a:solidFill>
                <a:latin typeface="Public Sans"/>
              </a:rPr>
              <a:t> </a:t>
            </a:r>
            <a:r>
              <a:rPr sz="2900" b="1" i="0" u="none">
                <a:solidFill>
                  <a:srgbClr val="F2BE3A"/>
                </a:solidFill>
                <a:latin typeface="Public Sans"/>
              </a:rPr>
              <a:t>94,69%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74200" y="3708400"/>
            <a:ext cx="3581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1" u="none">
                <a:solidFill>
                  <a:srgbClr val="A9B8CC"/>
                </a:solidFill>
                <a:latin typeface="Public Sans"/>
              </a:rPr>
              <a:t>joint accuracy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538200" y="2133600"/>
            <a:ext cx="4089400" cy="2184400"/>
          </a:xfrm>
          <a:prstGeom prst="roundRect">
            <a:avLst>
              <a:gd name="adj" fmla="val 8000"/>
            </a:avLst>
          </a:prstGeom>
          <a:solidFill>
            <a:srgbClr val="0D2645"/>
          </a:solidFill>
          <a:ln w="15875">
            <a:solidFill>
              <a:srgbClr val="3A5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3792200" y="2336800"/>
            <a:ext cx="35814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1" i="0" u="none">
                <a:solidFill>
                  <a:srgbClr val="DCE3EE"/>
                </a:solidFill>
                <a:latin typeface="Public Sans"/>
              </a:rPr>
              <a:t>Fingerprint sai số ≤ 8 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92200" y="2844800"/>
            <a:ext cx="3683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900" b="1" i="0" u="none">
                <a:solidFill>
                  <a:srgbClr val="FFFFFF"/>
                </a:solidFill>
                <a:latin typeface="Public Sans"/>
              </a:rPr>
              <a:t>69,5% </a:t>
            </a:r>
            <a:r>
              <a:rPr sz="2900" b="1" i="0" u="none">
                <a:solidFill>
                  <a:srgbClr val="FFFFFF"/>
                </a:solidFill>
                <a:latin typeface="Segoe UI Symbol"/>
              </a:rPr>
              <a:t>→</a:t>
            </a:r>
            <a:r>
              <a:rPr sz="2900" b="1" i="0" u="none">
                <a:solidFill>
                  <a:srgbClr val="FFFFFF"/>
                </a:solidFill>
                <a:latin typeface="Public Sans"/>
              </a:rPr>
              <a:t> </a:t>
            </a:r>
            <a:r>
              <a:rPr sz="2900" b="1" i="0" u="none">
                <a:solidFill>
                  <a:srgbClr val="F2BE3A"/>
                </a:solidFill>
                <a:latin typeface="Public Sans"/>
              </a:rPr>
              <a:t>80,5%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92200" y="3708400"/>
            <a:ext cx="3581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1" u="none">
                <a:solidFill>
                  <a:srgbClr val="A9B8CC"/>
                </a:solidFill>
                <a:latin typeface="Public Sans"/>
              </a:rPr>
              <a:t>tỉ lệ trên tập kiểm định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4200" y="4673600"/>
            <a:ext cx="8382000" cy="5016500"/>
          </a:xfrm>
          <a:prstGeom prst="roundRect">
            <a:avLst>
              <a:gd name="adj" fmla="val 4000"/>
            </a:avLst>
          </a:prstGeom>
          <a:solidFill>
            <a:srgbClr val="0D2645"/>
          </a:solidFill>
          <a:ln w="15875">
            <a:solidFill>
              <a:srgbClr val="3A5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89000" y="4902200"/>
            <a:ext cx="7747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 u="none">
                <a:solidFill>
                  <a:srgbClr val="F2BE3A"/>
                </a:solidFill>
                <a:latin typeface="Public Sans"/>
              </a:rPr>
              <a:t>GIỮ NGUYÊN TỪ VERSION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9000" y="5435600"/>
            <a:ext cx="7810500" cy="419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4315" indent="-234315">
              <a:lnSpc>
                <a:spcPct val="112000"/>
              </a:lnSpc>
              <a:buClr>
                <a:srgbClr val="F2BE3A"/>
              </a:buClr>
              <a:buFont typeface="Public Sans"/>
              <a:buChar char="–"/>
            </a:pPr>
            <a:r>
              <a:rPr sz="2050" b="0" i="0" u="none">
                <a:solidFill>
                  <a:srgbClr val="FFFFFF"/>
                </a:solidFill>
                <a:latin typeface="Public Sans"/>
              </a:rPr>
              <a:t>Dữ liệu UJIIndoorLoc, ánh xạ HUIM </a:t>
            </a:r>
            <a:r>
              <a:rPr sz="2050" b="0" i="0" u="none">
                <a:solidFill>
                  <a:srgbClr val="FFFFFF"/>
                </a:solidFill>
                <a:latin typeface="Segoe UI Symbol"/>
              </a:rPr>
              <a:t>↔</a:t>
            </a:r>
            <a:r>
              <a:rPr sz="2050" b="0" i="0" u="none">
                <a:solidFill>
                  <a:srgbClr val="FFFFFF"/>
                </a:solidFill>
                <a:latin typeface="Public Sans"/>
              </a:rPr>
              <a:t> IPS, q(i,T) và ba mô hình p(i)</a:t>
            </a:r>
          </a:p>
          <a:p>
            <a:pPr algn="l" marL="234315" indent="-234315">
              <a:lnSpc>
                <a:spcPct val="112000"/>
              </a:lnSpc>
              <a:spcBef>
                <a:spcPts val="1200"/>
              </a:spcBef>
              <a:buClr>
                <a:srgbClr val="F2BE3A"/>
              </a:buClr>
              <a:buFont typeface="Public Sans"/>
              <a:buChar char="–"/>
            </a:pPr>
            <a:r>
              <a:rPr sz="2050" b="0" i="0" u="none">
                <a:solidFill>
                  <a:srgbClr val="FFFFFF"/>
                </a:solidFill>
                <a:latin typeface="Public Sans"/>
              </a:rPr>
              <a:t>EFIM và 37 lần khai phá; 190 điều kiện đánh giá IPS</a:t>
            </a:r>
          </a:p>
          <a:p>
            <a:pPr algn="l" marL="234315" indent="-234315">
              <a:lnSpc>
                <a:spcPct val="112000"/>
              </a:lnSpc>
              <a:spcBef>
                <a:spcPts val="1200"/>
              </a:spcBef>
              <a:buClr>
                <a:srgbClr val="F2BE3A"/>
              </a:buClr>
              <a:buFont typeface="Public Sans"/>
              <a:buChar char="–"/>
            </a:pPr>
            <a:r>
              <a:rPr sz="2050" b="0" i="0" u="none">
                <a:solidFill>
                  <a:srgbClr val="FFFFFF"/>
                </a:solidFill>
                <a:latin typeface="Public Sans"/>
              </a:rPr>
              <a:t>Giao thức chống rò rỉ: mọi tham số học trên trainingData</a:t>
            </a:r>
          </a:p>
          <a:p>
            <a:pPr algn="l" marL="234315" indent="-234315">
              <a:lnSpc>
                <a:spcPct val="112000"/>
              </a:lnSpc>
              <a:spcBef>
                <a:spcPts val="1200"/>
              </a:spcBef>
              <a:buClr>
                <a:srgbClr val="F2BE3A"/>
              </a:buClr>
              <a:buFont typeface="Public Sans"/>
              <a:buChar char="–"/>
            </a:pPr>
            <a:r>
              <a:rPr sz="2050" b="0" i="0" u="none">
                <a:solidFill>
                  <a:srgbClr val="FFFFFF"/>
                </a:solidFill>
                <a:latin typeface="Public Sans"/>
              </a:rPr>
              <a:t>Kết luận về HUIM: tập WAP do HUIM chọn vẫn thua top-n theo MI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21800" y="4673600"/>
            <a:ext cx="8382000" cy="5016500"/>
          </a:xfrm>
          <a:prstGeom prst="roundRect">
            <a:avLst>
              <a:gd name="adj" fmla="val 4000"/>
            </a:avLst>
          </a:prstGeom>
          <a:solidFill>
            <a:srgbClr val="0D2645"/>
          </a:solidFill>
          <a:ln w="15875">
            <a:solidFill>
              <a:srgbClr val="3A5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26600" y="4902200"/>
            <a:ext cx="7747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 u="none">
                <a:solidFill>
                  <a:srgbClr val="F2BE3A"/>
                </a:solidFill>
                <a:latin typeface="Public Sans"/>
              </a:rPr>
              <a:t>THAY ĐỔI VÀ BỔ SUNG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26600" y="5435600"/>
            <a:ext cx="7810500" cy="419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17170" indent="-217170">
              <a:lnSpc>
                <a:spcPct val="112000"/>
              </a:lnSpc>
              <a:buClr>
                <a:srgbClr val="F2BE3A"/>
              </a:buClr>
              <a:buFont typeface="Public Sans"/>
              <a:buChar char="–"/>
            </a:pPr>
            <a:r>
              <a:rPr sz="1900" b="0" i="0" u="none">
                <a:solidFill>
                  <a:srgbClr val="FFFFFF"/>
                </a:solidFill>
                <a:latin typeface="Public Sans"/>
              </a:rPr>
              <a:t>Bộ ước lượng toạ độ mới: exponential + Bray-Curtis, k = 12, w = 1/d⁴, dò lệch ±6 dB, ensemble</a:t>
            </a:r>
          </a:p>
          <a:p>
            <a:pPr algn="l" marL="217170" indent="-217170">
              <a:lnSpc>
                <a:spcPct val="112000"/>
              </a:lnSpc>
              <a:spcBef>
                <a:spcPts val="900"/>
              </a:spcBef>
              <a:buClr>
                <a:srgbClr val="F2BE3A"/>
              </a:buClr>
              <a:buFont typeface="Public Sans"/>
              <a:buChar char="–"/>
            </a:pPr>
            <a:r>
              <a:rPr sz="1900" b="0" i="0" u="none">
                <a:solidFill>
                  <a:srgbClr val="FFFFFF"/>
                </a:solidFill>
                <a:latin typeface="Public Sans"/>
              </a:rPr>
              <a:t>Chọn mô hình trên 6 fold giữ lại người đo (GroupKFold theo USERID)</a:t>
            </a:r>
          </a:p>
          <a:p>
            <a:pPr algn="l" marL="217170" indent="-217170">
              <a:lnSpc>
                <a:spcPct val="112000"/>
              </a:lnSpc>
              <a:spcBef>
                <a:spcPts val="900"/>
              </a:spcBef>
              <a:buClr>
                <a:srgbClr val="F2BE3A"/>
              </a:buClr>
              <a:buFont typeface="Public Sans"/>
              <a:buChar char="–"/>
            </a:pPr>
            <a:r>
              <a:rPr sz="1900" b="0" i="0" u="none">
                <a:solidFill>
                  <a:srgbClr val="FFFFFF"/>
                </a:solidFill>
                <a:latin typeface="Public Sans"/>
              </a:rPr>
              <a:t>Kiểm chứng độc lập: 28 phép HUIM, 24 phép định vị, Excel tính tay</a:t>
            </a:r>
          </a:p>
          <a:p>
            <a:pPr algn="l" marL="217170" indent="-217170">
              <a:lnSpc>
                <a:spcPct val="112000"/>
              </a:lnSpc>
              <a:spcBef>
                <a:spcPts val="900"/>
              </a:spcBef>
              <a:buClr>
                <a:srgbClr val="F2BE3A"/>
              </a:buClr>
              <a:buFont typeface="Public Sans"/>
              <a:buChar char="–"/>
            </a:pPr>
            <a:r>
              <a:rPr sz="1900" b="0" i="0" u="none">
                <a:solidFill>
                  <a:srgbClr val="FFFFFF"/>
                </a:solidFill>
                <a:latin typeface="Public Sans"/>
              </a:rPr>
              <a:t>Mọi công thức ghi rõ tác giả / nguồn; đính chính 8 chỗ sai của slide V1</a:t>
            </a:r>
          </a:p>
          <a:p>
            <a:pPr algn="l" marL="217170" indent="-217170">
              <a:lnSpc>
                <a:spcPct val="112000"/>
              </a:lnSpc>
              <a:spcBef>
                <a:spcPts val="900"/>
              </a:spcBef>
              <a:buClr>
                <a:srgbClr val="F2BE3A"/>
              </a:buClr>
              <a:buFont typeface="Public Sans"/>
              <a:buChar char="–"/>
            </a:pPr>
            <a:r>
              <a:rPr sz="1900" b="0" i="0" u="none">
                <a:solidFill>
                  <a:srgbClr val="FFFFFF"/>
                </a:solidFill>
                <a:latin typeface="Public Sans"/>
              </a:rPr>
              <a:t>Biểu đồ vẽ lại, in minUtil; số theo định dạng Việt Nam (1.234,56)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891000" y="99314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50" b="0" i="0" u="none">
                <a:solidFill>
                  <a:srgbClr val="A9B8CC"/>
                </a:solidFill>
                <a:latin typeface="Public Sans"/>
              </a:rPr>
              <a:t>2 / 38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wh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4200" y="787400"/>
            <a:ext cx="6604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200" b="1" i="0" u="none">
                <a:solidFill>
                  <a:srgbClr val="FFFFFF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HUIM là gì?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2489200"/>
            <a:ext cx="6350000" cy="381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0" i="0" u="none">
                <a:solidFill>
                  <a:srgbClr val="FFFFFF"/>
                </a:solidFill>
                <a:latin typeface="Public Sans"/>
              </a:rPr>
              <a:t>High Utility Itemset Mining </a:t>
            </a:r>
            <a:r>
              <a:rPr sz="2600" b="1" i="0" u="none">
                <a:solidFill>
                  <a:srgbClr val="F2BE3A"/>
                </a:solidFill>
                <a:latin typeface="Public Sans"/>
              </a:rPr>
              <a:t>(HUIM)</a:t>
            </a:r>
            <a:r>
              <a:rPr sz="2600" b="0" i="0" u="none">
                <a:solidFill>
                  <a:srgbClr val="FFFFFF"/>
                </a:solidFill>
                <a:latin typeface="Public Sans"/>
              </a:rPr>
              <a:t>: tìm các tập mục có </a:t>
            </a:r>
            <a:r>
              <a:rPr sz="2600" b="1" i="0" u="none">
                <a:solidFill>
                  <a:srgbClr val="F2BE3A"/>
                </a:solidFill>
                <a:latin typeface="Public Sans"/>
              </a:rPr>
              <a:t>tổng utility cao</a:t>
            </a:r>
            <a:r>
              <a:rPr sz="2600" b="0" i="0" u="none">
                <a:solidFill>
                  <a:srgbClr val="FFFFFF"/>
                </a:solidFill>
                <a:latin typeface="Public Sans"/>
              </a:rPr>
              <a:t> — kết hợp số lượng và giá trị của từng mục.</a:t>
            </a:r>
          </a:p>
          <a:p>
            <a:pPr algn="l">
              <a:lnSpc>
                <a:spcPct val="112000"/>
              </a:lnSpc>
              <a:spcBef>
                <a:spcPts val="1400"/>
              </a:spcBef>
            </a:pPr>
            <a:r>
              <a:rPr sz="2600" b="0" i="0" u="none">
                <a:solidFill>
                  <a:srgbClr val="FFFFFF"/>
                </a:solidFill>
                <a:latin typeface="Public Sans"/>
              </a:rPr>
              <a:t>Khác Frequent Itemset Mining chỉ đếm tần suất xuất hiện, HUIM ưu tiên giá trị mang lại.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" y="7010400"/>
            <a:ext cx="5334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 i="0" u="none">
                <a:solidFill>
                  <a:srgbClr val="F2BE3A"/>
                </a:solidFill>
                <a:latin typeface="Public Sans"/>
              </a:rPr>
              <a:t>Ví dụ siêu thị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600" y="7594600"/>
            <a:ext cx="5397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0" i="0" u="none">
                <a:solidFill>
                  <a:srgbClr val="FFFFFF"/>
                </a:solidFill>
                <a:latin typeface="Public Sans"/>
              </a:rPr>
              <a:t>nhiều chai nước suối </a:t>
            </a:r>
            <a:r>
              <a:rPr sz="2300" b="0" i="0" u="none">
                <a:solidFill>
                  <a:srgbClr val="FFFFFF"/>
                </a:solidFill>
                <a:latin typeface="Segoe UI Symbol"/>
              </a:rPr>
              <a:t>→</a:t>
            </a:r>
            <a:r>
              <a:rPr sz="2300" b="0" i="0" u="none">
                <a:solidFill>
                  <a:srgbClr val="FFFFFF"/>
                </a:solidFill>
                <a:latin typeface="Public Sans"/>
              </a:rPr>
              <a:t> lời thấp mỗi chai</a:t>
            </a:r>
          </a:p>
          <a:p>
            <a:pPr algn="l">
              <a:lnSpc>
                <a:spcPct val="112000"/>
              </a:lnSpc>
              <a:spcBef>
                <a:spcPts val="600"/>
              </a:spcBef>
            </a:pPr>
            <a:r>
              <a:rPr sz="2300" b="0" i="0" u="none">
                <a:solidFill>
                  <a:srgbClr val="FFFFFF"/>
                </a:solidFill>
                <a:latin typeface="Public Sans"/>
              </a:rPr>
              <a:t>1 chai nước hoa </a:t>
            </a:r>
            <a:r>
              <a:rPr sz="2300" b="0" i="0" u="none">
                <a:solidFill>
                  <a:srgbClr val="FFFFFF"/>
                </a:solidFill>
                <a:latin typeface="Segoe UI Symbol"/>
              </a:rPr>
              <a:t>→</a:t>
            </a:r>
            <a:r>
              <a:rPr sz="2300" b="0" i="0" u="none">
                <a:solidFill>
                  <a:srgbClr val="FFFFFF"/>
                </a:solidFill>
                <a:latin typeface="Public Sans"/>
              </a:rPr>
              <a:t> lời cao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1500" y="1435100"/>
            <a:ext cx="4191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 u="none">
                <a:solidFill>
                  <a:srgbClr val="FFFFFF"/>
                </a:solidFill>
                <a:latin typeface="Public Sans"/>
              </a:rPr>
              <a:t>FREQUENT ITEMSET MINING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81000" y="1422400"/>
            <a:ext cx="43815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50" b="1" i="0" u="none">
                <a:solidFill>
                  <a:srgbClr val="14223A"/>
                </a:solidFill>
                <a:latin typeface="Public Sans"/>
              </a:rPr>
              <a:t>HIGH UTILITY ITEMSET MINING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74500" y="2921000"/>
            <a:ext cx="1905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 u="none">
                <a:solidFill>
                  <a:srgbClr val="F2BE3A"/>
                </a:solidFill>
                <a:latin typeface="Public Sans"/>
              </a:rPr>
              <a:t>MỤC TIÊU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0" y="2717800"/>
            <a:ext cx="3403600" cy="838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300" b="0" i="0" u="none">
                <a:solidFill>
                  <a:srgbClr val="FFFFFF"/>
                </a:solidFill>
                <a:latin typeface="Public Sans"/>
              </a:rPr>
              <a:t>Tập mục xuất hiện</a:t>
            </a:r>
          </a:p>
          <a:p>
            <a:pPr algn="ctr">
              <a:lnSpc>
                <a:spcPct val="105000"/>
              </a:lnSpc>
            </a:pPr>
            <a:r>
              <a:rPr sz="2300" b="0" i="0" u="none">
                <a:solidFill>
                  <a:srgbClr val="FFFFFF"/>
                </a:solidFill>
                <a:latin typeface="Public Sans"/>
              </a:rPr>
              <a:t>nhiều lần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79500" y="2717800"/>
            <a:ext cx="3810000" cy="838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300" b="0" i="0" u="none">
                <a:solidFill>
                  <a:srgbClr val="FFFFFF"/>
                </a:solidFill>
                <a:latin typeface="Public Sans"/>
              </a:rPr>
              <a:t>Tập mục có tổng</a:t>
            </a:r>
          </a:p>
          <a:p>
            <a:pPr algn="ctr">
              <a:lnSpc>
                <a:spcPct val="105000"/>
              </a:lnSpc>
            </a:pPr>
            <a:r>
              <a:rPr sz="2300" b="0" i="0" u="none">
                <a:solidFill>
                  <a:srgbClr val="FFFFFF"/>
                </a:solidFill>
                <a:latin typeface="Public Sans"/>
              </a:rPr>
              <a:t>utility cao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74500" y="4673600"/>
            <a:ext cx="1905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 u="none">
                <a:solidFill>
                  <a:srgbClr val="F2BE3A"/>
                </a:solidFill>
                <a:latin typeface="Public Sans"/>
              </a:rPr>
              <a:t>TIÊU CHÍ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8000" y="4546600"/>
            <a:ext cx="3403600" cy="86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300" b="0" i="0" u="none">
                <a:solidFill>
                  <a:srgbClr val="FFFFFF"/>
                </a:solidFill>
                <a:latin typeface="Public Sans"/>
              </a:rPr>
              <a:t>sup(X) ≥ minSup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79500" y="4546600"/>
            <a:ext cx="3810000" cy="863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300" b="0" i="0" u="none">
                <a:solidFill>
                  <a:srgbClr val="FFFFFF"/>
                </a:solidFill>
                <a:latin typeface="Public Sans"/>
              </a:rPr>
              <a:t>u(X) ≥ minUtil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74500" y="6375400"/>
            <a:ext cx="1905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 u="none">
                <a:solidFill>
                  <a:srgbClr val="F2BE3A"/>
                </a:solidFill>
                <a:latin typeface="Public Sans"/>
              </a:rPr>
              <a:t>KẾT QUẢ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8000" y="6210300"/>
            <a:ext cx="3403600" cy="838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300" b="0" i="0" u="none">
                <a:solidFill>
                  <a:srgbClr val="FFFFFF"/>
                </a:solidFill>
                <a:latin typeface="Public Sans"/>
              </a:rPr>
              <a:t>Phổ biến nhưng có thể</a:t>
            </a:r>
          </a:p>
          <a:p>
            <a:pPr algn="ctr">
              <a:lnSpc>
                <a:spcPct val="105000"/>
              </a:lnSpc>
            </a:pPr>
            <a:r>
              <a:rPr sz="2300" b="0" i="0" u="none">
                <a:solidFill>
                  <a:srgbClr val="FFFFFF"/>
                </a:solidFill>
                <a:latin typeface="Public Sans"/>
              </a:rPr>
              <a:t>lợi nhuận thấp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79500" y="6210300"/>
            <a:ext cx="3810000" cy="838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300" b="0" i="0" u="none">
                <a:solidFill>
                  <a:srgbClr val="FFFFFF"/>
                </a:solidFill>
                <a:latin typeface="Public Sans"/>
              </a:rPr>
              <a:t>Ít phổ biến nhưng</a:t>
            </a:r>
          </a:p>
          <a:p>
            <a:pPr algn="ctr">
              <a:lnSpc>
                <a:spcPct val="105000"/>
              </a:lnSpc>
            </a:pPr>
            <a:r>
              <a:rPr sz="2300" b="0" i="0" u="none">
                <a:solidFill>
                  <a:srgbClr val="FFFFFF"/>
                </a:solidFill>
                <a:latin typeface="Public Sans"/>
              </a:rPr>
              <a:t>lợi nhuận cao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74500" y="8178800"/>
            <a:ext cx="1905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1" i="0" u="none">
                <a:solidFill>
                  <a:srgbClr val="F2BE3A"/>
                </a:solidFill>
                <a:latin typeface="Public Sans"/>
              </a:rPr>
              <a:t>VÍ DỤ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28000" y="7988300"/>
            <a:ext cx="3403600" cy="876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300" b="0" i="0" u="none">
                <a:solidFill>
                  <a:srgbClr val="FFFFFF"/>
                </a:solidFill>
                <a:latin typeface="Public Sans"/>
              </a:rPr>
              <a:t>Bánh mì &amp; sữa</a:t>
            </a:r>
          </a:p>
          <a:p>
            <a:pPr algn="ctr">
              <a:lnSpc>
                <a:spcPct val="105000"/>
              </a:lnSpc>
            </a:pPr>
            <a:r>
              <a:rPr sz="2300" b="0" i="0" u="none">
                <a:solidFill>
                  <a:srgbClr val="FFFFFF"/>
                </a:solidFill>
                <a:latin typeface="Public Sans"/>
              </a:rPr>
              <a:t>(rất thường xuyên)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79500" y="7988300"/>
            <a:ext cx="3810000" cy="876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300" b="0" i="0" u="none">
                <a:solidFill>
                  <a:srgbClr val="FFFFFF"/>
                </a:solidFill>
                <a:latin typeface="Public Sans"/>
              </a:rPr>
              <a:t>Rượu vang &amp; phô mai</a:t>
            </a:r>
          </a:p>
          <a:p>
            <a:pPr algn="ctr">
              <a:lnSpc>
                <a:spcPct val="105000"/>
              </a:lnSpc>
            </a:pPr>
            <a:r>
              <a:rPr sz="2300" b="0" i="0" u="none">
                <a:solidFill>
                  <a:srgbClr val="FFFFFF"/>
                </a:solidFill>
                <a:latin typeface="Public Sans"/>
              </a:rPr>
              <a:t>(ít nhưng lời cao)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9753600"/>
            <a:ext cx="17145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 u="none">
                <a:solidFill>
                  <a:srgbClr val="A9B8CC"/>
                </a:solidFill>
                <a:latin typeface="Public Sans"/>
              </a:rPr>
              <a:t>Nguồn:</a:t>
            </a:r>
            <a:r>
              <a:rPr sz="1400" b="0" i="1" u="none">
                <a:solidFill>
                  <a:srgbClr val="A9B8CC"/>
                </a:solidFill>
                <a:latin typeface="Public Sans"/>
              </a:rPr>
              <a:t> FIM — Agrawal, Imieliński &amp; Swami, SIGMOD 1993 [1]; HUIM — Yao, Hamilton &amp; Butz, SDM 2004 [2]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891000" y="99314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50" b="0" i="0" u="none">
                <a:solidFill>
                  <a:srgbClr val="A9B8CC"/>
                </a:solidFill>
                <a:latin typeface="Public Sans"/>
              </a:rPr>
              <a:t>3 / 38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ip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4200" y="939800"/>
            <a:ext cx="7620000" cy="304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6400" b="1" i="0" u="none">
                <a:solidFill>
                  <a:srgbClr val="FFFFFF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HUIM và</a:t>
            </a:r>
          </a:p>
          <a:p>
            <a:pPr algn="l">
              <a:lnSpc>
                <a:spcPct val="98000"/>
              </a:lnSpc>
            </a:pPr>
            <a:r>
              <a:rPr sz="6400" b="1" i="0" u="none">
                <a:solidFill>
                  <a:srgbClr val="FFFFFF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Hệ thống Định vị</a:t>
            </a:r>
          </a:p>
          <a:p>
            <a:pPr algn="l">
              <a:lnSpc>
                <a:spcPct val="98000"/>
              </a:lnSpc>
            </a:pPr>
            <a:r>
              <a:rPr sz="6400" b="1" i="0" u="none">
                <a:solidFill>
                  <a:srgbClr val="F2BE3A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Trong nhà (IPS)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4597400"/>
            <a:ext cx="7112000" cy="431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 i="0" u="none">
                <a:solidFill>
                  <a:srgbClr val="F2BE3A"/>
                </a:solidFill>
                <a:latin typeface="Public Sans"/>
              </a:rPr>
              <a:t>Wi-Fi fingerprinting</a:t>
            </a:r>
            <a:r>
              <a:rPr sz="2300" b="0" i="0" u="none">
                <a:solidFill>
                  <a:srgbClr val="FFFFFF"/>
                </a:solidFill>
                <a:latin typeface="Public Sans"/>
              </a:rPr>
              <a:t> ghi cường độ tín hiệu (RSSI) từ nhiều AP tại các vị trí đã biết.</a:t>
            </a:r>
          </a:p>
          <a:p>
            <a:pPr algn="l">
              <a:lnSpc>
                <a:spcPct val="112000"/>
              </a:lnSpc>
              <a:spcBef>
                <a:spcPts val="1800"/>
              </a:spcBef>
            </a:pPr>
            <a:r>
              <a:rPr sz="2300" b="0" i="0" u="none">
                <a:solidFill>
                  <a:srgbClr val="FFFFFF"/>
                </a:solidFill>
                <a:latin typeface="Public Sans"/>
              </a:rPr>
              <a:t>Số AP rất lớn (</a:t>
            </a:r>
            <a:r>
              <a:rPr sz="2300" b="1" i="0" u="none">
                <a:solidFill>
                  <a:srgbClr val="FFFFFF"/>
                </a:solidFill>
                <a:latin typeface="Public Sans"/>
              </a:rPr>
              <a:t>520</a:t>
            </a:r>
            <a:r>
              <a:rPr sz="2300" b="0" i="0" u="none">
                <a:solidFill>
                  <a:srgbClr val="FFFFFF"/>
                </a:solidFill>
                <a:latin typeface="Public Sans"/>
              </a:rPr>
              <a:t> cột WAP) nhưng không phải AP nào cũng hữu ích cho định vị.</a:t>
            </a:r>
          </a:p>
          <a:p>
            <a:pPr algn="l">
              <a:lnSpc>
                <a:spcPct val="112000"/>
              </a:lnSpc>
              <a:spcBef>
                <a:spcPts val="1800"/>
              </a:spcBef>
            </a:pPr>
            <a:r>
              <a:rPr sz="2300" b="0" i="0" u="none">
                <a:solidFill>
                  <a:srgbClr val="FFFFFF"/>
                </a:solidFill>
                <a:latin typeface="Public Sans"/>
              </a:rPr>
              <a:t>Câu hỏi: nhóm AP có </a:t>
            </a:r>
            <a:r>
              <a:rPr sz="2300" b="1" i="0" u="none">
                <a:solidFill>
                  <a:srgbClr val="F2BE3A"/>
                </a:solidFill>
                <a:latin typeface="Public Sans"/>
              </a:rPr>
              <a:t>tổng utility cao</a:t>
            </a:r>
            <a:r>
              <a:rPr sz="2300" b="0" i="0" u="none">
                <a:solidFill>
                  <a:srgbClr val="FFFFFF"/>
                </a:solidFill>
                <a:latin typeface="Public Sans"/>
              </a:rPr>
              <a:t> do HUIM tìm ra có phải tập đặc trưng tốt? — trả lời bằng thực nghiệm có đối chứng.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96500" y="1231900"/>
            <a:ext cx="1270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 i="0" u="none">
                <a:solidFill>
                  <a:srgbClr val="FFFFFF"/>
                </a:solidFill>
                <a:latin typeface="Public Sans"/>
              </a:rPr>
              <a:t>VỊ TRÍ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39700" y="1231900"/>
            <a:ext cx="1270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 i="0" u="none">
                <a:solidFill>
                  <a:srgbClr val="FFFFFF"/>
                </a:solidFill>
                <a:latin typeface="Public Sans"/>
              </a:rPr>
              <a:t>VỊ TRÍ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0" y="1231900"/>
            <a:ext cx="1270000" cy="33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 i="0" u="none">
                <a:solidFill>
                  <a:srgbClr val="FFFFFF"/>
                </a:solidFill>
                <a:latin typeface="Public Sans"/>
              </a:rPr>
              <a:t>VỊ TRÍ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77200" y="3835400"/>
            <a:ext cx="889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 i="0" u="none">
                <a:solidFill>
                  <a:srgbClr val="FFFFFF"/>
                </a:solidFill>
                <a:latin typeface="Public Sans"/>
              </a:rPr>
              <a:t>AP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77200" y="4876800"/>
            <a:ext cx="889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 i="0" u="none">
                <a:solidFill>
                  <a:srgbClr val="FFFFFF"/>
                </a:solidFill>
                <a:latin typeface="Public Sans"/>
              </a:rPr>
              <a:t>AP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77200" y="5994400"/>
            <a:ext cx="889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 i="0" u="none">
                <a:solidFill>
                  <a:srgbClr val="FFFFFF"/>
                </a:solidFill>
                <a:latin typeface="Public Sans"/>
              </a:rPr>
              <a:t>AP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7200" y="7556500"/>
            <a:ext cx="889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300" b="1" i="0" u="none">
                <a:solidFill>
                  <a:srgbClr val="FFFFFF"/>
                </a:solidFill>
                <a:latin typeface="Public Sans"/>
              </a:rPr>
              <a:t>AP 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74100" y="8813800"/>
            <a:ext cx="2032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0" i="0" u="none">
                <a:solidFill>
                  <a:srgbClr val="FFFFFF"/>
                </a:solidFill>
                <a:latin typeface="Public Sans"/>
              </a:rPr>
              <a:t>Cường độ tín hiệu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77600" y="8813800"/>
            <a:ext cx="762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0" i="0" u="none">
                <a:solidFill>
                  <a:srgbClr val="FFFFFF"/>
                </a:solidFill>
                <a:latin typeface="Public Sans"/>
              </a:rPr>
              <a:t>Thấp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510000" y="8813800"/>
            <a:ext cx="762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0" i="0" u="none">
                <a:solidFill>
                  <a:srgbClr val="FFFFFF"/>
                </a:solidFill>
                <a:latin typeface="Public Sans"/>
              </a:rPr>
              <a:t>Cao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891000" y="99314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50" b="0" i="0" u="none">
                <a:solidFill>
                  <a:srgbClr val="A9B8CC"/>
                </a:solidFill>
                <a:latin typeface="Public Sans"/>
              </a:rPr>
              <a:t>4 / 38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4200" y="457200"/>
            <a:ext cx="171450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600" b="1" i="0" u="none">
                <a:solidFill>
                  <a:srgbClr val="FFFFFF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Định nghĩa toán học của </a:t>
            </a:r>
            <a:r>
              <a:rPr sz="5600" b="1" i="0" u="none">
                <a:solidFill>
                  <a:srgbClr val="F2BE3A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HUIM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4200" y="1625600"/>
            <a:ext cx="8432800" cy="3454400"/>
          </a:xfrm>
          <a:prstGeom prst="roundRect">
            <a:avLst>
              <a:gd name="adj" fmla="val 5000"/>
            </a:avLst>
          </a:prstGeom>
          <a:solidFill>
            <a:srgbClr val="0D2645"/>
          </a:solidFill>
          <a:ln w="15875">
            <a:solidFill>
              <a:srgbClr val="3A5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63600" y="1828800"/>
            <a:ext cx="787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 u="none">
                <a:solidFill>
                  <a:srgbClr val="F2BE3A"/>
                </a:solidFill>
                <a:latin typeface="Public Sans"/>
              </a:rPr>
              <a:t>1 · Utility của mục và của tập mục</a:t>
            </a:r>
          </a:p>
        </p:txBody>
      </p:sp>
      <p:pic>
        <p:nvPicPr>
          <p:cNvPr id="6" name="Picture 5" descr="formula_0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0324" y="2362200"/>
            <a:ext cx="5940552" cy="673608"/>
          </a:xfrm>
          <a:prstGeom prst="rect">
            <a:avLst/>
          </a:prstGeom>
        </p:spPr>
      </p:pic>
      <p:pic>
        <p:nvPicPr>
          <p:cNvPr id="7" name="Picture 6" descr="formula_0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3260" y="3137408"/>
            <a:ext cx="3154680" cy="69799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3600" y="3987800"/>
            <a:ext cx="7874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50" b="0" i="0" u="none">
                <a:solidFill>
                  <a:srgbClr val="DCE3EE"/>
                </a:solidFill>
                <a:latin typeface="Public Sans"/>
              </a:rPr>
              <a:t>q: lượng (utility nội) · p: giá trị đơn vị (utility ngoài)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3600" y="4521200"/>
            <a:ext cx="7874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 u="none">
                <a:solidFill>
                  <a:srgbClr val="A9B8CC"/>
                </a:solidFill>
                <a:latin typeface="Public Sans"/>
              </a:rPr>
              <a:t>Nguồn:</a:t>
            </a:r>
            <a:r>
              <a:rPr sz="1400" b="0" i="1" u="none">
                <a:solidFill>
                  <a:srgbClr val="A9B8CC"/>
                </a:solidFill>
                <a:latin typeface="Public Sans"/>
              </a:rPr>
              <a:t> Yao, Hamilton &amp; Butz, SDM 2004 [2]; tổng quan Gan et al., IEEE TKDE 2021 [3]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71000" y="1625600"/>
            <a:ext cx="8432800" cy="3454400"/>
          </a:xfrm>
          <a:prstGeom prst="roundRect">
            <a:avLst>
              <a:gd name="adj" fmla="val 5000"/>
            </a:avLst>
          </a:prstGeom>
          <a:solidFill>
            <a:srgbClr val="0D2645"/>
          </a:solidFill>
          <a:ln w="15875">
            <a:solidFill>
              <a:srgbClr val="3A5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50400" y="1828800"/>
            <a:ext cx="787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 u="none">
                <a:solidFill>
                  <a:srgbClr val="F2BE3A"/>
                </a:solidFill>
                <a:latin typeface="Public Sans"/>
              </a:rPr>
              <a:t>2 · Tập hữu ích cao (HUI) và minUtil</a:t>
            </a:r>
          </a:p>
        </p:txBody>
      </p:sp>
      <p:pic>
        <p:nvPicPr>
          <p:cNvPr id="12" name="Picture 11" descr="formula_00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15928" y="2362200"/>
            <a:ext cx="3742944" cy="441959"/>
          </a:xfrm>
          <a:prstGeom prst="rect">
            <a:avLst/>
          </a:prstGeom>
        </p:spPr>
      </p:pic>
      <p:pic>
        <p:nvPicPr>
          <p:cNvPr id="13" name="Picture 12" descr="formula_00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79580" y="2905760"/>
            <a:ext cx="3215640" cy="6705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550400" y="3728720"/>
            <a:ext cx="7874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50" b="0" i="0" u="none">
                <a:solidFill>
                  <a:srgbClr val="DCE3EE"/>
                </a:solidFill>
                <a:latin typeface="Segoe UI Symbol"/>
              </a:rPr>
              <a:t>θ</a:t>
            </a:r>
            <a:r>
              <a:rPr sz="1650" b="0" i="0" u="none">
                <a:solidFill>
                  <a:srgbClr val="DCE3EE"/>
                </a:solidFill>
                <a:latin typeface="Public Sans"/>
              </a:rPr>
              <a:t> theo % vì tổng utility chênh 2,08 lần giữa ba mô hình p(i)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0400" y="4521200"/>
            <a:ext cx="7874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 u="none">
                <a:solidFill>
                  <a:srgbClr val="A9B8CC"/>
                </a:solidFill>
                <a:latin typeface="Public Sans"/>
              </a:rPr>
              <a:t>Nguồn:</a:t>
            </a:r>
            <a:r>
              <a:rPr sz="1400" b="0" i="1" u="none">
                <a:solidFill>
                  <a:srgbClr val="A9B8CC"/>
                </a:solidFill>
                <a:latin typeface="Public Sans"/>
              </a:rPr>
              <a:t> HUI — Yao, Hamilton &amp; Butz, SDM 2004 [2]; </a:t>
            </a:r>
            <a:r>
              <a:rPr sz="1400" b="0" i="1" u="none">
                <a:solidFill>
                  <a:srgbClr val="A9B8CC"/>
                </a:solidFill>
                <a:latin typeface="Segoe UI Symbol"/>
              </a:rPr>
              <a:t>θ</a:t>
            </a:r>
            <a:r>
              <a:rPr sz="1400" b="0" i="1" u="none">
                <a:solidFill>
                  <a:srgbClr val="A9B8CC"/>
                </a:solidFill>
                <a:latin typeface="Public Sans"/>
              </a:rPr>
              <a:t> theo % tổng utility — quy ước của bài tìm hiểu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4200" y="5308600"/>
            <a:ext cx="8432800" cy="3454400"/>
          </a:xfrm>
          <a:prstGeom prst="roundRect">
            <a:avLst>
              <a:gd name="adj" fmla="val 5000"/>
            </a:avLst>
          </a:prstGeom>
          <a:solidFill>
            <a:srgbClr val="0D2645"/>
          </a:solidFill>
          <a:ln w="15875">
            <a:solidFill>
              <a:srgbClr val="3A5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63600" y="5511800"/>
            <a:ext cx="787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 u="none">
                <a:solidFill>
                  <a:srgbClr val="F2BE3A"/>
                </a:solidFill>
                <a:latin typeface="Public Sans"/>
              </a:rPr>
              <a:t>3 · Cận trên TWU (phản đơn điệu)</a:t>
            </a:r>
          </a:p>
        </p:txBody>
      </p:sp>
      <p:pic>
        <p:nvPicPr>
          <p:cNvPr id="18" name="Picture 17" descr="formula_00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44824" y="6045200"/>
            <a:ext cx="2511552" cy="673608"/>
          </a:xfrm>
          <a:prstGeom prst="rect">
            <a:avLst/>
          </a:prstGeom>
        </p:spPr>
      </p:pic>
      <p:pic>
        <p:nvPicPr>
          <p:cNvPr id="19" name="Picture 18" descr="formula_00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12264" y="6820408"/>
            <a:ext cx="5376672" cy="68884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63600" y="7661656"/>
            <a:ext cx="7874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50" b="0" i="0" u="none">
                <a:solidFill>
                  <a:srgbClr val="DCE3EE"/>
                </a:solidFill>
                <a:latin typeface="Public Sans"/>
              </a:rPr>
              <a:t>TWU &lt; minUtil </a:t>
            </a:r>
            <a:r>
              <a:rPr sz="1650" b="0" i="0" u="none">
                <a:solidFill>
                  <a:srgbClr val="DCE3EE"/>
                </a:solidFill>
                <a:latin typeface="Segoe UI Symbol"/>
              </a:rPr>
              <a:t>⇒</a:t>
            </a:r>
            <a:r>
              <a:rPr sz="1650" b="0" i="0" u="none">
                <a:solidFill>
                  <a:srgbClr val="DCE3EE"/>
                </a:solidFill>
                <a:latin typeface="Public Sans"/>
              </a:rPr>
              <a:t> loại X và mọi tập chứa 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3600" y="8204200"/>
            <a:ext cx="7874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 u="none">
                <a:solidFill>
                  <a:srgbClr val="A9B8CC"/>
                </a:solidFill>
                <a:latin typeface="Public Sans"/>
              </a:rPr>
              <a:t>Nguồn:</a:t>
            </a:r>
            <a:r>
              <a:rPr sz="1400" b="0" i="1" u="none">
                <a:solidFill>
                  <a:srgbClr val="A9B8CC"/>
                </a:solidFill>
                <a:latin typeface="Public Sans"/>
              </a:rPr>
              <a:t> Liu, Liao &amp; Choudhary, PAKDD 2005 [4]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71000" y="5308600"/>
            <a:ext cx="8432800" cy="3454400"/>
          </a:xfrm>
          <a:prstGeom prst="roundRect">
            <a:avLst>
              <a:gd name="adj" fmla="val 5000"/>
            </a:avLst>
          </a:prstGeom>
          <a:solidFill>
            <a:srgbClr val="0D2645"/>
          </a:solidFill>
          <a:ln w="15875">
            <a:solidFill>
              <a:srgbClr val="3A5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550400" y="5511800"/>
            <a:ext cx="787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 u="none">
                <a:solidFill>
                  <a:srgbClr val="F2BE3A"/>
                </a:solidFill>
                <a:latin typeface="Public Sans"/>
              </a:rPr>
              <a:t>4 · Độ hỗ trợ (Frequent Itemset Mining)</a:t>
            </a:r>
          </a:p>
        </p:txBody>
      </p:sp>
      <p:pic>
        <p:nvPicPr>
          <p:cNvPr id="24" name="Picture 23" descr="formula_00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614404" y="6045200"/>
            <a:ext cx="3745991" cy="441959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9550400" y="6639559"/>
            <a:ext cx="7874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50" b="0" i="0" u="none">
                <a:solidFill>
                  <a:srgbClr val="DCE3EE"/>
                </a:solidFill>
                <a:latin typeface="Public Sans"/>
              </a:rPr>
              <a:t>FIM coi mọi mục ngang nhau; HUIM thêm lượng q và giá trị 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50400" y="8204200"/>
            <a:ext cx="7874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 u="none">
                <a:solidFill>
                  <a:srgbClr val="A9B8CC"/>
                </a:solidFill>
                <a:latin typeface="Public Sans"/>
              </a:rPr>
              <a:t>Nguồn:</a:t>
            </a:r>
            <a:r>
              <a:rPr sz="1400" b="0" i="1" u="none">
                <a:solidFill>
                  <a:srgbClr val="A9B8CC"/>
                </a:solidFill>
                <a:latin typeface="Public Sans"/>
              </a:rPr>
              <a:t> Agrawal, Imieliński &amp; Swami, SIGMOD 1993 [1]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4200" y="8991600"/>
            <a:ext cx="171450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50" b="1" i="0" u="none">
                <a:solidFill>
                  <a:srgbClr val="F2BE3A"/>
                </a:solidFill>
                <a:latin typeface="Public Sans"/>
              </a:rPr>
              <a:t>Utility không đơn điệu</a:t>
            </a:r>
            <a:r>
              <a:rPr sz="1850" b="0" i="0" u="none">
                <a:solidFill>
                  <a:srgbClr val="FFFFFF"/>
                </a:solidFill>
                <a:latin typeface="Public Sans"/>
              </a:rPr>
              <a:t> (ví dụ chuẩn của EFIM [5]): u({b}) = 16 &lt; u({b,d}) = 30 nhưng u({b,d,f}) = 21 &lt; u({b,d}) </a:t>
            </a:r>
            <a:r>
              <a:rPr sz="1850" b="0" i="0" u="none">
                <a:solidFill>
                  <a:srgbClr val="FFFFFF"/>
                </a:solidFill>
                <a:latin typeface="Segoe UI Symbol"/>
              </a:rPr>
              <a:t>⇒</a:t>
            </a:r>
            <a:r>
              <a:rPr sz="1850" b="0" i="0" u="none">
                <a:solidFill>
                  <a:srgbClr val="FFFFFF"/>
                </a:solidFill>
                <a:latin typeface="Public Sans"/>
              </a:rPr>
              <a:t> không cắt tỉa kiểu Apriori bằng u(X), phải dùng cận trên (TWU, lu, su).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891000" y="99314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50" b="0" i="0" u="none">
                <a:solidFill>
                  <a:srgbClr val="A9B8CC"/>
                </a:solidFill>
                <a:latin typeface="Public Sans"/>
              </a:rPr>
              <a:t>5 / 38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mode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5000" y="660400"/>
            <a:ext cx="13970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6700" b="1" i="0" u="none">
                <a:solidFill>
                  <a:srgbClr val="FFFFFF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Mô hình hóa </a:t>
            </a:r>
            <a:r>
              <a:rPr sz="6700" b="1" i="0" u="none">
                <a:solidFill>
                  <a:srgbClr val="F2BE3A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Utility</a:t>
            </a:r>
            <a:r>
              <a:rPr sz="6700" b="1" i="0" u="none">
                <a:solidFill>
                  <a:srgbClr val="FFFFFF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 trong 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5200" y="2413000"/>
            <a:ext cx="32893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200" b="1" i="0" u="none">
                <a:solidFill>
                  <a:srgbClr val="F2BE3A"/>
                </a:solidFill>
                <a:latin typeface="Public Sans"/>
              </a:rPr>
              <a:t>GIAO DỊCH 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5200" y="2895600"/>
            <a:ext cx="3289300" cy="165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0" i="0" u="none">
                <a:solidFill>
                  <a:srgbClr val="FFFFFF"/>
                </a:solidFill>
                <a:latin typeface="Public Sans"/>
              </a:rPr>
              <a:t>một fingerprint</a:t>
            </a:r>
          </a:p>
          <a:p>
            <a:pPr algn="ctr">
              <a:lnSpc>
                <a:spcPct val="108000"/>
              </a:lnSpc>
            </a:pPr>
            <a:r>
              <a:rPr sz="2000" b="0" i="0" u="none">
                <a:solidFill>
                  <a:srgbClr val="FFFFFF"/>
                </a:solidFill>
                <a:latin typeface="Public Sans"/>
              </a:rPr>
              <a:t>= một lần quét Wi-Fi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21300" y="2413000"/>
            <a:ext cx="3073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200" b="1" i="0" u="none">
                <a:solidFill>
                  <a:srgbClr val="F2BE3A"/>
                </a:solidFill>
                <a:latin typeface="Public Sans"/>
              </a:rPr>
              <a:t>ITEM 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21300" y="2895600"/>
            <a:ext cx="3073400" cy="165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0" i="0" u="none">
                <a:solidFill>
                  <a:srgbClr val="FFFFFF"/>
                </a:solidFill>
                <a:latin typeface="Public Sans"/>
              </a:rPr>
              <a:t>một WAP được phát</a:t>
            </a:r>
          </a:p>
          <a:p>
            <a:pPr algn="ctr">
              <a:lnSpc>
                <a:spcPct val="108000"/>
              </a:lnSpc>
            </a:pPr>
            <a:r>
              <a:rPr sz="2000" b="0" i="0" u="none">
                <a:solidFill>
                  <a:srgbClr val="FFFFFF"/>
                </a:solidFill>
                <a:latin typeface="Public Sans"/>
              </a:rPr>
              <a:t>hiện (RSSI ≠ 100)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48800" y="2235200"/>
            <a:ext cx="3302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200" b="1" i="0" u="none">
                <a:solidFill>
                  <a:srgbClr val="F2BE3A"/>
                </a:solidFill>
                <a:latin typeface="Public Sans"/>
              </a:rPr>
              <a:t>UTILITY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48800" y="2717800"/>
            <a:ext cx="3302000" cy="165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0" i="0" u="none">
                <a:solidFill>
                  <a:srgbClr val="FFFFFF"/>
                </a:solidFill>
                <a:latin typeface="Public Sans"/>
              </a:rPr>
              <a:t>u(i,T) = q(i,T) × p(i)</a:t>
            </a:r>
          </a:p>
          <a:p>
            <a:pPr algn="ctr">
              <a:lnSpc>
                <a:spcPct val="108000"/>
              </a:lnSpc>
            </a:pPr>
            <a:r>
              <a:rPr sz="2000" b="0" i="0" u="none">
                <a:solidFill>
                  <a:srgbClr val="FFFFFF"/>
                </a:solidFill>
                <a:latin typeface="Public Sans"/>
              </a:rPr>
              <a:t>RSSI chuẩn hoá ×</a:t>
            </a:r>
          </a:p>
          <a:p>
            <a:pPr algn="ctr">
              <a:lnSpc>
                <a:spcPct val="108000"/>
              </a:lnSpc>
            </a:pPr>
            <a:r>
              <a:rPr sz="2000" b="0" i="0" u="none">
                <a:solidFill>
                  <a:srgbClr val="FFFFFF"/>
                </a:solidFill>
                <a:latin typeface="Public Sans"/>
              </a:rPr>
              <a:t>giá trị của 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17600" y="2413000"/>
            <a:ext cx="32766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200" b="1" i="0" u="none">
                <a:solidFill>
                  <a:srgbClr val="F2BE3A"/>
                </a:solidFill>
                <a:latin typeface="Public Sans"/>
              </a:rPr>
              <a:t>HUI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17600" y="2895600"/>
            <a:ext cx="3276600" cy="165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0" i="0" u="none">
                <a:solidFill>
                  <a:srgbClr val="FFFFFF"/>
                </a:solidFill>
                <a:latin typeface="Public Sans"/>
              </a:rPr>
              <a:t>nhóm WAP có tổng</a:t>
            </a:r>
          </a:p>
          <a:p>
            <a:pPr algn="ctr">
              <a:lnSpc>
                <a:spcPct val="108000"/>
              </a:lnSpc>
            </a:pPr>
            <a:r>
              <a:rPr sz="2000" b="0" i="0" u="none">
                <a:solidFill>
                  <a:srgbClr val="FFFFFF"/>
                </a:solidFill>
                <a:latin typeface="Public Sans"/>
              </a:rPr>
              <a:t>utility ≥ minUtil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4940300"/>
            <a:ext cx="16637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400" b="1" i="0" u="none">
                <a:solidFill>
                  <a:srgbClr val="F2BE3A"/>
                </a:solidFill>
                <a:latin typeface="Public Sans"/>
              </a:rPr>
              <a:t>BA MÔ HÌNH UTILITY — DÙNG CHUNG q(i,T), CHỈ KHÁC p(i)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4700" y="5791200"/>
            <a:ext cx="4699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600" b="1" i="0" u="none">
                <a:solidFill>
                  <a:srgbClr val="F2BE3A"/>
                </a:solidFill>
                <a:latin typeface="Public Sans"/>
              </a:rPr>
              <a:t>MODEL 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700" y="6299200"/>
            <a:ext cx="4699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300" b="0" i="0" u="none">
                <a:solidFill>
                  <a:srgbClr val="FFFFFF"/>
                </a:solidFill>
                <a:latin typeface="Public Sans"/>
              </a:rPr>
              <a:t>TÍN HIỆU (SIGNAL)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500" y="7188200"/>
            <a:ext cx="45974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850" b="0" i="0" u="none">
                <a:solidFill>
                  <a:srgbClr val="FFFFFF"/>
                </a:solidFill>
                <a:latin typeface="Public Sans"/>
              </a:rPr>
              <a:t>p(i) = 1: utility chỉ do cường</a:t>
            </a:r>
          </a:p>
          <a:p>
            <a:pPr algn="ctr">
              <a:lnSpc>
                <a:spcPct val="108000"/>
              </a:lnSpc>
            </a:pPr>
            <a:r>
              <a:rPr sz="1850" b="0" i="0" u="none">
                <a:solidFill>
                  <a:srgbClr val="FFFFFF"/>
                </a:solidFill>
                <a:latin typeface="Public Sans"/>
              </a:rPr>
              <a:t>độ RSSI và đồng xuất hiện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27700" y="5791200"/>
            <a:ext cx="55118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600" b="1" i="0" u="none">
                <a:solidFill>
                  <a:srgbClr val="F2BE3A"/>
                </a:solidFill>
                <a:latin typeface="Public Sans"/>
              </a:rPr>
              <a:t>MODEL 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27700" y="6299200"/>
            <a:ext cx="55118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300" b="0" i="0" u="none">
                <a:solidFill>
                  <a:srgbClr val="FFFFFF"/>
                </a:solidFill>
                <a:latin typeface="Public Sans"/>
              </a:rPr>
              <a:t>MUTUAL INFORMATION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78500" y="7188200"/>
            <a:ext cx="54102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850" b="0" i="0" u="none">
                <a:solidFill>
                  <a:srgbClr val="FFFFFF"/>
                </a:solidFill>
                <a:latin typeface="Public Sans"/>
              </a:rPr>
              <a:t>p(i) </a:t>
            </a:r>
            <a:r>
              <a:rPr sz="1850" b="0" i="0" u="none">
                <a:solidFill>
                  <a:srgbClr val="FFFFFF"/>
                </a:solidFill>
                <a:latin typeface="Segoe UI Symbol"/>
              </a:rPr>
              <a:t>∝</a:t>
            </a:r>
            <a:r>
              <a:rPr sz="1850" b="0" i="0" u="none">
                <a:solidFill>
                  <a:srgbClr val="FFFFFF"/>
                </a:solidFill>
                <a:latin typeface="Public Sans"/>
              </a:rPr>
              <a:t> I(WAP i; Y): AP cho biết nhiều</a:t>
            </a:r>
          </a:p>
          <a:p>
            <a:pPr algn="ctr">
              <a:lnSpc>
                <a:spcPct val="108000"/>
              </a:lnSpc>
            </a:pPr>
            <a:r>
              <a:rPr sz="1850" b="0" i="0" u="none">
                <a:solidFill>
                  <a:srgbClr val="FFFFFF"/>
                </a:solidFill>
                <a:latin typeface="Public Sans"/>
              </a:rPr>
              <a:t>về tòa nhà–tầng thì giá trị cao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93500" y="5791200"/>
            <a:ext cx="58039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600" b="1" i="0" u="none">
                <a:solidFill>
                  <a:srgbClr val="F2BE3A"/>
                </a:solidFill>
                <a:latin typeface="Public Sans"/>
              </a:rPr>
              <a:t>MODEL 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93500" y="6299200"/>
            <a:ext cx="58039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300" b="0" i="0" u="none">
                <a:solidFill>
                  <a:srgbClr val="FFFFFF"/>
                </a:solidFill>
                <a:latin typeface="Public Sans"/>
              </a:rPr>
              <a:t>MI × ĐỘ HIẾM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44300" y="7188200"/>
            <a:ext cx="57023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850" b="0" i="0" u="none">
                <a:solidFill>
                  <a:srgbClr val="FFFFFF"/>
                </a:solidFill>
                <a:latin typeface="Public Sans"/>
              </a:rPr>
              <a:t>p(i) </a:t>
            </a:r>
            <a:r>
              <a:rPr sz="1850" b="0" i="0" u="none">
                <a:solidFill>
                  <a:srgbClr val="FFFFFF"/>
                </a:solidFill>
                <a:latin typeface="Segoe UI Symbol"/>
              </a:rPr>
              <a:t>∝</a:t>
            </a:r>
            <a:r>
              <a:rPr sz="1850" b="0" i="0" u="none">
                <a:solidFill>
                  <a:srgbClr val="FFFFFF"/>
                </a:solidFill>
                <a:latin typeface="Public Sans"/>
              </a:rPr>
              <a:t> I(WAP i; Y) · log(N / (1 + support)):</a:t>
            </a:r>
          </a:p>
          <a:p>
            <a:pPr algn="ctr">
              <a:lnSpc>
                <a:spcPct val="108000"/>
              </a:lnSpc>
            </a:pPr>
            <a:r>
              <a:rPr sz="1850" b="0" i="0" u="none">
                <a:solidFill>
                  <a:srgbClr val="FFFFFF"/>
                </a:solidFill>
                <a:latin typeface="Public Sans"/>
              </a:rPr>
              <a:t>phạt AP có mặt ở khắp nơi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8686800"/>
            <a:ext cx="16002000" cy="10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2000" b="1" i="0" u="none">
                <a:solidFill>
                  <a:srgbClr val="F2BE3A"/>
                </a:solidFill>
                <a:latin typeface="Public Sans"/>
              </a:rPr>
              <a:t>MỤC TIÊU:</a:t>
            </a:r>
            <a:r>
              <a:rPr sz="2000" b="0" i="0" u="none">
                <a:solidFill>
                  <a:srgbClr val="FFFFFF"/>
                </a:solidFill>
                <a:latin typeface="Public Sans"/>
              </a:rPr>
              <a:t> kiểm tra nhóm AP có tổng utility cao có phải tập đặc trưng tốt cho định vị không — đo độ chính xác tòa nhà/tầng, sai số mét, thời gian, bộ nhớ, và so có đối chứng ở cùng số WAP.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891000" y="99314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50" b="0" i="0" u="none">
                <a:solidFill>
                  <a:srgbClr val="A9B8CC"/>
                </a:solidFill>
                <a:latin typeface="Public Sans"/>
              </a:rPr>
              <a:t>6 / 38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de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11200" y="508000"/>
            <a:ext cx="1397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000" b="0" i="0" u="none">
                <a:solidFill>
                  <a:srgbClr val="F2BE3A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Ba cách định nghĩa p(i)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4200" y="2311400"/>
            <a:ext cx="5537200" cy="74676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863600" y="2590800"/>
            <a:ext cx="914400" cy="914400"/>
          </a:xfrm>
          <a:prstGeom prst="ellipse">
            <a:avLst/>
          </a:prstGeom>
          <a:solidFill>
            <a:srgbClr val="4E5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63600" y="259080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4000" b="1" i="0" u="none">
                <a:solidFill>
                  <a:srgbClr val="FFFFFF"/>
                </a:solidFill>
                <a:latin typeface="Public Sans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81200" y="2692400"/>
            <a:ext cx="3886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 u="none">
                <a:solidFill>
                  <a:srgbClr val="14223A"/>
                </a:solidFill>
                <a:latin typeface="Public Sans"/>
              </a:rPr>
              <a:t>Model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81200" y="3073400"/>
            <a:ext cx="3886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i="0" u="none">
                <a:solidFill>
                  <a:srgbClr val="5B6676"/>
                </a:solidFill>
                <a:latin typeface="Public Sans"/>
              </a:rPr>
              <a:t>Signal</a:t>
            </a:r>
          </a:p>
        </p:txBody>
      </p:sp>
      <p:pic>
        <p:nvPicPr>
          <p:cNvPr id="9" name="Picture 8" descr="formula_0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3784" y="3860800"/>
            <a:ext cx="1018032" cy="426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3600" y="5257800"/>
            <a:ext cx="49784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 u="none">
                <a:solidFill>
                  <a:srgbClr val="14223A"/>
                </a:solidFill>
                <a:latin typeface="Public Sans"/>
              </a:rPr>
              <a:t>Chỉ nhìn cường độ sóng và mức đồng xuất hiện: u(X) lớn khi các AP mạnh và hay xuất hiện cùng nhau.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3600" y="6756400"/>
            <a:ext cx="4978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50" b="0" i="0" u="none">
                <a:solidFill>
                  <a:srgbClr val="3B4656"/>
                </a:solidFill>
                <a:latin typeface="Public Sans"/>
              </a:rPr>
              <a:t>Tổng utility CSDL: 9.058.242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3600" y="7289800"/>
            <a:ext cx="49784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 u="none">
                <a:solidFill>
                  <a:srgbClr val="4E5A66"/>
                </a:solidFill>
                <a:latin typeface="Public Sans"/>
              </a:rPr>
              <a:t>Đối chứng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3600" y="7899400"/>
            <a:ext cx="49784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1" u="none">
                <a:solidFill>
                  <a:srgbClr val="4A5566"/>
                </a:solidFill>
                <a:latin typeface="Public Sans"/>
              </a:rPr>
              <a:t>Nguồn:</a:t>
            </a:r>
            <a:r>
              <a:rPr sz="1450" b="0" i="1" u="none">
                <a:solidFill>
                  <a:srgbClr val="4A5566"/>
                </a:solidFill>
                <a:latin typeface="Public Sans"/>
              </a:rPr>
              <a:t> điều kiện đối chứng do bài tìm hiểu đặt ra (utility chỉ còn q)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4600" y="2311400"/>
            <a:ext cx="5537200" cy="74676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6604000" y="2590800"/>
            <a:ext cx="914400" cy="914400"/>
          </a:xfrm>
          <a:prstGeom prst="ellipse">
            <a:avLst/>
          </a:prstGeom>
          <a:solidFill>
            <a:srgbClr val="1779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604000" y="259080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4000" b="1" i="0" u="none">
                <a:solidFill>
                  <a:srgbClr val="FFFFFF"/>
                </a:solidFill>
                <a:latin typeface="Public Sans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1600" y="2692400"/>
            <a:ext cx="3886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 u="none">
                <a:solidFill>
                  <a:srgbClr val="14223A"/>
                </a:solidFill>
                <a:latin typeface="Public Sans"/>
              </a:rPr>
              <a:t>Model 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1600" y="3073400"/>
            <a:ext cx="3886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i="0" u="none">
                <a:solidFill>
                  <a:srgbClr val="5B6676"/>
                </a:solidFill>
                <a:latin typeface="Public Sans"/>
              </a:rPr>
              <a:t>Discriminative</a:t>
            </a:r>
          </a:p>
        </p:txBody>
      </p:sp>
      <p:pic>
        <p:nvPicPr>
          <p:cNvPr id="19" name="Picture 18" descr="formula_0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8888" y="3860800"/>
            <a:ext cx="3468624" cy="106984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604000" y="5257800"/>
            <a:ext cx="49784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 u="none">
                <a:solidFill>
                  <a:srgbClr val="14223A"/>
                </a:solidFill>
                <a:latin typeface="Public Sans"/>
              </a:rPr>
              <a:t>WAP nào giúp biết đang ở tòa nhà–tầng nào (Y) thì có giá trị cao.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4000" y="6756400"/>
            <a:ext cx="4978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50" b="0" i="0" u="none">
                <a:solidFill>
                  <a:srgbClr val="3B4656"/>
                </a:solidFill>
                <a:latin typeface="Public Sans"/>
              </a:rPr>
              <a:t>Tổng utility CSDL: 4.354.299 · p trung bình 0,175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4000" y="7289800"/>
            <a:ext cx="49784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 u="none">
                <a:solidFill>
                  <a:srgbClr val="17797F"/>
                </a:solidFill>
                <a:latin typeface="Public Sans"/>
              </a:rPr>
              <a:t>Model chính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4000" y="7899400"/>
            <a:ext cx="49784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1" u="none">
                <a:solidFill>
                  <a:srgbClr val="4A5566"/>
                </a:solidFill>
                <a:latin typeface="Public Sans"/>
              </a:rPr>
              <a:t>Nguồn:</a:t>
            </a:r>
            <a:r>
              <a:rPr sz="1450" b="0" i="1" u="none">
                <a:solidFill>
                  <a:srgbClr val="4A5566"/>
                </a:solidFill>
                <a:latin typeface="Public Sans"/>
              </a:rPr>
              <a:t> I(·;·) — Shannon, Bell Syst. Tech. J. 1948 [6]; chọn AP theo thông tin tương hỗ — Chen, Yang, Yin &amp; Chai, IEEE TKDE 2006 [7]; chuẩn hoá về (0, 1] — bài tìm hiểu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065000" y="2311400"/>
            <a:ext cx="5537200" cy="74676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12344400" y="2590800"/>
            <a:ext cx="914400" cy="914400"/>
          </a:xfrm>
          <a:prstGeom prst="ellipse">
            <a:avLst/>
          </a:prstGeom>
          <a:solidFill>
            <a:srgbClr val="E267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2344400" y="2590800"/>
            <a:ext cx="91440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4000" b="1" i="0" u="none">
                <a:solidFill>
                  <a:srgbClr val="FFFFFF"/>
                </a:solidFill>
                <a:latin typeface="Public Sans"/>
              </a:rPr>
              <a:t>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62000" y="2692400"/>
            <a:ext cx="3886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 u="none">
                <a:solidFill>
                  <a:srgbClr val="14223A"/>
                </a:solidFill>
                <a:latin typeface="Public Sans"/>
              </a:rPr>
              <a:t>Model 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62000" y="3073400"/>
            <a:ext cx="3886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i="0" u="none">
                <a:solidFill>
                  <a:srgbClr val="5B6676"/>
                </a:solidFill>
                <a:latin typeface="Public Sans"/>
              </a:rPr>
              <a:t>Rare-discriminative</a:t>
            </a:r>
          </a:p>
        </p:txBody>
      </p:sp>
      <p:pic>
        <p:nvPicPr>
          <p:cNvPr id="29" name="Picture 28" descr="formula_01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713716" y="3860800"/>
            <a:ext cx="4239768" cy="81076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2344400" y="5257800"/>
            <a:ext cx="49784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 u="none">
                <a:solidFill>
                  <a:srgbClr val="14223A"/>
                </a:solidFill>
                <a:latin typeface="Public Sans"/>
              </a:rPr>
              <a:t>Như B, nhưng phạt WAP có mặt ở khắp nơi (thừa số kiểu IDF).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0" y="6756400"/>
            <a:ext cx="4978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50" b="0" i="0" u="none">
                <a:solidFill>
                  <a:srgbClr val="3B4656"/>
                </a:solidFill>
                <a:latin typeface="Public Sans"/>
              </a:rPr>
              <a:t>Tổng utility CSDL: 6.211.852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44400" y="7289800"/>
            <a:ext cx="49784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 u="none">
                <a:solidFill>
                  <a:srgbClr val="E2672B"/>
                </a:solidFill>
                <a:latin typeface="Public Sans"/>
              </a:rPr>
              <a:t>Biến thể thứ ba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0" y="7899400"/>
            <a:ext cx="49784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1" u="none">
                <a:solidFill>
                  <a:srgbClr val="4A5566"/>
                </a:solidFill>
                <a:latin typeface="Public Sans"/>
              </a:rPr>
              <a:t>Nguồn:</a:t>
            </a:r>
            <a:r>
              <a:rPr sz="1450" b="0" i="1" u="none">
                <a:solidFill>
                  <a:srgbClr val="4A5566"/>
                </a:solidFill>
                <a:latin typeface="Public Sans"/>
              </a:rPr>
              <a:t> log(N / số lần xuất hiện) là IDF — Spärck Jones, J. Documentation 1972 [8]; ghép với MI — bài tìm hiểu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891000" y="99314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50" b="0" i="0" u="none">
                <a:solidFill>
                  <a:srgbClr val="A9B8CC"/>
                </a:solidFill>
                <a:latin typeface="Public Sans"/>
              </a:rPr>
              <a:t>7 / 38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4200" y="457200"/>
            <a:ext cx="17145000" cy="994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800" b="1" i="0" u="none">
                <a:solidFill>
                  <a:srgbClr val="FFFFFF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Tổng quan: </a:t>
            </a:r>
            <a:r>
              <a:rPr sz="5800" b="1" i="0" u="none">
                <a:solidFill>
                  <a:srgbClr val="F2BE3A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5 bước</a:t>
            </a:r>
            <a:r>
              <a:rPr sz="5800" b="1" i="0" u="none">
                <a:solidFill>
                  <a:srgbClr val="FFFFFF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 tiền xử lý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473200"/>
            <a:ext cx="1651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0" i="0" u="none">
                <a:solidFill>
                  <a:srgbClr val="A9B8CC"/>
                </a:solidFill>
                <a:latin typeface="Public Sans"/>
              </a:rPr>
              <a:t>Từ một dòng CSV đến đầu vào của thuật toán EFIM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8000" y="2235200"/>
            <a:ext cx="3149600" cy="3175000"/>
          </a:xfrm>
          <a:prstGeom prst="roundRect">
            <a:avLst>
              <a:gd name="adj" fmla="val 7000"/>
            </a:avLst>
          </a:prstGeom>
          <a:solidFill>
            <a:srgbClr val="0D2645"/>
          </a:solidFill>
          <a:ln w="15875">
            <a:solidFill>
              <a:srgbClr val="3A5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36600" y="2413000"/>
            <a:ext cx="26924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 u="none">
                <a:solidFill>
                  <a:srgbClr val="F2BE3A"/>
                </a:solidFill>
                <a:latin typeface="Public San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600" y="2997200"/>
            <a:ext cx="26924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 u="none">
                <a:solidFill>
                  <a:srgbClr val="FFFFFF"/>
                </a:solidFill>
                <a:latin typeface="Public Sans"/>
              </a:rPr>
              <a:t>Làm sạch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600" y="3505200"/>
            <a:ext cx="26924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50" b="0" i="0" u="none">
                <a:solidFill>
                  <a:srgbClr val="DCE3EE"/>
                </a:solidFill>
                <a:latin typeface="Public Sans"/>
              </a:rPr>
              <a:t>100 = không phát hiện; kiểm tra RSSI nằm trong [−104, 0] dBm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708400" y="3683000"/>
            <a:ext cx="317500" cy="254000"/>
          </a:xfrm>
          <a:prstGeom prst="rightArrow">
            <a:avLst/>
          </a:prstGeom>
          <a:solidFill>
            <a:srgbClr val="F2B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076700" y="2235200"/>
            <a:ext cx="3149600" cy="3175000"/>
          </a:xfrm>
          <a:prstGeom prst="roundRect">
            <a:avLst>
              <a:gd name="adj" fmla="val 7000"/>
            </a:avLst>
          </a:prstGeom>
          <a:solidFill>
            <a:srgbClr val="0D2645"/>
          </a:solidFill>
          <a:ln w="15875">
            <a:solidFill>
              <a:srgbClr val="3A5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305300" y="2413000"/>
            <a:ext cx="26924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 u="none">
                <a:solidFill>
                  <a:srgbClr val="F2BE3A"/>
                </a:solidFill>
                <a:latin typeface="Public San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05300" y="2997200"/>
            <a:ext cx="26924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 u="none">
                <a:solidFill>
                  <a:srgbClr val="FFFFFF"/>
                </a:solidFill>
                <a:latin typeface="Public Sans"/>
              </a:rPr>
              <a:t>Chuẩn hoá RSSI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05300" y="3505200"/>
            <a:ext cx="26924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50" b="0" i="0" u="none">
                <a:solidFill>
                  <a:srgbClr val="DCE3EE"/>
                </a:solidFill>
                <a:latin typeface="Public Sans"/>
              </a:rPr>
              <a:t>q(i,T) </a:t>
            </a:r>
            <a:r>
              <a:rPr sz="1750" b="0" i="0" u="none">
                <a:solidFill>
                  <a:srgbClr val="DCE3EE"/>
                </a:solidFill>
                <a:latin typeface="Segoe UI Symbol"/>
              </a:rPr>
              <a:t>∈</a:t>
            </a:r>
            <a:r>
              <a:rPr sz="1750" b="0" i="0" u="none">
                <a:solidFill>
                  <a:srgbClr val="DCE3EE"/>
                </a:solidFill>
                <a:latin typeface="Public Sans"/>
              </a:rPr>
              <a:t> [1, 100], RSSI min/max học trên trainingData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277100" y="3683000"/>
            <a:ext cx="317500" cy="254000"/>
          </a:xfrm>
          <a:prstGeom prst="rightArrow">
            <a:avLst/>
          </a:prstGeom>
          <a:solidFill>
            <a:srgbClr val="F2B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645400" y="2235200"/>
            <a:ext cx="3149600" cy="3175000"/>
          </a:xfrm>
          <a:prstGeom prst="roundRect">
            <a:avLst>
              <a:gd name="adj" fmla="val 7000"/>
            </a:avLst>
          </a:prstGeom>
          <a:solidFill>
            <a:srgbClr val="0D2645"/>
          </a:solidFill>
          <a:ln w="15875">
            <a:solidFill>
              <a:srgbClr val="3A5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874000" y="2413000"/>
            <a:ext cx="26924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 u="none">
                <a:solidFill>
                  <a:srgbClr val="F2BE3A"/>
                </a:solidFill>
                <a:latin typeface="Public San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74000" y="2997200"/>
            <a:ext cx="26924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 u="none">
                <a:solidFill>
                  <a:srgbClr val="FFFFFF"/>
                </a:solidFill>
                <a:latin typeface="Public Sans"/>
              </a:rPr>
              <a:t>Tạo transaction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74000" y="3505200"/>
            <a:ext cx="26924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50" b="0" i="0" u="none">
                <a:solidFill>
                  <a:srgbClr val="DCE3EE"/>
                </a:solidFill>
                <a:latin typeface="Public Sans"/>
              </a:rPr>
              <a:t>item = WAP; ô ≠ 100 </a:t>
            </a:r>
            <a:r>
              <a:rPr sz="1750" b="0" i="0" u="none">
                <a:solidFill>
                  <a:srgbClr val="DCE3EE"/>
                </a:solidFill>
                <a:latin typeface="Segoe UI Symbol"/>
              </a:rPr>
              <a:t>→</a:t>
            </a:r>
            <a:r>
              <a:rPr sz="1750" b="0" i="0" u="none">
                <a:solidFill>
                  <a:srgbClr val="DCE3EE"/>
                </a:solidFill>
                <a:latin typeface="Public Sans"/>
              </a:rPr>
              <a:t> WAP có mặt trong giao dịch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10845800" y="3683000"/>
            <a:ext cx="317500" cy="254000"/>
          </a:xfrm>
          <a:prstGeom prst="rightArrow">
            <a:avLst/>
          </a:prstGeom>
          <a:solidFill>
            <a:srgbClr val="F2B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1214100" y="2235200"/>
            <a:ext cx="3149600" cy="3175000"/>
          </a:xfrm>
          <a:prstGeom prst="roundRect">
            <a:avLst>
              <a:gd name="adj" fmla="val 7000"/>
            </a:avLst>
          </a:prstGeom>
          <a:solidFill>
            <a:srgbClr val="0D2645"/>
          </a:solidFill>
          <a:ln w="15875">
            <a:solidFill>
              <a:srgbClr val="3A5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1442700" y="2413000"/>
            <a:ext cx="26924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 u="none">
                <a:solidFill>
                  <a:srgbClr val="F2BE3A"/>
                </a:solidFill>
                <a:latin typeface="Public San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42700" y="2997200"/>
            <a:ext cx="26924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 u="none">
                <a:solidFill>
                  <a:srgbClr val="FFFFFF"/>
                </a:solidFill>
                <a:latin typeface="Public Sans"/>
              </a:rPr>
              <a:t>Trọng số p(i)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42700" y="3505200"/>
            <a:ext cx="26924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50" b="0" i="0" u="none">
                <a:solidFill>
                  <a:srgbClr val="DCE3EE"/>
                </a:solidFill>
                <a:latin typeface="Public Sans"/>
              </a:rPr>
              <a:t>Model A / B / C, chỉ ước lượng trên trainingData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14414500" y="3683000"/>
            <a:ext cx="317500" cy="254000"/>
          </a:xfrm>
          <a:prstGeom prst="rightArrow">
            <a:avLst/>
          </a:prstGeom>
          <a:solidFill>
            <a:srgbClr val="F2B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4782800" y="2235200"/>
            <a:ext cx="3149600" cy="3175000"/>
          </a:xfrm>
          <a:prstGeom prst="roundRect">
            <a:avLst>
              <a:gd name="adj" fmla="val 7000"/>
            </a:avLst>
          </a:prstGeom>
          <a:solidFill>
            <a:srgbClr val="0D2645"/>
          </a:solidFill>
          <a:ln w="15875">
            <a:solidFill>
              <a:srgbClr val="3A5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5011400" y="2413000"/>
            <a:ext cx="26924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 u="none">
                <a:solidFill>
                  <a:srgbClr val="F2BE3A"/>
                </a:solidFill>
                <a:latin typeface="Public Sans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11400" y="2997200"/>
            <a:ext cx="26924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 u="none">
                <a:solidFill>
                  <a:srgbClr val="FFFFFF"/>
                </a:solidFill>
                <a:latin typeface="Public Sans"/>
              </a:rPr>
              <a:t>Bên trong EFIM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11400" y="3505200"/>
            <a:ext cx="26924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50" b="0" i="0" u="none">
                <a:solidFill>
                  <a:srgbClr val="DCE3EE"/>
                </a:solidFill>
                <a:latin typeface="Public Sans"/>
              </a:rPr>
              <a:t>TWU, sắp thứ tự, cắt tỉa TWU, gộp giao dịch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0400" y="5867400"/>
            <a:ext cx="16891000" cy="381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34315" indent="-234315">
              <a:lnSpc>
                <a:spcPct val="112000"/>
              </a:lnSpc>
              <a:buClr>
                <a:srgbClr val="F2BE3A"/>
              </a:buClr>
              <a:buFont typeface="Public Sans"/>
              <a:buChar char="–"/>
            </a:pPr>
            <a:r>
              <a:rPr sz="2050" b="1" i="0" u="none">
                <a:solidFill>
                  <a:srgbClr val="F2BE3A"/>
                </a:solidFill>
                <a:latin typeface="Public Sans"/>
              </a:rPr>
              <a:t>Đầu vào:</a:t>
            </a:r>
            <a:r>
              <a:rPr sz="2050" b="0" i="0" u="none">
                <a:solidFill>
                  <a:srgbClr val="FFFFFF"/>
                </a:solidFill>
                <a:latin typeface="Public Sans"/>
              </a:rPr>
              <a:t> trainingData.csv (19.937 dòng) và validationData.csv (1.111 dòng), mỗi file 520 cột WAP.</a:t>
            </a:r>
          </a:p>
          <a:p>
            <a:pPr algn="l" marL="234315" indent="-234315">
              <a:lnSpc>
                <a:spcPct val="112000"/>
              </a:lnSpc>
              <a:spcBef>
                <a:spcPts val="1200"/>
              </a:spcBef>
              <a:buClr>
                <a:srgbClr val="F2BE3A"/>
              </a:buClr>
              <a:buFont typeface="Public Sans"/>
              <a:buChar char="–"/>
            </a:pPr>
            <a:r>
              <a:rPr sz="2050" b="1" i="0" u="none">
                <a:solidFill>
                  <a:srgbClr val="F2BE3A"/>
                </a:solidFill>
                <a:latin typeface="Public Sans"/>
              </a:rPr>
              <a:t>Đầu ra:</a:t>
            </a:r>
            <a:r>
              <a:rPr sz="2050" b="0" i="0" u="none">
                <a:solidFill>
                  <a:srgbClr val="FFFFFF"/>
                </a:solidFill>
                <a:latin typeface="Public Sans"/>
              </a:rPr>
              <a:t> danh sách transaction {WAP: q} và vector p(i) cho từng WAP.</a:t>
            </a:r>
          </a:p>
          <a:p>
            <a:pPr algn="l" marL="234315" indent="-234315">
              <a:lnSpc>
                <a:spcPct val="112000"/>
              </a:lnSpc>
              <a:spcBef>
                <a:spcPts val="1200"/>
              </a:spcBef>
              <a:buClr>
                <a:srgbClr val="F2BE3A"/>
              </a:buClr>
              <a:buFont typeface="Public Sans"/>
              <a:buChar char="–"/>
            </a:pPr>
            <a:r>
              <a:rPr sz="2050" b="1" i="0" u="none">
                <a:solidFill>
                  <a:srgbClr val="F2BE3A"/>
                </a:solidFill>
                <a:latin typeface="Public Sans"/>
              </a:rPr>
              <a:t>Không làm đầy (impute) giá trị nào:</a:t>
            </a:r>
            <a:r>
              <a:rPr sz="2050" b="0" i="0" u="none">
                <a:solidFill>
                  <a:srgbClr val="FFFFFF"/>
                </a:solidFill>
                <a:latin typeface="Public Sans"/>
              </a:rPr>
              <a:t> 100 = không phát hiện = item vắng mặt; 96,54% số ô WAP bằng 100, và 0 ô nằm trong 1…99.</a:t>
            </a:r>
          </a:p>
          <a:p>
            <a:pPr algn="l" marL="234315" indent="-234315">
              <a:lnSpc>
                <a:spcPct val="112000"/>
              </a:lnSpc>
              <a:spcBef>
                <a:spcPts val="1200"/>
              </a:spcBef>
              <a:buClr>
                <a:srgbClr val="F2BE3A"/>
              </a:buClr>
              <a:buFont typeface="Public Sans"/>
              <a:buChar char="–"/>
            </a:pPr>
            <a:r>
              <a:rPr sz="2050" b="1" i="0" u="none">
                <a:solidFill>
                  <a:srgbClr val="F2BE3A"/>
                </a:solidFill>
                <a:latin typeface="Public Sans"/>
              </a:rPr>
              <a:t>Chống rò rỉ:</a:t>
            </a:r>
            <a:r>
              <a:rPr sz="2050" b="0" i="0" u="none">
                <a:solidFill>
                  <a:srgbClr val="FFFFFF"/>
                </a:solidFill>
                <a:latin typeface="Public Sans"/>
              </a:rPr>
              <a:t> mọi tham số học từ dữ liệu (RSSI min/max, p(i)) chỉ lấy từ trainingData; hàm ước lượng p(i) báo lỗi nếu nhận dữ liệu khác.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891000" y="99314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50" b="0" i="0" u="none">
                <a:solidFill>
                  <a:srgbClr val="A9B8CC"/>
                </a:solidFill>
                <a:latin typeface="Public Sans"/>
              </a:rPr>
              <a:t>8 / 38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4200" y="381000"/>
            <a:ext cx="172720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5800" b="0" i="0" u="none">
                <a:solidFill>
                  <a:srgbClr val="F2BE3A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Bước 1: chuẩn hoá RSSI sang</a:t>
            </a:r>
          </a:p>
          <a:p>
            <a:pPr algn="l">
              <a:lnSpc>
                <a:spcPct val="98000"/>
              </a:lnSpc>
            </a:pPr>
            <a:r>
              <a:rPr sz="5800" b="0" i="0" u="none">
                <a:solidFill>
                  <a:srgbClr val="F2BE3A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“positive representation”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2489200"/>
            <a:ext cx="8128000" cy="711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1460" indent="-251460">
              <a:lnSpc>
                <a:spcPct val="112000"/>
              </a:lnSpc>
              <a:buClr>
                <a:srgbClr val="F2BE3A"/>
              </a:buClr>
              <a:buFont typeface="Public Sans"/>
              <a:buChar char="•"/>
            </a:pPr>
            <a:r>
              <a:rPr sz="2200" b="0" i="0" u="none">
                <a:solidFill>
                  <a:srgbClr val="FFFFFF"/>
                </a:solidFill>
                <a:latin typeface="Public Sans"/>
              </a:rPr>
              <a:t>Không phát hiện (100) </a:t>
            </a:r>
            <a:r>
              <a:rPr sz="2200" b="0" i="0" u="none">
                <a:solidFill>
                  <a:srgbClr val="FFFFFF"/>
                </a:solidFill>
                <a:latin typeface="Segoe UI Symbol"/>
              </a:rPr>
              <a:t>→</a:t>
            </a:r>
            <a:r>
              <a:rPr sz="2200" b="0" i="0" u="none">
                <a:solidFill>
                  <a:srgbClr val="FFFFFF"/>
                </a:solidFill>
                <a:latin typeface="Public Sans"/>
              </a:rPr>
              <a:t> 0 (“không có thông tin”), tức WAP vắng mặt khỏi giao dịch.</a:t>
            </a:r>
          </a:p>
          <a:p>
            <a:pPr algn="l" marL="251460" indent="-251460">
              <a:lnSpc>
                <a:spcPct val="112000"/>
              </a:lnSpc>
              <a:spcBef>
                <a:spcPts val="1200"/>
              </a:spcBef>
              <a:buClr>
                <a:srgbClr val="F2BE3A"/>
              </a:buClr>
              <a:buFont typeface="Public Sans"/>
              <a:buChar char="•"/>
            </a:pPr>
            <a:r>
              <a:rPr sz="2200" b="0" i="0" u="none">
                <a:solidFill>
                  <a:srgbClr val="FFFFFF"/>
                </a:solidFill>
                <a:latin typeface="Public Sans"/>
              </a:rPr>
              <a:t>Đã phát hiện: đưa RSSI về [0, 1] theo min/max của trainingData, rồi ánh xạ sang [1, 100].</a:t>
            </a:r>
          </a:p>
          <a:p>
            <a:pPr algn="l" marL="251460" indent="-251460">
              <a:lnSpc>
                <a:spcPct val="112000"/>
              </a:lnSpc>
              <a:spcBef>
                <a:spcPts val="1200"/>
              </a:spcBef>
              <a:buClr>
                <a:srgbClr val="F2BE3A"/>
              </a:buClr>
              <a:buFont typeface="Public Sans"/>
              <a:buChar char="•"/>
            </a:pPr>
            <a:r>
              <a:rPr sz="2200" b="0" i="0" u="none">
                <a:solidFill>
                  <a:srgbClr val="FFFFFF"/>
                </a:solidFill>
                <a:latin typeface="Public Sans"/>
              </a:rPr>
              <a:t>Làm tròn thành số nguyên dương; không ô đã phát hiện nào bị làm tròn về 0.</a:t>
            </a:r>
          </a:p>
          <a:p>
            <a:pPr algn="l" marL="251460" indent="-251460">
              <a:lnSpc>
                <a:spcPct val="112000"/>
              </a:lnSpc>
              <a:spcBef>
                <a:spcPts val="1200"/>
              </a:spcBef>
              <a:buClr>
                <a:srgbClr val="F2BE3A"/>
              </a:buClr>
              <a:buFont typeface="Public Sans"/>
              <a:buChar char="•"/>
            </a:pPr>
            <a:r>
              <a:rPr sz="2200" b="0" i="0" u="none">
                <a:solidFill>
                  <a:srgbClr val="FFFFFF"/>
                </a:solidFill>
                <a:latin typeface="Public Sans"/>
              </a:rPr>
              <a:t>q(i,T) là số nguyên dương </a:t>
            </a:r>
            <a:r>
              <a:rPr sz="2200" b="0" i="0" u="none">
                <a:solidFill>
                  <a:srgbClr val="FFFFFF"/>
                </a:solidFill>
                <a:latin typeface="Segoe UI Symbol"/>
              </a:rPr>
              <a:t>→</a:t>
            </a:r>
            <a:r>
              <a:rPr sz="2200" b="0" i="0" u="none">
                <a:solidFill>
                  <a:srgbClr val="FFFFFF"/>
                </a:solidFill>
                <a:latin typeface="Public Sans"/>
              </a:rPr>
              <a:t> EFIM cần utility dương cho các cận trên.</a:t>
            </a:r>
          </a:p>
          <a:p>
            <a:pPr algn="l" marL="251460" indent="-251460">
              <a:lnSpc>
                <a:spcPct val="112000"/>
              </a:lnSpc>
              <a:spcBef>
                <a:spcPts val="1200"/>
              </a:spcBef>
              <a:buClr>
                <a:srgbClr val="F2BE3A"/>
              </a:buClr>
              <a:buFont typeface="Public Sans"/>
              <a:buChar char="•"/>
            </a:pPr>
            <a:r>
              <a:rPr sz="2200" b="0" i="0" u="none">
                <a:solidFill>
                  <a:srgbClr val="FFFFFF"/>
                </a:solidFill>
                <a:latin typeface="Public Sans"/>
              </a:rPr>
              <a:t>Q_MAX = 100 chọn để dễ đọc, không phải siêu tham số được tinh chỉnh.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0" y="2413000"/>
            <a:ext cx="8559800" cy="2413000"/>
          </a:xfrm>
          <a:prstGeom prst="roundRect">
            <a:avLst>
              <a:gd name="adj" fmla="val 5000"/>
            </a:avLst>
          </a:prstGeom>
          <a:solidFill>
            <a:srgbClr val="0D2645"/>
          </a:solidFill>
          <a:ln w="15875">
            <a:solidFill>
              <a:srgbClr val="3A5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423400" y="2590800"/>
            <a:ext cx="8001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 u="none">
                <a:solidFill>
                  <a:srgbClr val="F2BE3A"/>
                </a:solidFill>
                <a:latin typeface="Public Sans"/>
              </a:rPr>
              <a:t>Công thức (utility nội)</a:t>
            </a:r>
          </a:p>
        </p:txBody>
      </p:sp>
      <p:pic>
        <p:nvPicPr>
          <p:cNvPr id="7" name="Picture 6" descr="formula_0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9344" y="3048000"/>
            <a:ext cx="5849112" cy="7711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423400" y="4267200"/>
            <a:ext cx="8001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 u="none">
                <a:solidFill>
                  <a:srgbClr val="A9B8CC"/>
                </a:solidFill>
                <a:latin typeface="Public Sans"/>
              </a:rPr>
              <a:t>Nguồn:</a:t>
            </a:r>
            <a:r>
              <a:rPr sz="1400" b="0" i="1" u="none">
                <a:solidFill>
                  <a:srgbClr val="A9B8CC"/>
                </a:solidFill>
                <a:latin typeface="Public Sans"/>
              </a:rPr>
              <a:t> biểu diễn “positive” — Torres-Sospedra et al., ESWA 2015 [9]; thang 1…100 và làm tròn — bài tìm hiểu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9144000" y="5130800"/>
          <a:ext cx="8559800" cy="2540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921000"/>
                <a:gridCol w="2819400"/>
                <a:gridCol w="2819400"/>
              </a:tblGrid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190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WAP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RSSI thô (dBm)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q(i,T)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WAP255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−77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27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WAP284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−89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15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WAP310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−78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26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WAP366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−78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26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144000" y="7823200"/>
            <a:ext cx="85598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50" b="0" i="0" u="none">
                <a:solidFill>
                  <a:srgbClr val="A9B8CC"/>
                </a:solidFill>
                <a:latin typeface="Public Sans"/>
              </a:rPr>
              <a:t>Dòng 3.250 của trainingData.csv (chỉ số pandas 3.248). RSSI_min = −104, RSSI_max = 0 ước lượng trên 19.937 dòng trainingData.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891000" y="99314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50" b="0" i="0" u="none">
                <a:solidFill>
                  <a:srgbClr val="A9B8CC"/>
                </a:solidFill>
                <a:latin typeface="Public Sans"/>
              </a:rPr>
              <a:t>9 / 38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4200" y="381000"/>
            <a:ext cx="17272000" cy="190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5800" b="0" i="0" u="none">
                <a:solidFill>
                  <a:srgbClr val="F2BE3A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Bước 2: mỗi fingerprint thành một</a:t>
            </a:r>
          </a:p>
          <a:p>
            <a:pPr algn="l">
              <a:lnSpc>
                <a:spcPct val="98000"/>
              </a:lnSpc>
            </a:pPr>
            <a:r>
              <a:rPr sz="5800" b="0" i="0" u="none">
                <a:solidFill>
                  <a:srgbClr val="F2BE3A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utility transaction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4200" y="2362200"/>
            <a:ext cx="5334000" cy="2159000"/>
          </a:xfrm>
          <a:prstGeom prst="roundRect">
            <a:avLst>
              <a:gd name="adj" fmla="val 7000"/>
            </a:avLst>
          </a:prstGeom>
          <a:solidFill>
            <a:srgbClr val="0D2645"/>
          </a:solidFill>
          <a:ln w="22860">
            <a:solidFill>
              <a:srgbClr val="3A5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12800" y="2540000"/>
            <a:ext cx="4876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1" i="0" u="none">
                <a:solidFill>
                  <a:srgbClr val="F2BE3A"/>
                </a:solidFill>
                <a:latin typeface="Public Sans"/>
              </a:rPr>
              <a:t>Dòng CSV 3.250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3022600"/>
            <a:ext cx="48768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850" b="0" i="0" u="none">
                <a:solidFill>
                  <a:srgbClr val="FFFFFF"/>
                </a:solidFill>
                <a:latin typeface="Public Sans"/>
              </a:rPr>
              <a:t>520 cột WAP</a:t>
            </a:r>
          </a:p>
          <a:p>
            <a:pPr algn="ctr">
              <a:lnSpc>
                <a:spcPct val="110000"/>
              </a:lnSpc>
            </a:pPr>
            <a:r>
              <a:rPr sz="1850" b="0" i="0" u="none">
                <a:solidFill>
                  <a:srgbClr val="FFFFFF"/>
                </a:solidFill>
                <a:latin typeface="Public Sans"/>
              </a:rPr>
              <a:t>4 cột ≠ 100, 516 cột = 100</a:t>
            </a:r>
          </a:p>
        </p:txBody>
      </p:sp>
      <p:sp>
        <p:nvSpPr>
          <p:cNvPr id="7" name="Right Arrow 6"/>
          <p:cNvSpPr/>
          <p:nvPr/>
        </p:nvSpPr>
        <p:spPr>
          <a:xfrm>
            <a:off x="5994400" y="3302000"/>
            <a:ext cx="381000" cy="279400"/>
          </a:xfrm>
          <a:prstGeom prst="rightArrow">
            <a:avLst/>
          </a:prstGeom>
          <a:solidFill>
            <a:srgbClr val="F2B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51600" y="2362200"/>
            <a:ext cx="5334000" cy="2159000"/>
          </a:xfrm>
          <a:prstGeom prst="roundRect">
            <a:avLst>
              <a:gd name="adj" fmla="val 7000"/>
            </a:avLst>
          </a:prstGeom>
          <a:solidFill>
            <a:srgbClr val="0D2645"/>
          </a:solidFill>
          <a:ln w="22860">
            <a:solidFill>
              <a:srgbClr val="F2B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680200" y="2540000"/>
            <a:ext cx="4876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1" i="0" u="none">
                <a:solidFill>
                  <a:srgbClr val="F2BE3A"/>
                </a:solidFill>
                <a:latin typeface="Public Sans"/>
              </a:rPr>
              <a:t>Transaction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80200" y="3022600"/>
            <a:ext cx="48768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850" b="0" i="0" u="none">
                <a:solidFill>
                  <a:srgbClr val="FFFFFF"/>
                </a:solidFill>
                <a:latin typeface="Public Sans"/>
              </a:rPr>
              <a:t>{WAP255: 27, WAP284: 15, WAP310: 26, WAP366: 26}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1861800" y="3302000"/>
            <a:ext cx="381000" cy="279400"/>
          </a:xfrm>
          <a:prstGeom prst="rightArrow">
            <a:avLst/>
          </a:prstGeom>
          <a:solidFill>
            <a:srgbClr val="F2B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2319000" y="2362200"/>
            <a:ext cx="5334000" cy="2159000"/>
          </a:xfrm>
          <a:prstGeom prst="roundRect">
            <a:avLst>
              <a:gd name="adj" fmla="val 7000"/>
            </a:avLst>
          </a:prstGeom>
          <a:solidFill>
            <a:srgbClr val="0D2645"/>
          </a:solidFill>
          <a:ln w="22860">
            <a:solidFill>
              <a:srgbClr val="5FC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2547600" y="2540000"/>
            <a:ext cx="48768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1" i="0" u="none">
                <a:solidFill>
                  <a:srgbClr val="F2BE3A"/>
                </a:solidFill>
                <a:latin typeface="Public Sans"/>
              </a:rPr>
              <a:t>Sau khi có p(i)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47600" y="3022600"/>
            <a:ext cx="48768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850" b="0" i="0" u="none">
                <a:solidFill>
                  <a:srgbClr val="FFFFFF"/>
                </a:solidFill>
                <a:latin typeface="Public Sans"/>
              </a:rPr>
              <a:t>Model A: TU = 94</a:t>
            </a:r>
          </a:p>
          <a:p>
            <a:pPr algn="ctr">
              <a:lnSpc>
                <a:spcPct val="110000"/>
              </a:lnSpc>
            </a:pPr>
            <a:r>
              <a:rPr sz="1850" b="0" i="0" u="none">
                <a:solidFill>
                  <a:srgbClr val="FFFFFF"/>
                </a:solidFill>
                <a:latin typeface="Public Sans"/>
              </a:rPr>
              <a:t>Model B: TU ≈ 15,5</a:t>
            </a:r>
          </a:p>
          <a:p>
            <a:pPr algn="ctr">
              <a:lnSpc>
                <a:spcPct val="110000"/>
              </a:lnSpc>
            </a:pPr>
            <a:r>
              <a:rPr sz="1850" b="0" i="0" u="none">
                <a:solidFill>
                  <a:srgbClr val="FFFFFF"/>
                </a:solidFill>
                <a:latin typeface="Public Sans"/>
              </a:rPr>
              <a:t>Model C: TU ≈ 37,1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84200" y="4953000"/>
          <a:ext cx="9144000" cy="42672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6604000"/>
                <a:gridCol w="2540000"/>
              </a:tblGrid>
              <a:tr h="711200">
                <a:tc>
                  <a:txBody>
                    <a:bodyPr wrap="square"/>
                    <a:lstStyle/>
                    <a:p>
                      <a:pPr algn="l"/>
                      <a:r>
                        <a:rPr sz="185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Thống kê (trainingData)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5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Giá trị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</a:tr>
              <a:tr h="711200">
                <a:tc>
                  <a:txBody>
                    <a:bodyPr wrap="square"/>
                    <a:lstStyle/>
                    <a:p>
                      <a:pPr algn="l"/>
                      <a:r>
                        <a:rPr sz="18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Số dòng (fingerprint)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19.937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  <a:tr h="711200">
                <a:tc>
                  <a:txBody>
                    <a:bodyPr wrap="square"/>
                    <a:lstStyle/>
                    <a:p>
                      <a:pPr algn="l"/>
                      <a:r>
                        <a:rPr sz="18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Transaction không rỗng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19.861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</a:tr>
              <a:tr h="711200">
                <a:tc>
                  <a:txBody>
                    <a:bodyPr wrap="square"/>
                    <a:lstStyle/>
                    <a:p>
                      <a:pPr algn="l"/>
                      <a:r>
                        <a:rPr sz="18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Transaction rỗng (không phát hiện AP nào)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76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  <a:tr h="711200">
                <a:tc>
                  <a:txBody>
                    <a:bodyPr wrap="square"/>
                    <a:lstStyle/>
                    <a:p>
                      <a:pPr algn="l"/>
                      <a:r>
                        <a:rPr sz="18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Độ dài trung bình (không rỗng)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18,06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</a:tr>
              <a:tr h="711200">
                <a:tc>
                  <a:txBody>
                    <a:bodyPr wrap="square"/>
                    <a:lstStyle/>
                    <a:p>
                      <a:pPr algn="l"/>
                      <a:r>
                        <a:rPr sz="18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Số item thực sự xuất hiện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465 / 520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10160000" y="5029200"/>
            <a:ext cx="7543800" cy="457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11455" indent="-211455">
              <a:lnSpc>
                <a:spcPct val="112000"/>
              </a:lnSpc>
              <a:buClr>
                <a:srgbClr val="F2BE3A"/>
              </a:buClr>
              <a:buFont typeface="Public Sans"/>
              <a:buChar char="•"/>
            </a:pPr>
            <a:r>
              <a:rPr sz="1850" b="0" i="0" u="none">
                <a:solidFill>
                  <a:srgbClr val="FFFFFF"/>
                </a:solidFill>
                <a:latin typeface="Public Sans"/>
              </a:rPr>
              <a:t>76 dòng rỗng tập trung ở vài thiết bị (PHONEID 1: 59, PHONEID 22: 14, PHONEID 13: 2, PHONEID 6: 1) — nghi lỗi thu thập; vẫn giữ cho bộ phân lớp để mọi điều kiện thấy cùng dữ liệu.</a:t>
            </a:r>
          </a:p>
          <a:p>
            <a:pPr algn="l" marL="211455" indent="-211455">
              <a:lnSpc>
                <a:spcPct val="112000"/>
              </a:lnSpc>
              <a:spcBef>
                <a:spcPts val="1200"/>
              </a:spcBef>
              <a:buClr>
                <a:srgbClr val="F2BE3A"/>
              </a:buClr>
              <a:buFont typeface="Public Sans"/>
              <a:buChar char="•"/>
            </a:pPr>
            <a:r>
              <a:rPr sz="1850" b="0" i="0" u="none">
                <a:solidFill>
                  <a:srgbClr val="FFFFFF"/>
                </a:solidFill>
                <a:latin typeface="Public Sans"/>
              </a:rPr>
              <a:t>Không WAP nào xuất hiện trong hơn 23,8% fingerprint (WAP496 là WAP xuất hiện nhiều nhất).</a:t>
            </a:r>
          </a:p>
          <a:p>
            <a:pPr algn="l" marL="211455" indent="-211455">
              <a:lnSpc>
                <a:spcPct val="112000"/>
              </a:lnSpc>
              <a:spcBef>
                <a:spcPts val="1200"/>
              </a:spcBef>
              <a:buClr>
                <a:srgbClr val="F2BE3A"/>
              </a:buClr>
              <a:buFont typeface="Public Sans"/>
              <a:buChar char="•"/>
            </a:pPr>
            <a:r>
              <a:rPr sz="1850" b="0" i="0" u="none">
                <a:solidFill>
                  <a:srgbClr val="FFFFFF"/>
                </a:solidFill>
                <a:latin typeface="Public Sans"/>
              </a:rPr>
              <a:t>TU(T) = </a:t>
            </a:r>
            <a:r>
              <a:rPr sz="1850" b="0" i="0" u="none">
                <a:solidFill>
                  <a:srgbClr val="FFFFFF"/>
                </a:solidFill>
                <a:latin typeface="Segoe UI Symbol"/>
              </a:rPr>
              <a:t>Σ</a:t>
            </a:r>
            <a:r>
              <a:rPr sz="1850" b="0" i="0" u="none">
                <a:solidFill>
                  <a:srgbClr val="FFFFFF"/>
                </a:solidFill>
                <a:latin typeface="Public Sans"/>
              </a:rPr>
              <a:t> q(i,T)·p(i): cùng một giao dịch có utility rất khác nhau giữa ba mô hình — chỉ vì p(i).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891000" y="99314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50" b="0" i="0" u="none">
                <a:solidFill>
                  <a:srgbClr val="A9B8CC"/>
                </a:solidFill>
                <a:latin typeface="Public Sans"/>
              </a:rPr>
              <a:t>10 / 38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4200" y="381000"/>
            <a:ext cx="1727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5600" b="0" i="0" u="none">
                <a:solidFill>
                  <a:srgbClr val="F2BE3A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Bước 3: external utility p(i) — 3 mô hình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4200" y="1625600"/>
          <a:ext cx="17119600" cy="23368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810000"/>
                <a:gridCol w="5969000"/>
                <a:gridCol w="2921000"/>
                <a:gridCol w="4419600"/>
              </a:tblGrid>
              <a:tr h="584200">
                <a:tc>
                  <a:txBody>
                    <a:bodyPr wrap="square"/>
                    <a:lstStyle/>
                    <a:p>
                      <a:pPr algn="l"/>
                      <a:r>
                        <a:rPr sz="185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Mô hình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5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p(i)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5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Tổng utility CSDL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5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Vai trò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</a:tr>
              <a:tr h="584200">
                <a:tc>
                  <a:txBody>
                    <a:bodyPr wrap="square"/>
                    <a:lstStyle/>
                    <a:p>
                      <a:pPr algn="l"/>
                      <a:r>
                        <a:rPr sz="18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A – Signal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p(i) = 1 với mọi WAP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9.058.242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Đối chứng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  <a:tr h="584200">
                <a:tc>
                  <a:txBody>
                    <a:bodyPr wrap="square"/>
                    <a:lstStyle/>
                    <a:p>
                      <a:pPr algn="l"/>
                      <a:r>
                        <a:rPr sz="18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B – Discriminative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max(I(A_i;Y), 10</a:t>
                      </a:r>
                      <a:r>
                        <a:rPr sz="1850" b="0" i="0" u="none">
                          <a:solidFill>
                            <a:srgbClr val="FFFFFF"/>
                          </a:solidFill>
                          <a:latin typeface="Segoe UI Symbol"/>
                        </a:rPr>
                        <a:t>⁻</a:t>
                      </a:r>
                      <a:r>
                        <a:rPr sz="18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⁶) / max_j I(A_j;Y)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4.354.299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Mô hình chính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</a:tr>
              <a:tr h="584200">
                <a:tc>
                  <a:txBody>
                    <a:bodyPr wrap="square"/>
                    <a:lstStyle/>
                    <a:p>
                      <a:pPr algn="l"/>
                      <a:r>
                        <a:rPr sz="18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C – Rare-discriminative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50" b="0" i="0" u="none">
                          <a:solidFill>
                            <a:srgbClr val="FFFFFF"/>
                          </a:solidFill>
                          <a:latin typeface="Segoe UI Symbol"/>
                        </a:rPr>
                        <a:t>∝</a:t>
                      </a:r>
                      <a:r>
                        <a:rPr sz="18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 I(A_i;Y) × log(N / (1 + support_i))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6.211.852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Phạt WAP có mặt khắp nơi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84200" y="4318000"/>
            <a:ext cx="10414000" cy="3429000"/>
          </a:xfrm>
          <a:prstGeom prst="roundRect">
            <a:avLst>
              <a:gd name="adj" fmla="val 5000"/>
            </a:avLst>
          </a:prstGeom>
          <a:solidFill>
            <a:srgbClr val="0D2645"/>
          </a:solidFill>
          <a:ln w="15875">
            <a:solidFill>
              <a:srgbClr val="3A5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63600" y="4495800"/>
            <a:ext cx="9906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 u="none">
                <a:solidFill>
                  <a:srgbClr val="F2BE3A"/>
                </a:solidFill>
                <a:latin typeface="Public Sans"/>
              </a:rPr>
              <a:t>Entropy và thông tin tương hỗ</a:t>
            </a:r>
          </a:p>
        </p:txBody>
      </p:sp>
      <p:pic>
        <p:nvPicPr>
          <p:cNvPr id="7" name="Picture 6" descr="formula_0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4124" y="5003800"/>
            <a:ext cx="3044952" cy="618744"/>
          </a:xfrm>
          <a:prstGeom prst="rect">
            <a:avLst/>
          </a:prstGeom>
        </p:spPr>
      </p:pic>
      <p:pic>
        <p:nvPicPr>
          <p:cNvPr id="8" name="Picture 7" descr="formula_0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7948" y="5664200"/>
            <a:ext cx="4337304" cy="78638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3600" y="7061200"/>
            <a:ext cx="9906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 u="none">
                <a:solidFill>
                  <a:srgbClr val="A9B8CC"/>
                </a:solidFill>
                <a:latin typeface="Public Sans"/>
              </a:rPr>
              <a:t>Nguồn:</a:t>
            </a:r>
            <a:r>
              <a:rPr sz="1400" b="0" i="1" u="none">
                <a:solidFill>
                  <a:srgbClr val="A9B8CC"/>
                </a:solidFill>
                <a:latin typeface="Public Sans"/>
              </a:rPr>
              <a:t> Shannon, Bell Syst. Tech. J. 1948 [6]; ước lượng từ histogram đồng thời (6 trạng thái tín hiệu × 13 lớp) — bài tìm hiểu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28400" y="4368800"/>
            <a:ext cx="6375400" cy="533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5740" indent="-205740">
              <a:lnSpc>
                <a:spcPct val="112000"/>
              </a:lnSpc>
              <a:buClr>
                <a:srgbClr val="F2BE3A"/>
              </a:buClr>
              <a:buFont typeface="Public Sans"/>
              <a:buChar char="•"/>
            </a:pPr>
            <a:r>
              <a:rPr sz="1800" b="0" i="0" u="none">
                <a:solidFill>
                  <a:srgbClr val="FFFFFF"/>
                </a:solidFill>
                <a:latin typeface="Public Sans"/>
              </a:rPr>
              <a:t>Y = BUILDINGID_FLOOR (13 lớp), H(Y) = 3,639 bit.</a:t>
            </a:r>
          </a:p>
          <a:p>
            <a:pPr algn="l" marL="205740" indent="-205740">
              <a:lnSpc>
                <a:spcPct val="112000"/>
              </a:lnSpc>
              <a:spcBef>
                <a:spcPts val="1000"/>
              </a:spcBef>
              <a:buClr>
                <a:srgbClr val="F2BE3A"/>
              </a:buClr>
              <a:buFont typeface="Public Sans"/>
              <a:buChar char="•"/>
            </a:pPr>
            <a:r>
              <a:rPr sz="1800" b="0" i="0" u="none">
                <a:solidFill>
                  <a:srgbClr val="FFFFFF"/>
                </a:solidFill>
                <a:latin typeface="Public Sans"/>
              </a:rPr>
              <a:t>6 trạng thái: “không phát hiện” + 5 khoảng dBm, biên [−104, −90, −80, −70, −60, 0].</a:t>
            </a:r>
          </a:p>
          <a:p>
            <a:pPr algn="l" marL="205740" indent="-205740">
              <a:lnSpc>
                <a:spcPct val="112000"/>
              </a:lnSpc>
              <a:spcBef>
                <a:spcPts val="1000"/>
              </a:spcBef>
              <a:buClr>
                <a:srgbClr val="F2BE3A"/>
              </a:buClr>
              <a:buFont typeface="Public Sans"/>
              <a:buChar char="•"/>
            </a:pPr>
            <a:r>
              <a:rPr sz="1800" b="0" i="0" u="none">
                <a:solidFill>
                  <a:srgbClr val="FFFFFF"/>
                </a:solidFill>
                <a:latin typeface="Public Sans"/>
              </a:rPr>
              <a:t>WAP thông tin nhất: WAP087 với 0,438 bit = 12,0% của H(Y).</a:t>
            </a:r>
          </a:p>
          <a:p>
            <a:pPr algn="l" marL="205740" indent="-205740">
              <a:lnSpc>
                <a:spcPct val="112000"/>
              </a:lnSpc>
              <a:spcBef>
                <a:spcPts val="1000"/>
              </a:spcBef>
              <a:buClr>
                <a:srgbClr val="F2BE3A"/>
              </a:buClr>
              <a:buFont typeface="Public Sans"/>
              <a:buChar char="•"/>
            </a:pPr>
            <a:r>
              <a:rPr sz="1800" b="0" i="0" u="none">
                <a:solidFill>
                  <a:srgbClr val="FFFFFF"/>
                </a:solidFill>
                <a:latin typeface="Public Sans"/>
              </a:rPr>
              <a:t>Sàn 10</a:t>
            </a:r>
            <a:r>
              <a:rPr sz="1800" b="0" i="0" u="none">
                <a:solidFill>
                  <a:srgbClr val="FFFFFF"/>
                </a:solidFill>
                <a:latin typeface="Segoe UI Symbol"/>
              </a:rPr>
              <a:t>⁻</a:t>
            </a:r>
            <a:r>
              <a:rPr sz="1800" b="0" i="0" u="none">
                <a:solidFill>
                  <a:srgbClr val="FFFFFF"/>
                </a:solidFill>
                <a:latin typeface="Public Sans"/>
              </a:rPr>
              <a:t>⁶ giữ p &gt; 0 vì EFIM cần utility dương; p trung bình (B) = 0,175.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4200" y="8026400"/>
            <a:ext cx="17145000" cy="165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50" b="1" i="0" u="none">
                <a:solidFill>
                  <a:srgbClr val="F2BE3A"/>
                </a:solidFill>
                <a:latin typeface="Public Sans"/>
              </a:rPr>
              <a:t>Hệ quả 1:</a:t>
            </a:r>
            <a:r>
              <a:rPr sz="1850" b="0" i="0" u="none">
                <a:solidFill>
                  <a:srgbClr val="FFFFFF"/>
                </a:solidFill>
                <a:latin typeface="Public Sans"/>
              </a:rPr>
              <a:t> tổng utility chênh 2,08 lần dù cùng dữ liệu và cùng q </a:t>
            </a:r>
            <a:r>
              <a:rPr sz="1850" b="0" i="0" u="none">
                <a:solidFill>
                  <a:srgbClr val="FFFFFF"/>
                </a:solidFill>
                <a:latin typeface="Segoe UI Symbol"/>
              </a:rPr>
              <a:t>⇒</a:t>
            </a:r>
            <a:r>
              <a:rPr sz="1850" b="0" i="0" u="none">
                <a:solidFill>
                  <a:srgbClr val="FFFFFF"/>
                </a:solidFill>
                <a:latin typeface="Public Sans"/>
              </a:rPr>
              <a:t> minUtil phải biểu diễn theo % tổng utility.</a:t>
            </a:r>
          </a:p>
          <a:p>
            <a:pPr algn="l">
              <a:lnSpc>
                <a:spcPct val="108000"/>
              </a:lnSpc>
              <a:spcBef>
                <a:spcPts val="800"/>
              </a:spcBef>
            </a:pPr>
            <a:r>
              <a:rPr sz="1850" b="1" i="0" u="none">
                <a:solidFill>
                  <a:srgbClr val="F2BE3A"/>
                </a:solidFill>
                <a:latin typeface="Public Sans"/>
              </a:rPr>
              <a:t>Hệ quả 2 (hạn chế lớn nhất):</a:t>
            </a:r>
            <a:r>
              <a:rPr sz="1850" b="0" i="0" u="none">
                <a:solidFill>
                  <a:srgbClr val="FFFFFF"/>
                </a:solidFill>
                <a:latin typeface="Public Sans"/>
              </a:rPr>
              <a:t> trên 465 WAP, hạng theo MI và hạng theo số lần phát hiện tương quan Spearman </a:t>
            </a:r>
            <a:r>
              <a:rPr sz="1850" b="0" i="0" u="none">
                <a:solidFill>
                  <a:srgbClr val="FFFFFF"/>
                </a:solidFill>
                <a:latin typeface="Segoe UI Symbol"/>
              </a:rPr>
              <a:t>ρ</a:t>
            </a:r>
            <a:r>
              <a:rPr sz="1850" b="0" i="0" u="none">
                <a:solidFill>
                  <a:srgbClr val="FFFFFF"/>
                </a:solidFill>
                <a:latin typeface="Public Sans"/>
              </a:rPr>
              <a:t> = 0,9908 [10] </a:t>
            </a:r>
            <a:r>
              <a:rPr sz="1850" b="0" i="0" u="none">
                <a:solidFill>
                  <a:srgbClr val="FFFFFF"/>
                </a:solidFill>
                <a:latin typeface="Segoe UI Symbol"/>
              </a:rPr>
              <a:t>⇒</a:t>
            </a:r>
            <a:r>
              <a:rPr sz="1850" b="0" i="0" u="none">
                <a:solidFill>
                  <a:srgbClr val="FFFFFF"/>
                </a:solidFill>
                <a:latin typeface="Public Sans"/>
              </a:rPr>
              <a:t> Model B gần như là tần suất phát hiện được tham số hoá lại.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891000" y="99314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50" b="0" i="0" u="none">
                <a:solidFill>
                  <a:srgbClr val="A9B8CC"/>
                </a:solidFill>
                <a:latin typeface="Public Sans"/>
              </a:rPr>
              <a:t>11 / 38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4200" y="457200"/>
            <a:ext cx="171450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600" b="1" i="0" u="none">
                <a:solidFill>
                  <a:srgbClr val="FFFFFF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Từ fingerprint Wi-Fi đến </a:t>
            </a:r>
            <a:r>
              <a:rPr sz="5600" b="1" i="0" u="none">
                <a:solidFill>
                  <a:srgbClr val="F2BE3A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bài toán HUIM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422400"/>
            <a:ext cx="1651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 i="0" u="none">
                <a:solidFill>
                  <a:srgbClr val="A9B8CC"/>
                </a:solidFill>
                <a:latin typeface="Public Sans"/>
              </a:rPr>
              <a:t>Fingerprint không có sẵn q và p, nên phải tự định nghĩa — đây là lựa chọn thiết kế của bài tìm hiểu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4200" y="2032000"/>
          <a:ext cx="17145000" cy="15748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921000"/>
                <a:gridCol w="2286000"/>
                <a:gridCol w="2921000"/>
                <a:gridCol w="3048000"/>
                <a:gridCol w="3175000"/>
                <a:gridCol w="2794000"/>
              </a:tblGrid>
              <a:tr h="787400">
                <a:tc>
                  <a:txBody>
                    <a:bodyPr wrap="square"/>
                    <a:lstStyle/>
                    <a:p>
                      <a:pPr algn="l"/>
                      <a:r>
                        <a:rPr sz="190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Khái niệm HUIM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Item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Transaction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q(i,T)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p(i)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HUI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</a:tr>
              <a:tr h="787400"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Trong IPS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Một WAP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Một lần đo</a:t>
                      </a:r>
                    </a:p>
                    <a:p>
                      <a:pPr algn="ctr"/>
                      <a:r>
                        <a:rPr sz="19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(fingerprint)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RSSI chuẩn hoá</a:t>
                      </a:r>
                    </a:p>
                    <a:p>
                      <a:pPr algn="ctr"/>
                      <a:r>
                        <a:rPr sz="19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1…100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Model A, B hoặc C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Nhóm WAP</a:t>
                      </a:r>
                    </a:p>
                    <a:p>
                      <a:pPr algn="ctr"/>
                      <a:r>
                        <a:rPr sz="19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utility cao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9600" y="4013200"/>
            <a:ext cx="17018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 u="none">
                <a:solidFill>
                  <a:srgbClr val="F2BE3A"/>
                </a:solidFill>
                <a:latin typeface="Public Sans"/>
              </a:rPr>
              <a:t>Chỉ thay p(i), giữ nguyên mọi thứ khác:</a:t>
            </a:r>
            <a:r>
              <a:rPr sz="2100" b="0" i="0" u="none">
                <a:solidFill>
                  <a:srgbClr val="FFFFFF"/>
                </a:solidFill>
                <a:latin typeface="Public Sans"/>
              </a:rPr>
              <a:t> cùng dữ liệu, cùng q, cùng EFIM, cùng bộ định vị.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4200" y="4826000"/>
            <a:ext cx="8382000" cy="4826000"/>
          </a:xfrm>
          <a:prstGeom prst="roundRect">
            <a:avLst>
              <a:gd name="adj" fmla="val 4000"/>
            </a:avLst>
          </a:prstGeom>
          <a:solidFill>
            <a:srgbClr val="0D2645"/>
          </a:solidFill>
          <a:ln w="15875">
            <a:solidFill>
              <a:srgbClr val="3A5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9000" y="5054600"/>
            <a:ext cx="787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 u="none">
                <a:solidFill>
                  <a:srgbClr val="F2BE3A"/>
                </a:solidFill>
                <a:latin typeface="Public Sans"/>
              </a:rPr>
              <a:t>TỪ HUI ĐẾN TẬP WAP — 2 QUY TẮC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9000" y="5588000"/>
            <a:ext cx="7810500" cy="381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11455" indent="-211455">
              <a:lnSpc>
                <a:spcPct val="112000"/>
              </a:lnSpc>
              <a:buClr>
                <a:srgbClr val="F2BE3A"/>
              </a:buClr>
              <a:buFont typeface="Public Sans"/>
              <a:buChar char="–"/>
            </a:pPr>
            <a:r>
              <a:rPr sz="1850" b="1" i="0" u="none">
                <a:solidFill>
                  <a:srgbClr val="FFFFFF"/>
                </a:solidFill>
                <a:latin typeface="Public Sans"/>
              </a:rPr>
              <a:t>Union:</a:t>
            </a:r>
            <a:r>
              <a:rPr sz="1850" b="0" i="0" u="none">
                <a:solidFill>
                  <a:srgbClr val="FFFFFF"/>
                </a:solidFill>
                <a:latin typeface="Public Sans"/>
              </a:rPr>
              <a:t> lấy mọi WAP xuất hiện trong ít nhất một HUI — minUtil là tham số duy nhất.</a:t>
            </a:r>
          </a:p>
          <a:p>
            <a:pPr algn="l" marL="211455" indent="-211455">
              <a:lnSpc>
                <a:spcPct val="112000"/>
              </a:lnSpc>
              <a:spcBef>
                <a:spcPts val="1000"/>
              </a:spcBef>
              <a:buClr>
                <a:srgbClr val="F2BE3A"/>
              </a:buClr>
              <a:buFont typeface="Public Sans"/>
              <a:buChar char="–"/>
            </a:pPr>
            <a:r>
              <a:rPr sz="1850" b="1" i="0" u="none">
                <a:solidFill>
                  <a:srgbClr val="FFFFFF"/>
                </a:solidFill>
                <a:latin typeface="Public Sans"/>
              </a:rPr>
              <a:t>Top-n:</a:t>
            </a:r>
            <a:r>
              <a:rPr sz="1850" b="0" i="0" u="none">
                <a:solidFill>
                  <a:srgbClr val="FFFFFF"/>
                </a:solidFill>
                <a:latin typeface="Public Sans"/>
              </a:rPr>
              <a:t> lấy n WAP có điểm đóng góp cao nhất (công thức bên phải).</a:t>
            </a:r>
          </a:p>
          <a:p>
            <a:pPr algn="l" marL="211455" indent="-211455">
              <a:lnSpc>
                <a:spcPct val="112000"/>
              </a:lnSpc>
              <a:spcBef>
                <a:spcPts val="1000"/>
              </a:spcBef>
              <a:buClr>
                <a:srgbClr val="F2BE3A"/>
              </a:buClr>
              <a:buFont typeface="Public Sans"/>
              <a:buChar char="–"/>
            </a:pPr>
            <a:r>
              <a:rPr sz="1850" b="0" i="0" u="none">
                <a:solidFill>
                  <a:srgbClr val="FFFFFF"/>
                </a:solidFill>
                <a:latin typeface="Public Sans"/>
              </a:rPr>
              <a:t>Cả hai quy tắc cố định TRƯỚC khi có bất kỳ kết quả độ chính xác nào.</a:t>
            </a:r>
          </a:p>
          <a:p>
            <a:pPr algn="l" marL="211455" indent="-211455">
              <a:lnSpc>
                <a:spcPct val="112000"/>
              </a:lnSpc>
              <a:spcBef>
                <a:spcPts val="1000"/>
              </a:spcBef>
              <a:buClr>
                <a:srgbClr val="F2BE3A"/>
              </a:buClr>
              <a:buFont typeface="Public Sans"/>
              <a:buChar char="–"/>
            </a:pPr>
            <a:r>
              <a:rPr sz="1850" b="0" i="0" u="none">
                <a:solidFill>
                  <a:srgbClr val="FFFFFF"/>
                </a:solidFill>
                <a:latin typeface="Public Sans"/>
              </a:rPr>
              <a:t>Lần khai phá bị dừng giữa chừng có tập HUI lệch theo thứ tự DFS </a:t>
            </a:r>
            <a:r>
              <a:rPr sz="1850" b="0" i="0" u="none">
                <a:solidFill>
                  <a:srgbClr val="FFFFFF"/>
                </a:solidFill>
                <a:latin typeface="Segoe UI Symbol"/>
              </a:rPr>
              <a:t>→</a:t>
            </a:r>
            <a:r>
              <a:rPr sz="1850" b="0" i="0" u="none">
                <a:solidFill>
                  <a:srgbClr val="FFFFFF"/>
                </a:solidFill>
                <a:latin typeface="Public Sans"/>
              </a:rPr>
              <a:t> không dùng để xếp hạng WAP.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1800" y="4826000"/>
            <a:ext cx="8382000" cy="4826000"/>
          </a:xfrm>
          <a:prstGeom prst="roundRect">
            <a:avLst>
              <a:gd name="adj" fmla="val 5000"/>
            </a:avLst>
          </a:prstGeom>
          <a:solidFill>
            <a:srgbClr val="0D2645"/>
          </a:solidFill>
          <a:ln w="15875">
            <a:solidFill>
              <a:srgbClr val="3A5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0" y="5029200"/>
            <a:ext cx="7823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 u="none">
                <a:solidFill>
                  <a:srgbClr val="F2BE3A"/>
                </a:solidFill>
                <a:latin typeface="Public Sans"/>
              </a:rPr>
              <a:t>Điểm đóng góp của WAP i</a:t>
            </a:r>
          </a:p>
        </p:txBody>
      </p:sp>
      <p:pic>
        <p:nvPicPr>
          <p:cNvPr id="12" name="Picture 11" descr="formula_0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1288" y="5562600"/>
            <a:ext cx="4383024" cy="98450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601200" y="6699504"/>
            <a:ext cx="78232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50" b="0" i="0" u="none">
                <a:solidFill>
                  <a:srgbClr val="DCE3EE"/>
                </a:solidFill>
                <a:latin typeface="Public Sans"/>
              </a:rPr>
              <a:t>Mỗi HUI chia đều utility cho các WAP thành viên; WAP có tổng đóng góp cao xếp trước.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9093200"/>
            <a:ext cx="78232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 u="none">
                <a:solidFill>
                  <a:srgbClr val="A9B8CC"/>
                </a:solidFill>
                <a:latin typeface="Public Sans"/>
              </a:rPr>
              <a:t>Nguồn:</a:t>
            </a:r>
            <a:r>
              <a:rPr sz="1400" b="0" i="1" u="none">
                <a:solidFill>
                  <a:srgbClr val="A9B8CC"/>
                </a:solidFill>
                <a:latin typeface="Public Sans"/>
              </a:rPr>
              <a:t> quy tắc xếp hạng do bài tìm hiểu đặt ra (không lấy từ tài liệu)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891000" y="99314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50" b="0" i="0" u="none">
                <a:solidFill>
                  <a:srgbClr val="A9B8CC"/>
                </a:solidFill>
                <a:latin typeface="Public Sans"/>
              </a:rPr>
              <a:t>12 / 38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efi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3400" y="508000"/>
            <a:ext cx="1143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8200" b="1" i="0" u="none">
                <a:solidFill>
                  <a:srgbClr val="FFFFFF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Thuật toán </a:t>
            </a:r>
            <a:r>
              <a:rPr sz="8200" b="1" i="0" u="none">
                <a:solidFill>
                  <a:srgbClr val="F2BE3A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EFIM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905000"/>
            <a:ext cx="17018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0" i="0" u="none">
                <a:solidFill>
                  <a:srgbClr val="DCE3EE"/>
                </a:solidFill>
                <a:latin typeface="Public Sans"/>
              </a:rPr>
              <a:t>Zida, Fournier-Viger, Lin, Wu &amp; Tseng — Knowledge and Information Systems, 2017 [5]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52500" y="2946400"/>
            <a:ext cx="101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 i="0" u="none">
                <a:solidFill>
                  <a:srgbClr val="F2BE3A"/>
                </a:solidFill>
                <a:latin typeface="Public San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2500" y="3454400"/>
            <a:ext cx="2921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 u="none">
                <a:solidFill>
                  <a:srgbClr val="FFFFFF"/>
                </a:solidFill>
                <a:latin typeface="Public Sans"/>
              </a:rPr>
              <a:t>Tiền xử lý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2500" y="3937000"/>
            <a:ext cx="2921000" cy="1206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650" b="0" i="0" u="none">
                <a:solidFill>
                  <a:srgbClr val="FFFFFF"/>
                </a:solidFill>
                <a:latin typeface="Public Sans"/>
              </a:rPr>
              <a:t>Tính TU, TWU; bỏ mục TWU &lt; minUtil; sắp mục theo TWU </a:t>
            </a:r>
            <a:r>
              <a:rPr sz="1650" b="1" i="0" u="none">
                <a:solidFill>
                  <a:srgbClr val="F2BE3A"/>
                </a:solidFill>
                <a:latin typeface="Public Sans"/>
              </a:rPr>
              <a:t>tăng</a:t>
            </a:r>
            <a:r>
              <a:rPr sz="1650" b="0" i="0" u="none">
                <a:solidFill>
                  <a:srgbClr val="FFFFFF"/>
                </a:solidFill>
                <a:latin typeface="Public Sans"/>
              </a:rPr>
              <a:t> dần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45000" y="2946400"/>
            <a:ext cx="101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 i="0" u="none">
                <a:solidFill>
                  <a:srgbClr val="F2BE3A"/>
                </a:solidFill>
                <a:latin typeface="Public San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5000" y="3454400"/>
            <a:ext cx="2921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 u="none">
                <a:solidFill>
                  <a:srgbClr val="FFFFFF"/>
                </a:solidFill>
                <a:latin typeface="Public Sans"/>
              </a:rPr>
              <a:t>Chiếu CSDL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45000" y="3937000"/>
            <a:ext cx="2921000" cy="1206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650" b="0" i="0" u="none">
                <a:solidFill>
                  <a:srgbClr val="FFFFFF"/>
                </a:solidFill>
                <a:latin typeface="Public Sans"/>
              </a:rPr>
              <a:t>Xuống nút </a:t>
            </a:r>
            <a:r>
              <a:rPr sz="1650" b="0" i="0" u="none">
                <a:solidFill>
                  <a:srgbClr val="FFFFFF"/>
                </a:solidFill>
                <a:latin typeface="Segoe UI Symbol"/>
              </a:rPr>
              <a:t>α</a:t>
            </a:r>
            <a:r>
              <a:rPr sz="1650" b="0" i="0" u="none">
                <a:solidFill>
                  <a:srgbClr val="FFFFFF"/>
                </a:solidFill>
                <a:latin typeface="Public Sans"/>
              </a:rPr>
              <a:t> </a:t>
            </a:r>
            <a:r>
              <a:rPr sz="1650" b="0" i="0" u="none">
                <a:solidFill>
                  <a:srgbClr val="FFFFFF"/>
                </a:solidFill>
                <a:latin typeface="Segoe UI Symbol"/>
              </a:rPr>
              <a:t>∪</a:t>
            </a:r>
            <a:r>
              <a:rPr sz="1650" b="0" i="0" u="none">
                <a:solidFill>
                  <a:srgbClr val="FFFFFF"/>
                </a:solidFill>
                <a:latin typeface="Public Sans"/>
              </a:rPr>
              <a:t> {z}: mỗi giao dịch chỉ giữ phần đứng sau 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40700" y="2946400"/>
            <a:ext cx="101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 i="0" u="none">
                <a:solidFill>
                  <a:srgbClr val="F2BE3A"/>
                </a:solidFill>
                <a:latin typeface="Public San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40700" y="3454400"/>
            <a:ext cx="2921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 u="none">
                <a:solidFill>
                  <a:srgbClr val="FFFFFF"/>
                </a:solidFill>
                <a:latin typeface="Public Sans"/>
              </a:rPr>
              <a:t>Duyệt sâu (DFS)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40700" y="3937000"/>
            <a:ext cx="2921000" cy="1206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650" b="0" i="0" u="none">
                <a:solidFill>
                  <a:srgbClr val="FFFFFF"/>
                </a:solidFill>
                <a:latin typeface="Public Sans"/>
              </a:rPr>
              <a:t>Cây liệt kê tập mục; chỉ mở nhánh có su ≥ minUtil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36400" y="2946400"/>
            <a:ext cx="101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 i="0" u="none">
                <a:solidFill>
                  <a:srgbClr val="F2BE3A"/>
                </a:solidFill>
                <a:latin typeface="Public Sans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36400" y="3454400"/>
            <a:ext cx="26035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 u="none">
                <a:solidFill>
                  <a:srgbClr val="FFFFFF"/>
                </a:solidFill>
                <a:latin typeface="Public Sans"/>
              </a:rPr>
              <a:t>Tính utility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36400" y="3937000"/>
            <a:ext cx="2603500" cy="1206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650" b="0" i="0" u="none">
                <a:solidFill>
                  <a:srgbClr val="FFFFFF"/>
                </a:solidFill>
                <a:latin typeface="Public Sans"/>
              </a:rPr>
              <a:t>Tính u(X) chính xác cho từng tập được duyệt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100300" y="2946400"/>
            <a:ext cx="101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1" i="0" u="none">
                <a:solidFill>
                  <a:srgbClr val="F2BE3A"/>
                </a:solidFill>
                <a:latin typeface="Public Sans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100300" y="3454400"/>
            <a:ext cx="26035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 u="none">
                <a:solidFill>
                  <a:srgbClr val="FFFFFF"/>
                </a:solidFill>
                <a:latin typeface="Public Sans"/>
              </a:rPr>
              <a:t>Xuất kết quả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100300" y="3937000"/>
            <a:ext cx="2603500" cy="1206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650" b="0" i="0" u="none">
                <a:solidFill>
                  <a:srgbClr val="FFFFFF"/>
                </a:solidFill>
                <a:latin typeface="Public Sans"/>
              </a:rPr>
              <a:t>Giữ các tập có u(X) </a:t>
            </a:r>
            <a:r>
              <a:rPr sz="1650" b="1" i="0" u="none">
                <a:solidFill>
                  <a:srgbClr val="F2BE3A"/>
                </a:solidFill>
                <a:latin typeface="Public Sans"/>
              </a:rPr>
              <a:t>≥</a:t>
            </a:r>
            <a:r>
              <a:rPr sz="1650" b="0" i="0" u="none">
                <a:solidFill>
                  <a:srgbClr val="FFFFFF"/>
                </a:solidFill>
                <a:latin typeface="Public Sans"/>
              </a:rPr>
              <a:t> minUtil</a:t>
            </a:r>
          </a:p>
        </p:txBody>
      </p:sp>
      <p:pic>
        <p:nvPicPr>
          <p:cNvPr id="20" name="Picture 19" descr="formula_0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92280" y="5588000"/>
            <a:ext cx="2072639" cy="5943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5011400" y="5702300"/>
            <a:ext cx="2197100" cy="584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3400" b="1" i="0" u="none">
                <a:solidFill>
                  <a:srgbClr val="F2BE3A"/>
                </a:solidFill>
                <a:latin typeface="Public Sans"/>
              </a:rPr>
              <a:t>HUIs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22400" y="8001000"/>
            <a:ext cx="2921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4200" b="1" i="0" u="none">
                <a:solidFill>
                  <a:srgbClr val="F2BE3A"/>
                </a:solidFill>
                <a:latin typeface="Public Sans"/>
              </a:rPr>
              <a:t>TỐI ƯU</a:t>
            </a:r>
          </a:p>
          <a:p>
            <a:pPr algn="l">
              <a:lnSpc>
                <a:spcPct val="95000"/>
              </a:lnSpc>
            </a:pPr>
            <a:r>
              <a:rPr sz="4200" b="1" i="0" u="none">
                <a:solidFill>
                  <a:srgbClr val="F2BE3A"/>
                </a:solidFill>
                <a:latin typeface="Public Sans"/>
              </a:rPr>
              <a:t>EFIM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26000" y="7899400"/>
            <a:ext cx="5588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 u="none">
                <a:solidFill>
                  <a:srgbClr val="F2BE3A"/>
                </a:solidFill>
                <a:latin typeface="Public Sans"/>
              </a:rPr>
              <a:t>HAI CẬN TRÊN lu VÀ su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26000" y="8382000"/>
            <a:ext cx="5588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50" b="0" i="0" u="none">
                <a:solidFill>
                  <a:srgbClr val="FFFFFF"/>
                </a:solidFill>
                <a:latin typeface="Public Sans"/>
              </a:rPr>
              <a:t>local utility và subtree utility loại sớm mục / nhánh không thể đạt minUtil (slide sau)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14100" y="7899400"/>
            <a:ext cx="622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 u="none">
                <a:solidFill>
                  <a:srgbClr val="F2BE3A"/>
                </a:solidFill>
                <a:latin typeface="Public Sans"/>
              </a:rPr>
              <a:t>CHIẾU &amp; GỘP GIAO DỊCH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14100" y="8382000"/>
            <a:ext cx="609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50" b="0" i="0" u="none">
                <a:solidFill>
                  <a:srgbClr val="FFFFFF"/>
                </a:solidFill>
                <a:latin typeface="Public Sans"/>
              </a:rPr>
              <a:t>giao dịch chiếu giống hệt nhau được gộp; Fast Utility Counting tính lu, su trong một lượt quét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891000" y="99314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50" b="0" i="0" u="none">
                <a:solidFill>
                  <a:srgbClr val="A9B8CC"/>
                </a:solidFill>
                <a:latin typeface="Public Sans"/>
              </a:rPr>
              <a:t>13 / 38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4200" y="457200"/>
            <a:ext cx="171450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600" b="1" i="0" u="none">
                <a:solidFill>
                  <a:srgbClr val="FFFFFF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EFIM: </a:t>
            </a:r>
            <a:r>
              <a:rPr sz="5600" b="1" i="0" u="none">
                <a:solidFill>
                  <a:srgbClr val="F2BE3A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hai cận trên</a:t>
            </a:r>
            <a:r>
              <a:rPr sz="5600" b="1" i="0" u="none">
                <a:solidFill>
                  <a:srgbClr val="FFFFFF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 lu và su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4200" y="1625600"/>
            <a:ext cx="9652000" cy="7112000"/>
          </a:xfrm>
          <a:prstGeom prst="roundRect">
            <a:avLst>
              <a:gd name="adj" fmla="val 3500"/>
            </a:avLst>
          </a:prstGeom>
          <a:solidFill>
            <a:srgbClr val="0D2645"/>
          </a:solidFill>
          <a:ln w="15875">
            <a:solidFill>
              <a:srgbClr val="3A5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89000" y="1828800"/>
            <a:ext cx="914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 u="none">
                <a:solidFill>
                  <a:srgbClr val="F2BE3A"/>
                </a:solidFill>
                <a:latin typeface="Public Sans"/>
              </a:rPr>
              <a:t>Công thức</a:t>
            </a:r>
          </a:p>
        </p:txBody>
      </p:sp>
      <p:pic>
        <p:nvPicPr>
          <p:cNvPr id="6" name="Picture 5" descr="formula_0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" y="2387600"/>
            <a:ext cx="3020568" cy="652272"/>
          </a:xfrm>
          <a:prstGeom prst="rect">
            <a:avLst/>
          </a:prstGeom>
        </p:spPr>
      </p:pic>
      <p:pic>
        <p:nvPicPr>
          <p:cNvPr id="7" name="Picture 6" descr="formula_0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000" y="3243072"/>
            <a:ext cx="4501896" cy="664464"/>
          </a:xfrm>
          <a:prstGeom prst="rect">
            <a:avLst/>
          </a:prstGeom>
        </p:spPr>
      </p:pic>
      <p:pic>
        <p:nvPicPr>
          <p:cNvPr id="8" name="Picture 7" descr="formula_01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9000" y="4110736"/>
            <a:ext cx="6483096" cy="6644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89000" y="5029200"/>
            <a:ext cx="9042400" cy="317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11455" indent="-211455">
              <a:lnSpc>
                <a:spcPct val="112000"/>
              </a:lnSpc>
              <a:buClr>
                <a:srgbClr val="F2BE3A"/>
              </a:buClr>
              <a:buFont typeface="Public Sans"/>
              <a:buChar char="–"/>
            </a:pPr>
            <a:r>
              <a:rPr sz="1850" b="0" i="0" u="none">
                <a:solidFill>
                  <a:srgbClr val="FFFFFF"/>
                </a:solidFill>
                <a:latin typeface="Public Sans"/>
              </a:rPr>
              <a:t>Chỉ giữ z có lu(</a:t>
            </a:r>
            <a:r>
              <a:rPr sz="1850" b="0" i="0" u="none">
                <a:solidFill>
                  <a:srgbClr val="FFFFFF"/>
                </a:solidFill>
                <a:latin typeface="Segoe UI Symbol"/>
              </a:rPr>
              <a:t>α</a:t>
            </a:r>
            <a:r>
              <a:rPr sz="1850" b="0" i="0" u="none">
                <a:solidFill>
                  <a:srgbClr val="FFFFFF"/>
                </a:solidFill>
                <a:latin typeface="Public Sans"/>
              </a:rPr>
              <a:t>, z) ≥ minUtil (tập Secondary); z khác bị loại khỏi CẢ cây con của </a:t>
            </a:r>
            <a:r>
              <a:rPr sz="1850" b="0" i="0" u="none">
                <a:solidFill>
                  <a:srgbClr val="FFFFFF"/>
                </a:solidFill>
                <a:latin typeface="Segoe UI Symbol"/>
              </a:rPr>
              <a:t>α</a:t>
            </a:r>
            <a:r>
              <a:rPr sz="1850" b="0" i="0" u="none">
                <a:solidFill>
                  <a:srgbClr val="FFFFFF"/>
                </a:solidFill>
                <a:latin typeface="Public Sans"/>
              </a:rPr>
              <a:t>.</a:t>
            </a:r>
          </a:p>
          <a:p>
            <a:pPr algn="l" marL="211455" indent="-211455">
              <a:lnSpc>
                <a:spcPct val="112000"/>
              </a:lnSpc>
              <a:spcBef>
                <a:spcPts val="800"/>
              </a:spcBef>
              <a:buClr>
                <a:srgbClr val="F2BE3A"/>
              </a:buClr>
              <a:buFont typeface="Public Sans"/>
              <a:buChar char="–"/>
            </a:pPr>
            <a:r>
              <a:rPr sz="1850" b="0" i="0" u="none">
                <a:solidFill>
                  <a:srgbClr val="FFFFFF"/>
                </a:solidFill>
                <a:latin typeface="Public Sans"/>
              </a:rPr>
              <a:t>Chỉ mở nhánh </a:t>
            </a:r>
            <a:r>
              <a:rPr sz="1850" b="0" i="0" u="none">
                <a:solidFill>
                  <a:srgbClr val="FFFFFF"/>
                </a:solidFill>
                <a:latin typeface="Segoe UI Symbol"/>
              </a:rPr>
              <a:t>α</a:t>
            </a:r>
            <a:r>
              <a:rPr sz="1850" b="0" i="0" u="none">
                <a:solidFill>
                  <a:srgbClr val="FFFFFF"/>
                </a:solidFill>
                <a:latin typeface="Public Sans"/>
              </a:rPr>
              <a:t> </a:t>
            </a:r>
            <a:r>
              <a:rPr sz="1850" b="0" i="0" u="none">
                <a:solidFill>
                  <a:srgbClr val="FFFFFF"/>
                </a:solidFill>
                <a:latin typeface="Segoe UI Symbol"/>
              </a:rPr>
              <a:t>∪</a:t>
            </a:r>
            <a:r>
              <a:rPr sz="1850" b="0" i="0" u="none">
                <a:solidFill>
                  <a:srgbClr val="FFFFFF"/>
                </a:solidFill>
                <a:latin typeface="Public Sans"/>
              </a:rPr>
              <a:t> {z} khi su(</a:t>
            </a:r>
            <a:r>
              <a:rPr sz="1850" b="0" i="0" u="none">
                <a:solidFill>
                  <a:srgbClr val="FFFFFF"/>
                </a:solidFill>
                <a:latin typeface="Segoe UI Symbol"/>
              </a:rPr>
              <a:t>α</a:t>
            </a:r>
            <a:r>
              <a:rPr sz="1850" b="0" i="0" u="none">
                <a:solidFill>
                  <a:srgbClr val="FFFFFF"/>
                </a:solidFill>
                <a:latin typeface="Public Sans"/>
              </a:rPr>
              <a:t>, z) ≥ minUtil (tập Primary).</a:t>
            </a:r>
          </a:p>
          <a:p>
            <a:pPr algn="l" marL="211455" indent="-211455">
              <a:lnSpc>
                <a:spcPct val="112000"/>
              </a:lnSpc>
              <a:spcBef>
                <a:spcPts val="800"/>
              </a:spcBef>
              <a:buClr>
                <a:srgbClr val="F2BE3A"/>
              </a:buClr>
              <a:buFont typeface="Public Sans"/>
              <a:buChar char="–"/>
            </a:pPr>
            <a:r>
              <a:rPr sz="1850" b="0" i="0" u="none">
                <a:solidFill>
                  <a:srgbClr val="FFFFFF"/>
                </a:solidFill>
                <a:latin typeface="Public Sans"/>
              </a:rPr>
              <a:t>Tại gốc: lu(∅, z) = TWU(z) </a:t>
            </a:r>
            <a:r>
              <a:rPr sz="1850" b="0" i="0" u="none">
                <a:solidFill>
                  <a:srgbClr val="FFFFFF"/>
                </a:solidFill>
                <a:latin typeface="Segoe UI Symbol"/>
              </a:rPr>
              <a:t>⇒</a:t>
            </a:r>
            <a:r>
              <a:rPr sz="1850" b="0" i="0" u="none">
                <a:solidFill>
                  <a:srgbClr val="FFFFFF"/>
                </a:solidFill>
                <a:latin typeface="Public Sans"/>
              </a:rPr>
              <a:t> cắt tỉa TWU là trường hợp riêng.</a:t>
            </a:r>
          </a:p>
          <a:p>
            <a:pPr algn="l" marL="211455" indent="-211455">
              <a:lnSpc>
                <a:spcPct val="112000"/>
              </a:lnSpc>
              <a:spcBef>
                <a:spcPts val="800"/>
              </a:spcBef>
              <a:buClr>
                <a:srgbClr val="F2BE3A"/>
              </a:buClr>
              <a:buFont typeface="Public Sans"/>
              <a:buChar char="–"/>
            </a:pPr>
            <a:r>
              <a:rPr sz="1850" b="0" i="0" u="none">
                <a:solidFill>
                  <a:srgbClr val="FFFFFF"/>
                </a:solidFill>
                <a:latin typeface="Public Sans"/>
              </a:rPr>
              <a:t>re(</a:t>
            </a:r>
            <a:r>
              <a:rPr sz="1850" b="0" i="0" u="none">
                <a:solidFill>
                  <a:srgbClr val="FFFFFF"/>
                </a:solidFill>
                <a:latin typeface="Segoe UI Symbol"/>
              </a:rPr>
              <a:t>α</a:t>
            </a:r>
            <a:r>
              <a:rPr sz="1850" b="0" i="0" u="none">
                <a:solidFill>
                  <a:srgbClr val="FFFFFF"/>
                </a:solidFill>
                <a:latin typeface="Public Sans"/>
              </a:rPr>
              <a:t>, T): utility còn lại của các mục đứng sau </a:t>
            </a:r>
            <a:r>
              <a:rPr sz="1850" b="0" i="0" u="none">
                <a:solidFill>
                  <a:srgbClr val="FFFFFF"/>
                </a:solidFill>
                <a:latin typeface="Segoe UI Symbol"/>
              </a:rPr>
              <a:t>α</a:t>
            </a:r>
            <a:r>
              <a:rPr sz="1850" b="0" i="0" u="none">
                <a:solidFill>
                  <a:srgbClr val="FFFFFF"/>
                </a:solidFill>
                <a:latin typeface="Public Sans"/>
              </a:rPr>
              <a:t> trong 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9000" y="8204200"/>
            <a:ext cx="9144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 u="none">
                <a:solidFill>
                  <a:srgbClr val="A9B8CC"/>
                </a:solidFill>
                <a:latin typeface="Public Sans"/>
              </a:rPr>
              <a:t>Nguồn:</a:t>
            </a:r>
            <a:r>
              <a:rPr sz="1400" b="0" i="1" u="none">
                <a:solidFill>
                  <a:srgbClr val="A9B8CC"/>
                </a:solidFill>
                <a:latin typeface="Public Sans"/>
              </a:rPr>
              <a:t> Zida, Fournier-Viger, Lin, Wu &amp; Tseng, KAIS 2017 [5] — cả hai cận trên và Fast Utility Counting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17200" y="1625600"/>
            <a:ext cx="711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50" b="1" i="0" u="none">
                <a:solidFill>
                  <a:srgbClr val="F2BE3A"/>
                </a:solidFill>
                <a:latin typeface="Public Sans"/>
              </a:rPr>
              <a:t>Ví dụ chạy chuẩn trong [5] — 5 giao dịch, minUtil = 30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0617200" y="2489200"/>
          <a:ext cx="7112000" cy="38608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16000"/>
                <a:gridCol w="1270000"/>
                <a:gridCol w="1270000"/>
                <a:gridCol w="1397000"/>
                <a:gridCol w="2159000"/>
              </a:tblGrid>
              <a:tr h="482600">
                <a:tc>
                  <a:txBody>
                    <a:bodyPr wrap="square"/>
                    <a:lstStyle/>
                    <a:p>
                      <a:pPr algn="l"/>
                      <a:r>
                        <a:rPr sz="170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Mục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TWU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Thứ tự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su gốc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Vai trò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</a:tr>
              <a:tr h="482600"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f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30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30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Primary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  <a:tr h="482600"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g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38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2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38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Primary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</a:tr>
              <a:tr h="482600"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d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58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3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53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Primary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  <a:tr h="482600"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b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61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4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36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Primary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</a:tr>
              <a:tr h="482600"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a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65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5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37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Primary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  <a:tr h="482600"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e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88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6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27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Chỉ Secondary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</a:tr>
              <a:tr h="482600"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c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96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7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13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7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Chỉ Secondary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0617200" y="6527800"/>
            <a:ext cx="7112000" cy="2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8595" indent="-188595">
              <a:lnSpc>
                <a:spcPct val="106000"/>
              </a:lnSpc>
              <a:buClr>
                <a:srgbClr val="F2BE3A"/>
              </a:buClr>
              <a:buFont typeface="Public Sans"/>
              <a:buChar char="•"/>
            </a:pPr>
            <a:r>
              <a:rPr sz="1650" b="0" i="0" u="none">
                <a:solidFill>
                  <a:srgbClr val="FFFFFF"/>
                </a:solidFill>
                <a:latin typeface="Public Sans"/>
              </a:rPr>
              <a:t>EFIM trả về 7 HUI nhưng chỉ duyệt 18 / 127 tập mục khả dĩ; 19 nhánh bị loại nhờ su.</a:t>
            </a:r>
          </a:p>
          <a:p>
            <a:pPr algn="l" marL="188595" indent="-188595">
              <a:lnSpc>
                <a:spcPct val="106000"/>
              </a:lnSpc>
              <a:spcBef>
                <a:spcPts val="800"/>
              </a:spcBef>
              <a:buClr>
                <a:srgbClr val="F2BE3A"/>
              </a:buClr>
              <a:buFont typeface="Public Sans"/>
              <a:buChar char="•"/>
            </a:pPr>
            <a:r>
              <a:rPr sz="1650" b="0" i="0" u="none">
                <a:solidFill>
                  <a:srgbClr val="FFFFFF"/>
                </a:solidFill>
                <a:latin typeface="Public Sans"/>
              </a:rPr>
              <a:t>Lý do chọn EFIM: đánh giá thực nghiệm độc lập [11]; SPMF [12] cần Java nên EFIM được cài lại bằng Python và đối chiếu oracle vét cạn.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891000" y="99314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50" b="0" i="0" u="none">
                <a:solidFill>
                  <a:srgbClr val="A9B8CC"/>
                </a:solidFill>
                <a:latin typeface="Public Sans"/>
              </a:rPr>
              <a:t>14 / 38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4200" y="457200"/>
            <a:ext cx="171450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600" b="1" i="0" u="none">
                <a:solidFill>
                  <a:srgbClr val="FFFFFF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Tiền xử lý </a:t>
            </a:r>
            <a:r>
              <a:rPr sz="5600" b="1" i="0" u="none">
                <a:solidFill>
                  <a:srgbClr val="F2BE3A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bên trong EFIM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422400"/>
            <a:ext cx="1651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 i="0" u="none">
                <a:solidFill>
                  <a:srgbClr val="A9B8CC"/>
                </a:solidFill>
                <a:latin typeface="Public Sans"/>
              </a:rPr>
              <a:t>Chạy ở đầu mỗi lần khai phá, trước khi tìm kiếm theo chiều sâu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2159000"/>
            <a:ext cx="8890000" cy="711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2885" indent="-222885">
              <a:lnSpc>
                <a:spcPct val="108000"/>
              </a:lnSpc>
              <a:buClr>
                <a:srgbClr val="F2BE3A"/>
              </a:buClr>
              <a:buFont typeface="Public Sans"/>
              <a:buAutoNum type="arabicPeriod"/>
            </a:pPr>
            <a:r>
              <a:rPr sz="1950" b="0" i="0" u="none">
                <a:solidFill>
                  <a:srgbClr val="FFFFFF"/>
                </a:solidFill>
                <a:latin typeface="Public Sans"/>
              </a:rPr>
              <a:t>Kiểm tra mọi p(i) &gt; 0 và q &gt; 0; thiếu thì báo lỗi.</a:t>
            </a:r>
          </a:p>
          <a:p>
            <a:pPr algn="l" marL="222885" indent="-222885">
              <a:lnSpc>
                <a:spcPct val="108000"/>
              </a:lnSpc>
              <a:spcBef>
                <a:spcPts val="1000"/>
              </a:spcBef>
              <a:buClr>
                <a:srgbClr val="F2BE3A"/>
              </a:buClr>
              <a:buFont typeface="Public Sans"/>
              <a:buAutoNum type="arabicPeriod"/>
            </a:pPr>
            <a:r>
              <a:rPr sz="1950" b="0" i="0" u="none">
                <a:solidFill>
                  <a:srgbClr val="FFFFFF"/>
                </a:solidFill>
                <a:latin typeface="Public Sans"/>
              </a:rPr>
              <a:t>Tính TU(T) = </a:t>
            </a:r>
            <a:r>
              <a:rPr sz="1950" b="0" i="0" u="none">
                <a:solidFill>
                  <a:srgbClr val="FFFFFF"/>
                </a:solidFill>
                <a:latin typeface="Segoe UI Symbol"/>
              </a:rPr>
              <a:t>Σ</a:t>
            </a:r>
            <a:r>
              <a:rPr sz="1950" b="0" i="0" u="none">
                <a:solidFill>
                  <a:srgbClr val="FFFFFF"/>
                </a:solidFill>
                <a:latin typeface="Public Sans"/>
              </a:rPr>
              <a:t> q·p cho mỗi giao dịch; TWU(i) = tổng TU của các giao dịch chứa i.</a:t>
            </a:r>
          </a:p>
          <a:p>
            <a:pPr algn="l" marL="222885" indent="-222885">
              <a:lnSpc>
                <a:spcPct val="108000"/>
              </a:lnSpc>
              <a:spcBef>
                <a:spcPts val="1000"/>
              </a:spcBef>
              <a:buClr>
                <a:srgbClr val="F2BE3A"/>
              </a:buClr>
              <a:buFont typeface="Public Sans"/>
              <a:buAutoNum type="arabicPeriod"/>
            </a:pPr>
            <a:r>
              <a:rPr sz="1950" b="0" i="0" u="none">
                <a:solidFill>
                  <a:srgbClr val="FFFFFF"/>
                </a:solidFill>
                <a:latin typeface="Public Sans"/>
              </a:rPr>
              <a:t>Cắt tỉa TWU: bỏ item có TWU &lt; minUtil.</a:t>
            </a:r>
          </a:p>
          <a:p>
            <a:pPr algn="l" marL="222885" indent="-222885">
              <a:lnSpc>
                <a:spcPct val="108000"/>
              </a:lnSpc>
              <a:spcBef>
                <a:spcPts val="1000"/>
              </a:spcBef>
              <a:buClr>
                <a:srgbClr val="F2BE3A"/>
              </a:buClr>
              <a:buFont typeface="Public Sans"/>
              <a:buAutoNum type="arabicPeriod"/>
            </a:pPr>
            <a:r>
              <a:rPr sz="1950" b="0" i="0" u="none">
                <a:solidFill>
                  <a:srgbClr val="FFFFFF"/>
                </a:solidFill>
                <a:latin typeface="Public Sans"/>
              </a:rPr>
              <a:t>Sắp item theo TWU tăng dần (bằng nhau thì theo nhãn).</a:t>
            </a:r>
          </a:p>
          <a:p>
            <a:pPr algn="l" marL="222885" indent="-222885">
              <a:lnSpc>
                <a:spcPct val="108000"/>
              </a:lnSpc>
              <a:spcBef>
                <a:spcPts val="1000"/>
              </a:spcBef>
              <a:buClr>
                <a:srgbClr val="F2BE3A"/>
              </a:buClr>
              <a:buFont typeface="Public Sans"/>
              <a:buAutoNum type="arabicPeriod"/>
            </a:pPr>
            <a:r>
              <a:rPr sz="1950" b="0" i="0" u="none">
                <a:solidFill>
                  <a:srgbClr val="FFFFFF"/>
                </a:solidFill>
                <a:latin typeface="Public Sans"/>
              </a:rPr>
              <a:t>Dựng CSDL đã cắt tỉa: bỏ giao dịch rỗng, gộp giao dịch giống hệt nhau (có cộng dồn số lần xuất hiện để độ hỗ trợ vẫn đúng).</a:t>
            </a:r>
          </a:p>
          <a:p>
            <a:pPr algn="l" marL="222885" indent="-222885">
              <a:lnSpc>
                <a:spcPct val="108000"/>
              </a:lnSpc>
              <a:spcBef>
                <a:spcPts val="1000"/>
              </a:spcBef>
              <a:buClr>
                <a:srgbClr val="F2BE3A"/>
              </a:buClr>
              <a:buFont typeface="Public Sans"/>
              <a:buAutoNum type="arabicPeriod"/>
            </a:pPr>
            <a:r>
              <a:rPr sz="1950" b="0" i="0" u="none">
                <a:solidFill>
                  <a:srgbClr val="FFFFFF"/>
                </a:solidFill>
                <a:latin typeface="Public Sans"/>
              </a:rPr>
              <a:t>Tính local utility / subtree utility cho gốc bằng Fast Utility Counting.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033000" y="2235200"/>
          <a:ext cx="7874000" cy="3810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778000"/>
                <a:gridCol w="2032000"/>
                <a:gridCol w="2032000"/>
                <a:gridCol w="2032000"/>
              </a:tblGrid>
              <a:tr h="635000">
                <a:tc>
                  <a:txBody>
                    <a:bodyPr wrap="square"/>
                    <a:lstStyle/>
                    <a:p>
                      <a:pPr algn="l"/>
                      <a:r>
                        <a:rPr sz="190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minUtil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A: item còn lại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B: item còn lại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C: item còn lại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</a:tr>
              <a:tr h="635000"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20%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17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41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31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  <a:tr h="635000"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10%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56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60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60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</a:tr>
              <a:tr h="635000"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5%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151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93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117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  <a:tr h="635000"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2,5%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231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175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218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</a:tr>
              <a:tr h="635000">
                <a:tc>
                  <a:txBody>
                    <a:bodyPr wrap="square"/>
                    <a:lstStyle/>
                    <a:p>
                      <a:pPr algn="l"/>
                      <a:r>
                        <a:rPr sz="19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2%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250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204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9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227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033000" y="6248400"/>
            <a:ext cx="7874000" cy="20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50" b="0" i="0" u="none">
                <a:solidFill>
                  <a:srgbClr val="A9B8CC"/>
                </a:solidFill>
                <a:latin typeface="Public Sans"/>
              </a:rPr>
              <a:t>minUtil tính theo % tổng utility của CSDL. Ngưỡng càng cao thì cắt tỉa TWU càng loại nhiều item: trong 465 item ban đầu, ở minUtil 20% chỉ còn 17 (A), 41 (B) và 31 (C).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891000" y="99314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50" b="0" i="0" u="none">
                <a:solidFill>
                  <a:srgbClr val="A9B8CC"/>
                </a:solidFill>
                <a:latin typeface="Public Sans"/>
              </a:rPr>
              <a:t>15 / 38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ex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93700" y="584200"/>
            <a:ext cx="1727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6400" b="1" i="0" u="none">
                <a:solidFill>
                  <a:srgbClr val="FFFFFF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Thực nghiệm trên bộ dữ liệu UJIIndoorLoc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9000" y="2781300"/>
            <a:ext cx="31750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5600" b="1" i="0" u="none">
                <a:solidFill>
                  <a:srgbClr val="F2BE3A"/>
                </a:solidFill>
                <a:latin typeface="Public Sans"/>
              </a:rPr>
              <a:t>19.937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46500"/>
            <a:ext cx="317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i="0" u="none">
                <a:solidFill>
                  <a:srgbClr val="FFFFFF"/>
                </a:solidFill>
                <a:latin typeface="Public Sans"/>
              </a:rPr>
              <a:t>fingerprint huấn luyện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9000" y="4724400"/>
            <a:ext cx="31750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5600" b="1" i="0" u="none">
                <a:solidFill>
                  <a:srgbClr val="F2BE3A"/>
                </a:solidFill>
                <a:latin typeface="Public Sans"/>
              </a:rPr>
              <a:t>1.111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89600"/>
            <a:ext cx="317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i="0" u="none">
                <a:solidFill>
                  <a:srgbClr val="FFFFFF"/>
                </a:solidFill>
                <a:latin typeface="Public Sans"/>
              </a:rPr>
              <a:t>fingerprint kiểm định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9000" y="6705600"/>
            <a:ext cx="31750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5600" b="1" i="0" u="none">
                <a:solidFill>
                  <a:srgbClr val="F2BE3A"/>
                </a:solidFill>
                <a:latin typeface="Public Sans"/>
              </a:rPr>
              <a:t>520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7670800"/>
            <a:ext cx="317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i="0" u="none">
                <a:solidFill>
                  <a:srgbClr val="FFFFFF"/>
                </a:solidFill>
                <a:latin typeface="Public Sans"/>
              </a:rPr>
              <a:t>cột WAP (đặc trưng Wi-Fi)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37100" y="2387600"/>
            <a:ext cx="7620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600" b="1" i="0" u="none">
                <a:solidFill>
                  <a:srgbClr val="FFFFFF"/>
                </a:solidFill>
                <a:latin typeface="Public Sans"/>
              </a:rPr>
              <a:t>QUY TRÌNH THỰC NGHIỆM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73600" y="3429000"/>
            <a:ext cx="2413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4600" b="1" i="0" u="none">
                <a:solidFill>
                  <a:srgbClr val="F2BE3A"/>
                </a:solidFill>
                <a:latin typeface="Public Sans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3600" y="4927600"/>
            <a:ext cx="2413000" cy="81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 i="0" u="none">
                <a:solidFill>
                  <a:srgbClr val="FFFFFF"/>
                </a:solidFill>
                <a:latin typeface="Public Sans"/>
              </a:rPr>
              <a:t>TIỀN XỬ LÝ</a:t>
            </a:r>
          </a:p>
          <a:p>
            <a:pPr algn="ctr">
              <a:lnSpc>
                <a:spcPct val="100000"/>
              </a:lnSpc>
            </a:pPr>
            <a:r>
              <a:rPr sz="1950" b="1" i="0" u="none">
                <a:solidFill>
                  <a:srgbClr val="FFFFFF"/>
                </a:solidFill>
                <a:latin typeface="Public Sans"/>
              </a:rPr>
              <a:t>RSSI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13300" y="5867400"/>
            <a:ext cx="21336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</a:pPr>
            <a:r>
              <a:rPr sz="1650" b="0" i="0" u="none">
                <a:solidFill>
                  <a:srgbClr val="FFFFFF"/>
                </a:solidFill>
                <a:latin typeface="Public Sans"/>
              </a:rPr>
              <a:t>100 </a:t>
            </a:r>
            <a:r>
              <a:rPr sz="1650" b="0" i="0" u="none">
                <a:solidFill>
                  <a:srgbClr val="FFFFFF"/>
                </a:solidFill>
                <a:latin typeface="Segoe UI Symbol"/>
              </a:rPr>
              <a:t>→</a:t>
            </a:r>
            <a:r>
              <a:rPr sz="1650" b="0" i="0" u="none">
                <a:solidFill>
                  <a:srgbClr val="FFFFFF"/>
                </a:solidFill>
                <a:latin typeface="Public Sans"/>
              </a:rPr>
              <a:t> không phát hiện; RSSI </a:t>
            </a:r>
            <a:r>
              <a:rPr sz="1650" b="0" i="0" u="none">
                <a:solidFill>
                  <a:srgbClr val="FFFFFF"/>
                </a:solidFill>
                <a:latin typeface="Segoe UI Symbol"/>
              </a:rPr>
              <a:t>→</a:t>
            </a:r>
            <a:r>
              <a:rPr sz="1650" b="0" i="0" u="none">
                <a:solidFill>
                  <a:srgbClr val="FFFFFF"/>
                </a:solidFill>
                <a:latin typeface="Public Sans"/>
              </a:rPr>
              <a:t> 1…100 (học trên train)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77100" y="3429000"/>
            <a:ext cx="2413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4600" b="1" i="0" u="none">
                <a:solidFill>
                  <a:srgbClr val="F2BE3A"/>
                </a:solidFill>
                <a:latin typeface="Public San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77100" y="4927600"/>
            <a:ext cx="2413000" cy="81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 i="0" u="none">
                <a:solidFill>
                  <a:srgbClr val="FFFFFF"/>
                </a:solidFill>
                <a:latin typeface="Public Sans"/>
              </a:rPr>
              <a:t>CHUYỂN ĐỔI</a:t>
            </a:r>
          </a:p>
          <a:p>
            <a:pPr algn="ctr">
              <a:lnSpc>
                <a:spcPct val="100000"/>
              </a:lnSpc>
            </a:pPr>
            <a:r>
              <a:rPr sz="1950" b="1" i="0" u="none">
                <a:solidFill>
                  <a:srgbClr val="FFFFFF"/>
                </a:solidFill>
                <a:latin typeface="Public Sans"/>
              </a:rPr>
              <a:t>FINGERPRINT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16800" y="5867400"/>
            <a:ext cx="21336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</a:pPr>
            <a:r>
              <a:rPr sz="1650" b="0" i="0" u="none">
                <a:solidFill>
                  <a:srgbClr val="FFFFFF"/>
                </a:solidFill>
                <a:latin typeface="Public Sans"/>
              </a:rPr>
              <a:t>thành 19.861 utility transaction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07600" y="3429000"/>
            <a:ext cx="2413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4600" b="1" i="0" u="none">
                <a:solidFill>
                  <a:srgbClr val="F2BE3A"/>
                </a:solidFill>
                <a:latin typeface="Public San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07600" y="4927600"/>
            <a:ext cx="2413000" cy="81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 i="0" u="none">
                <a:solidFill>
                  <a:srgbClr val="FFFFFF"/>
                </a:solidFill>
                <a:latin typeface="Public Sans"/>
              </a:rPr>
              <a:t>KHAI PHÁ</a:t>
            </a:r>
          </a:p>
          <a:p>
            <a:pPr algn="ctr">
              <a:lnSpc>
                <a:spcPct val="100000"/>
              </a:lnSpc>
            </a:pPr>
            <a:r>
              <a:rPr sz="1950" b="1" i="0" u="none">
                <a:solidFill>
                  <a:srgbClr val="FFFFFF"/>
                </a:solidFill>
                <a:latin typeface="Public Sans"/>
              </a:rPr>
              <a:t>HUIM VỚI EFIM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7300" y="5867400"/>
            <a:ext cx="21336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</a:pPr>
            <a:r>
              <a:rPr sz="1650" b="0" i="0" u="none">
                <a:solidFill>
                  <a:srgbClr val="FFFFFF"/>
                </a:solidFill>
                <a:latin typeface="Public Sans"/>
              </a:rPr>
              <a:t>37 lần chạy, 3 mô hình p(i), minUtil 20% </a:t>
            </a:r>
            <a:r>
              <a:rPr sz="1650" b="0" i="0" u="none">
                <a:solidFill>
                  <a:srgbClr val="FFFFFF"/>
                </a:solidFill>
                <a:latin typeface="Segoe UI Symbol"/>
              </a:rPr>
              <a:t>→</a:t>
            </a:r>
            <a:r>
              <a:rPr sz="1650" b="0" i="0" u="none">
                <a:solidFill>
                  <a:srgbClr val="FFFFFF"/>
                </a:solidFill>
                <a:latin typeface="Public Sans"/>
              </a:rPr>
              <a:t> 1,5%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623800" y="3429000"/>
            <a:ext cx="2413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4600" b="1" i="0" u="none">
                <a:solidFill>
                  <a:srgbClr val="F2BE3A"/>
                </a:solidFill>
                <a:latin typeface="Public San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623800" y="4927600"/>
            <a:ext cx="2413000" cy="81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 i="0" u="none">
                <a:solidFill>
                  <a:srgbClr val="FFFFFF"/>
                </a:solidFill>
                <a:latin typeface="Public Sans"/>
              </a:rPr>
              <a:t>ĐỊNH VỊ</a:t>
            </a:r>
          </a:p>
          <a:p>
            <a:pPr algn="ctr">
              <a:lnSpc>
                <a:spcPct val="100000"/>
              </a:lnSpc>
            </a:pPr>
            <a:r>
              <a:rPr sz="1950" b="1" i="0" u="none">
                <a:solidFill>
                  <a:srgbClr val="FFFFFF"/>
                </a:solidFill>
                <a:latin typeface="Public Sans"/>
              </a:rPr>
              <a:t>k-NN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763500" y="5867400"/>
            <a:ext cx="21336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</a:pPr>
            <a:r>
              <a:rPr sz="1650" b="0" i="0" u="none">
                <a:solidFill>
                  <a:srgbClr val="FFFFFF"/>
                </a:solidFill>
                <a:latin typeface="Public Sans"/>
              </a:rPr>
              <a:t>V1: k = 1, Manhattan; V2: Bray-Curtis, k = 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227300" y="3429000"/>
            <a:ext cx="2413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4600" b="1" i="0" u="none">
                <a:solidFill>
                  <a:srgbClr val="F2BE3A"/>
                </a:solidFill>
                <a:latin typeface="Public San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27300" y="4927600"/>
            <a:ext cx="2413000" cy="81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 i="0" u="none">
                <a:solidFill>
                  <a:srgbClr val="FFFFFF"/>
                </a:solidFill>
                <a:latin typeface="Public Sans"/>
              </a:rPr>
              <a:t>ĐÁNH GIÁ</a:t>
            </a:r>
          </a:p>
          <a:p>
            <a:pPr algn="ctr">
              <a:lnSpc>
                <a:spcPct val="100000"/>
              </a:lnSpc>
            </a:pPr>
            <a:r>
              <a:rPr sz="1950" b="1" i="0" u="none">
                <a:solidFill>
                  <a:srgbClr val="FFFFFF"/>
                </a:solidFill>
                <a:latin typeface="Public Sans"/>
              </a:rPr>
              <a:t>HIỆU NĂNG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367000" y="5867400"/>
            <a:ext cx="21336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6000"/>
              </a:lnSpc>
            </a:pPr>
            <a:r>
              <a:rPr sz="1650" b="0" i="0" u="none">
                <a:solidFill>
                  <a:srgbClr val="FFFFFF"/>
                </a:solidFill>
                <a:latin typeface="Public Sans"/>
              </a:rPr>
              <a:t>tòa nhà, tầng, sai số mét, thời gian, bộ nhớ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32400" y="8585200"/>
            <a:ext cx="21590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200" b="1" i="0" u="none">
                <a:solidFill>
                  <a:srgbClr val="F2BE3A"/>
                </a:solidFill>
                <a:latin typeface="Public Sans"/>
              </a:rPr>
              <a:t>KẾT QUẢ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99400" y="8280400"/>
            <a:ext cx="9525000" cy="12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950" b="0" i="0" u="none">
                <a:solidFill>
                  <a:srgbClr val="FFFFFF"/>
                </a:solidFill>
                <a:latin typeface="Public Sans"/>
              </a:rPr>
              <a:t>Mọi tham số chọn trên trainingData; validationData chỉ dùng để đánh giá, một lần cho mỗi điều kiện (190 điều kiện ở Version 1, 5 bước S0–S4 ở Version 2).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891000" y="99314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50" b="0" i="0" u="none">
                <a:solidFill>
                  <a:srgbClr val="A9B8CC"/>
                </a:solidFill>
                <a:latin typeface="Public Sans"/>
              </a:rPr>
              <a:t>16 / 38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0" y="508000"/>
            <a:ext cx="7112000" cy="292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700" b="0" i="0" u="none">
                <a:solidFill>
                  <a:srgbClr val="F2BE3A"/>
                </a:solidFill>
                <a:latin typeface="Public Sans"/>
              </a:rPr>
              <a:t>Trong HUIM, mỗi phần tử có một giá trị utility và thuật toán tìm những tập phần tử có tổng utility đạt ngưỡng </a:t>
            </a:r>
            <a:r>
              <a:rPr sz="2700" b="1" i="0" u="none">
                <a:solidFill>
                  <a:srgbClr val="F2BE3A"/>
                </a:solidFill>
                <a:latin typeface="Public Sans"/>
              </a:rPr>
              <a:t>minUtil</a:t>
            </a:r>
            <a:r>
              <a:rPr sz="2700" b="0" i="0" u="none">
                <a:solidFill>
                  <a:srgbClr val="F2BE3A"/>
                </a:solidFill>
                <a:latin typeface="Public Sans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3403600"/>
            <a:ext cx="7175500" cy="635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17170" indent="-217170">
              <a:lnSpc>
                <a:spcPct val="108000"/>
              </a:lnSpc>
              <a:buClr>
                <a:srgbClr val="F2BE3A"/>
              </a:buClr>
              <a:buFont typeface="Public Sans"/>
              <a:buChar char="–"/>
            </a:pPr>
            <a:r>
              <a:rPr sz="1900" b="0" i="0" u="none">
                <a:solidFill>
                  <a:srgbClr val="FFFFFF"/>
                </a:solidFill>
                <a:latin typeface="Public Sans"/>
              </a:rPr>
              <a:t>Model A (p = 1): 8 lần chạy cho 0 HUI; HUI đầu tiên xuất hiện ở 2,5%</a:t>
            </a:r>
          </a:p>
          <a:p>
            <a:pPr algn="l" marL="217170" indent="-217170">
              <a:lnSpc>
                <a:spcPct val="108000"/>
              </a:lnSpc>
              <a:spcBef>
                <a:spcPts val="900"/>
              </a:spcBef>
              <a:buClr>
                <a:srgbClr val="F2BE3A"/>
              </a:buClr>
              <a:buFont typeface="Public Sans"/>
              <a:buChar char="–"/>
            </a:pPr>
            <a:r>
              <a:rPr sz="1900" b="0" i="0" u="none">
                <a:solidFill>
                  <a:srgbClr val="FFFFFF"/>
                </a:solidFill>
                <a:latin typeface="Public Sans"/>
              </a:rPr>
              <a:t>Model B (MI): 4 lần chạy cho 0 HUI; HUI đầu tiên xuất hiện ở 5%</a:t>
            </a:r>
          </a:p>
          <a:p>
            <a:pPr algn="l" marL="217170" indent="-217170">
              <a:lnSpc>
                <a:spcPct val="108000"/>
              </a:lnSpc>
              <a:spcBef>
                <a:spcPts val="900"/>
              </a:spcBef>
              <a:buClr>
                <a:srgbClr val="F2BE3A"/>
              </a:buClr>
              <a:buFont typeface="Public Sans"/>
              <a:buChar char="–"/>
            </a:pPr>
            <a:r>
              <a:rPr sz="1900" b="0" i="0" u="none">
                <a:solidFill>
                  <a:srgbClr val="FFFFFF"/>
                </a:solidFill>
                <a:latin typeface="Public Sans"/>
              </a:rPr>
              <a:t>Model C (MI × IDF): 6 lần chạy cho 0 HUI; HUI đầu tiên xuất hiện ở 3,5%</a:t>
            </a:r>
          </a:p>
          <a:p>
            <a:pPr algn="l" marL="217170" indent="-217170">
              <a:lnSpc>
                <a:spcPct val="108000"/>
              </a:lnSpc>
              <a:spcBef>
                <a:spcPts val="900"/>
              </a:spcBef>
              <a:buClr>
                <a:srgbClr val="F2BE3A"/>
              </a:buClr>
              <a:buFont typeface="Public Sans"/>
              <a:buChar char="–"/>
            </a:pPr>
            <a:r>
              <a:rPr sz="1900" b="0" i="0" u="none">
                <a:solidFill>
                  <a:srgbClr val="FFFFFF"/>
                </a:solidFill>
                <a:latin typeface="Public Sans"/>
              </a:rPr>
              <a:t>Chuyển pha rất gắt: từ “không có gì” sang “vượt ngân sách” chỉ trong một bước ngưỡng.</a:t>
            </a:r>
          </a:p>
          <a:p>
            <a:pPr algn="l" marL="217170" indent="-217170">
              <a:lnSpc>
                <a:spcPct val="108000"/>
              </a:lnSpc>
              <a:spcBef>
                <a:spcPts val="900"/>
              </a:spcBef>
              <a:buClr>
                <a:srgbClr val="F2BE3A"/>
              </a:buClr>
              <a:buFont typeface="Public Sans"/>
              <a:buChar char="–"/>
            </a:pPr>
            <a:r>
              <a:rPr sz="1900" b="0" i="0" u="none">
                <a:solidFill>
                  <a:srgbClr val="FFFFFF"/>
                </a:solidFill>
                <a:latin typeface="Public Sans"/>
              </a:rPr>
              <a:t>Số HUI khổng lồ nhưng chỉ đến từ 79–91 WAP riêng biệt (lần chạy xong).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26400" y="558800"/>
            <a:ext cx="9779000" cy="9271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d01_minutil_hui_w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3400" y="692434"/>
            <a:ext cx="9525000" cy="900373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891000" y="99314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50" b="0" i="0" u="none">
                <a:solidFill>
                  <a:srgbClr val="A9B8CC"/>
                </a:solidFill>
                <a:latin typeface="Public Sans"/>
              </a:rPr>
              <a:t>17 / 38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4200" y="457200"/>
            <a:ext cx="171450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600" b="1" i="0" u="none">
                <a:solidFill>
                  <a:srgbClr val="FFFFFF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p(i) quyết định </a:t>
            </a:r>
            <a:r>
              <a:rPr sz="5600" b="1" i="0" u="none">
                <a:solidFill>
                  <a:srgbClr val="F2BE3A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chi phí khai phá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422400"/>
            <a:ext cx="1651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 i="0" u="none">
                <a:solidFill>
                  <a:srgbClr val="A9B8CC"/>
                </a:solidFill>
                <a:latin typeface="Public Sans"/>
              </a:rPr>
              <a:t>Cùng ngưỡng minUtil = 2% tổng utility, EFIM chạy trên 19.861 giao dịch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4200" y="2032000"/>
            <a:ext cx="11557000" cy="7747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d02_runtime_at_2p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796" y="2159000"/>
            <a:ext cx="11281806" cy="7493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2522200" y="2032000"/>
            <a:ext cx="5181600" cy="3683000"/>
          </a:xfrm>
          <a:prstGeom prst="roundRect">
            <a:avLst>
              <a:gd name="adj" fmla="val 6000"/>
            </a:avLst>
          </a:prstGeom>
          <a:solidFill>
            <a:srgbClr val="0D2645"/>
          </a:solidFill>
          <a:ln w="15875">
            <a:solidFill>
              <a:srgbClr val="3A5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2827000" y="2362200"/>
            <a:ext cx="46990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5000" b="1" i="0" u="none">
                <a:solidFill>
                  <a:srgbClr val="F2BE3A"/>
                </a:solidFill>
                <a:latin typeface="Public Sans"/>
              </a:rPr>
              <a:t>14,5–27,2×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27000" y="3429000"/>
            <a:ext cx="4572000" cy="215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0" i="0" u="none">
                <a:solidFill>
                  <a:srgbClr val="FFFFFF"/>
                </a:solidFill>
                <a:latin typeface="Public Sans"/>
              </a:rPr>
              <a:t>Model A chậm hơn B và C ở cùng ngưỡng.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522200" y="5969000"/>
            <a:ext cx="5181600" cy="3810000"/>
          </a:xfrm>
          <a:prstGeom prst="roundRect">
            <a:avLst>
              <a:gd name="adj" fmla="val 6000"/>
            </a:avLst>
          </a:prstGeom>
          <a:solidFill>
            <a:srgbClr val="0D2645"/>
          </a:solidFill>
          <a:ln w="15875">
            <a:solidFill>
              <a:srgbClr val="3A5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2827000" y="6273800"/>
            <a:ext cx="457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 i="0" u="none">
                <a:solidFill>
                  <a:srgbClr val="F2BE3A"/>
                </a:solidFill>
                <a:latin typeface="Public Sans"/>
              </a:rPr>
              <a:t>130 vs 24.621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27000" y="7188200"/>
            <a:ext cx="4597400" cy="2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50" b="0" i="0" u="none">
                <a:solidFill>
                  <a:srgbClr val="FFFFFF"/>
                </a:solidFill>
                <a:latin typeface="Public Sans"/>
              </a:rPr>
              <a:t>Số HUI của A so với B: A có ít HUI hơn nhưng vẫn chậm hơn, vì p = 1 làm các cận trên ít phân hoá mục nên cắt tỉa kém.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891000" y="99314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50" b="0" i="0" u="none">
                <a:solidFill>
                  <a:srgbClr val="A9B8CC"/>
                </a:solidFill>
                <a:latin typeface="Public Sans"/>
              </a:rPr>
              <a:t>18 / 38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0" y="457200"/>
            <a:ext cx="7620000" cy="215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0" i="0" u="none">
                <a:solidFill>
                  <a:srgbClr val="F2BE3A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Runtime và bộ nhớ</a:t>
            </a:r>
          </a:p>
          <a:p>
            <a:pPr algn="l">
              <a:lnSpc>
                <a:spcPct val="100000"/>
              </a:lnSpc>
            </a:pPr>
            <a:r>
              <a:rPr sz="5600" b="0" i="0" u="none">
                <a:solidFill>
                  <a:srgbClr val="F2BE3A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theo ngưỡng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2717800"/>
            <a:ext cx="7493000" cy="711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17170" indent="-217170">
              <a:lnSpc>
                <a:spcPct val="108000"/>
              </a:lnSpc>
              <a:buClr>
                <a:srgbClr val="F2BE3A"/>
              </a:buClr>
              <a:buFont typeface="Public Sans"/>
              <a:buChar char="–"/>
            </a:pPr>
            <a:r>
              <a:rPr sz="1900" b="0" i="0" u="none">
                <a:solidFill>
                  <a:srgbClr val="FFFFFF"/>
                </a:solidFill>
                <a:latin typeface="Public Sans"/>
              </a:rPr>
              <a:t>Model A (p = 1): 0,10–600,89 s; bộ nhớ đỉnh 0,6–354,7 MB; 3 lần dừng (ABORTED)</a:t>
            </a:r>
          </a:p>
          <a:p>
            <a:pPr algn="l" marL="217170" indent="-217170">
              <a:lnSpc>
                <a:spcPct val="108000"/>
              </a:lnSpc>
              <a:spcBef>
                <a:spcPts val="1000"/>
              </a:spcBef>
              <a:buClr>
                <a:srgbClr val="F2BE3A"/>
              </a:buClr>
              <a:buFont typeface="Public Sans"/>
              <a:buChar char="–"/>
            </a:pPr>
            <a:r>
              <a:rPr sz="1900" b="0" i="0" u="none">
                <a:solidFill>
                  <a:srgbClr val="FFFFFF"/>
                </a:solidFill>
                <a:latin typeface="Public Sans"/>
              </a:rPr>
              <a:t>Model B (MI): 0,23–23,29 s; bộ nhớ đỉnh 0,0–492,8 MB; 1 lần dừng (ABORTED)</a:t>
            </a:r>
          </a:p>
          <a:p>
            <a:pPr algn="l" marL="217170" indent="-217170">
              <a:lnSpc>
                <a:spcPct val="108000"/>
              </a:lnSpc>
              <a:spcBef>
                <a:spcPts val="1000"/>
              </a:spcBef>
              <a:buClr>
                <a:srgbClr val="F2BE3A"/>
              </a:buClr>
              <a:buFont typeface="Public Sans"/>
              <a:buChar char="–"/>
            </a:pPr>
            <a:r>
              <a:rPr sz="1900" b="0" i="0" u="none">
                <a:solidFill>
                  <a:srgbClr val="FFFFFF"/>
                </a:solidFill>
                <a:latin typeface="Public Sans"/>
              </a:rPr>
              <a:t>Model C (MI × IDF): 0,19–99,17 s; bộ nhớ đỉnh 0,0–518,9 MB; 1 lần dừng (ABORTED)</a:t>
            </a:r>
          </a:p>
          <a:p>
            <a:pPr algn="l" marL="217170" indent="-217170">
              <a:lnSpc>
                <a:spcPct val="108000"/>
              </a:lnSpc>
              <a:spcBef>
                <a:spcPts val="1000"/>
              </a:spcBef>
              <a:buClr>
                <a:srgbClr val="F2BE3A"/>
              </a:buClr>
              <a:buFont typeface="Public Sans"/>
              <a:buChar char="–"/>
            </a:pPr>
            <a:r>
              <a:rPr sz="1900" b="0" i="0" u="none">
                <a:solidFill>
                  <a:srgbClr val="FFFFFF"/>
                </a:solidFill>
                <a:latin typeface="Public Sans"/>
              </a:rPr>
              <a:t>Spearman </a:t>
            </a:r>
            <a:r>
              <a:rPr sz="1900" b="0" i="0" u="none">
                <a:solidFill>
                  <a:srgbClr val="FFFFFF"/>
                </a:solidFill>
                <a:latin typeface="Segoe UI Symbol"/>
              </a:rPr>
              <a:t>ρ</a:t>
            </a:r>
            <a:r>
              <a:rPr sz="1900" b="0" i="0" u="none">
                <a:solidFill>
                  <a:srgbClr val="FFFFFF"/>
                </a:solidFill>
                <a:latin typeface="Public Sans"/>
              </a:rPr>
              <a:t>(số nút đã duyệt, runtime) = 0,995, 0,973, 0,998 [10] </a:t>
            </a:r>
            <a:r>
              <a:rPr sz="1900" b="0" i="0" u="none">
                <a:solidFill>
                  <a:srgbClr val="FFFFFF"/>
                </a:solidFill>
                <a:latin typeface="Segoe UI Symbol"/>
              </a:rPr>
              <a:t>→</a:t>
            </a:r>
            <a:r>
              <a:rPr sz="1900" b="0" i="0" u="none">
                <a:solidFill>
                  <a:srgbClr val="FFFFFF"/>
                </a:solidFill>
                <a:latin typeface="Public Sans"/>
              </a:rPr>
              <a:t> chi phí là chi phí TRÊN MỖI NÚT.</a:t>
            </a:r>
          </a:p>
          <a:p>
            <a:pPr algn="l" marL="217170" indent="-217170">
              <a:lnSpc>
                <a:spcPct val="108000"/>
              </a:lnSpc>
              <a:spcBef>
                <a:spcPts val="1000"/>
              </a:spcBef>
              <a:buClr>
                <a:srgbClr val="F2BE3A"/>
              </a:buClr>
              <a:buFont typeface="Public Sans"/>
              <a:buChar char="–"/>
            </a:pPr>
            <a:r>
              <a:rPr sz="1900" b="0" i="0" u="none">
                <a:solidFill>
                  <a:srgbClr val="FFFFFF"/>
                </a:solidFill>
                <a:latin typeface="Public Sans"/>
              </a:rPr>
              <a:t>Giới hạn mỗi lần chạy: 600 s hoặc 1.000.000 HUI; vượt thì dừng có kiểm soát và giữ kết quả một phần.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80400" y="558800"/>
            <a:ext cx="9525000" cy="9271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d03_minutil_runtime_mem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7400" y="812484"/>
            <a:ext cx="9271000" cy="876363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891000" y="99314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50" b="0" i="0" u="none">
                <a:solidFill>
                  <a:srgbClr val="A9B8CC"/>
                </a:solidFill>
                <a:latin typeface="Public Sans"/>
              </a:rPr>
              <a:t>19 / 38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4200" y="457200"/>
            <a:ext cx="171450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600" b="1" i="0" u="none">
                <a:solidFill>
                  <a:srgbClr val="FFFFFF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HUIM có hơn các </a:t>
            </a:r>
            <a:r>
              <a:rPr sz="5600" b="1" i="0" u="none">
                <a:solidFill>
                  <a:srgbClr val="F2BE3A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đối chứng</a:t>
            </a:r>
            <a:r>
              <a:rPr sz="5600" b="1" i="0" u="none">
                <a:solidFill>
                  <a:srgbClr val="FFFFFF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 không?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422400"/>
            <a:ext cx="17018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i="0" u="none">
                <a:solidFill>
                  <a:srgbClr val="A9B8CC"/>
                </a:solidFill>
                <a:latin typeface="Public Sans"/>
              </a:rPr>
              <a:t>Độ chính xác joint (tòa nhà + tầng) trên validationData, cùng số WAP; baseline 520 WAP = 87,76% (k-NN Version 1)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4200" y="2032000"/>
            <a:ext cx="11811000" cy="7747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d04_union_vs_contro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903" y="2159000"/>
            <a:ext cx="11547592" cy="7493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2750800" y="2032000"/>
            <a:ext cx="4953000" cy="1371600"/>
          </a:xfrm>
          <a:prstGeom prst="roundRect">
            <a:avLst>
              <a:gd name="adj" fmla="val 8000"/>
            </a:avLst>
          </a:prstGeom>
          <a:solidFill>
            <a:srgbClr val="0D2645"/>
          </a:solidFill>
          <a:ln w="15875">
            <a:solidFill>
              <a:srgbClr val="3A5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3004800" y="2209800"/>
            <a:ext cx="1524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 i="0" u="none">
                <a:solidFill>
                  <a:srgbClr val="F2BE3A"/>
                </a:solidFill>
                <a:latin typeface="Public Sans"/>
              </a:rPr>
              <a:t>5/8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05000" y="2209800"/>
            <a:ext cx="2921000" cy="10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50" b="0" i="0" u="none">
                <a:solidFill>
                  <a:srgbClr val="FFFFFF"/>
                </a:solidFill>
                <a:latin typeface="Public Sans"/>
              </a:rPr>
              <a:t>ngân sách WAP: HUIM tốt nhất vượt chọn ngẫu nhiên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750800" y="3581400"/>
            <a:ext cx="4953000" cy="1371600"/>
          </a:xfrm>
          <a:prstGeom prst="roundRect">
            <a:avLst>
              <a:gd name="adj" fmla="val 8000"/>
            </a:avLst>
          </a:prstGeom>
          <a:solidFill>
            <a:srgbClr val="0D2645"/>
          </a:solidFill>
          <a:ln w="15875">
            <a:solidFill>
              <a:srgbClr val="3A5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3004800" y="3759200"/>
            <a:ext cx="1524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 i="0" u="none">
                <a:solidFill>
                  <a:srgbClr val="F2BE3A"/>
                </a:solidFill>
                <a:latin typeface="Public Sans"/>
              </a:rPr>
              <a:t>3/8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05000" y="3759200"/>
            <a:ext cx="2921000" cy="10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50" b="0" i="0" u="none">
                <a:solidFill>
                  <a:srgbClr val="FFFFFF"/>
                </a:solidFill>
                <a:latin typeface="Public Sans"/>
              </a:rPr>
              <a:t>vượt top-n theo mutual information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750800" y="5130800"/>
            <a:ext cx="4953000" cy="1371600"/>
          </a:xfrm>
          <a:prstGeom prst="roundRect">
            <a:avLst>
              <a:gd name="adj" fmla="val 8000"/>
            </a:avLst>
          </a:prstGeom>
          <a:solidFill>
            <a:srgbClr val="0D2645"/>
          </a:solidFill>
          <a:ln w="15875">
            <a:solidFill>
              <a:srgbClr val="3A5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3004800" y="5308600"/>
            <a:ext cx="1524000" cy="889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4000" b="1" i="0" u="none">
                <a:solidFill>
                  <a:srgbClr val="F2BE3A"/>
                </a:solidFill>
                <a:latin typeface="Public Sans"/>
              </a:rPr>
              <a:t>3/8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05000" y="5308600"/>
            <a:ext cx="2921000" cy="10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650" b="0" i="0" u="none">
                <a:solidFill>
                  <a:srgbClr val="FFFFFF"/>
                </a:solidFill>
                <a:latin typeface="Public Sans"/>
              </a:rPr>
              <a:t>vượt top-n theo số lần phát hiện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750800" y="6832600"/>
            <a:ext cx="4953000" cy="292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50" b="1" i="0" u="none">
                <a:solidFill>
                  <a:srgbClr val="F2BE3A"/>
                </a:solidFill>
                <a:latin typeface="Public Sans"/>
              </a:rPr>
              <a:t>Kết luận trung thực:</a:t>
            </a:r>
            <a:r>
              <a:rPr sz="1750" b="0" i="0" u="none">
                <a:solidFill>
                  <a:srgbClr val="FFFFFF"/>
                </a:solidFill>
                <a:latin typeface="Public Sans"/>
              </a:rPr>
              <a:t> HUIM union thắng ngẫu nhiên ở B và C nhưng thua top-n theo MI ở cả ba mô hình. Mọi cách chọn đều thấp hơn dùng đủ 520 WAP.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891000" y="99314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50" b="0" i="0" u="none">
                <a:solidFill>
                  <a:srgbClr val="A9B8CC"/>
                </a:solidFill>
                <a:latin typeface="Public Sans"/>
              </a:rPr>
              <a:t>20 / 38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res_f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93700" y="330200"/>
            <a:ext cx="16510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6200" b="1" i="0" u="none">
                <a:solidFill>
                  <a:srgbClr val="FFFFFF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Feature Reduction và Accuracy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1000" y="1587500"/>
            <a:ext cx="10160000" cy="8128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d05_feature_reduction_vs_jo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1787653"/>
            <a:ext cx="9906000" cy="77276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922000" y="1778000"/>
            <a:ext cx="6858000" cy="787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lnSpc>
                <a:spcPct val="108000"/>
              </a:lnSpc>
              <a:buClr>
                <a:srgbClr val="F2BE3A"/>
              </a:buClr>
              <a:buFont typeface="Public Sans"/>
              <a:buChar char="–"/>
            </a:pPr>
            <a:r>
              <a:rPr sz="2000" b="0" i="0" u="none">
                <a:solidFill>
                  <a:srgbClr val="FFFFFF"/>
                </a:solidFill>
                <a:latin typeface="Public Sans"/>
              </a:rPr>
              <a:t>KHÔNG tập con nào do HUIM chọn đạt joint accuracy của baseline toàn bộ WAP.</a:t>
            </a:r>
          </a:p>
          <a:p>
            <a:pPr algn="l" marL="228600" indent="-228600">
              <a:lnSpc>
                <a:spcPct val="108000"/>
              </a:lnSpc>
              <a:spcBef>
                <a:spcPts val="1200"/>
              </a:spcBef>
              <a:buClr>
                <a:srgbClr val="F2BE3A"/>
              </a:buClr>
              <a:buFont typeface="Public Sans"/>
              <a:buChar char="–"/>
            </a:pPr>
            <a:r>
              <a:rPr sz="2000" b="0" i="0" u="none">
                <a:solidFill>
                  <a:srgbClr val="FFFFFF"/>
                </a:solidFill>
                <a:latin typeface="Public Sans"/>
              </a:rPr>
              <a:t>Building accuracy chịu được giảm chiều mạnh; Floor accuracy là ràng buộc chặt.</a:t>
            </a:r>
          </a:p>
          <a:p>
            <a:pPr algn="l" marL="228600" indent="-228600">
              <a:lnSpc>
                <a:spcPct val="108000"/>
              </a:lnSpc>
              <a:spcBef>
                <a:spcPts val="1200"/>
              </a:spcBef>
              <a:buClr>
                <a:srgbClr val="F2BE3A"/>
              </a:buClr>
              <a:buFont typeface="Public Sans"/>
              <a:buChar char="–"/>
            </a:pPr>
            <a:r>
              <a:rPr sz="2000" b="0" i="0" u="none">
                <a:solidFill>
                  <a:srgbClr val="FFFFFF"/>
                </a:solidFill>
                <a:latin typeface="Public Sans"/>
              </a:rPr>
              <a:t>Tập HUIM lớn nhất có 91 WAP; ở ngân sách đó tốt nhất mọi phương pháp chỉ 74,44% (control_top_mi__n91).</a:t>
            </a:r>
          </a:p>
          <a:p>
            <a:pPr algn="l" marL="228600" indent="-228600">
              <a:lnSpc>
                <a:spcPct val="108000"/>
              </a:lnSpc>
              <a:spcBef>
                <a:spcPts val="1200"/>
              </a:spcBef>
              <a:buClr>
                <a:srgbClr val="F2BE3A"/>
              </a:buClr>
              <a:buFont typeface="Public Sans"/>
              <a:buChar char="–"/>
            </a:pPr>
            <a:r>
              <a:rPr sz="2000" b="0" i="0" u="none">
                <a:solidFill>
                  <a:srgbClr val="FFFFFF"/>
                </a:solidFill>
                <a:latin typeface="Public Sans"/>
              </a:rPr>
              <a:t>Cần 200 WAP (control_top_support__n200, 88,48%) mới chạm baseline — vượt xa trần mà HUIM cung cấp.</a:t>
            </a:r>
          </a:p>
          <a:p>
            <a:pPr algn="l" marL="228600" indent="-228600">
              <a:lnSpc>
                <a:spcPct val="108000"/>
              </a:lnSpc>
              <a:spcBef>
                <a:spcPts val="1200"/>
              </a:spcBef>
              <a:buClr>
                <a:srgbClr val="F2BE3A"/>
              </a:buClr>
              <a:buFont typeface="Public Sans"/>
              <a:buChar char="–"/>
            </a:pPr>
            <a:r>
              <a:rPr sz="2000" b="0" i="0" u="none">
                <a:solidFill>
                  <a:srgbClr val="FFFFFF"/>
                </a:solidFill>
                <a:latin typeface="Public Sans"/>
              </a:rPr>
              <a:t>Hình thoi = điểm union, nơi minUtil là núm điều khiển duy nhất.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891000" y="99314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50" b="0" i="0" u="none">
                <a:solidFill>
                  <a:srgbClr val="A9B8CC"/>
                </a:solidFill>
                <a:latin typeface="Public Sans"/>
              </a:rPr>
              <a:t>21 / 38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res_co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93700" y="330200"/>
            <a:ext cx="11430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6200" b="1" i="0" u="none">
                <a:solidFill>
                  <a:srgbClr val="FFFFFF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Kết quả và Phân tích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0" y="457200"/>
            <a:ext cx="6350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2700" b="1" i="0" u="none">
                <a:solidFill>
                  <a:srgbClr val="FFFFFF"/>
                </a:solidFill>
                <a:latin typeface="Public Sans"/>
              </a:rPr>
              <a:t>Đánh giá thời gian và bộ nhớ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4200" y="1422400"/>
            <a:ext cx="17119600" cy="5080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icture 5" descr="d06_ips_time_mem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096" y="1549400"/>
            <a:ext cx="16015806" cy="482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66800" y="7620000"/>
            <a:ext cx="25400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900" b="1" i="0" u="none">
                <a:solidFill>
                  <a:srgbClr val="F2BE3A"/>
                </a:solidFill>
                <a:latin typeface="Public Sans"/>
              </a:rPr>
              <a:t>Nhận xét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91000" y="6781800"/>
            <a:ext cx="11811000" cy="304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8595" indent="-188595">
              <a:lnSpc>
                <a:spcPct val="103000"/>
              </a:lnSpc>
              <a:buClr>
                <a:srgbClr val="F2BE3A"/>
              </a:buClr>
              <a:buFont typeface="Public Sans"/>
              <a:buChar char="–"/>
            </a:pPr>
            <a:r>
              <a:rPr sz="1650" b="0" i="0" u="none">
                <a:solidFill>
                  <a:srgbClr val="FFFFFF"/>
                </a:solidFill>
                <a:latin typeface="Public Sans"/>
              </a:rPr>
              <a:t>Baseline 520 WAP: 1,207 ms/fingerprint, CSDL vân tay 79,1 MB (float64).</a:t>
            </a:r>
          </a:p>
          <a:p>
            <a:pPr algn="l" marL="188595" indent="-188595">
              <a:lnSpc>
                <a:spcPct val="103000"/>
              </a:lnSpc>
              <a:spcBef>
                <a:spcPts val="400"/>
              </a:spcBef>
              <a:buClr>
                <a:srgbClr val="F2BE3A"/>
              </a:buClr>
              <a:buFont typeface="Public Sans"/>
              <a:buChar char="–"/>
            </a:pPr>
            <a:r>
              <a:rPr sz="1650" b="0" i="0" u="none">
                <a:solidFill>
                  <a:srgbClr val="FFFFFF"/>
                </a:solidFill>
                <a:latin typeface="Public Sans"/>
              </a:rPr>
              <a:t>control_top_support__n200 (200 WAP): 2,5× nhanh hơn, 38% bộ nhớ, joint 88,48%.</a:t>
            </a:r>
          </a:p>
          <a:p>
            <a:pPr algn="l" marL="188595" indent="-188595">
              <a:lnSpc>
                <a:spcPct val="103000"/>
              </a:lnSpc>
              <a:spcBef>
                <a:spcPts val="400"/>
              </a:spcBef>
              <a:buClr>
                <a:srgbClr val="F2BE3A"/>
              </a:buClr>
              <a:buFont typeface="Public Sans"/>
              <a:buChar char="–"/>
            </a:pPr>
            <a:r>
              <a:rPr sz="1650" b="0" i="0" u="none">
                <a:solidFill>
                  <a:srgbClr val="FFFFFF"/>
                </a:solidFill>
                <a:latin typeface="Public Sans"/>
              </a:rPr>
              <a:t>HUIM tốt nhất (91 WAP): 5,4× nhanh hơn, 18% bộ nhớ, nhưng joint chỉ 71,56%.</a:t>
            </a:r>
          </a:p>
          <a:p>
            <a:pPr algn="l" marL="188595" indent="-188595">
              <a:lnSpc>
                <a:spcPct val="103000"/>
              </a:lnSpc>
              <a:spcBef>
                <a:spcPts val="400"/>
              </a:spcBef>
              <a:buClr>
                <a:srgbClr val="F2BE3A"/>
              </a:buClr>
              <a:buFont typeface="Public Sans"/>
              <a:buChar char="–"/>
            </a:pPr>
            <a:r>
              <a:rPr sz="1650" b="0" i="0" u="none">
                <a:solidFill>
                  <a:srgbClr val="FFFFFF"/>
                </a:solidFill>
                <a:latin typeface="Public Sans"/>
              </a:rPr>
              <a:t>Đo một lõi, lặp lại lấy trung vị; bộ nhớ CSDL = dòng × cột × kích thước phần tử. Bộ định vị Version 2 chưa được đo thời gian riêng.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891000" y="99314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50" b="0" i="0" u="none">
                <a:solidFill>
                  <a:srgbClr val="A9B8CC"/>
                </a:solidFill>
                <a:latin typeface="Public Sans"/>
              </a:rPr>
              <a:t>22 / 38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res_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93700" y="330200"/>
            <a:ext cx="11430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6200" b="1" i="0" u="none">
                <a:solidFill>
                  <a:srgbClr val="FFFFFF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Kết quả và Phân tích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2000" y="457200"/>
            <a:ext cx="6858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2600" b="1" i="0" u="none">
                <a:solidFill>
                  <a:srgbClr val="FFFFFF"/>
                </a:solidFill>
                <a:latin typeface="Public Sans"/>
              </a:rPr>
              <a:t>Độ chính xác định vị theo mét — V1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717800"/>
            <a:ext cx="13970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 u="none">
                <a:solidFill>
                  <a:srgbClr val="F2BE3A"/>
                </a:solidFill>
                <a:latin typeface="Public Sans"/>
              </a:rPr>
              <a:t>Nhận</a:t>
            </a:r>
          </a:p>
          <a:p>
            <a:pPr algn="l">
              <a:lnSpc>
                <a:spcPct val="100000"/>
              </a:lnSpc>
            </a:pPr>
            <a:r>
              <a:rPr sz="2900" b="1" i="0" u="none">
                <a:solidFill>
                  <a:srgbClr val="F2BE3A"/>
                </a:solidFill>
                <a:latin typeface="Public Sans"/>
              </a:rPr>
              <a:t>xét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25700" y="2311400"/>
            <a:ext cx="7112000" cy="660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11455" indent="-211455">
              <a:lnSpc>
                <a:spcPct val="108000"/>
              </a:lnSpc>
              <a:buClr>
                <a:srgbClr val="F2BE3A"/>
              </a:buClr>
              <a:buFont typeface="Public Sans"/>
              <a:buChar char="–"/>
            </a:pPr>
            <a:r>
              <a:rPr sz="1850" b="0" i="0" u="none">
                <a:solidFill>
                  <a:srgbClr val="FFFFFF"/>
                </a:solidFill>
                <a:latin typeface="Public Sans"/>
              </a:rPr>
              <a:t>Baseline V1: trung vị 6,02 m toạ độ chiếu = 4,61 m thực địa; trung bình 12,11 m chiếu = 9,28 m thực địa.</a:t>
            </a:r>
          </a:p>
          <a:p>
            <a:pPr algn="l" marL="211455" indent="-211455">
              <a:lnSpc>
                <a:spcPct val="108000"/>
              </a:lnSpc>
              <a:spcBef>
                <a:spcPts val="1200"/>
              </a:spcBef>
              <a:buClr>
                <a:srgbClr val="F2BE3A"/>
              </a:buClr>
              <a:buFont typeface="Public Sans"/>
              <a:buChar char="–"/>
            </a:pPr>
            <a:r>
              <a:rPr sz="1850" b="0" i="0" u="none">
                <a:solidFill>
                  <a:srgbClr val="FFFFFF"/>
                </a:solidFill>
                <a:latin typeface="Public Sans"/>
              </a:rPr>
              <a:t>Trung vị DƯỚI dải 7–8 m; trung bình TRÊN dải vì phân bố có đuôi dài (P95 = 27,8 m).</a:t>
            </a:r>
          </a:p>
          <a:p>
            <a:pPr algn="l" marL="211455" indent="-211455">
              <a:lnSpc>
                <a:spcPct val="108000"/>
              </a:lnSpc>
              <a:spcBef>
                <a:spcPts val="1200"/>
              </a:spcBef>
              <a:buClr>
                <a:srgbClr val="F2BE3A"/>
              </a:buClr>
              <a:buFont typeface="Public Sans"/>
              <a:buChar char="–"/>
            </a:pPr>
            <a:r>
              <a:rPr sz="1850" b="0" i="0" u="none">
                <a:solidFill>
                  <a:srgbClr val="FFFFFF"/>
                </a:solidFill>
                <a:latin typeface="Public Sans"/>
              </a:rPr>
              <a:t>Toạ độ là EPSG:3857 Web Mercator — xác định bằng nghịch đảo phép chiếu, rơi cách campus UJI 139,7 m.</a:t>
            </a:r>
          </a:p>
          <a:p>
            <a:pPr algn="l" marL="211455" indent="-211455">
              <a:lnSpc>
                <a:spcPct val="108000"/>
              </a:lnSpc>
              <a:spcBef>
                <a:spcPts val="1200"/>
              </a:spcBef>
              <a:buClr>
                <a:srgbClr val="F2BE3A"/>
              </a:buClr>
              <a:buFont typeface="Public Sans"/>
              <a:buChar char="–"/>
            </a:pPr>
            <a:r>
              <a:rPr sz="1850" b="0" i="0" u="none">
                <a:solidFill>
                  <a:srgbClr val="FFFFFF"/>
                </a:solidFill>
                <a:latin typeface="Public Sans"/>
              </a:rPr>
              <a:t>Web Mercator KHÔNG bảo toàn khoảng cách: hệ số 1,305268 </a:t>
            </a:r>
            <a:r>
              <a:rPr sz="1850" b="0" i="0" u="none">
                <a:solidFill>
                  <a:srgbClr val="FFFFFF"/>
                </a:solidFill>
                <a:latin typeface="Segoe UI Symbol"/>
              </a:rPr>
              <a:t>→</a:t>
            </a:r>
            <a:r>
              <a:rPr sz="1850" b="0" i="0" u="none">
                <a:solidFill>
                  <a:srgbClr val="FFFFFF"/>
                </a:solidFill>
                <a:latin typeface="Public Sans"/>
              </a:rPr>
              <a:t> đọc thẳng từ cột toạ độ lớn hơn thực tế khoảng 31%.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60000" y="1320800"/>
            <a:ext cx="7747000" cy="5334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d07_v1_error_by_s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0" y="1521720"/>
            <a:ext cx="7493000" cy="493215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10160000" y="6858000"/>
            <a:ext cx="7747000" cy="2857500"/>
          </a:xfrm>
          <a:prstGeom prst="roundRect">
            <a:avLst>
              <a:gd name="adj" fmla="val 5000"/>
            </a:avLst>
          </a:prstGeom>
          <a:solidFill>
            <a:srgbClr val="0D2645"/>
          </a:solidFill>
          <a:ln w="15875">
            <a:solidFill>
              <a:srgbClr val="3A5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439400" y="7010400"/>
            <a:ext cx="7112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50" b="1" i="0" u="none">
                <a:solidFill>
                  <a:srgbClr val="F2BE3A"/>
                </a:solidFill>
                <a:latin typeface="Public Sans"/>
              </a:rPr>
              <a:t>Sai số thực địa của một fingerprint</a:t>
            </a:r>
          </a:p>
        </p:txBody>
      </p:sp>
      <p:pic>
        <p:nvPicPr>
          <p:cNvPr id="11" name="Picture 10" descr="formula_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50192" y="7518400"/>
            <a:ext cx="4166616" cy="5059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439400" y="8280400"/>
            <a:ext cx="71882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 u="none">
                <a:solidFill>
                  <a:srgbClr val="DCE3EE"/>
                </a:solidFill>
                <a:latin typeface="Segoe UI Symbol"/>
              </a:rPr>
              <a:t>φ</a:t>
            </a:r>
            <a:r>
              <a:rPr sz="1600" b="0" i="0" u="none">
                <a:solidFill>
                  <a:srgbClr val="DCE3EE"/>
                </a:solidFill>
                <a:latin typeface="Public Sans"/>
              </a:rPr>
              <a:t> = 39,9927° </a:t>
            </a:r>
            <a:r>
              <a:rPr sz="1600" b="0" i="0" u="none">
                <a:solidFill>
                  <a:srgbClr val="DCE3EE"/>
                </a:solidFill>
                <a:latin typeface="Segoe UI Symbol"/>
              </a:rPr>
              <a:t>⇒</a:t>
            </a:r>
            <a:r>
              <a:rPr sz="1600" b="0" i="0" u="none">
                <a:solidFill>
                  <a:srgbClr val="DCE3EE"/>
                </a:solidFill>
                <a:latin typeface="Public Sans"/>
              </a:rPr>
              <a:t> cos </a:t>
            </a:r>
            <a:r>
              <a:rPr sz="1600" b="0" i="0" u="none">
                <a:solidFill>
                  <a:srgbClr val="DCE3EE"/>
                </a:solidFill>
                <a:latin typeface="Segoe UI Symbol"/>
              </a:rPr>
              <a:t>φ</a:t>
            </a:r>
            <a:r>
              <a:rPr sz="1600" b="0" i="0" u="none">
                <a:solidFill>
                  <a:srgbClr val="DCE3EE"/>
                </a:solidFill>
                <a:latin typeface="Public Sans"/>
              </a:rPr>
              <a:t> = 0,766126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39400" y="8763000"/>
            <a:ext cx="71882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 u="none">
                <a:solidFill>
                  <a:srgbClr val="A9B8CC"/>
                </a:solidFill>
                <a:latin typeface="Public Sans"/>
              </a:rPr>
              <a:t>Nguồn:</a:t>
            </a:r>
            <a:r>
              <a:rPr sz="1350" b="0" i="1" u="none">
                <a:solidFill>
                  <a:srgbClr val="A9B8CC"/>
                </a:solidFill>
                <a:latin typeface="Public Sans"/>
              </a:rPr>
              <a:t> hệ số tỉ lệ Mercator sec </a:t>
            </a:r>
            <a:r>
              <a:rPr sz="1350" b="0" i="1" u="none">
                <a:solidFill>
                  <a:srgbClr val="A9B8CC"/>
                </a:solidFill>
                <a:latin typeface="Segoe UI Symbol"/>
              </a:rPr>
              <a:t>φ</a:t>
            </a:r>
            <a:r>
              <a:rPr sz="1350" b="0" i="1" u="none">
                <a:solidFill>
                  <a:srgbClr val="A9B8CC"/>
                </a:solidFill>
                <a:latin typeface="Public Sans"/>
              </a:rPr>
              <a:t> — Snyder, USGS Prof. Paper 1395, 1987 [13]; báo cáo trung vị, trung bình, phân vị theo Adler et al., IPIN 2015 [14]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891000" y="99314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50" b="0" i="0" u="none">
                <a:solidFill>
                  <a:srgbClr val="A9B8CC"/>
                </a:solidFill>
                <a:latin typeface="Public Sans"/>
              </a:rPr>
              <a:t>23 / 38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4200" y="889000"/>
            <a:ext cx="8636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600" b="1" i="0" u="none">
                <a:solidFill>
                  <a:srgbClr val="F2BE3A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Version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2413000"/>
            <a:ext cx="8255000" cy="2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6200" b="1" i="0" u="none">
                <a:solidFill>
                  <a:srgbClr val="FFFFFF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Tối ưu sai số</a:t>
            </a:r>
          </a:p>
          <a:p>
            <a:pPr algn="l">
              <a:lnSpc>
                <a:spcPct val="98000"/>
              </a:lnSpc>
            </a:pPr>
            <a:r>
              <a:rPr sz="6200" b="1" i="0" u="none">
                <a:solidFill>
                  <a:srgbClr val="FFFFFF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định vị theo mét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5080000"/>
            <a:ext cx="7620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 i="0" u="none">
                <a:solidFill>
                  <a:srgbClr val="DCE3EE"/>
                </a:solidFill>
                <a:latin typeface="Public Sans"/>
              </a:rPr>
              <a:t>Giữ nguyên dữ liệu, HUIM và giao thức chống rò rỉ — chỉ thay bộ ước lượng toạ độ.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000" y="7683500"/>
            <a:ext cx="81280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400" b="1" i="0" u="none">
                <a:solidFill>
                  <a:srgbClr val="F2BE3A"/>
                </a:solidFill>
                <a:latin typeface="Public Sans"/>
              </a:rPr>
              <a:t>9,28 m </a:t>
            </a:r>
            <a:r>
              <a:rPr sz="3400" b="1" i="0" u="none">
                <a:solidFill>
                  <a:srgbClr val="F2BE3A"/>
                </a:solidFill>
                <a:latin typeface="Segoe UI Symbol"/>
              </a:rPr>
              <a:t>→</a:t>
            </a:r>
            <a:r>
              <a:rPr sz="3400" b="1" i="0" u="none">
                <a:solidFill>
                  <a:srgbClr val="F2BE3A"/>
                </a:solidFill>
                <a:latin typeface="Public Sans"/>
              </a:rPr>
              <a:t> 5,36 m  (−42%)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0400" y="8407400"/>
            <a:ext cx="7874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i="0" u="none">
                <a:solidFill>
                  <a:srgbClr val="DCE3EE"/>
                </a:solidFill>
                <a:latin typeface="Public Sans"/>
              </a:rPr>
              <a:t>sai số trung bình (m thực địa) trên 1.111 fingerprint kiểm định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891000" y="99314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50" b="0" i="0" u="none">
                <a:solidFill>
                  <a:srgbClr val="A9B8CC"/>
                </a:solidFill>
                <a:latin typeface="Public Sans"/>
              </a:rPr>
              <a:t>24 / 38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4200" y="457200"/>
            <a:ext cx="171450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600" b="1" i="0" u="none">
                <a:solidFill>
                  <a:srgbClr val="FFFFFF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Vì sao </a:t>
            </a:r>
            <a:r>
              <a:rPr sz="5600" b="1" i="0" u="none">
                <a:solidFill>
                  <a:srgbClr val="F2BE3A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Version 1</a:t>
            </a:r>
            <a:r>
              <a:rPr sz="5600" b="1" i="0" u="none">
                <a:solidFill>
                  <a:srgbClr val="FFFFFF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 sai số lớn?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4200" y="1625600"/>
            <a:ext cx="17119600" cy="1422400"/>
          </a:xfrm>
          <a:prstGeom prst="roundRect">
            <a:avLst>
              <a:gd name="adj" fmla="val 8000"/>
            </a:avLst>
          </a:prstGeom>
          <a:solidFill>
            <a:srgbClr val="0D2645"/>
          </a:solidFill>
          <a:ln w="15875">
            <a:solidFill>
              <a:srgbClr val="3A5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838200" y="1955800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F2B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38200" y="1955800"/>
            <a:ext cx="7620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800" b="1" i="0" u="none">
                <a:solidFill>
                  <a:srgbClr val="14223A"/>
                </a:solidFill>
                <a:latin typeface="Public Sa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05000" y="1803400"/>
            <a:ext cx="15494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 u="none">
                <a:solidFill>
                  <a:srgbClr val="F2BE3A"/>
                </a:solidFill>
                <a:latin typeface="Public Sans"/>
              </a:rPr>
              <a:t>Chọn tham số sai mục tiêu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5000" y="2235200"/>
            <a:ext cx="15494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 u="none">
                <a:solidFill>
                  <a:srgbClr val="FFFFFF"/>
                </a:solidFill>
                <a:latin typeface="Public Sans"/>
              </a:rPr>
              <a:t>k = 1, Manhattan được chọn cho bài toán PHÂN LOẠI tầng, không phải ước lượng toạ độ.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4200" y="3251200"/>
            <a:ext cx="17119600" cy="1422400"/>
          </a:xfrm>
          <a:prstGeom prst="roundRect">
            <a:avLst>
              <a:gd name="adj" fmla="val 8000"/>
            </a:avLst>
          </a:prstGeom>
          <a:solidFill>
            <a:srgbClr val="0D2645"/>
          </a:solidFill>
          <a:ln w="15875">
            <a:solidFill>
              <a:srgbClr val="3A5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838200" y="3581400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F2B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38200" y="3581400"/>
            <a:ext cx="7620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800" b="1" i="0" u="none">
                <a:solidFill>
                  <a:srgbClr val="14223A"/>
                </a:solidFill>
                <a:latin typeface="Public San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05000" y="3429000"/>
            <a:ext cx="15494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 u="none">
                <a:solidFill>
                  <a:srgbClr val="F2BE3A"/>
                </a:solidFill>
                <a:latin typeface="Public Sans"/>
              </a:rPr>
              <a:t>Phép chia dev không giống tập kiểm định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05000" y="3860800"/>
            <a:ext cx="15494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 u="none">
                <a:solidFill>
                  <a:srgbClr val="FFFFFF"/>
                </a:solidFill>
                <a:latin typeface="Public Sans"/>
              </a:rPr>
              <a:t>Chia ngẫu nhiên 75/25 đặt fingerprint đo tại cùng điểm vào cả hai phía nên k = 1 thắng; validationData dùng thiết bị khác (9/11 mã thiết bị không có trong train), tại 1.074 vị trí.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4200" y="4876800"/>
            <a:ext cx="17119600" cy="1422400"/>
          </a:xfrm>
          <a:prstGeom prst="roundRect">
            <a:avLst>
              <a:gd name="adj" fmla="val 8000"/>
            </a:avLst>
          </a:prstGeom>
          <a:solidFill>
            <a:srgbClr val="0D2645"/>
          </a:solidFill>
          <a:ln w="15875">
            <a:solidFill>
              <a:srgbClr val="3A5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838200" y="5207000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F2B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38200" y="5207000"/>
            <a:ext cx="7620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800" b="1" i="0" u="none">
                <a:solidFill>
                  <a:srgbClr val="14223A"/>
                </a:solidFill>
                <a:latin typeface="Public San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05000" y="5054600"/>
            <a:ext cx="15494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 u="none">
                <a:solidFill>
                  <a:srgbClr val="F2BE3A"/>
                </a:solidFill>
                <a:latin typeface="Public Sans"/>
              </a:rPr>
              <a:t>Phương sai cao của k =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05000" y="5486400"/>
            <a:ext cx="15494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 u="none">
                <a:solidFill>
                  <a:srgbClr val="FFFFFF"/>
                </a:solidFill>
                <a:latin typeface="Public Sans"/>
              </a:rPr>
              <a:t>Toạ độ dự đoán chính là một vị trí huấn luyện: láng giềng sai là sai số trọn vẹn.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4200" y="6502400"/>
            <a:ext cx="17119600" cy="1422400"/>
          </a:xfrm>
          <a:prstGeom prst="roundRect">
            <a:avLst>
              <a:gd name="adj" fmla="val 8000"/>
            </a:avLst>
          </a:prstGeom>
          <a:solidFill>
            <a:srgbClr val="0D2645"/>
          </a:solidFill>
          <a:ln w="15875">
            <a:solidFill>
              <a:srgbClr val="3A5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38200" y="6832600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F2B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38200" y="6832600"/>
            <a:ext cx="7620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800" b="1" i="0" u="none">
                <a:solidFill>
                  <a:srgbClr val="14223A"/>
                </a:solidFill>
                <a:latin typeface="Public San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05000" y="6680200"/>
            <a:ext cx="15494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 u="none">
                <a:solidFill>
                  <a:srgbClr val="F2BE3A"/>
                </a:solidFill>
                <a:latin typeface="Public Sans"/>
              </a:rPr>
              <a:t>Hoà khoảng cách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05000" y="7112000"/>
            <a:ext cx="15494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 u="none">
                <a:solidFill>
                  <a:srgbClr val="FFFFFF"/>
                </a:solidFill>
                <a:latin typeface="Public Sans"/>
              </a:rPr>
              <a:t>RSSI là số nguyên nên khoảng cách Manhattan thường bằng nhau; với k = 1 cách phá hoà quyết định toạ độ.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4200" y="8128000"/>
            <a:ext cx="17119600" cy="1422400"/>
          </a:xfrm>
          <a:prstGeom prst="roundRect">
            <a:avLst>
              <a:gd name="adj" fmla="val 8000"/>
            </a:avLst>
          </a:prstGeom>
          <a:solidFill>
            <a:srgbClr val="0D2645"/>
          </a:solidFill>
          <a:ln w="15875">
            <a:solidFill>
              <a:srgbClr val="3A5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38200" y="8458200"/>
            <a:ext cx="762000" cy="762000"/>
          </a:xfrm>
          <a:prstGeom prst="roundRect">
            <a:avLst>
              <a:gd name="adj" fmla="val 50000"/>
            </a:avLst>
          </a:prstGeom>
          <a:solidFill>
            <a:srgbClr val="F2B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38200" y="8458200"/>
            <a:ext cx="7620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2800" b="1" i="0" u="none">
                <a:solidFill>
                  <a:srgbClr val="14223A"/>
                </a:solidFill>
                <a:latin typeface="Public Sans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05000" y="8305800"/>
            <a:ext cx="15494000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 u="none">
                <a:solidFill>
                  <a:srgbClr val="F2BE3A"/>
                </a:solidFill>
                <a:latin typeface="Public Sans"/>
              </a:rPr>
              <a:t>Lệch thiết bị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05000" y="8737600"/>
            <a:ext cx="15494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 i="0" u="none">
                <a:solidFill>
                  <a:srgbClr val="FFFFFF"/>
                </a:solidFill>
                <a:latin typeface="Public Sans"/>
              </a:rPr>
              <a:t>Điện thoại khác nhau đo RSSI lệch mức, làm sai khoảng cách tính trên RSSI thô [15], [16].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891000" y="99314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50" b="0" i="0" u="none">
                <a:solidFill>
                  <a:srgbClr val="A9B8CC"/>
                </a:solidFill>
                <a:latin typeface="Public Sans"/>
              </a:rPr>
              <a:t>25 / 38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4200" y="457200"/>
            <a:ext cx="171450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600" b="1" i="0" u="none">
                <a:solidFill>
                  <a:srgbClr val="FFFFFF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Giao thức chọn mô hình </a:t>
            </a:r>
            <a:r>
              <a:rPr sz="5600" b="1" i="0" u="none">
                <a:solidFill>
                  <a:srgbClr val="F2BE3A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không rò rỉ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422400"/>
            <a:ext cx="1651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0" i="0" u="none">
                <a:solidFill>
                  <a:srgbClr val="A9B8CC"/>
                </a:solidFill>
                <a:latin typeface="Public Sans"/>
              </a:rPr>
              <a:t>GroupKFold(6) theo USERID trên trainingData: 18 người đo chia 6 nhóm; mỗi fold dev chỉ gồm người đo mà mô hình chưa thấy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4200" y="2032000"/>
            <a:ext cx="7620000" cy="6096000"/>
          </a:xfrm>
          <a:prstGeom prst="roundRect">
            <a:avLst>
              <a:gd name="adj" fmla="val 4000"/>
            </a:avLst>
          </a:prstGeom>
          <a:solidFill>
            <a:srgbClr val="0D2645"/>
          </a:solidFill>
          <a:ln w="15875">
            <a:solidFill>
              <a:srgbClr val="3A5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38200" y="2184400"/>
            <a:ext cx="7112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900" b="1" i="0" u="none">
                <a:solidFill>
                  <a:srgbClr val="F2BE3A"/>
                </a:solidFill>
                <a:latin typeface="Public Sans"/>
              </a:rPr>
              <a:t>6 fold giữ lại người đo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2819400"/>
            <a:ext cx="1143000" cy="63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 u="none">
                <a:solidFill>
                  <a:srgbClr val="FFFFFF"/>
                </a:solidFill>
                <a:latin typeface="Public Sans"/>
              </a:rPr>
              <a:t>Fold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32000" y="2819400"/>
            <a:ext cx="736600" cy="635000"/>
          </a:xfrm>
          <a:prstGeom prst="roundRect">
            <a:avLst>
              <a:gd name="adj" fmla="val 15000"/>
            </a:avLst>
          </a:prstGeom>
          <a:solidFill>
            <a:srgbClr val="F2B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2870200" y="2819400"/>
            <a:ext cx="736600" cy="635000"/>
          </a:xfrm>
          <a:prstGeom prst="roundRect">
            <a:avLst>
              <a:gd name="adj" fmla="val 15000"/>
            </a:avLst>
          </a:prstGeom>
          <a:solidFill>
            <a:srgbClr val="17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708400" y="2819400"/>
            <a:ext cx="736600" cy="635000"/>
          </a:xfrm>
          <a:prstGeom prst="roundRect">
            <a:avLst>
              <a:gd name="adj" fmla="val 15000"/>
            </a:avLst>
          </a:prstGeom>
          <a:solidFill>
            <a:srgbClr val="17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4546600" y="2819400"/>
            <a:ext cx="736600" cy="635000"/>
          </a:xfrm>
          <a:prstGeom prst="roundRect">
            <a:avLst>
              <a:gd name="adj" fmla="val 15000"/>
            </a:avLst>
          </a:prstGeom>
          <a:solidFill>
            <a:srgbClr val="17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5384800" y="2819400"/>
            <a:ext cx="736600" cy="635000"/>
          </a:xfrm>
          <a:prstGeom prst="roundRect">
            <a:avLst>
              <a:gd name="adj" fmla="val 15000"/>
            </a:avLst>
          </a:prstGeom>
          <a:solidFill>
            <a:srgbClr val="17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223000" y="2819400"/>
            <a:ext cx="736600" cy="635000"/>
          </a:xfrm>
          <a:prstGeom prst="roundRect">
            <a:avLst>
              <a:gd name="adj" fmla="val 15000"/>
            </a:avLst>
          </a:prstGeom>
          <a:solidFill>
            <a:srgbClr val="17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38200" y="3657600"/>
            <a:ext cx="1143000" cy="63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 u="none">
                <a:solidFill>
                  <a:srgbClr val="FFFFFF"/>
                </a:solidFill>
                <a:latin typeface="Public Sans"/>
              </a:rPr>
              <a:t>Fold 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32000" y="3657600"/>
            <a:ext cx="736600" cy="635000"/>
          </a:xfrm>
          <a:prstGeom prst="roundRect">
            <a:avLst>
              <a:gd name="adj" fmla="val 15000"/>
            </a:avLst>
          </a:prstGeom>
          <a:solidFill>
            <a:srgbClr val="17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2870200" y="3657600"/>
            <a:ext cx="736600" cy="635000"/>
          </a:xfrm>
          <a:prstGeom prst="roundRect">
            <a:avLst>
              <a:gd name="adj" fmla="val 15000"/>
            </a:avLst>
          </a:prstGeom>
          <a:solidFill>
            <a:srgbClr val="F2B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3708400" y="3657600"/>
            <a:ext cx="736600" cy="635000"/>
          </a:xfrm>
          <a:prstGeom prst="roundRect">
            <a:avLst>
              <a:gd name="adj" fmla="val 15000"/>
            </a:avLst>
          </a:prstGeom>
          <a:solidFill>
            <a:srgbClr val="17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4546600" y="3657600"/>
            <a:ext cx="736600" cy="635000"/>
          </a:xfrm>
          <a:prstGeom prst="roundRect">
            <a:avLst>
              <a:gd name="adj" fmla="val 15000"/>
            </a:avLst>
          </a:prstGeom>
          <a:solidFill>
            <a:srgbClr val="17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5384800" y="3657600"/>
            <a:ext cx="736600" cy="635000"/>
          </a:xfrm>
          <a:prstGeom prst="roundRect">
            <a:avLst>
              <a:gd name="adj" fmla="val 15000"/>
            </a:avLst>
          </a:prstGeom>
          <a:solidFill>
            <a:srgbClr val="17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6223000" y="3657600"/>
            <a:ext cx="736600" cy="635000"/>
          </a:xfrm>
          <a:prstGeom prst="roundRect">
            <a:avLst>
              <a:gd name="adj" fmla="val 15000"/>
            </a:avLst>
          </a:prstGeom>
          <a:solidFill>
            <a:srgbClr val="17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38200" y="4495800"/>
            <a:ext cx="1143000" cy="63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 u="none">
                <a:solidFill>
                  <a:srgbClr val="FFFFFF"/>
                </a:solidFill>
                <a:latin typeface="Public Sans"/>
              </a:rPr>
              <a:t>Fold 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032000" y="4495800"/>
            <a:ext cx="736600" cy="635000"/>
          </a:xfrm>
          <a:prstGeom prst="roundRect">
            <a:avLst>
              <a:gd name="adj" fmla="val 15000"/>
            </a:avLst>
          </a:prstGeom>
          <a:solidFill>
            <a:srgbClr val="17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2870200" y="4495800"/>
            <a:ext cx="736600" cy="635000"/>
          </a:xfrm>
          <a:prstGeom prst="roundRect">
            <a:avLst>
              <a:gd name="adj" fmla="val 15000"/>
            </a:avLst>
          </a:prstGeom>
          <a:solidFill>
            <a:srgbClr val="17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3708400" y="4495800"/>
            <a:ext cx="736600" cy="635000"/>
          </a:xfrm>
          <a:prstGeom prst="roundRect">
            <a:avLst>
              <a:gd name="adj" fmla="val 15000"/>
            </a:avLst>
          </a:prstGeom>
          <a:solidFill>
            <a:srgbClr val="F2B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4546600" y="4495800"/>
            <a:ext cx="736600" cy="635000"/>
          </a:xfrm>
          <a:prstGeom prst="roundRect">
            <a:avLst>
              <a:gd name="adj" fmla="val 15000"/>
            </a:avLst>
          </a:prstGeom>
          <a:solidFill>
            <a:srgbClr val="17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5384800" y="4495800"/>
            <a:ext cx="736600" cy="635000"/>
          </a:xfrm>
          <a:prstGeom prst="roundRect">
            <a:avLst>
              <a:gd name="adj" fmla="val 15000"/>
            </a:avLst>
          </a:prstGeom>
          <a:solidFill>
            <a:srgbClr val="17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6223000" y="4495800"/>
            <a:ext cx="736600" cy="635000"/>
          </a:xfrm>
          <a:prstGeom prst="roundRect">
            <a:avLst>
              <a:gd name="adj" fmla="val 15000"/>
            </a:avLst>
          </a:prstGeom>
          <a:solidFill>
            <a:srgbClr val="17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38200" y="5334000"/>
            <a:ext cx="1143000" cy="63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 u="none">
                <a:solidFill>
                  <a:srgbClr val="FFFFFF"/>
                </a:solidFill>
                <a:latin typeface="Public Sans"/>
              </a:rPr>
              <a:t>Fold 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032000" y="5334000"/>
            <a:ext cx="736600" cy="635000"/>
          </a:xfrm>
          <a:prstGeom prst="roundRect">
            <a:avLst>
              <a:gd name="adj" fmla="val 15000"/>
            </a:avLst>
          </a:prstGeom>
          <a:solidFill>
            <a:srgbClr val="17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2870200" y="5334000"/>
            <a:ext cx="736600" cy="635000"/>
          </a:xfrm>
          <a:prstGeom prst="roundRect">
            <a:avLst>
              <a:gd name="adj" fmla="val 15000"/>
            </a:avLst>
          </a:prstGeom>
          <a:solidFill>
            <a:srgbClr val="17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3708400" y="5334000"/>
            <a:ext cx="736600" cy="635000"/>
          </a:xfrm>
          <a:prstGeom prst="roundRect">
            <a:avLst>
              <a:gd name="adj" fmla="val 15000"/>
            </a:avLst>
          </a:prstGeom>
          <a:solidFill>
            <a:srgbClr val="17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4546600" y="5334000"/>
            <a:ext cx="736600" cy="635000"/>
          </a:xfrm>
          <a:prstGeom prst="roundRect">
            <a:avLst>
              <a:gd name="adj" fmla="val 15000"/>
            </a:avLst>
          </a:prstGeom>
          <a:solidFill>
            <a:srgbClr val="F2B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5384800" y="5334000"/>
            <a:ext cx="736600" cy="635000"/>
          </a:xfrm>
          <a:prstGeom prst="roundRect">
            <a:avLst>
              <a:gd name="adj" fmla="val 15000"/>
            </a:avLst>
          </a:prstGeom>
          <a:solidFill>
            <a:srgbClr val="17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6223000" y="5334000"/>
            <a:ext cx="736600" cy="635000"/>
          </a:xfrm>
          <a:prstGeom prst="roundRect">
            <a:avLst>
              <a:gd name="adj" fmla="val 15000"/>
            </a:avLst>
          </a:prstGeom>
          <a:solidFill>
            <a:srgbClr val="17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38200" y="6172200"/>
            <a:ext cx="1143000" cy="63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 u="none">
                <a:solidFill>
                  <a:srgbClr val="FFFFFF"/>
                </a:solidFill>
                <a:latin typeface="Public Sans"/>
              </a:rPr>
              <a:t>Fold 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032000" y="6172200"/>
            <a:ext cx="736600" cy="635000"/>
          </a:xfrm>
          <a:prstGeom prst="roundRect">
            <a:avLst>
              <a:gd name="adj" fmla="val 15000"/>
            </a:avLst>
          </a:prstGeom>
          <a:solidFill>
            <a:srgbClr val="17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2870200" y="6172200"/>
            <a:ext cx="736600" cy="635000"/>
          </a:xfrm>
          <a:prstGeom prst="roundRect">
            <a:avLst>
              <a:gd name="adj" fmla="val 15000"/>
            </a:avLst>
          </a:prstGeom>
          <a:solidFill>
            <a:srgbClr val="17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3708400" y="6172200"/>
            <a:ext cx="736600" cy="635000"/>
          </a:xfrm>
          <a:prstGeom prst="roundRect">
            <a:avLst>
              <a:gd name="adj" fmla="val 15000"/>
            </a:avLst>
          </a:prstGeom>
          <a:solidFill>
            <a:srgbClr val="17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ounded Rectangle 38"/>
          <p:cNvSpPr/>
          <p:nvPr/>
        </p:nvSpPr>
        <p:spPr>
          <a:xfrm>
            <a:off x="4546600" y="6172200"/>
            <a:ext cx="736600" cy="635000"/>
          </a:xfrm>
          <a:prstGeom prst="roundRect">
            <a:avLst>
              <a:gd name="adj" fmla="val 15000"/>
            </a:avLst>
          </a:prstGeom>
          <a:solidFill>
            <a:srgbClr val="17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ounded Rectangle 39"/>
          <p:cNvSpPr/>
          <p:nvPr/>
        </p:nvSpPr>
        <p:spPr>
          <a:xfrm>
            <a:off x="5384800" y="6172200"/>
            <a:ext cx="736600" cy="635000"/>
          </a:xfrm>
          <a:prstGeom prst="roundRect">
            <a:avLst>
              <a:gd name="adj" fmla="val 15000"/>
            </a:avLst>
          </a:prstGeom>
          <a:solidFill>
            <a:srgbClr val="F2B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ounded Rectangle 40"/>
          <p:cNvSpPr/>
          <p:nvPr/>
        </p:nvSpPr>
        <p:spPr>
          <a:xfrm>
            <a:off x="6223000" y="6172200"/>
            <a:ext cx="736600" cy="635000"/>
          </a:xfrm>
          <a:prstGeom prst="roundRect">
            <a:avLst>
              <a:gd name="adj" fmla="val 15000"/>
            </a:avLst>
          </a:prstGeom>
          <a:solidFill>
            <a:srgbClr val="17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838200" y="7010400"/>
            <a:ext cx="1143000" cy="635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 u="none">
                <a:solidFill>
                  <a:srgbClr val="FFFFFF"/>
                </a:solidFill>
                <a:latin typeface="Public Sans"/>
              </a:rPr>
              <a:t>Fold 6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032000" y="7010400"/>
            <a:ext cx="736600" cy="635000"/>
          </a:xfrm>
          <a:prstGeom prst="roundRect">
            <a:avLst>
              <a:gd name="adj" fmla="val 15000"/>
            </a:avLst>
          </a:prstGeom>
          <a:solidFill>
            <a:srgbClr val="17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ounded Rectangle 43"/>
          <p:cNvSpPr/>
          <p:nvPr/>
        </p:nvSpPr>
        <p:spPr>
          <a:xfrm>
            <a:off x="2870200" y="7010400"/>
            <a:ext cx="736600" cy="635000"/>
          </a:xfrm>
          <a:prstGeom prst="roundRect">
            <a:avLst>
              <a:gd name="adj" fmla="val 15000"/>
            </a:avLst>
          </a:prstGeom>
          <a:solidFill>
            <a:srgbClr val="17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ounded Rectangle 44"/>
          <p:cNvSpPr/>
          <p:nvPr/>
        </p:nvSpPr>
        <p:spPr>
          <a:xfrm>
            <a:off x="3708400" y="7010400"/>
            <a:ext cx="736600" cy="635000"/>
          </a:xfrm>
          <a:prstGeom prst="roundRect">
            <a:avLst>
              <a:gd name="adj" fmla="val 15000"/>
            </a:avLst>
          </a:prstGeom>
          <a:solidFill>
            <a:srgbClr val="17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ounded Rectangle 45"/>
          <p:cNvSpPr/>
          <p:nvPr/>
        </p:nvSpPr>
        <p:spPr>
          <a:xfrm>
            <a:off x="4546600" y="7010400"/>
            <a:ext cx="736600" cy="635000"/>
          </a:xfrm>
          <a:prstGeom prst="roundRect">
            <a:avLst>
              <a:gd name="adj" fmla="val 15000"/>
            </a:avLst>
          </a:prstGeom>
          <a:solidFill>
            <a:srgbClr val="17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ounded Rectangle 46"/>
          <p:cNvSpPr/>
          <p:nvPr/>
        </p:nvSpPr>
        <p:spPr>
          <a:xfrm>
            <a:off x="5384800" y="7010400"/>
            <a:ext cx="736600" cy="635000"/>
          </a:xfrm>
          <a:prstGeom prst="roundRect">
            <a:avLst>
              <a:gd name="adj" fmla="val 15000"/>
            </a:avLst>
          </a:prstGeom>
          <a:solidFill>
            <a:srgbClr val="173A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ounded Rectangle 47"/>
          <p:cNvSpPr/>
          <p:nvPr/>
        </p:nvSpPr>
        <p:spPr>
          <a:xfrm>
            <a:off x="6223000" y="7010400"/>
            <a:ext cx="736600" cy="635000"/>
          </a:xfrm>
          <a:prstGeom prst="roundRect">
            <a:avLst>
              <a:gd name="adj" fmla="val 15000"/>
            </a:avLst>
          </a:prstGeom>
          <a:solidFill>
            <a:srgbClr val="F2B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838200" y="7594600"/>
            <a:ext cx="7112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 u="none">
                <a:solidFill>
                  <a:srgbClr val="DCE3EE"/>
                </a:solidFill>
                <a:latin typeface="Public Sans"/>
              </a:rPr>
              <a:t>Ô </a:t>
            </a:r>
            <a:r>
              <a:rPr sz="1500" b="1" i="0" u="none">
                <a:solidFill>
                  <a:srgbClr val="F2BE3A"/>
                </a:solidFill>
                <a:latin typeface="Public Sans"/>
              </a:rPr>
              <a:t>vàng</a:t>
            </a:r>
            <a:r>
              <a:rPr sz="1500" b="0" i="0" u="none">
                <a:solidFill>
                  <a:srgbClr val="DCE3EE"/>
                </a:solidFill>
                <a:latin typeface="Public Sans"/>
              </a:rPr>
              <a:t> = fold dev (chấm điểm để CHỌN) · ô xanh = huấn luyện</a:t>
            </a:r>
          </a:p>
        </p:txBody>
      </p:sp>
      <p:graphicFrame>
        <p:nvGraphicFramePr>
          <p:cNvPr id="50" name="Table 49"/>
          <p:cNvGraphicFramePr>
            <a:graphicFrameLocks noGrp="1"/>
          </p:cNvGraphicFramePr>
          <p:nvPr/>
        </p:nvGraphicFramePr>
        <p:xfrm>
          <a:off x="8534400" y="2032000"/>
          <a:ext cx="9169400" cy="39624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5207000"/>
                <a:gridCol w="3962400"/>
              </a:tblGrid>
              <a:tr h="660400">
                <a:tc>
                  <a:txBody>
                    <a:bodyPr wrap="square"/>
                    <a:lstStyle/>
                    <a:p>
                      <a:pPr algn="l"/>
                      <a:r>
                        <a:rPr sz="165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Bước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Dữ liệu dùng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</a:tr>
              <a:tr h="660400">
                <a:tc>
                  <a:txBody>
                    <a:bodyPr wrap="square"/>
                    <a:lstStyle/>
                    <a:p>
                      <a:pPr algn="l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Chuẩn hoá RSSI, p(i), khai phá HUIM, chọn WAP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trainingData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  <a:tr h="660400">
                <a:tc>
                  <a:txBody>
                    <a:bodyPr wrap="square"/>
                    <a:lstStyle/>
                    <a:p>
                      <a:pPr algn="l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Chọn siêu tham số k-NN (Version 1)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Chia ngẫu nhiên 75/25 của train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</a:tr>
              <a:tr h="660400">
                <a:tc>
                  <a:txBody>
                    <a:bodyPr wrap="square"/>
                    <a:lstStyle/>
                    <a:p>
                      <a:pPr algn="l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Chọn mô hình định vị (Version 2)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2A4A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6 fold giữ lại người đo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2A4A2A"/>
                    </a:solidFill>
                  </a:tcPr>
                </a:tc>
              </a:tr>
              <a:tr h="660400">
                <a:tc>
                  <a:txBody>
                    <a:bodyPr wrap="square"/>
                    <a:lstStyle/>
                    <a:p>
                      <a:pPr algn="l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Huấn luyện bộ định vị cuối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Toàn bộ trainingData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</a:tr>
              <a:tr h="660400">
                <a:tc>
                  <a:txBody>
                    <a:bodyPr wrap="square"/>
                    <a:lstStyle/>
                    <a:p>
                      <a:pPr algn="l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Đánh giá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validationData, 1 lần / bước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</a:tbl>
          </a:graphicData>
        </a:graphic>
      </p:graphicFrame>
      <p:sp>
        <p:nvSpPr>
          <p:cNvPr id="51" name="TextBox 50"/>
          <p:cNvSpPr txBox="1"/>
          <p:nvPr/>
        </p:nvSpPr>
        <p:spPr>
          <a:xfrm>
            <a:off x="8534400" y="6273800"/>
            <a:ext cx="9169400" cy="355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05740" indent="-205740">
              <a:lnSpc>
                <a:spcPct val="108000"/>
              </a:lnSpc>
              <a:buClr>
                <a:srgbClr val="F2BE3A"/>
              </a:buClr>
              <a:buFont typeface="Public Sans"/>
              <a:buChar char="–"/>
            </a:pPr>
            <a:r>
              <a:rPr sz="1800" b="0" i="0" u="none">
                <a:solidFill>
                  <a:srgbClr val="FFFFFF"/>
                </a:solidFill>
                <a:latin typeface="Public Sans"/>
              </a:rPr>
              <a:t>Tiêu chí chọn: sai số trung bình (m thực địa) trên các fold dev.</a:t>
            </a:r>
          </a:p>
          <a:p>
            <a:pPr algn="l" marL="205740" indent="-205740">
              <a:lnSpc>
                <a:spcPct val="108000"/>
              </a:lnSpc>
              <a:spcBef>
                <a:spcPts val="800"/>
              </a:spcBef>
              <a:buClr>
                <a:srgbClr val="F2BE3A"/>
              </a:buClr>
              <a:buFont typeface="Public Sans"/>
              <a:buChar char="–"/>
            </a:pPr>
            <a:r>
              <a:rPr sz="1800" b="0" i="0" u="none">
                <a:solidFill>
                  <a:srgbClr val="FFFFFF"/>
                </a:solidFill>
                <a:latin typeface="Public Sans"/>
              </a:rPr>
              <a:t>5 bước S0 </a:t>
            </a:r>
            <a:r>
              <a:rPr sz="1800" b="0" i="0" u="none">
                <a:solidFill>
                  <a:srgbClr val="FFFFFF"/>
                </a:solidFill>
                <a:latin typeface="Segoe UI Symbol"/>
              </a:rPr>
              <a:t>→</a:t>
            </a:r>
            <a:r>
              <a:rPr sz="1800" b="0" i="0" u="none">
                <a:solidFill>
                  <a:srgbClr val="FFFFFF"/>
                </a:solidFill>
                <a:latin typeface="Public Sans"/>
              </a:rPr>
              <a:t> S4 nối tiếp; bước sau chỉ được nhận nếu giảm sai số dev ít nhất 0,05 m.</a:t>
            </a:r>
          </a:p>
          <a:p>
            <a:pPr algn="l" marL="205740" indent="-205740">
              <a:lnSpc>
                <a:spcPct val="108000"/>
              </a:lnSpc>
              <a:spcBef>
                <a:spcPts val="800"/>
              </a:spcBef>
              <a:buClr>
                <a:srgbClr val="F2BE3A"/>
              </a:buClr>
              <a:buFont typeface="Public Sans"/>
              <a:buChar char="–"/>
            </a:pPr>
            <a:r>
              <a:rPr sz="1800" b="0" i="0" u="none">
                <a:solidFill>
                  <a:srgbClr val="FFFFFF"/>
                </a:solidFill>
                <a:latin typeface="Public Sans"/>
              </a:rPr>
              <a:t>validationData chỉ chấm điểm mỗi bước một lần, SAU khi lựa chọn đã xong.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4200" y="8382000"/>
            <a:ext cx="762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0" i="0" u="none">
                <a:solidFill>
                  <a:srgbClr val="DCE3EE"/>
                </a:solidFill>
                <a:latin typeface="Public Sans"/>
              </a:rPr>
              <a:t>Leave-users-out mô phỏng đúng tình huống kiểm định: người đo / thiết bị mới, chưa từng có trong dữ liệu huấn luyện.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6891000" y="99314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50" b="0" i="0" u="none">
                <a:solidFill>
                  <a:srgbClr val="A9B8CC"/>
                </a:solidFill>
                <a:latin typeface="Public Sans"/>
              </a:rPr>
              <a:t>26 / 38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4200" y="457200"/>
            <a:ext cx="171450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000" b="1" i="0" u="none">
                <a:solidFill>
                  <a:srgbClr val="FFFFFF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Các cải tiến của Version 2 — </a:t>
            </a:r>
            <a:r>
              <a:rPr sz="5000" b="1" i="0" u="none">
                <a:solidFill>
                  <a:srgbClr val="F2BE3A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công thức và nguồn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4200" y="1422400"/>
            <a:ext cx="8432800" cy="3810000"/>
          </a:xfrm>
          <a:prstGeom prst="roundRect">
            <a:avLst>
              <a:gd name="adj" fmla="val 5000"/>
            </a:avLst>
          </a:prstGeom>
          <a:solidFill>
            <a:srgbClr val="0D2645"/>
          </a:solidFill>
          <a:ln w="15875">
            <a:solidFill>
              <a:srgbClr val="3A5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63600" y="1625600"/>
            <a:ext cx="787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 u="none">
                <a:solidFill>
                  <a:srgbClr val="F2BE3A"/>
                </a:solidFill>
                <a:latin typeface="Public Sans"/>
              </a:rPr>
              <a:t>1 · Biểu diễn tín hiệu (RSSI phát hiện được)</a:t>
            </a:r>
          </a:p>
        </p:txBody>
      </p:sp>
      <p:pic>
        <p:nvPicPr>
          <p:cNvPr id="6" name="Picture 5" descr="formula_0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0504" y="2159000"/>
            <a:ext cx="3060192" cy="713232"/>
          </a:xfrm>
          <a:prstGeom prst="rect">
            <a:avLst/>
          </a:prstGeom>
        </p:spPr>
      </p:pic>
      <p:pic>
        <p:nvPicPr>
          <p:cNvPr id="7" name="Picture 6" descr="formula_0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2136" y="2973832"/>
            <a:ext cx="4376928" cy="76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3600" y="3888231"/>
            <a:ext cx="7874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50" b="0" i="0" u="none">
                <a:solidFill>
                  <a:srgbClr val="DCE3EE"/>
                </a:solidFill>
                <a:latin typeface="Public Sans"/>
              </a:rPr>
              <a:t>Lưới: positive, powed, exponential; chọn exponential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3600" y="4673600"/>
            <a:ext cx="7874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 u="none">
                <a:solidFill>
                  <a:srgbClr val="A9B8CC"/>
                </a:solidFill>
                <a:latin typeface="Public Sans"/>
              </a:rPr>
              <a:t>Nguồn:</a:t>
            </a:r>
            <a:r>
              <a:rPr sz="1400" b="0" i="1" u="none">
                <a:solidFill>
                  <a:srgbClr val="A9B8CC"/>
                </a:solidFill>
                <a:latin typeface="Public Sans"/>
              </a:rPr>
              <a:t> Torres-Sospedra et al., ESWA 2015 [9]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71000" y="1422400"/>
            <a:ext cx="8432800" cy="3810000"/>
          </a:xfrm>
          <a:prstGeom prst="roundRect">
            <a:avLst>
              <a:gd name="adj" fmla="val 5000"/>
            </a:avLst>
          </a:prstGeom>
          <a:solidFill>
            <a:srgbClr val="0D2645"/>
          </a:solidFill>
          <a:ln w="15875">
            <a:solidFill>
              <a:srgbClr val="3A5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50400" y="1625600"/>
            <a:ext cx="787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 u="none">
                <a:solidFill>
                  <a:srgbClr val="F2BE3A"/>
                </a:solidFill>
                <a:latin typeface="Public Sans"/>
              </a:rPr>
              <a:t>2 · Khoảng cách Bray–Curtis</a:t>
            </a:r>
          </a:p>
        </p:txBody>
      </p:sp>
      <p:pic>
        <p:nvPicPr>
          <p:cNvPr id="12" name="Picture 11" descr="formula_02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99976" y="2159000"/>
            <a:ext cx="2974848" cy="140512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550400" y="3716528"/>
            <a:ext cx="7874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50" b="0" i="0" u="none">
                <a:solidFill>
                  <a:srgbClr val="DCE3EE"/>
                </a:solidFill>
                <a:latin typeface="Public Sans"/>
              </a:rPr>
              <a:t>Lưới: euclidean, manhattan, braycurtis, cosine; chuẩn hoá theo tổng cường độ của hai vector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50400" y="4673600"/>
            <a:ext cx="7874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 u="none">
                <a:solidFill>
                  <a:srgbClr val="A9B8CC"/>
                </a:solidFill>
                <a:latin typeface="Public Sans"/>
              </a:rPr>
              <a:t>Nguồn:</a:t>
            </a:r>
            <a:r>
              <a:rPr sz="1400" b="0" i="1" u="none">
                <a:solidFill>
                  <a:srgbClr val="A9B8CC"/>
                </a:solidFill>
                <a:latin typeface="Public Sans"/>
              </a:rPr>
              <a:t> Bray &amp; Curtis, Ecol. Monogr. 1957 [17]; dùng cho vân tay Wi-Fi — Torres-Sospedra et al., ESWA 2015 [9]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4200" y="5435600"/>
            <a:ext cx="8432800" cy="3810000"/>
          </a:xfrm>
          <a:prstGeom prst="roundRect">
            <a:avLst>
              <a:gd name="adj" fmla="val 5000"/>
            </a:avLst>
          </a:prstGeom>
          <a:solidFill>
            <a:srgbClr val="0D2645"/>
          </a:solidFill>
          <a:ln w="15875">
            <a:solidFill>
              <a:srgbClr val="3A5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63600" y="5638800"/>
            <a:ext cx="787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 u="none">
                <a:solidFill>
                  <a:srgbClr val="F2BE3A"/>
                </a:solidFill>
                <a:latin typeface="Public Sans"/>
              </a:rPr>
              <a:t>3 · k-NN có trọng số nghịch đảo khoảng cách</a:t>
            </a:r>
          </a:p>
        </p:txBody>
      </p:sp>
      <p:pic>
        <p:nvPicPr>
          <p:cNvPr id="17" name="Picture 16" descr="formula_02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19628" y="6172200"/>
            <a:ext cx="3361944" cy="169773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63600" y="8022336"/>
            <a:ext cx="7874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50" b="0" i="0" u="none">
                <a:solidFill>
                  <a:srgbClr val="DCE3EE"/>
                </a:solidFill>
                <a:latin typeface="Public Sans"/>
              </a:rPr>
              <a:t>k từ 1 đến 30, p từ 0 đến 4; chọn k = 12, p =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3600" y="8686800"/>
            <a:ext cx="7874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 u="none">
                <a:solidFill>
                  <a:srgbClr val="A9B8CC"/>
                </a:solidFill>
                <a:latin typeface="Public Sans"/>
              </a:rPr>
              <a:t>Nguồn:</a:t>
            </a:r>
            <a:r>
              <a:rPr sz="1400" b="0" i="1" u="none">
                <a:solidFill>
                  <a:srgbClr val="A9B8CC"/>
                </a:solidFill>
                <a:latin typeface="Public Sans"/>
              </a:rPr>
              <a:t> k-NN trong không gian tín hiệu — Bahl &amp; Padmanabhan, INFOCOM 2000 [18]; trọng số nghịch đảo khoảng cách mũ p — Shepard, ACM Nat. Conf. 1968 [19]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71000" y="5435600"/>
            <a:ext cx="8432800" cy="3810000"/>
          </a:xfrm>
          <a:prstGeom prst="roundRect">
            <a:avLst>
              <a:gd name="adj" fmla="val 5000"/>
            </a:avLst>
          </a:prstGeom>
          <a:solidFill>
            <a:srgbClr val="0D2645"/>
          </a:solidFill>
          <a:ln w="15875">
            <a:solidFill>
              <a:srgbClr val="3A5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550400" y="5638800"/>
            <a:ext cx="7874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1" i="0" u="none">
                <a:solidFill>
                  <a:srgbClr val="F2BE3A"/>
                </a:solidFill>
                <a:latin typeface="Public Sans"/>
              </a:rPr>
              <a:t>4 · Dò lệch thiết bị và ensemble</a:t>
            </a:r>
          </a:p>
        </p:txBody>
      </p:sp>
      <p:pic>
        <p:nvPicPr>
          <p:cNvPr id="22" name="Picture 21" descr="formula_02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719560" y="6172200"/>
            <a:ext cx="3535679" cy="563880"/>
          </a:xfrm>
          <a:prstGeom prst="rect">
            <a:avLst/>
          </a:prstGeom>
        </p:spPr>
      </p:pic>
      <p:pic>
        <p:nvPicPr>
          <p:cNvPr id="23" name="Picture 22" descr="formula_02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455652" y="6837680"/>
            <a:ext cx="2063495" cy="4267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550400" y="7416800"/>
            <a:ext cx="7874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50" b="0" i="0" u="none">
                <a:solidFill>
                  <a:srgbClr val="DCE3EE"/>
                </a:solidFill>
                <a:latin typeface="Segoe UI Symbol"/>
              </a:rPr>
              <a:t>δ</a:t>
            </a:r>
            <a:r>
              <a:rPr sz="1650" b="0" i="0" u="none">
                <a:solidFill>
                  <a:srgbClr val="DCE3EE"/>
                </a:solidFill>
                <a:latin typeface="Public Sans"/>
              </a:rPr>
              <a:t> </a:t>
            </a:r>
            <a:r>
              <a:rPr sz="1650" b="0" i="0" u="none">
                <a:solidFill>
                  <a:srgbClr val="DCE3EE"/>
                </a:solidFill>
                <a:latin typeface="Segoe UI Symbol"/>
              </a:rPr>
              <a:t>∈</a:t>
            </a:r>
            <a:r>
              <a:rPr sz="1650" b="0" i="0" u="none">
                <a:solidFill>
                  <a:srgbClr val="DCE3EE"/>
                </a:solidFill>
                <a:latin typeface="Public Sans"/>
              </a:rPr>
              <a:t> {−6, …, +6} dB, bước 3 dB; chỉ dùng tín hiệu của chính truy vấn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50400" y="8686800"/>
            <a:ext cx="7874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 u="none">
                <a:solidFill>
                  <a:srgbClr val="A9B8CC"/>
                </a:solidFill>
                <a:latin typeface="Public Sans"/>
              </a:rPr>
              <a:t>Nguồn:</a:t>
            </a:r>
            <a:r>
              <a:rPr sz="1400" b="0" i="1" u="none">
                <a:solidFill>
                  <a:srgbClr val="A9B8CC"/>
                </a:solidFill>
                <a:latin typeface="Public Sans"/>
              </a:rPr>
              <a:t> thiết kế của bài tìm hiểu — chưa đối chiếu tài liệu về hiệu chỉnh lệch thiết bị [CẦN BỔ SUNG NGUỒN]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9448800"/>
            <a:ext cx="17145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0" i="0" u="none">
                <a:solidFill>
                  <a:srgbClr val="DCE3EE"/>
                </a:solidFill>
                <a:latin typeface="Public Sans"/>
              </a:rPr>
              <a:t>Phá hoà tất định: láng giềng sắp theo (khoảng cách, chỉ số dòng) — kết quả không phụ thuộc cách thư viện xử lý hoà.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891000" y="99314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50" b="0" i="0" u="none">
                <a:solidFill>
                  <a:srgbClr val="A9B8CC"/>
                </a:solidFill>
                <a:latin typeface="Public Sans"/>
              </a:rPr>
              <a:t>27 / 38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4200" y="457200"/>
            <a:ext cx="171450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600" b="1" i="0" u="none">
                <a:solidFill>
                  <a:srgbClr val="FFFFFF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Kết quả từng bước </a:t>
            </a:r>
            <a:r>
              <a:rPr sz="5600" b="1" i="0" u="none">
                <a:solidFill>
                  <a:srgbClr val="F2BE3A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S0 </a:t>
            </a:r>
            <a:r>
              <a:rPr sz="5600" b="1" i="0" u="none">
                <a:solidFill>
                  <a:srgbClr val="F2BE3A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Segoe UI Symbol"/>
              </a:rPr>
              <a:t>→</a:t>
            </a:r>
            <a:r>
              <a:rPr sz="5600" b="1" i="0" u="none">
                <a:solidFill>
                  <a:srgbClr val="F2BE3A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 S4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4200" y="1651000"/>
            <a:ext cx="10668000" cy="7874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d08_v2_stag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200" y="1874372"/>
            <a:ext cx="10414000" cy="7427255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1506200" y="1651000"/>
          <a:ext cx="6477000" cy="33528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016000"/>
                <a:gridCol w="1270000"/>
                <a:gridCol w="1270000"/>
                <a:gridCol w="1524000"/>
                <a:gridCol w="1397000"/>
              </a:tblGrid>
              <a:tr h="558800">
                <a:tc>
                  <a:txBody>
                    <a:bodyPr wrap="square"/>
                    <a:lstStyle/>
                    <a:p>
                      <a:pPr algn="l"/>
                      <a:r>
                        <a:rPr sz="165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Bước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Dev TB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KĐ TB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KĐ trung vị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Joint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</a:tr>
              <a:tr h="558800">
                <a:tc>
                  <a:txBody>
                    <a:bodyPr wrap="square"/>
                    <a:lstStyle/>
                    <a:p>
                      <a:pPr algn="l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S0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12,31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9,28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4,61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87,76%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  <a:tr h="558800">
                <a:tc>
                  <a:txBody>
                    <a:bodyPr wrap="square"/>
                    <a:lstStyle/>
                    <a:p>
                      <a:pPr algn="l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S1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7,60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6,66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4,61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92,17%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</a:tr>
              <a:tr h="558800">
                <a:tc>
                  <a:txBody>
                    <a:bodyPr wrap="square"/>
                    <a:lstStyle/>
                    <a:p>
                      <a:pPr algn="l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S2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6,76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5,30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3,39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93,70%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  <a:tr h="558800">
                <a:tc>
                  <a:txBody>
                    <a:bodyPr wrap="square"/>
                    <a:lstStyle/>
                    <a:p>
                      <a:pPr algn="l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S3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6,33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5,31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3,49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94,69%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</a:tr>
              <a:tr h="558800">
                <a:tc>
                  <a:txBody>
                    <a:bodyPr wrap="square"/>
                    <a:lstStyle/>
                    <a:p>
                      <a:pPr algn="l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S4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5A48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6,21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5A48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5,36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5A48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3,52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5A481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94,69%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5A4814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506200" y="5080000"/>
            <a:ext cx="635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 i="1" u="none">
                <a:solidFill>
                  <a:srgbClr val="A9B8CC"/>
                </a:solidFill>
                <a:latin typeface="Public Sans"/>
              </a:rPr>
              <a:t>m thực địa · KĐ = validationData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06200" y="5562600"/>
            <a:ext cx="6223000" cy="419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94310" indent="-194310">
              <a:lnSpc>
                <a:spcPct val="106000"/>
              </a:lnSpc>
              <a:buClr>
                <a:srgbClr val="F2BE3A"/>
              </a:buClr>
              <a:buFont typeface="Public Sans"/>
              <a:buChar char="–"/>
            </a:pPr>
            <a:r>
              <a:rPr sz="1700" b="0" i="0" u="none">
                <a:solidFill>
                  <a:srgbClr val="FFFFFF"/>
                </a:solidFill>
                <a:latin typeface="Public Sans"/>
              </a:rPr>
              <a:t>Phần lớn mức giảm đến từ S1–S2 (khoảng cách + k láng giềng có trọng số).</a:t>
            </a:r>
          </a:p>
          <a:p>
            <a:pPr algn="l" marL="194310" indent="-194310">
              <a:lnSpc>
                <a:spcPct val="106000"/>
              </a:lnSpc>
              <a:spcBef>
                <a:spcPts val="800"/>
              </a:spcBef>
              <a:buClr>
                <a:srgbClr val="F2BE3A"/>
              </a:buClr>
              <a:buFont typeface="Public Sans"/>
              <a:buChar char="–"/>
            </a:pPr>
            <a:r>
              <a:rPr sz="1700" b="1" i="0" u="none">
                <a:solidFill>
                  <a:srgbClr val="F2BE3A"/>
                </a:solidFill>
                <a:latin typeface="Public Sans"/>
              </a:rPr>
              <a:t>Trung thực:</a:t>
            </a:r>
            <a:r>
              <a:rPr sz="1700" b="0" i="0" u="none">
                <a:solidFill>
                  <a:srgbClr val="FFFFFF"/>
                </a:solidFill>
                <a:latin typeface="Public Sans"/>
              </a:rPr>
              <a:t> S2 có sai số KĐ thấp nhất (5,30 m), thấp hơn S4 (5,36 m). Giao thức chọn S4 trên dev nên giữ S4; chọn lại theo số KĐ là dùng tập kiểm tra để chọn mô hình.</a:t>
            </a:r>
          </a:p>
          <a:p>
            <a:pPr algn="l" marL="194310" indent="-194310">
              <a:lnSpc>
                <a:spcPct val="106000"/>
              </a:lnSpc>
              <a:spcBef>
                <a:spcPts val="800"/>
              </a:spcBef>
              <a:buClr>
                <a:srgbClr val="F2BE3A"/>
              </a:buClr>
              <a:buFont typeface="Public Sans"/>
              <a:buChar char="–"/>
            </a:pPr>
            <a:r>
              <a:rPr sz="1700" b="0" i="0" u="none">
                <a:solidFill>
                  <a:srgbClr val="FFFFFF"/>
                </a:solidFill>
                <a:latin typeface="Public Sans"/>
              </a:rPr>
              <a:t>Dò lệch và ensemble chủ yếu nâng độ chính xác tầng.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891000" y="99314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50" b="0" i="0" u="none">
                <a:solidFill>
                  <a:srgbClr val="A9B8CC"/>
                </a:solidFill>
                <a:latin typeface="Public Sans"/>
              </a:rPr>
              <a:t>28 / 38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4200" y="457200"/>
            <a:ext cx="171450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000" b="1" i="0" u="none">
                <a:solidFill>
                  <a:srgbClr val="FFFFFF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Phân bố sai số: </a:t>
            </a:r>
            <a:r>
              <a:rPr sz="5000" b="1" i="0" u="none">
                <a:solidFill>
                  <a:srgbClr val="F2BE3A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Version 1</a:t>
            </a:r>
            <a:r>
              <a:rPr sz="5000" b="1" i="0" u="none">
                <a:solidFill>
                  <a:srgbClr val="FFFFFF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 so với </a:t>
            </a:r>
            <a:r>
              <a:rPr sz="5000" b="1" i="0" u="none">
                <a:solidFill>
                  <a:srgbClr val="F2BE3A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Version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4200" y="1524000"/>
            <a:ext cx="10414000" cy="7366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d09_v1_v2_error_cd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200" y="1684338"/>
            <a:ext cx="10160000" cy="7045323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1303000" y="1524000"/>
          <a:ext cx="6223000" cy="4826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413000"/>
                <a:gridCol w="1905000"/>
                <a:gridCol w="1905000"/>
              </a:tblGrid>
              <a:tr h="482600">
                <a:tc>
                  <a:txBody>
                    <a:bodyPr wrap="square"/>
                    <a:lstStyle/>
                    <a:p>
                      <a:pPr algn="l"/>
                      <a:r>
                        <a:rPr sz="165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m thực địa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V1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V2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</a:tr>
              <a:tr h="482600">
                <a:tc>
                  <a:txBody>
                    <a:bodyPr wrap="square"/>
                    <a:lstStyle/>
                    <a:p>
                      <a:pPr algn="l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Trung bình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9,28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5,36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  <a:tr h="482600">
                <a:tc>
                  <a:txBody>
                    <a:bodyPr wrap="square"/>
                    <a:lstStyle/>
                    <a:p>
                      <a:pPr algn="l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P25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1,48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1,70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</a:tr>
              <a:tr h="482600">
                <a:tc>
                  <a:txBody>
                    <a:bodyPr wrap="square"/>
                    <a:lstStyle/>
                    <a:p>
                      <a:pPr algn="l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Trung vị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4,61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3,52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  <a:tr h="482600">
                <a:tc>
                  <a:txBody>
                    <a:bodyPr wrap="square"/>
                    <a:lstStyle/>
                    <a:p>
                      <a:pPr algn="l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P75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9,39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6,90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</a:tr>
              <a:tr h="482600">
                <a:tc>
                  <a:txBody>
                    <a:bodyPr wrap="square"/>
                    <a:lstStyle/>
                    <a:p>
                      <a:pPr algn="l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P90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17,02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11,89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  <a:tr h="482600">
                <a:tc>
                  <a:txBody>
                    <a:bodyPr wrap="square"/>
                    <a:lstStyle/>
                    <a:p>
                      <a:pPr algn="l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P95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27,81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16,09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</a:tr>
              <a:tr h="482600">
                <a:tc>
                  <a:txBody>
                    <a:bodyPr wrap="square"/>
                    <a:lstStyle/>
                    <a:p>
                      <a:pPr algn="l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Lớn nhất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282,82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59,18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  <a:tr h="482600">
                <a:tc>
                  <a:txBody>
                    <a:bodyPr wrap="square"/>
                    <a:lstStyle/>
                    <a:p>
                      <a:pPr algn="l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≤ 5 m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53,3%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63,5%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</a:tr>
              <a:tr h="482600">
                <a:tc>
                  <a:txBody>
                    <a:bodyPr wrap="square"/>
                    <a:lstStyle/>
                    <a:p>
                      <a:pPr algn="l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≤ 8 m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69,5%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5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80,5%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11303000" y="6604000"/>
            <a:ext cx="6400800" cy="3175000"/>
          </a:xfrm>
          <a:prstGeom prst="roundRect">
            <a:avLst>
              <a:gd name="adj" fmla="val 5000"/>
            </a:avLst>
          </a:prstGeom>
          <a:solidFill>
            <a:srgbClr val="0D2645"/>
          </a:solidFill>
          <a:ln w="15875">
            <a:solidFill>
              <a:srgbClr val="3A5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1557000" y="6756400"/>
            <a:ext cx="5969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1" i="0" u="none">
                <a:solidFill>
                  <a:srgbClr val="F2BE3A"/>
                </a:solidFill>
                <a:latin typeface="Public Sans"/>
              </a:rPr>
              <a:t>Bootstrap 10.000 lần (khoảng tin cậy 95%)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57000" y="7213600"/>
            <a:ext cx="5969000" cy="215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8595" indent="-188595">
              <a:lnSpc>
                <a:spcPct val="105000"/>
              </a:lnSpc>
              <a:buClr>
                <a:srgbClr val="F2BE3A"/>
              </a:buClr>
              <a:buFont typeface="Public Sans"/>
              <a:buChar char="–"/>
            </a:pPr>
            <a:r>
              <a:rPr sz="1650" b="0" i="0" u="none">
                <a:solidFill>
                  <a:srgbClr val="FFFFFF"/>
                </a:solidFill>
                <a:latin typeface="Public Sans"/>
              </a:rPr>
              <a:t>TB V2: 5,36 m (5,02–5,71)</a:t>
            </a:r>
          </a:p>
          <a:p>
            <a:pPr algn="l" marL="188595" indent="-188595">
              <a:lnSpc>
                <a:spcPct val="105000"/>
              </a:lnSpc>
              <a:spcBef>
                <a:spcPts val="400"/>
              </a:spcBef>
              <a:buClr>
                <a:srgbClr val="F2BE3A"/>
              </a:buClr>
              <a:buFont typeface="Public Sans"/>
              <a:buChar char="–"/>
            </a:pPr>
            <a:r>
              <a:rPr sz="1650" b="0" i="0" u="none">
                <a:solidFill>
                  <a:srgbClr val="FFFFFF"/>
                </a:solidFill>
                <a:latin typeface="Public Sans"/>
              </a:rPr>
              <a:t>TB V1: 9,28 m (8,01–10,72)</a:t>
            </a:r>
          </a:p>
          <a:p>
            <a:pPr algn="l" marL="188595" indent="-188595">
              <a:lnSpc>
                <a:spcPct val="105000"/>
              </a:lnSpc>
              <a:spcBef>
                <a:spcPts val="400"/>
              </a:spcBef>
              <a:buClr>
                <a:srgbClr val="F2BE3A"/>
              </a:buClr>
              <a:buFont typeface="Public Sans"/>
              <a:buChar char="–"/>
            </a:pPr>
            <a:r>
              <a:rPr sz="1650" b="0" i="0" u="none">
                <a:solidFill>
                  <a:srgbClr val="FFFFFF"/>
                </a:solidFill>
                <a:latin typeface="Public Sans"/>
              </a:rPr>
              <a:t>Giảm ghép cặp: 3,92 m (2,74–5,30)</a:t>
            </a:r>
          </a:p>
          <a:p>
            <a:pPr algn="l" marL="188595" indent="-188595">
              <a:lnSpc>
                <a:spcPct val="105000"/>
              </a:lnSpc>
              <a:spcBef>
                <a:spcPts val="400"/>
              </a:spcBef>
              <a:buClr>
                <a:srgbClr val="F2BE3A"/>
              </a:buClr>
              <a:buFont typeface="Public Sans"/>
              <a:buChar char="–"/>
            </a:pPr>
            <a:r>
              <a:rPr sz="1650" b="0" i="0" u="none">
                <a:solidFill>
                  <a:srgbClr val="FFFFFF"/>
                </a:solidFill>
                <a:latin typeface="Public Sans"/>
              </a:rPr>
              <a:t>V2 sai ít hơn trên 60,4% fingerprint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57000" y="9321800"/>
            <a:ext cx="5969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1" u="none">
                <a:solidFill>
                  <a:srgbClr val="A9B8CC"/>
                </a:solidFill>
                <a:latin typeface="Public Sans"/>
              </a:rPr>
              <a:t>Nguồn:</a:t>
            </a:r>
            <a:r>
              <a:rPr sz="1350" b="0" i="1" u="none">
                <a:solidFill>
                  <a:srgbClr val="A9B8CC"/>
                </a:solidFill>
                <a:latin typeface="Public Sans"/>
              </a:rPr>
              <a:t> Efron, Ann. Statist. 1979 [20]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4200" y="9042400"/>
            <a:ext cx="10414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700" b="0" i="0" u="none">
                <a:solidFill>
                  <a:srgbClr val="DCE3EE"/>
                </a:solidFill>
                <a:latin typeface="Public Sans"/>
              </a:rPr>
              <a:t>Version 2 dịch cả phân bố sai số sang trái — không chỉ trung bình mà cả đuôi (P90, P95, sai số lớn nhất).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891000" y="99314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50" b="0" i="0" u="none">
                <a:solidFill>
                  <a:srgbClr val="A9B8CC"/>
                </a:solidFill>
                <a:latin typeface="Public Sans"/>
              </a:rPr>
              <a:t>29 / 38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4200" y="457200"/>
            <a:ext cx="17145000" cy="9258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400" b="1" i="0" u="none">
                <a:solidFill>
                  <a:srgbClr val="FFFFFF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Version 2 trên các </a:t>
            </a:r>
            <a:r>
              <a:rPr sz="5400" b="1" i="0" u="none">
                <a:solidFill>
                  <a:srgbClr val="F2BE3A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tập WAP của HUIM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4200" y="1587500"/>
            <a:ext cx="11684000" cy="8128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d10_v2_by_wap_s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200" y="1843065"/>
            <a:ext cx="11430000" cy="761686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573000" y="1714500"/>
            <a:ext cx="5207000" cy="787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11455" indent="-211455">
              <a:lnSpc>
                <a:spcPct val="108000"/>
              </a:lnSpc>
              <a:buClr>
                <a:srgbClr val="F2BE3A"/>
              </a:buClr>
              <a:buFont typeface="Public Sans"/>
              <a:buChar char="–"/>
            </a:pPr>
            <a:r>
              <a:rPr sz="1850" b="0" i="0" u="none">
                <a:solidFill>
                  <a:srgbClr val="FFFFFF"/>
                </a:solidFill>
                <a:latin typeface="Public Sans"/>
              </a:rPr>
              <a:t>Version 2 giảm sai số với MỌI tập WAP.</a:t>
            </a:r>
          </a:p>
          <a:p>
            <a:pPr algn="l" marL="211455" indent="-211455">
              <a:lnSpc>
                <a:spcPct val="108000"/>
              </a:lnSpc>
              <a:spcBef>
                <a:spcPts val="1200"/>
              </a:spcBef>
              <a:buClr>
                <a:srgbClr val="F2BE3A"/>
              </a:buClr>
              <a:buFont typeface="Public Sans"/>
              <a:buChar char="–"/>
            </a:pPr>
            <a:r>
              <a:rPr sz="1850" b="0" i="0" u="none">
                <a:solidFill>
                  <a:srgbClr val="FFFFFF"/>
                </a:solidFill>
                <a:latin typeface="Public Sans"/>
              </a:rPr>
              <a:t>Nhưng tập HUIM vẫn trên 17 m — xa dải 7–8 m.</a:t>
            </a:r>
          </a:p>
          <a:p>
            <a:pPr algn="l" marL="211455" indent="-211455">
              <a:lnSpc>
                <a:spcPct val="108000"/>
              </a:lnSpc>
              <a:spcBef>
                <a:spcPts val="1200"/>
              </a:spcBef>
              <a:buClr>
                <a:srgbClr val="F2BE3A"/>
              </a:buClr>
              <a:buFont typeface="Public Sans"/>
              <a:buChar char="–"/>
            </a:pPr>
            <a:r>
              <a:rPr sz="1850" b="0" i="0" u="none">
                <a:solidFill>
                  <a:srgbClr val="FFFFFF"/>
                </a:solidFill>
                <a:latin typeface="Public Sans"/>
              </a:rPr>
              <a:t>Cùng 91 WAP: HUIM union C 19,14 </a:t>
            </a:r>
            <a:r>
              <a:rPr sz="1850" b="0" i="0" u="none">
                <a:solidFill>
                  <a:srgbClr val="FFFFFF"/>
                </a:solidFill>
                <a:latin typeface="Segoe UI Symbol"/>
              </a:rPr>
              <a:t>→</a:t>
            </a:r>
            <a:r>
              <a:rPr sz="1850" b="0" i="0" u="none">
                <a:solidFill>
                  <a:srgbClr val="FFFFFF"/>
                </a:solidFill>
                <a:latin typeface="Public Sans"/>
              </a:rPr>
              <a:t> 17,49 m, top-n theo MI 18,54 </a:t>
            </a:r>
            <a:r>
              <a:rPr sz="1850" b="0" i="0" u="none">
                <a:solidFill>
                  <a:srgbClr val="FFFFFF"/>
                </a:solidFill>
                <a:latin typeface="Segoe UI Symbol"/>
              </a:rPr>
              <a:t>→</a:t>
            </a:r>
            <a:r>
              <a:rPr sz="1850" b="0" i="0" u="none">
                <a:solidFill>
                  <a:srgbClr val="FFFFFF"/>
                </a:solidFill>
                <a:latin typeface="Public Sans"/>
              </a:rPr>
              <a:t> </a:t>
            </a:r>
            <a:r>
              <a:rPr sz="1850" b="1" i="0" u="none">
                <a:solidFill>
                  <a:srgbClr val="F2BE3A"/>
                </a:solidFill>
                <a:latin typeface="Public Sans"/>
              </a:rPr>
              <a:t>14,73 m</a:t>
            </a:r>
            <a:r>
              <a:rPr sz="1850" b="0" i="0" u="none">
                <a:solidFill>
                  <a:srgbClr val="FFFFFF"/>
                </a:solidFill>
                <a:latin typeface="Public Sans"/>
              </a:rPr>
              <a:t>.</a:t>
            </a:r>
          </a:p>
          <a:p>
            <a:pPr algn="l" marL="211455" indent="-211455">
              <a:lnSpc>
                <a:spcPct val="108000"/>
              </a:lnSpc>
              <a:spcBef>
                <a:spcPts val="1200"/>
              </a:spcBef>
              <a:buClr>
                <a:srgbClr val="F2BE3A"/>
              </a:buClr>
              <a:buFont typeface="Public Sans"/>
              <a:buChar char="–"/>
            </a:pPr>
            <a:r>
              <a:rPr sz="1850" b="1" i="0" u="none">
                <a:solidFill>
                  <a:srgbClr val="F2BE3A"/>
                </a:solidFill>
                <a:latin typeface="Public Sans"/>
              </a:rPr>
              <a:t>Kết luận RQ2 của Version 1 không đổi:</a:t>
            </a:r>
            <a:r>
              <a:rPr sz="1850" b="0" i="0" u="none">
                <a:solidFill>
                  <a:srgbClr val="FFFFFF"/>
                </a:solidFill>
                <a:latin typeface="Public Sans"/>
              </a:rPr>
              <a:t> đối chứng đơn giản vẫn chọn WAP tốt hơn HUIM. Cải thiện của V2 đến từ bộ ước lượng toạ độ, không từ HUIM.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891000" y="99314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50" b="0" i="0" u="none">
                <a:solidFill>
                  <a:srgbClr val="A9B8CC"/>
                </a:solidFill>
                <a:latin typeface="Public Sans"/>
              </a:rPr>
              <a:t>30 / 38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4200" y="457200"/>
            <a:ext cx="17145000" cy="8915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200" b="1" i="0" u="none">
                <a:solidFill>
                  <a:srgbClr val="FFFFFF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So sánh </a:t>
            </a:r>
            <a:r>
              <a:rPr sz="5200" b="1" i="0" u="none">
                <a:solidFill>
                  <a:srgbClr val="F2BE3A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Version 1</a:t>
            </a:r>
            <a:r>
              <a:rPr sz="5200" b="1" i="0" u="none">
                <a:solidFill>
                  <a:srgbClr val="FFFFFF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 và </a:t>
            </a:r>
            <a:r>
              <a:rPr sz="5200" b="1" i="0" u="none">
                <a:solidFill>
                  <a:srgbClr val="F2BE3A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Version 2</a:t>
            </a:r>
            <a:r>
              <a:rPr sz="5200" b="1" i="0" u="none">
                <a:solidFill>
                  <a:srgbClr val="FFFFFF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: số liệu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4200" y="1498600"/>
          <a:ext cx="17119600" cy="7620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747000"/>
                <a:gridCol w="2921000"/>
                <a:gridCol w="2921000"/>
                <a:gridCol w="3530600"/>
              </a:tblGrid>
              <a:tr h="635000">
                <a:tc>
                  <a:txBody>
                    <a:bodyPr wrap="square"/>
                    <a:lstStyle/>
                    <a:p>
                      <a:pPr algn="l"/>
                      <a:r>
                        <a:rPr sz="180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Chỉ số (validationData)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Version 1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Version 2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Thay đổi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</a:tr>
              <a:tr h="635000"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Sai số trung bình (m thực địa)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9,28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5,36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i="0" u="none">
                          <a:solidFill>
                            <a:srgbClr val="5FC98B"/>
                          </a:solidFill>
                          <a:latin typeface="Public Sans"/>
                        </a:rPr>
                        <a:t>−3,92 m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  <a:tr h="635000"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Sai số trung vị (m thực địa)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4,61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3,52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i="0" u="none">
                          <a:solidFill>
                            <a:srgbClr val="5FC98B"/>
                          </a:solidFill>
                          <a:latin typeface="Public Sans"/>
                        </a:rPr>
                        <a:t>−1,09 m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</a:tr>
              <a:tr h="635000"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Phân vị 90 (m thực địa)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17,02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11,89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i="0" u="none">
                          <a:solidFill>
                            <a:srgbClr val="5FC98B"/>
                          </a:solidFill>
                          <a:latin typeface="Public Sans"/>
                        </a:rPr>
                        <a:t>−5,13 m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  <a:tr h="635000"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Phân vị 95 (m thực địa)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27,81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16,09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i="0" u="none">
                          <a:solidFill>
                            <a:srgbClr val="5FC98B"/>
                          </a:solidFill>
                          <a:latin typeface="Public Sans"/>
                        </a:rPr>
                        <a:t>−11,72 m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</a:tr>
              <a:tr h="635000"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Sai số lớn nhất (m thực địa)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282,82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59,18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i="0" u="none">
                          <a:solidFill>
                            <a:srgbClr val="5FC98B"/>
                          </a:solidFill>
                          <a:latin typeface="Public Sans"/>
                        </a:rPr>
                        <a:t>−223,64 m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  <a:tr h="635000"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Sai số TB, m toạ độ chiếu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12,11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6,99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i="0" u="none">
                          <a:solidFill>
                            <a:srgbClr val="5FC98B"/>
                          </a:solidFill>
                          <a:latin typeface="Public Sans"/>
                        </a:rPr>
                        <a:t>−5,12 m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</a:tr>
              <a:tr h="635000"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Tỉ lệ fingerprint sai ≤ 8 m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69,49%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80,47%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i="0" u="none">
                          <a:solidFill>
                            <a:srgbClr val="5FC98B"/>
                          </a:solidFill>
                          <a:latin typeface="Public Sans"/>
                        </a:rPr>
                        <a:t>+10,98 pp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  <a:tr h="635000"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Độ chính xác tòa nhà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98,74%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99,91%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i="0" u="none">
                          <a:solidFill>
                            <a:srgbClr val="5FC98B"/>
                          </a:solidFill>
                          <a:latin typeface="Public Sans"/>
                        </a:rPr>
                        <a:t>+1,17 pp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</a:tr>
              <a:tr h="635000"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Độ chính xác tầng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87,94%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94,69%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i="0" u="none">
                          <a:solidFill>
                            <a:srgbClr val="5FC98B"/>
                          </a:solidFill>
                          <a:latin typeface="Public Sans"/>
                        </a:rPr>
                        <a:t>+6,75 pp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  <a:tr h="635000"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Độ chính xác joint (tòa nhà + tầng)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87,76%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94,69%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i="0" u="none">
                          <a:solidFill>
                            <a:srgbClr val="5FC98B"/>
                          </a:solidFill>
                          <a:latin typeface="Public Sans"/>
                        </a:rPr>
                        <a:t>+6,93 pp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</a:tr>
              <a:tr h="635000"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HUIM union C (91 WAP): sai số TB (m)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19,14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17,49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800" b="0" i="0" u="none">
                          <a:solidFill>
                            <a:srgbClr val="5FC98B"/>
                          </a:solidFill>
                          <a:latin typeface="Public Sans"/>
                        </a:rPr>
                        <a:t>−1,65 m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84200" y="9271000"/>
            <a:ext cx="17145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 u="none">
                <a:solidFill>
                  <a:srgbClr val="A9B8CC"/>
                </a:solidFill>
                <a:latin typeface="Public Sans"/>
              </a:rPr>
              <a:t>Cùng 1.111 fingerprint kiểm định; V1 = k-NN k = 1 (S0), V2 = mô hình S4 do giao thức chọn trên dev. </a:t>
            </a:r>
            <a:r>
              <a:rPr sz="1600" b="0" i="0" u="none">
                <a:solidFill>
                  <a:srgbClr val="5FC98B"/>
                </a:solidFill>
                <a:latin typeface="Public Sans"/>
              </a:rPr>
              <a:t>Xanh</a:t>
            </a:r>
            <a:r>
              <a:rPr sz="1600" b="0" i="0" u="none">
                <a:solidFill>
                  <a:srgbClr val="A9B8CC"/>
                </a:solidFill>
                <a:latin typeface="Public Sans"/>
              </a:rPr>
              <a:t> = tốt hơn.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891000" y="99314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50" b="0" i="0" u="none">
                <a:solidFill>
                  <a:srgbClr val="A9B8CC"/>
                </a:solidFill>
                <a:latin typeface="Public Sans"/>
              </a:rPr>
              <a:t>31 / 38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4200" y="457200"/>
            <a:ext cx="17145000" cy="788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4600" b="1" i="0" u="none">
                <a:solidFill>
                  <a:srgbClr val="FFFFFF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So sánh </a:t>
            </a:r>
            <a:r>
              <a:rPr sz="4600" b="1" i="0" u="none">
                <a:solidFill>
                  <a:srgbClr val="F2BE3A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Version 1</a:t>
            </a:r>
            <a:r>
              <a:rPr sz="4600" b="1" i="0" u="none">
                <a:solidFill>
                  <a:srgbClr val="FFFFFF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 và </a:t>
            </a:r>
            <a:r>
              <a:rPr sz="4600" b="1" i="0" u="none">
                <a:solidFill>
                  <a:srgbClr val="F2BE3A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Version 2</a:t>
            </a:r>
            <a:r>
              <a:rPr sz="4600" b="1" i="0" u="none">
                <a:solidFill>
                  <a:srgbClr val="FFFFFF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: phương pháp &amp; trình bày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4200" y="1422400"/>
          <a:ext cx="17145000" cy="77724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683000"/>
                <a:gridCol w="6350000"/>
                <a:gridCol w="7112000"/>
              </a:tblGrid>
              <a:tr h="863600">
                <a:tc>
                  <a:txBody>
                    <a:bodyPr wrap="square"/>
                    <a:lstStyle/>
                    <a:p>
                      <a:pPr algn="l"/>
                      <a:r>
                        <a:rPr sz="170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Hạng mục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Version 1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Version 2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</a:tr>
              <a:tr h="863600"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Bộ ước lượng toạ độ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k-NN k = 1, Manhattan, biểu diễn positive, trọng số đều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exponential + Bray-Curtis, k = 12, w = 1/d⁴, dò lệch ±6 dB, ensemble với positive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  <a:tr h="863600"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Cách chọn tham số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Chia ngẫu nhiên 75/25 trainingData; tiêu chí độ chính xác phân loại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GroupKFold(6) theo USERID; tiêu chí sai số TB theo mét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</a:tr>
              <a:tr h="863600"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Phần HUIM (EFIM, 3 mô hình p)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Như nhau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Như nhau (không chạy lại)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  <a:tr h="863600"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Kiểm chứng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Unit test EFIM so với oracle vét cạn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+ 28 phép tính lại HUIM, 24 phép tính lại định vị, Excel tính tay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</a:tr>
              <a:tr h="863600"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Công thức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Không ghi nguồn; Model B ghi nhầm là utility nội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Mỗi công thức ghi tác giả / nguồn có DOI đã kiểm tra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  <a:tr h="863600"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Biểu đồ, bảng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Ảnh chụp từ Word/PowerPoint, font khác nhau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Vẽ lại từ results/, in minUtil, mỗi biểu đồ kèm CSV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</a:tr>
              <a:tr h="863600"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Định dạng số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Lẫn lộn (87.76% / 19.861 / 19,861)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Thống nhất kiểu Việt Nam: 1.234,56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  <a:tr h="863600"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Số trang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22 trang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38 trang (thêm phần Version 2, so sánh, đính chính, tài liệu)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6891000" y="99314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50" b="0" i="0" u="none">
                <a:solidFill>
                  <a:srgbClr val="A9B8CC"/>
                </a:solidFill>
                <a:latin typeface="Public Sans"/>
              </a:rPr>
              <a:t>32 / 38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4200" y="457200"/>
            <a:ext cx="17145000" cy="8915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200" b="1" i="0" u="none">
                <a:solidFill>
                  <a:srgbClr val="FFFFFF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Đính chính nội dung slide </a:t>
            </a:r>
            <a:r>
              <a:rPr sz="5200" b="1" i="0" u="none">
                <a:solidFill>
                  <a:srgbClr val="F2BE3A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Version 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4200" y="1422400"/>
          <a:ext cx="17145000" cy="80010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651000"/>
                <a:gridCol w="7112000"/>
                <a:gridCol w="8382000"/>
              </a:tblGrid>
              <a:tr h="889000">
                <a:tc>
                  <a:txBody>
                    <a:bodyPr wrap="square"/>
                    <a:lstStyle/>
                    <a:p>
                      <a:pPr algn="ctr"/>
                      <a:r>
                        <a:rPr sz="180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Slide V1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Version 1 ghi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Version 2 sửa thành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73A66"/>
                    </a:solidFill>
                  </a:tcPr>
                </a:tc>
              </a:tr>
              <a:tr h="889000">
                <a:tc>
                  <a:txBody>
                    <a:bodyPr wrap="square"/>
                    <a:lstStyle/>
                    <a:p>
                      <a:pPr algn="ctr"/>
                      <a:r>
                        <a:rPr sz="18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8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Model B: “internal utility đo bằng mutual information”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MI là </a:t>
                      </a:r>
                      <a:r>
                        <a:rPr sz="180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external</a:t>
                      </a:r>
                      <a:r>
                        <a:rPr sz="18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 utility p(i); q(i,T) dùng chung cho cả 3 mô hình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  <a:tr h="889000">
                <a:tc>
                  <a:txBody>
                    <a:bodyPr wrap="square"/>
                    <a:lstStyle/>
                    <a:p>
                      <a:pPr algn="ctr"/>
                      <a:r>
                        <a:rPr sz="18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14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Sắp xếp mục theo TWU </a:t>
                      </a:r>
                      <a:r>
                        <a:rPr sz="1800" b="0" i="0" u="none">
                          <a:solidFill>
                            <a:srgbClr val="F07A6A"/>
                          </a:solidFill>
                          <a:latin typeface="Public Sans"/>
                        </a:rPr>
                        <a:t>giảm</a:t>
                      </a:r>
                      <a:r>
                        <a:rPr sz="18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 dần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Sắp theo TWU </a:t>
                      </a:r>
                      <a:r>
                        <a:rPr sz="180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tăng</a:t>
                      </a:r>
                      <a:r>
                        <a:rPr sz="18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 dần (slide 15 của V1 đã ghi đúng)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</a:tr>
              <a:tr h="889000">
                <a:tc>
                  <a:txBody>
                    <a:bodyPr wrap="square"/>
                    <a:lstStyle/>
                    <a:p>
                      <a:pPr algn="ctr"/>
                      <a:r>
                        <a:rPr sz="18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14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“Xây dựng cây EFIM: quét CSDL 1 lần để tạo cây”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EFIM không dựng cây dữ liệu; nó duyệt cây liệt kê bằng DFS và chiếu CSDL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  <a:tr h="889000">
                <a:tc>
                  <a:txBody>
                    <a:bodyPr wrap="square"/>
                    <a:lstStyle/>
                    <a:p>
                      <a:pPr algn="ctr"/>
                      <a:r>
                        <a:rPr sz="18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14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Xuất tập có utility </a:t>
                      </a:r>
                      <a:r>
                        <a:rPr sz="1800" b="0" i="0" u="none">
                          <a:solidFill>
                            <a:srgbClr val="F07A6A"/>
                          </a:solidFill>
                          <a:latin typeface="Public Sans"/>
                        </a:rPr>
                        <a:t>&gt;</a:t>
                      </a:r>
                      <a:r>
                        <a:rPr sz="18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 minUtil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u(X) </a:t>
                      </a:r>
                      <a:r>
                        <a:rPr sz="1800" b="1" i="0" u="none">
                          <a:solidFill>
                            <a:srgbClr val="F2BE3A"/>
                          </a:solidFill>
                          <a:latin typeface="Public Sans"/>
                        </a:rPr>
                        <a:t>≥</a:t>
                      </a:r>
                      <a:r>
                        <a:rPr sz="18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 minUtil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</a:tr>
              <a:tr h="889000">
                <a:tc>
                  <a:txBody>
                    <a:bodyPr wrap="square"/>
                    <a:lstStyle/>
                    <a:p>
                      <a:pPr algn="ctr"/>
                      <a:r>
                        <a:rPr sz="18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16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“19.861 bản ghi kiểm luyện”; “lọc nhiễu, làm đầy RSSI”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19.937 fingerprint huấn luyện (19.861 giao dịch không rỗng); không làm đầy giá trị nào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  <a:tr h="889000">
                <a:tc>
                  <a:txBody>
                    <a:bodyPr wrap="square"/>
                    <a:lstStyle/>
                    <a:p>
                      <a:pPr algn="ctr"/>
                      <a:r>
                        <a:rPr sz="18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6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“EFIM chạy trên 19.937 fingerprint”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19.861 giao dịch (76 fingerprint rỗng bị bỏ)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</a:tr>
              <a:tr h="889000">
                <a:tc>
                  <a:txBody>
                    <a:bodyPr wrap="square"/>
                    <a:lstStyle/>
                    <a:p>
                      <a:pPr algn="ctr"/>
                      <a:r>
                        <a:rPr sz="18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11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“Dòng CSV (dòng 3248)”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Dòng 3.250 của file CSV = chỉ số pandas 3.248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102C4F"/>
                    </a:solidFill>
                  </a:tcPr>
                </a:tc>
              </a:tr>
              <a:tr h="889000">
                <a:tc>
                  <a:txBody>
                    <a:bodyPr wrap="square"/>
                    <a:lstStyle/>
                    <a:p>
                      <a:pPr algn="ctr"/>
                      <a:r>
                        <a:rPr sz="18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3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“HUIM … nâng cao độ chính xác và ổn định của IPS”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800" b="0" i="0" u="none">
                          <a:solidFill>
                            <a:srgbClr val="FFFFFF"/>
                          </a:solidFill>
                          <a:latin typeface="Public Sans"/>
                        </a:rPr>
                        <a:t>Thực nghiệm cho thấy HUIM KHÔNG thắng đối chứng; nêu như câu hỏi nghiên cứu</a:t>
                      </a:r>
                    </a:p>
                  </a:txBody>
                  <a:tcPr marL="88900" marR="88900" marT="48895" marB="48895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3A557C"/>
                      </a:solidFill>
                    </a:lnB>
                    <a:solidFill>
                      <a:srgbClr val="0B2240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84200" y="9601200"/>
            <a:ext cx="17145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 u="none">
                <a:solidFill>
                  <a:srgbClr val="A9B8CC"/>
                </a:solidFill>
                <a:latin typeface="Public Sans"/>
              </a:rPr>
              <a:t>Số slide theo bản Version 1 (22 trang).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891000" y="99314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50" b="0" i="0" u="none">
                <a:solidFill>
                  <a:srgbClr val="A9B8CC"/>
                </a:solidFill>
                <a:latin typeface="Public Sans"/>
              </a:rPr>
              <a:t>33 / 38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4200" y="457200"/>
            <a:ext cx="17145000" cy="994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800" b="1" i="0" u="none">
                <a:solidFill>
                  <a:srgbClr val="FFFFFF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Kiểm chứng </a:t>
            </a:r>
            <a:r>
              <a:rPr sz="5800" b="1" i="0" u="none">
                <a:solidFill>
                  <a:srgbClr val="F2BE3A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độc lập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1473200"/>
            <a:ext cx="1651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000" b="0" i="0" u="none">
                <a:solidFill>
                  <a:srgbClr val="A9B8CC"/>
                </a:solidFill>
                <a:latin typeface="Public Sans"/>
              </a:rPr>
              <a:t>Ba lớp kiểm tra không dựa vào mã thí nghiệm — người đọc tự chạy lại được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4200" y="2235200"/>
            <a:ext cx="5435600" cy="5969000"/>
          </a:xfrm>
          <a:prstGeom prst="roundRect">
            <a:avLst>
              <a:gd name="adj" fmla="val 5000"/>
            </a:avLst>
          </a:prstGeom>
          <a:solidFill>
            <a:srgbClr val="0D2645"/>
          </a:solidFill>
          <a:ln w="15875">
            <a:solidFill>
              <a:srgbClr val="3A5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14400" y="2489200"/>
            <a:ext cx="4775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 u="none">
                <a:solidFill>
                  <a:srgbClr val="F2BE3A"/>
                </a:solidFill>
                <a:latin typeface="Public Sans"/>
              </a:rPr>
              <a:t>HUIM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48000"/>
            <a:ext cx="47752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5800" b="1" i="0" u="none">
                <a:solidFill>
                  <a:srgbClr val="F2BE3A"/>
                </a:solidFill>
                <a:latin typeface="Public Sans"/>
              </a:rPr>
              <a:t>28/28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40200"/>
            <a:ext cx="4775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 i="0" u="none">
                <a:solidFill>
                  <a:srgbClr val="DCE3EE"/>
                </a:solidFill>
                <a:latin typeface="Public Sans"/>
              </a:rPr>
              <a:t>phép kiểm tra đạt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26000"/>
            <a:ext cx="4775200" cy="279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50" b="0" i="0" u="none">
                <a:solidFill>
                  <a:srgbClr val="FFFFFF"/>
                </a:solidFill>
                <a:latin typeface="Public Sans"/>
              </a:rPr>
              <a:t>Tính lại q, p, u(X) từ CSV gốc; kiểm tra mọi HUI của ba lần khai phá chính; vét cạn mọi tổ hợp 1–3 WAP.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7493000"/>
            <a:ext cx="47752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 i="0" u="none">
                <a:solidFill>
                  <a:srgbClr val="A9B8CC"/>
                </a:solidFill>
                <a:latin typeface="Consolas"/>
              </a:rPr>
              <a:t>python src/verify_huim.py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26200" y="2235200"/>
            <a:ext cx="5435600" cy="5969000"/>
          </a:xfrm>
          <a:prstGeom prst="roundRect">
            <a:avLst>
              <a:gd name="adj" fmla="val 5000"/>
            </a:avLst>
          </a:prstGeom>
          <a:solidFill>
            <a:srgbClr val="0D2645"/>
          </a:solidFill>
          <a:ln w="15875">
            <a:solidFill>
              <a:srgbClr val="3A5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756400" y="2489200"/>
            <a:ext cx="4775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 u="none">
                <a:solidFill>
                  <a:srgbClr val="F2BE3A"/>
                </a:solidFill>
                <a:latin typeface="Public Sans"/>
              </a:rPr>
              <a:t>ĐỊNH VỊ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56400" y="3048000"/>
            <a:ext cx="47752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5800" b="1" i="0" u="none">
                <a:solidFill>
                  <a:srgbClr val="F2BE3A"/>
                </a:solidFill>
                <a:latin typeface="Public Sans"/>
              </a:rPr>
              <a:t>24/24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56400" y="4140200"/>
            <a:ext cx="4775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 i="0" u="none">
                <a:solidFill>
                  <a:srgbClr val="DCE3EE"/>
                </a:solidFill>
                <a:latin typeface="Public Sans"/>
              </a:rPr>
              <a:t>phép kiểm tra đạt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56400" y="4826000"/>
            <a:ext cx="4775200" cy="279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50" b="0" i="0" u="none">
                <a:solidFill>
                  <a:srgbClr val="FFFFFF"/>
                </a:solidFill>
                <a:latin typeface="Public Sans"/>
              </a:rPr>
              <a:t>Tính lại độ chính xác và sai số chỉ bằng thư viện chuẩn của Python; tìm lại láng giềng gần nhất trên toàn bộ trainingData.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56400" y="7493000"/>
            <a:ext cx="47752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 i="0" u="none">
                <a:solidFill>
                  <a:srgbClr val="A9B8CC"/>
                </a:solidFill>
                <a:latin typeface="Consolas"/>
              </a:rPr>
              <a:t>python src/verify_positioning.py --brute 25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268200" y="2235200"/>
            <a:ext cx="5435600" cy="5969000"/>
          </a:xfrm>
          <a:prstGeom prst="roundRect">
            <a:avLst>
              <a:gd name="adj" fmla="val 5000"/>
            </a:avLst>
          </a:prstGeom>
          <a:solidFill>
            <a:srgbClr val="0D2645"/>
          </a:solidFill>
          <a:ln w="15875">
            <a:solidFill>
              <a:srgbClr val="3A55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2598400" y="2489200"/>
            <a:ext cx="4775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100" b="1" i="0" u="none">
                <a:solidFill>
                  <a:srgbClr val="F2BE3A"/>
                </a:solidFill>
                <a:latin typeface="Public Sans"/>
              </a:rPr>
              <a:t>EXCEL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598400" y="3048000"/>
            <a:ext cx="47752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5800" b="1" i="0" u="none">
                <a:solidFill>
                  <a:srgbClr val="F2BE3A"/>
                </a:solidFill>
                <a:latin typeface="Public Sans"/>
              </a:rPr>
              <a:t>206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598400" y="4140200"/>
            <a:ext cx="47752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800" b="0" i="0" u="none">
                <a:solidFill>
                  <a:srgbClr val="DCE3EE"/>
                </a:solidFill>
                <a:latin typeface="Public Sans"/>
              </a:rPr>
              <a:t>ô kiểm tra KHỚP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598400" y="4826000"/>
            <a:ext cx="4775200" cy="279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50" b="0" i="0" u="none">
                <a:solidFill>
                  <a:srgbClr val="FFFFFF"/>
                </a:solidFill>
                <a:latin typeface="Public Sans"/>
              </a:rPr>
              <a:t>Công thức Excel tính lại minUtil, utility của HUI và mọi dự đoán của cả hai phiên bản.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598400" y="7493000"/>
            <a:ext cx="47752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0" i="0" u="none">
                <a:solidFill>
                  <a:srgbClr val="A9B8CC"/>
                </a:solidFill>
                <a:latin typeface="Consolas"/>
              </a:rPr>
              <a:t>verification/kiem_chung_thu_cong.xlsx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8585200"/>
            <a:ext cx="17145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 i="0" u="none">
                <a:solidFill>
                  <a:srgbClr val="DCE3EE"/>
                </a:solidFill>
                <a:latin typeface="Public Sans"/>
              </a:rPr>
              <a:t>Mọi con số trên các slide được src/make_deck_v2.py đọc từ results/ lúc dựng slide (không gõ tay); mỗi biểu đồ có file CSV chứa đúng các dòng đã vẽ trong figures/deck_v2/.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891000" y="99314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50" b="0" i="0" u="none">
                <a:solidFill>
                  <a:srgbClr val="A9B8CC"/>
                </a:solidFill>
                <a:latin typeface="Public Sans"/>
              </a:rPr>
              <a:t>34 / 38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0" y="279400"/>
            <a:ext cx="7620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7600" b="1" i="0" u="none">
                <a:solidFill>
                  <a:srgbClr val="F2BE3A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Kết luận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58800" y="1625600"/>
            <a:ext cx="17145000" cy="812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40030" indent="-240030">
              <a:lnSpc>
                <a:spcPct val="110000"/>
              </a:lnSpc>
              <a:buClr>
                <a:srgbClr val="F2BE3A"/>
              </a:buClr>
              <a:buFont typeface="Public Sans"/>
              <a:buChar char="–"/>
            </a:pPr>
            <a:r>
              <a:rPr sz="2100" b="1" i="0" u="none">
                <a:solidFill>
                  <a:srgbClr val="F2BE3A"/>
                </a:solidFill>
                <a:latin typeface="Public Sans"/>
              </a:rPr>
              <a:t>RQ1 — Mô hình hoá được:</a:t>
            </a:r>
            <a:r>
              <a:rPr sz="2100" b="0" i="0" u="none">
                <a:solidFill>
                  <a:srgbClr val="FFFFFF"/>
                </a:solidFill>
                <a:latin typeface="Public Sans"/>
              </a:rPr>
              <a:t> 19.937 fingerprint </a:t>
            </a:r>
            <a:r>
              <a:rPr sz="2100" b="0" i="0" u="none">
                <a:solidFill>
                  <a:srgbClr val="FFFFFF"/>
                </a:solidFill>
                <a:latin typeface="Segoe UI Symbol"/>
              </a:rPr>
              <a:t>→</a:t>
            </a:r>
            <a:r>
              <a:rPr sz="2100" b="0" i="0" u="none">
                <a:solidFill>
                  <a:srgbClr val="FFFFFF"/>
                </a:solidFill>
                <a:latin typeface="Public Sans"/>
              </a:rPr>
              <a:t> 19.861 utility transaction; EFIM chạy 37 cấu hình ngưỡng và khớp oracle vét cạn. “Hợp lý” là hợp lý CỦA ĐỊNH NGHĨA utility, không phải tính chất của dữ liệu.</a:t>
            </a:r>
          </a:p>
          <a:p>
            <a:pPr algn="l" marL="240030" indent="-240030">
              <a:lnSpc>
                <a:spcPct val="110000"/>
              </a:lnSpc>
              <a:spcBef>
                <a:spcPts val="1600"/>
              </a:spcBef>
              <a:buClr>
                <a:srgbClr val="F2BE3A"/>
              </a:buClr>
              <a:buFont typeface="Public Sans"/>
              <a:buChar char="–"/>
            </a:pPr>
            <a:r>
              <a:rPr sz="2100" b="1" i="0" u="none">
                <a:solidFill>
                  <a:srgbClr val="F2BE3A"/>
                </a:solidFill>
                <a:latin typeface="Public Sans"/>
              </a:rPr>
              <a:t>RQ2 — HUIM chưa thắng đối chứng:</a:t>
            </a:r>
            <a:r>
              <a:rPr sz="2100" b="0" i="0" u="none">
                <a:solidFill>
                  <a:srgbClr val="FFFFFF"/>
                </a:solidFill>
                <a:latin typeface="Public Sans"/>
              </a:rPr>
              <a:t> HUIM union thua top-n theo MI ở cả ba mô hình (64,99% / 66,79% / 71,56% so với 71,38% / 70,21% / 74,44%); trần tối đa 91 WAP.</a:t>
            </a:r>
          </a:p>
          <a:p>
            <a:pPr algn="l" marL="240030" indent="-240030">
              <a:lnSpc>
                <a:spcPct val="110000"/>
              </a:lnSpc>
              <a:spcBef>
                <a:spcPts val="1600"/>
              </a:spcBef>
              <a:buClr>
                <a:srgbClr val="F2BE3A"/>
              </a:buClr>
              <a:buFont typeface="Public Sans"/>
              <a:buChar char="–"/>
            </a:pPr>
            <a:r>
              <a:rPr sz="2100" b="1" i="0" u="none">
                <a:solidFill>
                  <a:srgbClr val="F2BE3A"/>
                </a:solidFill>
                <a:latin typeface="Public Sans"/>
              </a:rPr>
              <a:t>RQ3 — Chi phí:</a:t>
            </a:r>
            <a:r>
              <a:rPr sz="2100" b="0" i="0" u="none">
                <a:solidFill>
                  <a:srgbClr val="FFFFFF"/>
                </a:solidFill>
                <a:latin typeface="Public Sans"/>
              </a:rPr>
              <a:t> số HUI và bộ nhớ khai phá tăng vọt khi hạ minUtil, số WAP gần như đứng yên; thời gian và bộ nhớ định vị giảm gần tuyến tính theo số WAP.</a:t>
            </a:r>
          </a:p>
          <a:p>
            <a:pPr algn="l" marL="240030" indent="-240030">
              <a:lnSpc>
                <a:spcPct val="110000"/>
              </a:lnSpc>
              <a:spcBef>
                <a:spcPts val="1600"/>
              </a:spcBef>
              <a:buClr>
                <a:srgbClr val="F2BE3A"/>
              </a:buClr>
              <a:buFont typeface="Public Sans"/>
              <a:buChar char="–"/>
            </a:pPr>
            <a:r>
              <a:rPr sz="2100" b="1" i="0" u="none">
                <a:solidFill>
                  <a:srgbClr val="F2BE3A"/>
                </a:solidFill>
                <a:latin typeface="Public Sans"/>
              </a:rPr>
              <a:t>RQ4 — Version 2:</a:t>
            </a:r>
            <a:r>
              <a:rPr sz="2100" b="0" i="0" u="none">
                <a:solidFill>
                  <a:srgbClr val="FFFFFF"/>
                </a:solidFill>
                <a:latin typeface="Public Sans"/>
              </a:rPr>
              <a:t> sai số trung bình 9,28 </a:t>
            </a:r>
            <a:r>
              <a:rPr sz="2100" b="0" i="0" u="none">
                <a:solidFill>
                  <a:srgbClr val="FFFFFF"/>
                </a:solidFill>
                <a:latin typeface="Segoe UI Symbol"/>
              </a:rPr>
              <a:t>→</a:t>
            </a:r>
            <a:r>
              <a:rPr sz="2100" b="0" i="0" u="none">
                <a:solidFill>
                  <a:srgbClr val="FFFFFF"/>
                </a:solidFill>
                <a:latin typeface="Public Sans"/>
              </a:rPr>
              <a:t> 5,36 m (giảm 3,92 m, KTC 95% 2,74–5,30), joint 87,76% </a:t>
            </a:r>
            <a:r>
              <a:rPr sz="2100" b="0" i="0" u="none">
                <a:solidFill>
                  <a:srgbClr val="FFFFFF"/>
                </a:solidFill>
                <a:latin typeface="Segoe UI Symbol"/>
              </a:rPr>
              <a:t>→</a:t>
            </a:r>
            <a:r>
              <a:rPr sz="2100" b="0" i="0" u="none">
                <a:solidFill>
                  <a:srgbClr val="FFFFFF"/>
                </a:solidFill>
                <a:latin typeface="Public Sans"/>
              </a:rPr>
              <a:t> 94,69%, không dùng tập kiểm định để chọn.</a:t>
            </a:r>
          </a:p>
          <a:p>
            <a:pPr algn="l" marL="240030" indent="-240030">
              <a:lnSpc>
                <a:spcPct val="110000"/>
              </a:lnSpc>
              <a:spcBef>
                <a:spcPts val="1600"/>
              </a:spcBef>
              <a:buClr>
                <a:srgbClr val="F2BE3A"/>
              </a:buClr>
              <a:buFont typeface="Public Sans"/>
              <a:buChar char="–"/>
            </a:pPr>
            <a:r>
              <a:rPr sz="2100" b="0" i="0" u="none">
                <a:solidFill>
                  <a:srgbClr val="FFFFFF"/>
                </a:solidFill>
                <a:latin typeface="Public Sans"/>
              </a:rPr>
              <a:t>Model B chọn tập WAP khác Model A (Jaccard 0,528 [21]), nhưng MI gần trùng tần suất phát hiện (</a:t>
            </a:r>
            <a:r>
              <a:rPr sz="2100" b="0" i="0" u="none">
                <a:solidFill>
                  <a:srgbClr val="FFFFFF"/>
                </a:solidFill>
                <a:latin typeface="Segoe UI Symbol"/>
              </a:rPr>
              <a:t>ρ</a:t>
            </a:r>
            <a:r>
              <a:rPr sz="2100" b="0" i="0" u="none">
                <a:solidFill>
                  <a:srgbClr val="FFFFFF"/>
                </a:solidFill>
                <a:latin typeface="Public Sans"/>
              </a:rPr>
              <a:t> = 0,9908).</a:t>
            </a:r>
          </a:p>
          <a:p>
            <a:pPr algn="l" marL="240030" indent="-240030">
              <a:lnSpc>
                <a:spcPct val="110000"/>
              </a:lnSpc>
              <a:spcBef>
                <a:spcPts val="1600"/>
              </a:spcBef>
              <a:buClr>
                <a:srgbClr val="F2BE3A"/>
              </a:buClr>
              <a:buFont typeface="Public Sans"/>
              <a:buChar char="–"/>
            </a:pPr>
            <a:r>
              <a:rPr sz="2100" b="1" i="0" u="none">
                <a:solidFill>
                  <a:srgbClr val="F2BE3A"/>
                </a:solidFill>
                <a:latin typeface="Public Sans"/>
              </a:rPr>
              <a:t>Đóng góp đúng mức:</a:t>
            </a:r>
            <a:r>
              <a:rPr sz="2100" b="0" i="0" u="none">
                <a:solidFill>
                  <a:srgbClr val="FFFFFF"/>
                </a:solidFill>
                <a:latin typeface="Public Sans"/>
              </a:rPr>
              <a:t> khảo sát khả năng thích nghi HUIM cho bài toán chọn nhóm AP — có đối chứng, báo cáo cả kết quả âm, không tuyên bố tính mới.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891000" y="99314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50" b="0" i="0" u="none">
                <a:solidFill>
                  <a:srgbClr val="A9B8CC"/>
                </a:solidFill>
                <a:latin typeface="Public Sans"/>
              </a:rPr>
              <a:t>35 / 38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stai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23900" y="736600"/>
            <a:ext cx="12700000" cy="241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8000"/>
              </a:lnSpc>
            </a:pPr>
            <a:r>
              <a:rPr sz="7200" b="1" i="0" u="none">
                <a:solidFill>
                  <a:srgbClr val="FFFFFF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Kết luận và</a:t>
            </a:r>
          </a:p>
          <a:p>
            <a:pPr algn="l">
              <a:lnSpc>
                <a:spcPct val="98000"/>
              </a:lnSpc>
            </a:pPr>
            <a:r>
              <a:rPr sz="7200" b="1" i="0" u="none">
                <a:solidFill>
                  <a:srgbClr val="F2BE3A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Hướng nghiên cứu tiếp theo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1200" y="3759200"/>
            <a:ext cx="9652000" cy="60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40030" indent="-240030">
              <a:lnSpc>
                <a:spcPct val="110000"/>
              </a:lnSpc>
              <a:buClr>
                <a:srgbClr val="F2BE3A"/>
              </a:buClr>
              <a:buFont typeface="Public Sans"/>
              <a:buChar char="–"/>
            </a:pPr>
            <a:r>
              <a:rPr sz="2100" b="0" i="0" u="none">
                <a:solidFill>
                  <a:srgbClr val="FFFFFF"/>
                </a:solidFill>
                <a:latin typeface="Public Sans"/>
              </a:rPr>
              <a:t>HUIM mô hình hoá được vân tay Wi-Fi thành dữ liệu giao dịch để chọn nhóm AP.</a:t>
            </a:r>
          </a:p>
          <a:p>
            <a:pPr algn="l" marL="240030" indent="-240030">
              <a:lnSpc>
                <a:spcPct val="110000"/>
              </a:lnSpc>
              <a:spcBef>
                <a:spcPts val="1400"/>
              </a:spcBef>
              <a:buClr>
                <a:srgbClr val="F2BE3A"/>
              </a:buClr>
              <a:buFont typeface="Public Sans"/>
              <a:buChar char="–"/>
            </a:pPr>
            <a:r>
              <a:rPr sz="2100" b="0" i="0" u="none">
                <a:solidFill>
                  <a:srgbClr val="FFFFFF"/>
                </a:solidFill>
                <a:latin typeface="Public Sans"/>
              </a:rPr>
              <a:t>Nhưng nhóm AP do HUIM chọn chưa tốt hơn tiêu chí đơn giản (top-n theo MI).</a:t>
            </a:r>
          </a:p>
          <a:p>
            <a:pPr algn="l" marL="240030" indent="-240030">
              <a:lnSpc>
                <a:spcPct val="110000"/>
              </a:lnSpc>
              <a:spcBef>
                <a:spcPts val="1400"/>
              </a:spcBef>
              <a:buClr>
                <a:srgbClr val="F2BE3A"/>
              </a:buClr>
              <a:buFont typeface="Public Sans"/>
              <a:buChar char="–"/>
            </a:pPr>
            <a:r>
              <a:rPr sz="2100" b="0" i="0" u="none">
                <a:solidFill>
                  <a:srgbClr val="FFFFFF"/>
                </a:solidFill>
                <a:latin typeface="Public Sans"/>
              </a:rPr>
              <a:t>Sai số định vị giảm 9,28 </a:t>
            </a:r>
            <a:r>
              <a:rPr sz="2100" b="0" i="0" u="none">
                <a:solidFill>
                  <a:srgbClr val="FFFFFF"/>
                </a:solidFill>
                <a:latin typeface="Segoe UI Symbol"/>
              </a:rPr>
              <a:t>→</a:t>
            </a:r>
            <a:r>
              <a:rPr sz="2100" b="0" i="0" u="none">
                <a:solidFill>
                  <a:srgbClr val="FFFFFF"/>
                </a:solidFill>
                <a:latin typeface="Public Sans"/>
              </a:rPr>
              <a:t> 5,36 m nhờ tối ưu bộ ước lượng toạ độ (V2), không nhờ HUIM.</a:t>
            </a:r>
          </a:p>
          <a:p>
            <a:pPr algn="l" marL="240030" indent="-240030">
              <a:lnSpc>
                <a:spcPct val="110000"/>
              </a:lnSpc>
              <a:spcBef>
                <a:spcPts val="1400"/>
              </a:spcBef>
              <a:buClr>
                <a:srgbClr val="F2BE3A"/>
              </a:buClr>
              <a:buFont typeface="Public Sans"/>
              <a:buChar char="–"/>
            </a:pPr>
            <a:r>
              <a:rPr sz="2100" b="0" i="0" u="none">
                <a:solidFill>
                  <a:srgbClr val="FFFFFF"/>
                </a:solidFill>
                <a:latin typeface="Public Sans"/>
              </a:rPr>
              <a:t>Hướng tiếp: utility ngoài độc lập với tần suất phát hiện; top-k hoặc closed HUIM để lấy nhiều WAP hơn với cùng ngân sách; thêm một tập kiểm tra chưa từng dùng.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891000" y="99314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50" b="0" i="0" u="none">
                <a:solidFill>
                  <a:srgbClr val="A9B8CC"/>
                </a:solidFill>
                <a:latin typeface="Public Sans"/>
              </a:rPr>
              <a:t>36 / 38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4200" y="457200"/>
            <a:ext cx="171450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000" b="1" i="0" u="none">
                <a:solidFill>
                  <a:srgbClr val="FFFFFF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Tài liệu </a:t>
            </a:r>
            <a:r>
              <a:rPr sz="5000" b="1" i="0" u="none">
                <a:solidFill>
                  <a:srgbClr val="F2BE3A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tham khảo</a:t>
            </a:r>
            <a:r>
              <a:rPr sz="5000" b="1" i="0" u="none">
                <a:solidFill>
                  <a:srgbClr val="FFFFFF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1422400"/>
            <a:ext cx="17145000" cy="787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 u="none">
                <a:solidFill>
                  <a:srgbClr val="FFFFFF"/>
                </a:solidFill>
                <a:latin typeface="Public Sans"/>
              </a:rPr>
              <a:t>[1] R. Agrawal, T. Imieliński, and A. Swami, "Mining association rules between sets of items in large databases," in Proc. ACM SIGMOD, 1993, pp. 207–216. doi:10.1145/170035.170072 †</a:t>
            </a:r>
          </a:p>
          <a:p>
            <a:pPr algn="l">
              <a:lnSpc>
                <a:spcPct val="105000"/>
              </a:lnSpc>
              <a:spcBef>
                <a:spcPts val="1100"/>
              </a:spcBef>
            </a:pPr>
            <a:r>
              <a:rPr sz="1700" b="0" i="0" u="none">
                <a:solidFill>
                  <a:srgbClr val="FFFFFF"/>
                </a:solidFill>
                <a:latin typeface="Public Sans"/>
              </a:rPr>
              <a:t>[2] H. Yao, H. J. Hamilton, and C. J. Butz, "A foundational approach to mining itemset utilities from databases," in Proc. SIAM Int. Conf. Data Mining (SDM), 2004, pp. 482–486. doi:10.1137/1.9781611972740.51 †</a:t>
            </a:r>
          </a:p>
          <a:p>
            <a:pPr algn="l">
              <a:lnSpc>
                <a:spcPct val="105000"/>
              </a:lnSpc>
              <a:spcBef>
                <a:spcPts val="1100"/>
              </a:spcBef>
            </a:pPr>
            <a:r>
              <a:rPr sz="1700" b="0" i="0" u="none">
                <a:solidFill>
                  <a:srgbClr val="FFFFFF"/>
                </a:solidFill>
                <a:latin typeface="Public Sans"/>
              </a:rPr>
              <a:t>[3] W. Gan, J. C.-W. Lin, P. Fournier-Viger, H.-C. Chao, V. S. Tseng, and P. S. Yu, "A survey of utility-oriented pattern mining," IEEE Trans. Knowl. Data Eng., vol. 33, no. 4, pp. 1306–1327, 2021. doi:10.1109/TKDE.2019.2942594 †</a:t>
            </a:r>
          </a:p>
          <a:p>
            <a:pPr algn="l">
              <a:lnSpc>
                <a:spcPct val="105000"/>
              </a:lnSpc>
              <a:spcBef>
                <a:spcPts val="1100"/>
              </a:spcBef>
            </a:pPr>
            <a:r>
              <a:rPr sz="1700" b="0" i="0" u="none">
                <a:solidFill>
                  <a:srgbClr val="FFFFFF"/>
                </a:solidFill>
                <a:latin typeface="Public Sans"/>
              </a:rPr>
              <a:t>[4] Y. Liu, W.-K. Liao, and A. Choudhary, "A two-phase algorithm for fast discovery of high utility itemsets," in Lecture Notes in Computer Science (PAKDD), 2005, pp. 689–695. doi:10.1007/11430919_79 †</a:t>
            </a:r>
          </a:p>
          <a:p>
            <a:pPr algn="l">
              <a:lnSpc>
                <a:spcPct val="105000"/>
              </a:lnSpc>
              <a:spcBef>
                <a:spcPts val="1100"/>
              </a:spcBef>
            </a:pPr>
            <a:r>
              <a:rPr sz="1700" b="0" i="0" u="none">
                <a:solidFill>
                  <a:srgbClr val="FFFFFF"/>
                </a:solidFill>
                <a:latin typeface="Public Sans"/>
              </a:rPr>
              <a:t>[5] S. Zida, P. Fournier-Viger, J. C.-W. Lin, C.-W. Wu, and V. S. Tseng, "EFIM: A fast and memory efficient algorithm for high-utility itemset mining," Knowl. Inf. Syst., vol. 51, no. 2, pp. 595–625, 2017. doi:10.1007/s10115-016-0986-0 †</a:t>
            </a:r>
          </a:p>
          <a:p>
            <a:pPr algn="l">
              <a:lnSpc>
                <a:spcPct val="105000"/>
              </a:lnSpc>
              <a:spcBef>
                <a:spcPts val="1100"/>
              </a:spcBef>
            </a:pPr>
            <a:r>
              <a:rPr sz="1700" b="0" i="0" u="none">
                <a:solidFill>
                  <a:srgbClr val="FFFFFF"/>
                </a:solidFill>
                <a:latin typeface="Public Sans"/>
              </a:rPr>
              <a:t>[6] C. E. Shannon, "A Mathematical Theory of Communication," Bell System Technical Journal, vol. 27, no. 3, pp. 379–423, 1948. doi:10.1002/j.1538-7305.1948.tb01338.x ‡</a:t>
            </a:r>
          </a:p>
          <a:p>
            <a:pPr algn="l">
              <a:lnSpc>
                <a:spcPct val="105000"/>
              </a:lnSpc>
              <a:spcBef>
                <a:spcPts val="1100"/>
              </a:spcBef>
            </a:pPr>
            <a:r>
              <a:rPr sz="1700" b="0" i="0" u="none">
                <a:solidFill>
                  <a:srgbClr val="FFFFFF"/>
                </a:solidFill>
                <a:latin typeface="Public Sans"/>
              </a:rPr>
              <a:t>[7] Y. Chen, Q. Yang, J. Yin, and X. Chai, "Power-efficient access-point selection for indoor location estimation," IEEE Trans. Knowl. Data Eng., vol. 18, no. 7, pp. 877–888, 2006. doi:10.1109/TKDE.2006.112 †</a:t>
            </a:r>
          </a:p>
          <a:p>
            <a:pPr algn="l">
              <a:lnSpc>
                <a:spcPct val="105000"/>
              </a:lnSpc>
              <a:spcBef>
                <a:spcPts val="1100"/>
              </a:spcBef>
            </a:pPr>
            <a:r>
              <a:rPr sz="1700" b="0" i="0" u="none">
                <a:solidFill>
                  <a:srgbClr val="FFFFFF"/>
                </a:solidFill>
                <a:latin typeface="Public Sans"/>
              </a:rPr>
              <a:t>[8] K. Spärck Jones, "A statistical interpretation of term specificity and its application in retrieval," Journal of Documentation, vol. 28, no. 1, pp. 11–21, 1972. doi:10.1108/eb026526 ‡</a:t>
            </a:r>
          </a:p>
          <a:p>
            <a:pPr algn="l">
              <a:lnSpc>
                <a:spcPct val="105000"/>
              </a:lnSpc>
              <a:spcBef>
                <a:spcPts val="1100"/>
              </a:spcBef>
            </a:pPr>
            <a:r>
              <a:rPr sz="1700" b="0" i="0" u="none">
                <a:solidFill>
                  <a:srgbClr val="FFFFFF"/>
                </a:solidFill>
                <a:latin typeface="Public Sans"/>
              </a:rPr>
              <a:t>[9] J. Torres-Sospedra, R. Montoliu, S. Trilles, Ó. Belmonte, and J. Huerta, "Comprehensive analysis of distance and similarity measures for Wi-Fi fingerprinting indoor positioning systems," Expert Syst. Appl., vol. 42, no. 23, pp. 9263–9278, 2015. doi:10.1016/j.eswa.2015.08.013 †</a:t>
            </a:r>
          </a:p>
          <a:p>
            <a:pPr algn="l">
              <a:lnSpc>
                <a:spcPct val="105000"/>
              </a:lnSpc>
              <a:spcBef>
                <a:spcPts val="1100"/>
              </a:spcBef>
            </a:pPr>
            <a:r>
              <a:rPr sz="1700" b="0" i="0" u="none">
                <a:solidFill>
                  <a:srgbClr val="FFFFFF"/>
                </a:solidFill>
                <a:latin typeface="Public Sans"/>
              </a:rPr>
              <a:t>[10] C. Spearman, "The Proof and Measurement of Association between Two Things," The American Journal of Psychology, vol. 15, no. 1, pp. 72, 1904. doi:10.2307/1412159 ‡</a:t>
            </a:r>
          </a:p>
          <a:p>
            <a:pPr algn="l">
              <a:lnSpc>
                <a:spcPct val="105000"/>
              </a:lnSpc>
              <a:spcBef>
                <a:spcPts val="1100"/>
              </a:spcBef>
            </a:pPr>
            <a:r>
              <a:rPr sz="1700" b="0" i="0" u="none">
                <a:solidFill>
                  <a:srgbClr val="FFFFFF"/>
                </a:solidFill>
                <a:latin typeface="Public Sans"/>
              </a:rPr>
              <a:t>[11] C. Zhang, G. Almpanidis, W. Wang, and C. Liu, "An empirical evaluation of high utility itemset mining algorithms," Expert Syst. Appl., vol. 101, pp. 91–115, 2018. doi:10.1016/j.eswa.2018.02.008 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9448800"/>
            <a:ext cx="17145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 u="none">
                <a:solidFill>
                  <a:srgbClr val="A9B8CC"/>
                </a:solidFill>
                <a:latin typeface="Public Sans"/>
              </a:rPr>
              <a:t>† danh mục đã kiểm tra DOI qua Crossref của dự án (research/papers_table.csv)   ‡ kiểm tra DOI qua Crossref ngày 13/10/2026 (research/doi_verification_formulas.json)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891000" y="99314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50" b="0" i="0" u="none">
                <a:solidFill>
                  <a:srgbClr val="A9B8CC"/>
                </a:solidFill>
                <a:latin typeface="Public Sans"/>
              </a:rPr>
              <a:t>37 / 38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pla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4200" y="457200"/>
            <a:ext cx="171450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5000" b="1" i="0" u="none">
                <a:solidFill>
                  <a:srgbClr val="FFFFFF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Tài liệu </a:t>
            </a:r>
            <a:r>
              <a:rPr sz="5000" b="1" i="0" u="none">
                <a:solidFill>
                  <a:srgbClr val="F2BE3A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tham khảo</a:t>
            </a:r>
            <a:r>
              <a:rPr sz="5000" b="1" i="0" u="none">
                <a:solidFill>
                  <a:srgbClr val="FFFFFF"/>
                </a:solidFill>
                <a:effectLst>
                  <a:outerShdw blurRad="76200" dist="38100" dir="2700000" algn="tl">
                    <a:srgbClr val="000000">
                      <a:alpha val="60000"/>
                    </a:srgbClr>
                  </a:outerShdw>
                </a:effectLst>
                <a:latin typeface="Public Sans"/>
              </a:rPr>
              <a:t>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1422400"/>
            <a:ext cx="17145000" cy="787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0" i="0" u="none">
                <a:solidFill>
                  <a:srgbClr val="FFFFFF"/>
                </a:solidFill>
                <a:latin typeface="Public Sans"/>
              </a:rPr>
              <a:t>[12] P. Fournier-Viger et al., "The SPMF open-source data mining library version 2," in Lecture Notes in Computer Science (ECML PKDD), 2016, pp. 36–40. doi:10.1007/978-3-319-46131-1_8 †</a:t>
            </a:r>
          </a:p>
          <a:p>
            <a:pPr algn="l">
              <a:lnSpc>
                <a:spcPct val="105000"/>
              </a:lnSpc>
              <a:spcBef>
                <a:spcPts val="1100"/>
              </a:spcBef>
            </a:pPr>
            <a:r>
              <a:rPr sz="1700" b="0" i="0" u="none">
                <a:solidFill>
                  <a:srgbClr val="FFFFFF"/>
                </a:solidFill>
                <a:latin typeface="Public Sans"/>
              </a:rPr>
              <a:t>[13] J. P. Snyder, "Map projections: A working manual," Professional Paper, 1987. doi:10.3133/pp1395 ‡</a:t>
            </a:r>
          </a:p>
          <a:p>
            <a:pPr algn="l">
              <a:lnSpc>
                <a:spcPct val="105000"/>
              </a:lnSpc>
              <a:spcBef>
                <a:spcPts val="1100"/>
              </a:spcBef>
            </a:pPr>
            <a:r>
              <a:rPr sz="1700" b="0" i="0" u="none">
                <a:solidFill>
                  <a:srgbClr val="FFFFFF"/>
                </a:solidFill>
                <a:latin typeface="Public Sans"/>
              </a:rPr>
              <a:t>[14] S. Adler, S. Schmitt, K. Wolter, and M. Kyas, "A survey of experimental evaluation in indoor localization research," in Proc. IPIN, 2015, pp. 1–10. doi:10.1109/IPIN.2015.7346749 †</a:t>
            </a:r>
          </a:p>
          <a:p>
            <a:pPr algn="l">
              <a:lnSpc>
                <a:spcPct val="105000"/>
              </a:lnSpc>
              <a:spcBef>
                <a:spcPts val="1100"/>
              </a:spcBef>
            </a:pPr>
            <a:r>
              <a:rPr sz="1700" b="0" i="0" u="none">
                <a:solidFill>
                  <a:srgbClr val="FFFFFF"/>
                </a:solidFill>
                <a:latin typeface="Public Sans"/>
              </a:rPr>
              <a:t>[15] A. Khalajmehrabadi, N. Gatsis, and D. Akopian, "Modern WLAN fingerprinting indoor positioning methods and deployment challenges," IEEE Commun. Surveys Tuts., vol. 19, no. 3, pp. 1974–2002, 2017. doi:10.1109/COMST.2017.2671454 †</a:t>
            </a:r>
          </a:p>
          <a:p>
            <a:pPr algn="l">
              <a:lnSpc>
                <a:spcPct val="105000"/>
              </a:lnSpc>
              <a:spcBef>
                <a:spcPts val="1100"/>
              </a:spcBef>
            </a:pPr>
            <a:r>
              <a:rPr sz="1700" b="0" i="0" u="none">
                <a:solidFill>
                  <a:srgbClr val="FFFFFF"/>
                </a:solidFill>
                <a:latin typeface="Public Sans"/>
              </a:rPr>
              <a:t>[16] K. Kaemarungsi and P. Krishnamurthy, "Modeling of indoor positioning systems based on location fingerprinting," in Proc. IEEE INFOCOM 2004, vol. 2, pp. 1012–1022. doi:10.1109/INFCOM.2004.1356988 †</a:t>
            </a:r>
          </a:p>
          <a:p>
            <a:pPr algn="l">
              <a:lnSpc>
                <a:spcPct val="105000"/>
              </a:lnSpc>
              <a:spcBef>
                <a:spcPts val="1100"/>
              </a:spcBef>
            </a:pPr>
            <a:r>
              <a:rPr sz="1700" b="0" i="0" u="none">
                <a:solidFill>
                  <a:srgbClr val="FFFFFF"/>
                </a:solidFill>
                <a:latin typeface="Public Sans"/>
              </a:rPr>
              <a:t>[17] J. R. Bray and J. T. Curtis, "An Ordination of the Upland Forest Communities of Southern Wisconsin," Ecological Monographs, vol. 27, no. 4, pp. 325–349, 1957. doi:10.2307/1942268 ‡</a:t>
            </a:r>
          </a:p>
          <a:p>
            <a:pPr algn="l">
              <a:lnSpc>
                <a:spcPct val="105000"/>
              </a:lnSpc>
              <a:spcBef>
                <a:spcPts val="1100"/>
              </a:spcBef>
            </a:pPr>
            <a:r>
              <a:rPr sz="1700" b="0" i="0" u="none">
                <a:solidFill>
                  <a:srgbClr val="FFFFFF"/>
                </a:solidFill>
                <a:latin typeface="Public Sans"/>
              </a:rPr>
              <a:t>[18] P. Bahl and V. N. Padmanabhan, "RADAR: An in-building RF-based user location and tracking system," in Proc. IEEE INFOCOM 2000, vol. 2, pp. 775–784. doi:10.1109/INFCOM.2000.832252 †</a:t>
            </a:r>
          </a:p>
          <a:p>
            <a:pPr algn="l">
              <a:lnSpc>
                <a:spcPct val="105000"/>
              </a:lnSpc>
              <a:spcBef>
                <a:spcPts val="1100"/>
              </a:spcBef>
            </a:pPr>
            <a:r>
              <a:rPr sz="1700" b="0" i="0" u="none">
                <a:solidFill>
                  <a:srgbClr val="FFFFFF"/>
                </a:solidFill>
                <a:latin typeface="Public Sans"/>
              </a:rPr>
              <a:t>[19] D. Shepard, "A two-dimensional interpolation function for irregularly-spaced data," Proceedings of the 1968 23rd ACM national conference, pp. 517–524, 1968. doi:10.1145/800186.810616 ‡</a:t>
            </a:r>
          </a:p>
          <a:p>
            <a:pPr algn="l">
              <a:lnSpc>
                <a:spcPct val="105000"/>
              </a:lnSpc>
              <a:spcBef>
                <a:spcPts val="1100"/>
              </a:spcBef>
            </a:pPr>
            <a:r>
              <a:rPr sz="1700" b="0" i="0" u="none">
                <a:solidFill>
                  <a:srgbClr val="FFFFFF"/>
                </a:solidFill>
                <a:latin typeface="Public Sans"/>
              </a:rPr>
              <a:t>[20] B. Efron, "Bootstrap Methods: Another Look at the Jackknife," The Annals of Statistics, vol. 7, no. 1, 1979. doi:10.1214/aos/1176344552 ‡</a:t>
            </a:r>
          </a:p>
          <a:p>
            <a:pPr algn="l">
              <a:lnSpc>
                <a:spcPct val="105000"/>
              </a:lnSpc>
              <a:spcBef>
                <a:spcPts val="1100"/>
              </a:spcBef>
            </a:pPr>
            <a:r>
              <a:rPr sz="1700" b="0" i="0" u="none">
                <a:solidFill>
                  <a:srgbClr val="FFFFFF"/>
                </a:solidFill>
                <a:latin typeface="Public Sans"/>
              </a:rPr>
              <a:t>[21] P. Jaccard, "The distribution of the flora in the alpine zone," New Phytologist, vol. 11, no. 2, pp. 37–50, 1912. doi:10.1111/j.1469-8137.1912.tb05611.x 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9448800"/>
            <a:ext cx="17145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 u="none">
                <a:solidFill>
                  <a:srgbClr val="A9B8CC"/>
                </a:solidFill>
                <a:latin typeface="Public Sans"/>
              </a:rPr>
              <a:t>† danh mục đã kiểm tra DOI qua Crossref của dự án (research/papers_table.csv)   ‡ kiểm tra DOI qua Crossref ngày 13/10/2026 (research/doi_verification_formulas.json)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891000" y="9931400"/>
            <a:ext cx="1143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2000"/>
              </a:lnSpc>
            </a:pPr>
            <a:r>
              <a:rPr sz="1150" b="0" i="0" u="none">
                <a:solidFill>
                  <a:srgbClr val="A9B8CC"/>
                </a:solidFill>
                <a:latin typeface="Public Sans"/>
              </a:rPr>
              <a:t>38 / 38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HUIM và IPS — Version 2</dc:title>
  <dc:subject>High Utility Itemset Mining cho định vị trong nhà (UJIIndoorLoc)</dc:subject>
  <dc:creator>Thái Lê Thành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