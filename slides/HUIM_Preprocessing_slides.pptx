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1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98C20-BC41-42AB-BEDB-D41FD8A1F551}" type="datetimeFigureOut">
              <a:rPr lang="vi-VN" smtClean="0"/>
              <a:t>08/10/2026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5693F-D867-4AD6-B70B-75941F5C08B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31035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Bước 1-3 nằm ở preprocess_uji.py và utility_models.py. Bước 4 là phần tiền xử lý nội bộ của EFIM.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Giá trị 100 không phải RSSI. Nó là sentinel, nên không được đưa thẳng vào hàm khoảng cách hay chuẩn hoá.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Ví dụ lấy từ dòng 3248 của trainingData: -77 → 27, -89 → 15, -78 → 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Dòng rỗng giữ nguyên trong dataframe để chỉ số khớp nhau, nhưng bộ khai phá bỏ chúng.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Đây là phần do dự án tự định nghĩa, không phải chuẩn trong tài liệu: dữ liệu fingerprint không có sẵn đơn giá hay số lượng.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Các cổng chặn rò rỉ được cài đặt trong code, không chỉ là quy 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Số liệu item sau TWU-pruning lấy từ figures/fig08_minutil_vs_items_surviving_twu.csv. Tổng cộng 465 item xuất hiện trong dữ liệu.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dirty="0" err="1">
                <a:solidFill>
                  <a:srgbClr val="8C2D04"/>
                </a:solidFill>
                <a:latin typeface="Times New Roman"/>
              </a:rPr>
              <a:t>Tổng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quan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: 5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bước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tiền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xử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lý</a:t>
            </a:r>
            <a:endParaRPr sz="2800" b="1" dirty="0">
              <a:solidFill>
                <a:srgbClr val="8C2D04"/>
              </a:solidFill>
              <a:latin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E6E6E"/>
                </a:solidFill>
                <a:latin typeface="Times New Roman"/>
              </a:rPr>
              <a:t>Từ một dòng CSV đến đầu vào của thuật toán EFIM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011680" cy="1737360"/>
          </a:xfrm>
          <a:prstGeom prst="roundRect">
            <a:avLst/>
          </a:prstGeom>
          <a:noFill/>
          <a:ln w="2540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Times New Roman"/>
              </a:rPr>
              <a:t>1. Làm sạch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100 = không phát hiện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kiểm tra khoảng RSSI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87168" y="2834640"/>
            <a:ext cx="274320" cy="274320"/>
          </a:xfrm>
          <a:prstGeom prst="rightArrow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88920" y="2103120"/>
            <a:ext cx="2011680" cy="1737360"/>
          </a:xfrm>
          <a:prstGeom prst="roundRect">
            <a:avLst/>
          </a:prstGeom>
          <a:noFill/>
          <a:ln w="2540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Times New Roman"/>
              </a:rPr>
              <a:t>2. Chuẩn hoá RSSI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q(i,T) ∈ [1, 100]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fit trên train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18888" y="2834640"/>
            <a:ext cx="274320" cy="274320"/>
          </a:xfrm>
          <a:prstGeom prst="rightArrow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20640" y="2103120"/>
            <a:ext cx="2011680" cy="1737360"/>
          </a:xfrm>
          <a:prstGeom prst="roundRect">
            <a:avLst/>
          </a:prstGeom>
          <a:noFill/>
          <a:ln w="25400">
            <a:solidFill>
              <a:srgbClr val="8C2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Times New Roman"/>
              </a:rPr>
              <a:t>3. Tạo transaction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item = WAP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ô ≠ 100 → có mặt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50608" y="2834640"/>
            <a:ext cx="274320" cy="274320"/>
          </a:xfrm>
          <a:prstGeom prst="rightArrow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52359" y="2103120"/>
            <a:ext cx="2011680" cy="1737360"/>
          </a:xfrm>
          <a:prstGeom prst="roundRect">
            <a:avLst/>
          </a:prstGeom>
          <a:noFill/>
          <a:ln w="25400">
            <a:solidFill>
              <a:srgbClr val="8C2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Times New Roman"/>
              </a:rPr>
              <a:t>4. Trọng số p(i)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Model A / B / C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chỉ ước lượng từ train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82328" y="2834640"/>
            <a:ext cx="274320" cy="274320"/>
          </a:xfrm>
          <a:prstGeom prst="rightArrow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84080" y="2103120"/>
            <a:ext cx="2011680" cy="1737360"/>
          </a:xfrm>
          <a:prstGeom prst="roundRect">
            <a:avLst/>
          </a:prstGeom>
          <a:noFill/>
          <a:ln w="25400">
            <a:solidFill>
              <a:srgbClr val="14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Times New Roman"/>
              </a:rPr>
              <a:t>5. Bên trong EFIM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TWU, sắp thứ tự,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TWU-pruning, merging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110642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1A1A1A"/>
                </a:solidFill>
                <a:latin typeface="Times New Roman"/>
              </a:rPr>
              <a:t>•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Đầu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vào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: trainingData.csv (19.937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dòng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)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và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validationData.csv (1.111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dòng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),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mỗi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file 520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cột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WAP.</a:t>
            </a: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1A1A1A"/>
                </a:solidFill>
                <a:latin typeface="Times New Roman"/>
              </a:rPr>
              <a:t>•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Đầu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ra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: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danh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sách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transaction {WAP: q}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và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vector p(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i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)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cho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từng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WAP.</a:t>
            </a:r>
          </a:p>
          <a:p>
            <a:pPr algn="l">
              <a:spcAft>
                <a:spcPts val="800"/>
              </a:spcAft>
            </a:pPr>
            <a:r>
              <a:rPr sz="1600" b="0" dirty="0">
                <a:solidFill>
                  <a:srgbClr val="1A1A1A"/>
                </a:solidFill>
                <a:latin typeface="Times New Roman"/>
              </a:rPr>
              <a:t>•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Mọi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tham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số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học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từ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dữ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liệu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(RSSI min/max, p(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i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))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chỉ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lấy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từ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Times New Roman"/>
              </a:rPr>
              <a:t>trainingData</a:t>
            </a:r>
            <a:r>
              <a:rPr sz="1600" b="0" dirty="0">
                <a:solidFill>
                  <a:srgbClr val="1A1A1A"/>
                </a:solidFill>
                <a:latin typeface="Times New Roman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E6E6E"/>
                </a:solidFill>
                <a:latin typeface="Times New Roman"/>
              </a:rPr>
              <a:t>Nguồn: src/preprocess_uji.py, configs/experiment.yaml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dirty="0" err="1">
                <a:solidFill>
                  <a:srgbClr val="8C2D04"/>
                </a:solidFill>
                <a:latin typeface="Times New Roman"/>
              </a:rPr>
              <a:t>Dữ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liệu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thô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: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giá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trị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100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là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“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không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phát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hiện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E6E6E"/>
                </a:solidFill>
                <a:latin typeface="Times New Roman"/>
              </a:rPr>
              <a:t>Kiểm tra bằng 3 bằng chứng trong results/data_audit.md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4937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• Tài liệu UCI: “Positive value 100 is used to denote when a WAP was not detected”.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• Phân bố: mọi giá trị nằm trong [-104, 0] hoặc đúng bằng 100; không có ô nào trong 1…99.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• 96,54% số ô của train bằng 100 (10.008.477 / 10.367.240).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• Trung bình mỗi fingerprint phát hiện 18,0 / 520 AP.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• Nếu không loại 100, “RSSI trung bình” tính ra +93,8 — vô nghĩa.</a:t>
            </a:r>
          </a:p>
        </p:txBody>
      </p:sp>
      <p:pic>
        <p:nvPicPr>
          <p:cNvPr id="5" name="Picture 4" descr="fig13_eda_rssi_and_spa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737360"/>
            <a:ext cx="6217920" cy="26715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4754880"/>
            <a:ext cx="6217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6E6E6E"/>
                </a:solidFill>
                <a:latin typeface="Times New Roman"/>
              </a:rPr>
              <a:t>Trái: RSSI của các AP được phát hiện (358.763 giá trị). Phải: số AP phát hiện trên mỗi fingerprint.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E6E6E"/>
                </a:solidFill>
                <a:latin typeface="Times New Roman"/>
              </a:rPr>
              <a:t>Nguồn: results/data_audit.md §2-3; figures/fig13_eda_rssi_and_sparsity.png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dirty="0" err="1">
                <a:solidFill>
                  <a:srgbClr val="8C2D04"/>
                </a:solidFill>
                <a:latin typeface="Times New Roman"/>
              </a:rPr>
              <a:t>Bước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1-2: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chuẩn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hoá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RSSI sang “positive representation”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E6E6E"/>
                </a:solidFill>
                <a:latin typeface="Times New Roman"/>
              </a:rPr>
              <a:t>Preprocessor.positive_representation / internal_utility_matrix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66928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1A1A"/>
                </a:solidFill>
                <a:latin typeface="Times New Roman"/>
              </a:rPr>
              <a:t>•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Không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phát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hiện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(100) → 0 (“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không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có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thông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tin”).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1A1A"/>
                </a:solidFill>
                <a:latin typeface="Times New Roman"/>
              </a:rPr>
              <a:t>•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Đã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phát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hiện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: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đưa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RSSI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về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[0,1]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theo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min/max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của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train,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rồi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ánh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xạ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sang [1, 100].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1A1A"/>
                </a:solidFill>
                <a:latin typeface="Times New Roman"/>
              </a:rPr>
              <a:t>•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Làm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tròn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thành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số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nguyên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dương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;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không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bao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giờ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để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ô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đã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phát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hiện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làm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tròn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về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0.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1A1A"/>
                </a:solidFill>
                <a:latin typeface="Times New Roman"/>
              </a:rPr>
              <a:t>•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Kết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quả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q(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i,T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)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là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số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nguyên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dương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→ EFIM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cần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utility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dương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cho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các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cận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trên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1500" b="0" dirty="0">
                <a:solidFill>
                  <a:srgbClr val="1A1A1A"/>
                </a:solidFill>
                <a:latin typeface="Times New Roman"/>
              </a:rPr>
              <a:t>• Q_MAX = 100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là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lựa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chọn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để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dễ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đọc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,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không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phải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siêu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tham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số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được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tinh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Times New Roman"/>
              </a:rPr>
              <a:t>chỉnh</a:t>
            </a:r>
            <a:r>
              <a:rPr sz="1500" b="0" dirty="0">
                <a:solidFill>
                  <a:srgbClr val="1A1A1A"/>
                </a:solidFill>
                <a:latin typeface="Times New Roman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645920"/>
            <a:ext cx="5212080" cy="1097280"/>
          </a:xfrm>
          <a:prstGeom prst="roundRect">
            <a:avLst/>
          </a:prstGeom>
          <a:noFill/>
          <a:ln w="2540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Times New Roman"/>
              </a:rPr>
              <a:t>Công thức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q = round( 1 + (RSSI − RSSI_min) / (RSSI_max − RSSI_min) × 99 )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9260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E6E6E"/>
                </a:solidFill>
                <a:latin typeface="Times New Roman"/>
              </a:rPr>
              <a:t>Tham số fit trên train: RSSI_min = −104, RSSI_max = 0 (n = 19.937 dòng)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3474720"/>
          <a:ext cx="52120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WAP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RSSI thô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q(i,T)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WAP255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−77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27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WAP284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−89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WAP310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−78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26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WAP366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−78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548640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6E6E6E"/>
                </a:solidFill>
                <a:latin typeface="Times New Roman"/>
              </a:rPr>
              <a:t>fit_preprocessor kiểm tra khoảng RSSI phát hiện nằm trong [−104, 0], nếu không sẽ báo lỗi.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E6E6E"/>
                </a:solidFill>
                <a:latin typeface="Times New Roman"/>
              </a:rPr>
              <a:t>Nguồn: src/preprocess_uji.py; configs/experiment.yaml (preprocessing)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dirty="0" err="1">
                <a:solidFill>
                  <a:srgbClr val="8C2D04"/>
                </a:solidFill>
                <a:latin typeface="Times New Roman"/>
              </a:rPr>
              <a:t>Bước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3: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mỗi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fingerprint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thành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một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utility transaction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E6E6E"/>
                </a:solidFill>
                <a:latin typeface="Times New Roman"/>
              </a:rPr>
              <a:t>Item = WAP; một WAP có mặt trong transaction nếu giá trị ≠ 100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291840" cy="1554480"/>
          </a:xfrm>
          <a:prstGeom prst="roundRect">
            <a:avLst/>
          </a:prstGeom>
          <a:noFill/>
          <a:ln w="25400">
            <a:solidFill>
              <a:srgbClr val="1F3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Times New Roman"/>
              </a:rPr>
              <a:t>Dòng CSV (dòng 3248)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520 cột WAP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4 cột ≠ 100, 516 cột = 100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286000"/>
            <a:ext cx="365760" cy="274320"/>
          </a:xfrm>
          <a:prstGeom prst="rightArrow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1554480"/>
          </a:xfrm>
          <a:prstGeom prst="roundRect">
            <a:avLst/>
          </a:prstGeom>
          <a:noFill/>
          <a:ln w="25400">
            <a:solidFill>
              <a:srgbClr val="8C2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Times New Roman"/>
              </a:rPr>
              <a:t>Transaction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{WAP255: 27, WAP284: 15,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WAP310: 26, WAP366: 26}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772400" y="2286000"/>
            <a:ext cx="365760" cy="274320"/>
          </a:xfrm>
          <a:prstGeom prst="rightArrow">
            <a:avLst/>
          </a:prstGeom>
          <a:solidFill>
            <a:srgbClr val="6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0" y="1645920"/>
            <a:ext cx="3383280" cy="1554480"/>
          </a:xfrm>
          <a:prstGeom prst="roundRect">
            <a:avLst/>
          </a:prstGeom>
          <a:noFill/>
          <a:ln w="25400">
            <a:solidFill>
              <a:srgbClr val="145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1A1A1A"/>
                </a:solidFill>
                <a:latin typeface="Times New Roman"/>
              </a:rPr>
              <a:t>Sau khi có p(i)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Model A: tổng utility = 94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Times New Roman"/>
              </a:rPr>
              <a:t>Model B: tổng utility ≈ 15,5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566160"/>
          <a:ext cx="6766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Thống kê (trainingData)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Giá trị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Số dòng / transaction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19.937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Transaction không rỗng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19.861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Transaction rỗng (76 dòng không phát hiện AP nào)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76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Độ dài trung bình (không rỗng)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18,06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Số item khác nhau thực sự xuất hiện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465 / 520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3566160"/>
            <a:ext cx="41148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• 76 dòng rỗng tập trung ở vài thiết bị (PHONEID 22: 14, PHONEID 1: 59…) — nghi lỗi thu thập; vẫn giữ cho bộ phân lớp để mọi điều kiện thấy cùng dữ liệu.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• Không có AP nào xuất hiện trong hơn 23,8% fingerprint.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E6E6E"/>
                </a:solidFill>
                <a:latin typeface="Times New Roman"/>
              </a:rPr>
              <a:t>Nguồn: Preprocessor.transactions; results/huim_summary.json (database); results/data_audit.md §3-4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dirty="0" err="1">
                <a:solidFill>
                  <a:srgbClr val="8C2D04"/>
                </a:solidFill>
                <a:latin typeface="Times New Roman"/>
              </a:rPr>
              <a:t>Bước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4: external utility p(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i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) — 3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mô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hình</a:t>
            </a:r>
            <a:endParaRPr sz="2800" b="1" dirty="0">
              <a:solidFill>
                <a:srgbClr val="8C2D04"/>
              </a:solidFill>
              <a:latin typeface="Times New Roman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E6E6E"/>
                </a:solidFill>
                <a:latin typeface="Times New Roman"/>
              </a:rPr>
              <a:t>Internal utility q dùng chung; chỉ p(i) khác nhau để ablation cô lập đúng một biến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Mô hình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p(i)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Vai trò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A – Signal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p(i) = 1 với mọi WAP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Điều kiện đối chứng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B – Discriminative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max(I(A_i;Y), 1e-6) / max_j I(A_j;Y)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Mutual information với nhãn BUILDINGID_FLOOR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C – Rare-discriminative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  <a:latin typeface="Times New Roman"/>
                        </a:rPr>
                        <a:t>I(A_i;Y) × log(N / (1 + support_i)), chuẩn hoá về (0,1]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Giảm</a:t>
                      </a:r>
                      <a:r>
                        <a:rPr sz="13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trọng</a:t>
                      </a:r>
                      <a:r>
                        <a:rPr sz="13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số</a:t>
                      </a:r>
                      <a:r>
                        <a:rPr sz="13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 AP </a:t>
                      </a:r>
                      <a:r>
                        <a:rPr sz="13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xuất</a:t>
                      </a:r>
                      <a:r>
                        <a:rPr sz="13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hiện</a:t>
                      </a:r>
                      <a:r>
                        <a:rPr sz="13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khắp</a:t>
                      </a:r>
                      <a:r>
                        <a:rPr sz="13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nơi</a:t>
                      </a:r>
                      <a:endParaRPr sz="1300" b="0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rgbClr val="F3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023360"/>
            <a:ext cx="11064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• Y = BUILDINGID_FLOOR (13 lớp, H(Y) = 3,639 bit). SPACEID bị loại vì bằng 0 toàn bộ trong validationData.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• I(A;Y) tính từ histogram đồng thời với 6 trạng thái: 1 “không phát hiện” + 5 khoảng dBm, biên [−104, −90, −80, −70, −60, 0].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• Model B: p_mean = 0,175; AP tốt nhất WAP087 (0,438 bit). Model A: tổng utility của DB = 9.058.242.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• Sàn 1e-6 giữ p &gt; 0 vì EFIM yêu cầu utility dương.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E6E6E"/>
                </a:solidFill>
                <a:latin typeface="Times New Roman"/>
              </a:rPr>
              <a:t>Nguồn: src/utility_models.py; results/huim_summary.json (utility_models)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8C2D04"/>
                </a:solidFill>
                <a:latin typeface="Times New Roman"/>
              </a:rPr>
              <a:t>Quy tắc chống rò rỉ và những gì cố ý không làm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E6E6E"/>
                </a:solidFill>
                <a:latin typeface="Times New Roman"/>
              </a:rPr>
              <a:t>Các quyết định tiền xử lý được ghi lại để không bị hiểu là bước 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F3B73"/>
                </a:solidFill>
                <a:latin typeface="Times New Roman"/>
              </a:rPr>
              <a:t>Chống rò rỉ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53949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• fit_preprocessor chỉ gọi trên trainingData (RSSI min/max).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• build_external_utility ném lỗi nếu split_name khác “training”.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• p(i) (mutual information) chỉ ước lượng từ trainingData.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• validationData chỉ được transform, không bao giờ dùng để 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8C2D04"/>
                </a:solidFill>
                <a:latin typeface="Times New Roman"/>
              </a:rPr>
              <a:t>Không làm (và lý do)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057400"/>
            <a:ext cx="53949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• Không xoá 637 dòng trùng hệt trong train: sẽ là bước không được ghi nhận; mọi điều kiện thấy cùng dữ liệu.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• Không vá 137 ô 0 dBm (đều từ một thiết bị PHONEID 19): chỉ ghi lại, và neo chuẩn hoá vào khoảng RSSI đã được tài liệu hoá.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• Không dùng SPACEID / RELATIVEPOSITION làm nhãn (validation toàn 0).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• Không sửa file CSV gốc (SHA-256 được ghi trong results/data_summary.json).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E6E6E"/>
                </a:solidFill>
                <a:latin typeface="Times New Roman"/>
              </a:rPr>
              <a:t>Nguồn: src/preprocess_uji.py, src/utility_models.py; results/data_audit.md §1, §4, §8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lang="en-US" sz="2800" b="1" dirty="0" err="1">
                <a:solidFill>
                  <a:srgbClr val="8C2D04"/>
                </a:solidFill>
                <a:latin typeface="Times New Roman"/>
              </a:rPr>
              <a:t>T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iền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xử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lý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bên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</a:t>
            </a:r>
            <a:r>
              <a:rPr sz="2800" b="1" dirty="0" err="1">
                <a:solidFill>
                  <a:srgbClr val="8C2D04"/>
                </a:solidFill>
                <a:latin typeface="Times New Roman"/>
              </a:rPr>
              <a:t>trong</a:t>
            </a:r>
            <a:r>
              <a:rPr sz="2800" b="1" dirty="0">
                <a:solidFill>
                  <a:srgbClr val="8C2D04"/>
                </a:solidFill>
                <a:latin typeface="Times New Roman"/>
              </a:rPr>
              <a:t> EFIM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6E6E6E"/>
                </a:solidFill>
                <a:latin typeface="Times New Roman"/>
              </a:rPr>
              <a:t>Chạy ở đầu mỗi lần khai phá, trước khi tìm kiếm theo chiều sâu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7607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1. Kiểm tra mọi p(i) &gt; 0 và q &gt; 0; thiếu thì báo lỗi.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2. Tính TU(T) = Σ q·p cho mỗi transaction, TWU(i) = tổng TU của các transaction chứa i.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3. TWU-pruning: bỏ item có TWU &lt; minUtil.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4. Sắp item theo TWU tăng dần (bằng nhau thì theo nhãn).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5. Dựng DB đã cắt tỉa, bỏ transaction rỗng, gộp transaction giống hệt nhau (transaction merging, có cộng dồn count).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6. Tính local utility / subtree utility cho gốc bằng Fast Utility Counting.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645920"/>
          <a:ext cx="51206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minUtil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A: item còn lại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B: item còn lại</a:t>
                      </a:r>
                    </a:p>
                  </a:txBody>
                  <a:tcPr>
                    <a:solidFill>
                      <a:srgbClr val="1F3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20%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17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41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5%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151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93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2,5%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2%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250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Times New Roman"/>
                        </a:rPr>
                        <a:t>204</a:t>
                      </a:r>
                    </a:p>
                  </a:txBody>
                  <a:tcPr>
                    <a:solidFill>
                      <a:srgbClr val="F3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457200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6E6E6E"/>
                </a:solidFill>
                <a:latin typeface="Times New Roman"/>
              </a:rPr>
              <a:t>minUtil tính theo % tổng utility của DB. Ngưỡng càng cao thì TWU-pruning càng loại nhiều item; trong 465 item ban đầu, ở minUtil 20% chỉ còn 17 (A) và 41 (B).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0">
                <a:solidFill>
                  <a:srgbClr val="6E6E6E"/>
                </a:solidFill>
                <a:latin typeface="Times New Roman"/>
              </a:rPr>
              <a:t>Nguồn: src/huim/efim.py (mine); figures/fig08_minutil_vs_items_surviving_twu.csv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1708</Words>
  <Application>Microsoft Office PowerPoint</Application>
  <PresentationFormat>Widescreen</PresentationFormat>
  <Paragraphs>150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Lê Thành Thái</cp:lastModifiedBy>
  <cp:revision>3</cp:revision>
  <dcterms:created xsi:type="dcterms:W3CDTF">2013-01-27T09:14:16Z</dcterms:created>
  <dcterms:modified xsi:type="dcterms:W3CDTF">2026-10-08T12:15:11Z</dcterms:modified>
  <cp:category/>
</cp:coreProperties>
</file>