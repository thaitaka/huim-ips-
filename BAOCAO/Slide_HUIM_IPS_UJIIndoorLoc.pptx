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80641af-c064-9a00-aac3-7b8dc1691172}">
          <p14:sldIdLst>
            <p14:sldId id="256"/>
            <p14:sldId id="257"/>
          </p14:sldIdLst>
        </p14:section>
        <p14:section name="Đặt vấn đề" id="{b96e030b-af45-15c1-b9c0-e005336e5b78}">
          <p14:sldIdLst>
            <p14:sldId id="258"/>
          </p14:sldIdLst>
        </p14:section>
        <p14:section name="Cơ sở lý thuyết" id="{e82dbfd2-e44d-6511-8fec-13a4338231f5}">
          <p14:sldIdLst>
            <p14:sldId id="259"/>
            <p14:sldId id="260"/>
          </p14:sldIdLst>
        </p14:section>
        <p14:section name="Phương pháp đề xuất" id="{ec61f2db-51d4-ff5e-b1d8-08c7993b8fd4}">
          <p14:sldIdLst>
            <p14:sldId id="261"/>
            <p14:sldId id="262"/>
            <p14:sldId id="263"/>
            <p14:sldId id="264"/>
            <p14:sldId id="265"/>
            <p14:sldId id="266"/>
            <p14:sldId id="267"/>
          </p14:sldIdLst>
        </p14:section>
        <p14:section name="Thực nghiệm" id="{704a7201-c2a9-edf4-e0c6-9b321d427261}">
          <p14:sldIdLst>
            <p14:sldId id="268"/>
            <p14:sldId id="269"/>
            <p14:sldId id="270"/>
            <p14:sldId id="271"/>
            <p14:sldId id="272"/>
            <p14:sldId id="273"/>
          </p14:sldIdLst>
        </p14:section>
        <p14:section name="Kết luận" id="{52865a3a-8885-e73d-6ba4-b37842d2737d}">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j-lt"/>
              </a:defRPr>
            </a:pPr>
            <a:r>
              <a:rPr sz="1400" b="0" i="0" u="none" strike="noStrike">
                <a:solidFill>
                  <a:srgbClr val="1F3A5F"/>
                </a:solidFill>
                <a:latin typeface="+mj-lt"/>
              </a:rPr>
              <a:t>Sai số trung bình trên tập kiểm tra (m)</a:t>
            </a:r>
          </a:p>
        </c:rich>
      </c:tx>
      <c:layout/>
      <c:overlay val="0"/>
    </c:title>
    <c:autoTitleDeleted val="0"/>
    <c:plotArea>
      <c:layout/>
      <c:barChart>
        <c:barDir val="bar"/>
        <c:grouping val="clustered"/>
        <c:varyColors val="0"/>
        <c:ser>
          <c:idx val="0"/>
          <c:order val="0"/>
          <c:tx>
            <c:strRef>
              <c:f>Sheet1!$B$1</c:f>
              <c:strCache>
                <c:ptCount val="1"/>
                <c:pt idx="0">
                  <c:v>Sai số trung bình (m)</c:v>
                </c:pt>
              </c:strCache>
            </c:strRef>
          </c:tx>
          <c:spPr>
            <a:solidFill>
              <a:srgbClr val="B5532A"/>
            </a:solidFill>
            <a:effectLst/>
          </c:spPr>
          <c:invertIfNegative val="0"/>
          <c:dLbls>
            <c:numFmt formatCode="0.00" sourceLinked="0"/>
            <c:txPr>
              <a:bodyPr/>
              <a:lstStyle/>
              <a:p>
                <a:pPr>
                  <a:defRPr b="0" i="0" strike="noStrike" sz="1200" u="none">
                    <a:solidFill>
                      <a:srgbClr val="1B2A3D"/>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2E7D8C"/>
              </a:solidFill>
              <a:effectLst/>
            </c:spPr>
          </c:dPt>
          <c:dPt>
            <c:idx val="2"/>
            <c:invertIfNegative val="0"/>
            <c:bubble3D val="0"/>
            <c:spPr>
              <a:solidFill>
                <a:srgbClr val="2E7D8C"/>
              </a:solidFill>
              <a:effectLst/>
            </c:spPr>
          </c:dPt>
          <c:dPt>
            <c:idx val="3"/>
            <c:invertIfNegative val="0"/>
            <c:bubble3D val="0"/>
            <c:spPr>
              <a:solidFill>
                <a:srgbClr val="2E7D8C"/>
              </a:solidFill>
              <a:effectLst/>
            </c:spPr>
          </c:dPt>
          <c:dPt>
            <c:idx val="4"/>
            <c:invertIfNegative val="0"/>
            <c:bubble3D val="0"/>
            <c:spPr>
              <a:solidFill>
                <a:srgbClr val="2E7D8C"/>
              </a:solidFill>
              <a:effectLst/>
            </c:spPr>
          </c:dPt>
          <c:dPt>
            <c:idx val="5"/>
            <c:invertIfNegative val="0"/>
            <c:bubble3D val="0"/>
            <c:spPr>
              <a:solidFill>
                <a:srgbClr val="2E7D8C"/>
              </a:solidFill>
              <a:effectLst/>
            </c:spPr>
          </c:dPt>
          <c:dPt>
            <c:idx val="6"/>
            <c:invertIfNegative val="0"/>
            <c:bubble3D val="0"/>
            <c:spPr>
              <a:solidFill>
                <a:srgbClr val="2E7D8C"/>
              </a:solidFill>
              <a:effectLst/>
            </c:spPr>
          </c:dPt>
          <c:dPt>
            <c:idx val="7"/>
            <c:invertIfNegative val="0"/>
            <c:bubble3D val="0"/>
            <c:spPr>
              <a:solidFill>
                <a:srgbClr val="2E7D8C"/>
              </a:solidFill>
              <a:effectLst/>
            </c:spPr>
          </c:dPt>
          <c:dPt>
            <c:idx val="8"/>
            <c:invertIfNegative val="0"/>
            <c:bubble3D val="0"/>
            <c:spPr>
              <a:solidFill>
                <a:srgbClr val="2E7D8C"/>
              </a:solidFill>
              <a:effectLst/>
            </c:spPr>
          </c:dPt>
          <c:cat>
            <c:multiLvlStrRef>
              <c:f>Sheet1!$A$2:$A$10</c:f>
              <c:multiLvlStrCache>
                <c:ptCount val="9"/>
                <c:lvl>
                  <c:pt idx="0">
                    <c:v>UJIIndoorLoc · validation</c:v>
                  </c:pt>
                  <c:pt idx="1">
                    <c:v>UJI_LIB · Test-01</c:v>
                  </c:pt>
                  <c:pt idx="2">
                    <c:v>UJI_LIB · Test-02</c:v>
                  </c:pt>
                  <c:pt idx="3">
                    <c:v>DLULIB · Testing</c:v>
                  </c:pt>
                  <c:pt idx="4">
                    <c:v>HCXY · test</c:v>
                  </c:pt>
                  <c:pt idx="5">
                    <c:v>HUS · case 1</c:v>
                  </c:pt>
                  <c:pt idx="6">
                    <c:v>HUS · case 2</c:v>
                  </c:pt>
                  <c:pt idx="7">
                    <c:v>HUS khử trùng · case 1</c:v>
                  </c:pt>
                  <c:pt idx="8">
                    <c:v>HUS khử trùng · case 2</c:v>
                  </c:pt>
                </c:lvl>
              </c:multiLvlStrCache>
            </c:multiLvlStrRef>
          </c:cat>
          <c:val>
            <c:numRef>
              <c:f>Sheet1!$B$2:$B$10</c:f>
              <c:numCache>
                <c:formatCode>General</c:formatCode>
                <c:ptCount val="9"/>
                <c:pt idx="0">
                  <c:v>8.06</c:v>
                </c:pt>
                <c:pt idx="1">
                  <c:v>2.57</c:v>
                </c:pt>
                <c:pt idx="2">
                  <c:v>2.68</c:v>
                </c:pt>
                <c:pt idx="3">
                  <c:v>6.01</c:v>
                </c:pt>
                <c:pt idx="4">
                  <c:v>2.82</c:v>
                </c:pt>
                <c:pt idx="5">
                  <c:v>1.3</c:v>
                </c:pt>
                <c:pt idx="6">
                  <c:v>1.54</c:v>
                </c:pt>
                <c:pt idx="7">
                  <c:v>1.3</c:v>
                </c:pt>
                <c:pt idx="8">
                  <c:v>1.54</c:v>
                </c:pt>
              </c:numCache>
            </c:numRef>
          </c:val>
        </c:ser>
        <c:dLbls>
          <c:numFmt formatCode="0.00" sourceLinked="0"/>
          <c:txPr>
            <a:bodyPr/>
            <a:lstStyle/>
            <a:p>
              <a:pPr>
                <a:defRPr b="0" i="0" strike="noStrike" sz="1200" u="none">
                  <a:solidFill>
                    <a:srgbClr val="1B2A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D"/>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6350" cap="flat">
              <a:solidFill>
                <a:srgbClr val="E3E0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8C9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thầy cô. Đề tài trình bày cách dùng thuật toán khai thác tập mục lợi ích cao làm thuật toán định vị chính của một hệ thống định vị trong nhà dựa trên vân tay Wi-Fi, không dùng k-NN.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năm phần, theo đúng bố cục của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các phiên bản trước, HUIM chỉ chọn tập AP rồi k-NN định vị. Khai thác HUI toàn cục chỉ giữ 91 AP và cho 17,49 m; khai thác theo tòa-tầng giữ 240 trên 520 AP và cho 5,30 m, nhưng HUIM chỉ đóng góp khoảng 6% mức giảm sai số. Bỏ HUIM đi, k-NN vẫn định vị được, nên đề tài cần một thiết kế mà HUIM quyết định vị trí.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mục có lợi ích nội trong từng giao dịch và lợi ích ngoài. Lợi ích của tập mục là tổng lợi ích các mục trên mọi giao dịch chứa nó. Khác với tập phổ biến, lợi ích không đơn điệu giảm nên không cắt tỉa trực tiếp bằng u(X)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EFIM duyệt cây liệt kê tập theo chiều sâu, mục sắp theo TWU tăng dần. Tại mỗi nút, hai chặn trên lu và su được tính trong một lần quét cơ sở dữ liệu đã chiếu: lu dùng để loại mục khỏi cây con, su dùng để không duyệt nhánh. Bản cài đặt được kiểm thử với thuật toán vét cạn.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pha. Huấn luyện chạy một lần: chuyển RSSI thành lợi ích nội, nhóm vân tay theo điểm tham chiếu, khai thác HUI bằng EFIM và lưu mô hình. Định vị cho từng vân tay: chấm điểm khớp với HUI của mọi ô, làm mượt, chọn tầng, rồi ước lượng toạ độ.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dạng lợi ích nội được thử: abs, rel và rank. Dạng rank không đổi khi một điện thoại đọc lệch mọi AP cùng một lượng dB, và bất biến với mọi biến đổi đơn điệu của thang RSSI. Rank được chọn trên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điểm tham chiếu là một ô, tập vân tay đo tại ô là một cơ sở dữ liệu giao dịch. Ngưỡng minUtil đặt tương đối theo lợi ích của chính ô. EFIM có ngân sách 10 giây hoặc 10 000 HUI; vượt ngân sách thì θ nhân 1,25 và khai thác lại cho tới khi hoàn tất, nên tập HUI luôn đầy đủ. Trên UJIIndoorLoc 676 trên 933 ô phải nâng 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chỉ gồm các HUI cùng toạ độ trọng tâm và nhãn tòa-tầng của từng ô. Không có vân tay huấn luyện nào được lưu, vì vậy không thể so khoảng cách vân tay như k-NN.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mỗi HUI X của ô c: ρ là tỷ lệ mục của X có trong vân tay (khớp mềm vì thiết bị khác có thể bỏ sót AP), agree đo mức phù hợp cường độ. P_c là khối lượng lợi ích HUI của ô mà vân tay chứa, V_c là phần lợi ích của vân tay được các HUI của ô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 lân cận trên cùng tầng có chữ ký HUI gần nhau, nên điểm mỗi ô được cộng điểm các ô cùng tầng bằng nhân Gauss bán kính σ = 3 m. Tầng được chọn là tầng có trung bình k_f = 20 điểm lớn nhất cao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Toạ độ là trọng tâm có trọng số của m = 12 ô có điểm cao nhất trên tầng đã chọn, trọng số tỷ lệ với S mũ p = 8. Trên vân tay ví dụ, sai số là 6,15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tham số được chọn trên 6 fold dev tách từ tập huấn luyện. Với UJIIndoorLoc, 9 trên 11 điện thoại của tập kiểm tra không có trong tập huấn luyện, nên fold được giữ lại theo điện thoại. Sau khi chọn, mô hình được huấn luyện lại trên toàn bộ tập huấn luyện và chấm tập kiểm tra đúng một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năm bộ dữ liệu ngoài UJIIndoorLoc, mọi tập kiểm tra đều dưới 7 m. UJIIndoorLoc đạt 8,06 m, chưa đạt mục tiêu; hai slide sau phân tích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vị 6,15 m, đúng tòa 99,9%, đúng tòa-tầng 80,4%. 77,6% tổng sai số nằm ở các mẫu đã đoán đúng tầng, nên điểm nghẽn là độ phân giải trong tầng: mỗi ô chỉ có khoảng 21 vân tay của một tới bốn người dùng. Thêm vào đó, 9/11 điện thoại của tập kiểm tra không có trong tập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Phiên bản v1 có sai số kiểm tra thấp nhất nhưng sai số dev kém nhất. Chọn v1 vì con số kiểm tra là chọn mô hình trên tập kiểm tra, nên mô hình cuối là v4, phiên bản mà giao thức chọn. Báo cáo ghi lại mọi phiên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UJIIndoorLoc, hệ thống chỉ dùng HUIM tốt hơn k-NN gốc nhưng kém k-NN đã tối ưu. Trên các bộ dữ liệu một tầng, k-NN cho sai số thấp hơn vì vị trí kiểm tra trùng hoặc rất gần điểm tham chiếu. Ưu điểm của thiết kế là toàn bộ quyết định định vị đến từ mẫu 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ba cách kiểm tra: chương trình kiểm chứng độc lập không gọi EFIM hay bộ định vị; sổ Excel tính lại sai số bằng công thức; script chỉ dùng thư viện chuẩn của Python. Cả ba đều khớp với con số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đề tài đã chuyển HUIM từ vai trò tiền xử lý sang vai trò thuật toán định vị. Kết quả đạt mục tiêu trên năm bộ dữ liệu bổ sung; trên UJIIndoorLoc chưa đạt 7 m và nguyên nhân đã được phân tích định lượng.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EU_DE">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6070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00800"/>
            <a:ext cx="11094415" cy="0"/>
          </a:xfrm>
          <a:prstGeom prst="line">
            <a:avLst/>
          </a:prstGeom>
          <a:noFill/>
          <a:ln w="9525">
            <a:solidFill>
              <a:srgbClr val="D5D0C4"/>
            </a:solidFill>
            <a:prstDash val="solid"/>
          </a:ln>
        </p:spPr>
      </p:sp>
      <p:sp>
        <p:nvSpPr>
          <p:cNvPr id="3" name="Text 1"/>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7A8C99"/>
                </a:solidFill>
                <a:latin typeface="Calibri" pitchFamily="34" charset="0"/>
                <a:ea typeface="Calibri" pitchFamily="34" charset="-122"/>
                <a:cs typeface="Calibri" pitchFamily="34" charset="-120"/>
              </a:rPr>
              <a:t>Ứng dụng HUIM trong định vị trong nhà</a:t>
            </a:r>
            <a:endParaRPr lang="en-US" sz="1000" dirty="0"/>
          </a:p>
        </p:txBody>
      </p:sp>
      <p:sp>
        <p:nvSpPr>
          <p:cNvPr id="4" name="Text 2"/>
          <p:cNvSpPr/>
          <p:nvPr>
            <p:ph idx="102" type="title" hasCustomPrompt="1"/>
          </p:nvPr>
        </p:nvSpPr>
        <p:spPr>
          <a:xfrm>
            <a:off x="548640" y="566928"/>
            <a:ext cx="11094415" cy="685800"/>
          </a:xfrm>
          <a:prstGeom prst="rect">
            <a:avLst/>
          </a:prstGeom>
          <a:noFill/>
          <a:ln/>
        </p:spPr>
        <p:txBody>
          <a:bodyPr wrap="square" rtlCol="0"/>
          <a:lstStyle>
            <a:lvl1pPr algn="l" indent="0" marL="0">
              <a:buNone/>
              <a:defRPr lang="en-US" sz="2600" b="1" dirty="0">
                <a:solidFill>
                  <a:srgbClr val="1F3A5F"/>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10058400" cy="365760"/>
          </a:xfrm>
          <a:prstGeom prst="rect">
            <a:avLst/>
          </a:prstGeom>
          <a:noFill/>
          <a:ln/>
        </p:spPr>
        <p:txBody>
          <a:bodyPr wrap="square" lIns="0" tIns="0" rIns="0" bIns="0" rtlCol="0" anchor="ctr"/>
          <a:lstStyle/>
          <a:p>
            <a:pPr indent="0" marL="0">
              <a:buNone/>
            </a:pPr>
            <a:r>
              <a:rPr lang="en-US" sz="1300" b="1" spc="200" kern="0" dirty="0">
                <a:solidFill>
                  <a:srgbClr val="9BB7C4"/>
                </a:solidFill>
                <a:latin typeface="Calibri" pitchFamily="34" charset="0"/>
                <a:ea typeface="Calibri" pitchFamily="34" charset="-122"/>
                <a:cs typeface="Calibri" pitchFamily="34" charset="-120"/>
              </a:rPr>
              <a:t>BÁO CÁO CHUYÊN ĐỀ CAO HỌC  ·  NGÀNH KHOA HỌC MÁY TÍNH</a:t>
            </a:r>
            <a:endParaRPr lang="en-US" sz="1300" dirty="0"/>
          </a:p>
        </p:txBody>
      </p:sp>
      <p:sp>
        <p:nvSpPr>
          <p:cNvPr id="3" name="Text 0"/>
          <p:cNvSpPr/>
          <p:nvPr>
            <p:ph idx="100" type="title" hasCustomPrompt="1"/>
          </p:nvPr>
        </p:nvSpPr>
        <p:spPr>
          <a:xfrm>
            <a:off x="548640" y="1828800"/>
            <a:ext cx="106070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Ứng dụng khai thác tập mục lợi ích cao (HUIM) trong hệ thống định vị trong nhà</a:t>
            </a:r>
            <a:endParaRPr lang="en-US" sz="3600" dirty="0"/>
          </a:p>
        </p:txBody>
      </p:sp>
      <p:sp>
        <p:nvSpPr>
          <p:cNvPr id="4" name="Text 2"/>
          <p:cNvSpPr txBox="1"/>
          <p:nvPr/>
        </p:nvSpPr>
        <p:spPr>
          <a:xfrm>
            <a:off x="548640" y="3611880"/>
            <a:ext cx="10058400" cy="457200"/>
          </a:xfrm>
          <a:prstGeom prst="rect">
            <a:avLst/>
          </a:prstGeom>
          <a:noFill/>
          <a:ln/>
        </p:spPr>
        <p:txBody>
          <a:bodyPr wrap="square" lIns="0" tIns="0" rIns="0" bIns="0" rtlCol="0" anchor="ctr"/>
          <a:lstStyle/>
          <a:p>
            <a:pPr indent="0" marL="0">
              <a:buNone/>
            </a:pPr>
            <a:r>
              <a:rPr lang="en-US" sz="1800" i="1" dirty="0">
                <a:solidFill>
                  <a:srgbClr val="DCE6EE"/>
                </a:solidFill>
                <a:latin typeface="Calibri" pitchFamily="34" charset="0"/>
                <a:ea typeface="Calibri" pitchFamily="34" charset="-122"/>
                <a:cs typeface="Calibri" pitchFamily="34" charset="-120"/>
              </a:rPr>
              <a:t>Định vị bằng so khớp High Utility Itemset trên vân tay Wi-Fi UJIIndoorLoc và năm bộ dữ liệu bổ sung</a:t>
            </a:r>
            <a:endParaRPr lang="en-US" sz="1800" dirty="0"/>
          </a:p>
        </p:txBody>
      </p:sp>
      <p:sp>
        <p:nvSpPr>
          <p:cNvPr id="5" name="Shape 3"/>
          <p:cNvSpPr/>
          <p:nvPr/>
        </p:nvSpPr>
        <p:spPr>
          <a:xfrm>
            <a:off x="548640" y="4434840"/>
            <a:ext cx="2743200" cy="0"/>
          </a:xfrm>
          <a:prstGeom prst="line">
            <a:avLst/>
          </a:prstGeom>
          <a:noFill/>
          <a:ln w="12700">
            <a:solidFill>
              <a:srgbClr val="9BB7C4"/>
            </a:solidFill>
            <a:prstDash val="solid"/>
          </a:ln>
        </p:spPr>
      </p:sp>
      <p:sp>
        <p:nvSpPr>
          <p:cNvPr id="6" name="Text 4"/>
          <p:cNvSpPr txBox="1"/>
          <p:nvPr/>
        </p:nvSpPr>
        <p:spPr>
          <a:xfrm>
            <a:off x="548640" y="4617720"/>
            <a:ext cx="7315200" cy="1280160"/>
          </a:xfrm>
          <a:prstGeom prst="rect">
            <a:avLst/>
          </a:prstGeom>
          <a:noFill/>
          <a:ln/>
        </p:spPr>
        <p:txBody>
          <a:bodyPr wrap="square" lIns="0" tIns="0" rIns="0" bIns="0" rtlCol="0" anchor="ctr"/>
          <a:lstStyle/>
          <a:p>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Học viên thực hiện: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a:t>
            </a:r>
            <a:endParaRPr lang="en-US" sz="1600" dirty="0"/>
          </a:p>
          <a:p>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Giảng viên hướng dẫn: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Năm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MỞ ĐẦU</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Nội dung trình bày</a:t>
            </a:r>
            <a:endParaRPr lang="en-US" sz="2600" dirty="0"/>
          </a:p>
        </p:txBody>
      </p:sp>
      <p:sp>
        <p:nvSpPr>
          <p:cNvPr id="4" name="Text 2"/>
          <p:cNvSpPr txBox="1"/>
          <p:nvPr/>
        </p:nvSpPr>
        <p:spPr>
          <a:xfrm>
            <a:off x="548640" y="1600200"/>
            <a:ext cx="914400" cy="731520"/>
          </a:xfrm>
          <a:prstGeom prst="rect">
            <a:avLst/>
          </a:prstGeom>
          <a:noFill/>
          <a:ln/>
        </p:spPr>
        <p:txBody>
          <a:bodyPr wrap="square" lIns="0" tIns="0" rIns="0" bIns="0" rtlCol="0" anchor="t"/>
          <a:lstStyle/>
          <a:p>
            <a:pPr indent="0" marL="0">
              <a:buNone/>
            </a:pPr>
            <a:r>
              <a:rPr lang="en-US" sz="3400" b="1" dirty="0">
                <a:solidFill>
                  <a:srgbClr val="2E7D8C"/>
                </a:solidFill>
                <a:latin typeface="Cambria" pitchFamily="34" charset="0"/>
                <a:ea typeface="Cambria" pitchFamily="34" charset="-122"/>
                <a:cs typeface="Cambria" pitchFamily="34" charset="-120"/>
              </a:rPr>
              <a:t>01</a:t>
            </a:r>
            <a:endParaRPr lang="en-US" sz="3400" dirty="0"/>
          </a:p>
        </p:txBody>
      </p:sp>
      <p:sp>
        <p:nvSpPr>
          <p:cNvPr id="5" name="Text 3"/>
          <p:cNvSpPr txBox="1"/>
          <p:nvPr/>
        </p:nvSpPr>
        <p:spPr>
          <a:xfrm>
            <a:off x="1600200" y="1618488"/>
            <a:ext cx="5486400" cy="384048"/>
          </a:xfrm>
          <a:prstGeom prst="rect">
            <a:avLst/>
          </a:prstGeom>
          <a:noFill/>
          <a:ln/>
        </p:spPr>
        <p:txBody>
          <a:bodyPr wrap="square" lIns="0" tIns="0" rIns="0" bIns="0" rtlCol="0" anchor="ctr"/>
          <a:lstStyle/>
          <a:p>
            <a:pPr indent="0" marL="0">
              <a:buNone/>
            </a:pPr>
            <a:r>
              <a:rPr lang="en-US" sz="2000" b="1" dirty="0">
                <a:solidFill>
                  <a:srgbClr val="1F3A5F"/>
                </a:solidFill>
                <a:latin typeface="Cambria" pitchFamily="34" charset="0"/>
                <a:ea typeface="Cambria" pitchFamily="34" charset="-122"/>
                <a:cs typeface="Cambria" pitchFamily="34" charset="-120"/>
              </a:rPr>
              <a:t>Đặt vấn đề</a:t>
            </a:r>
            <a:endParaRPr lang="en-US" sz="2000" dirty="0"/>
          </a:p>
        </p:txBody>
      </p:sp>
      <p:sp>
        <p:nvSpPr>
          <p:cNvPr id="6" name="Text 4"/>
          <p:cNvSpPr txBox="1"/>
          <p:nvPr/>
        </p:nvSpPr>
        <p:spPr>
          <a:xfrm>
            <a:off x="1600200" y="2002536"/>
            <a:ext cx="9144000" cy="320040"/>
          </a:xfrm>
          <a:prstGeom prst="rect">
            <a:avLst/>
          </a:prstGeom>
          <a:noFill/>
          <a:ln/>
        </p:spPr>
        <p:txBody>
          <a:bodyPr wrap="square" lIns="0" tIns="0" rIns="0" bIns="0" rtlCol="0" anchor="ctr"/>
          <a:lstStyle/>
          <a:p>
            <a:pPr indent="0" marL="0">
              <a:buNone/>
            </a:pPr>
            <a:r>
              <a:rPr lang="en-US" sz="1400" dirty="0">
                <a:solidFill>
                  <a:srgbClr val="7A8C99"/>
                </a:solidFill>
                <a:latin typeface="Calibri" pitchFamily="34" charset="0"/>
                <a:ea typeface="Calibri" pitchFamily="34" charset="-122"/>
                <a:cs typeface="Calibri" pitchFamily="34" charset="-120"/>
              </a:rPr>
              <a:t>Vai trò của HUIM trong các phiên bản trước và câu hỏi nghiên cứu</a:t>
            </a:r>
            <a:endParaRPr lang="en-US" sz="1400" dirty="0"/>
          </a:p>
        </p:txBody>
      </p:sp>
      <p:sp>
        <p:nvSpPr>
          <p:cNvPr id="7" name="Text 5"/>
          <p:cNvSpPr txBox="1"/>
          <p:nvPr/>
        </p:nvSpPr>
        <p:spPr>
          <a:xfrm>
            <a:off x="548640" y="2514600"/>
            <a:ext cx="914400" cy="731520"/>
          </a:xfrm>
          <a:prstGeom prst="rect">
            <a:avLst/>
          </a:prstGeom>
          <a:noFill/>
          <a:ln/>
        </p:spPr>
        <p:txBody>
          <a:bodyPr wrap="square" lIns="0" tIns="0" rIns="0" bIns="0" rtlCol="0" anchor="t"/>
          <a:lstStyle/>
          <a:p>
            <a:pPr indent="0" marL="0">
              <a:buNone/>
            </a:pPr>
            <a:r>
              <a:rPr lang="en-US" sz="3400" b="1" dirty="0">
                <a:solidFill>
                  <a:srgbClr val="2E7D8C"/>
                </a:solidFill>
                <a:latin typeface="Cambria" pitchFamily="34" charset="0"/>
                <a:ea typeface="Cambria" pitchFamily="34" charset="-122"/>
                <a:cs typeface="Cambria" pitchFamily="34" charset="-120"/>
              </a:rPr>
              <a:t>02</a:t>
            </a:r>
            <a:endParaRPr lang="en-US" sz="3400" dirty="0"/>
          </a:p>
        </p:txBody>
      </p:sp>
      <p:sp>
        <p:nvSpPr>
          <p:cNvPr id="8" name="Text 6"/>
          <p:cNvSpPr txBox="1"/>
          <p:nvPr/>
        </p:nvSpPr>
        <p:spPr>
          <a:xfrm>
            <a:off x="1600200" y="2532888"/>
            <a:ext cx="5486400" cy="384048"/>
          </a:xfrm>
          <a:prstGeom prst="rect">
            <a:avLst/>
          </a:prstGeom>
          <a:noFill/>
          <a:ln/>
        </p:spPr>
        <p:txBody>
          <a:bodyPr wrap="square" lIns="0" tIns="0" rIns="0" bIns="0" rtlCol="0" anchor="ctr"/>
          <a:lstStyle/>
          <a:p>
            <a:pPr indent="0" marL="0">
              <a:buNone/>
            </a:pPr>
            <a:r>
              <a:rPr lang="en-US" sz="2000" b="1" dirty="0">
                <a:solidFill>
                  <a:srgbClr val="1F3A5F"/>
                </a:solidFill>
                <a:latin typeface="Cambria" pitchFamily="34" charset="0"/>
                <a:ea typeface="Cambria" pitchFamily="34" charset="-122"/>
                <a:cs typeface="Cambria" pitchFamily="34" charset="-120"/>
              </a:rPr>
              <a:t>Cơ sở lý thuyết</a:t>
            </a:r>
            <a:endParaRPr lang="en-US" sz="2000" dirty="0"/>
          </a:p>
        </p:txBody>
      </p:sp>
      <p:sp>
        <p:nvSpPr>
          <p:cNvPr id="9" name="Text 7"/>
          <p:cNvSpPr txBox="1"/>
          <p:nvPr/>
        </p:nvSpPr>
        <p:spPr>
          <a:xfrm>
            <a:off x="1600200" y="2916936"/>
            <a:ext cx="9144000" cy="320040"/>
          </a:xfrm>
          <a:prstGeom prst="rect">
            <a:avLst/>
          </a:prstGeom>
          <a:noFill/>
          <a:ln/>
        </p:spPr>
        <p:txBody>
          <a:bodyPr wrap="square" lIns="0" tIns="0" rIns="0" bIns="0" rtlCol="0" anchor="ctr"/>
          <a:lstStyle/>
          <a:p>
            <a:pPr indent="0" marL="0">
              <a:buNone/>
            </a:pPr>
            <a:r>
              <a:rPr lang="en-US" sz="1400" dirty="0">
                <a:solidFill>
                  <a:srgbClr val="7A8C99"/>
                </a:solidFill>
                <a:latin typeface="Calibri" pitchFamily="34" charset="0"/>
                <a:ea typeface="Calibri" pitchFamily="34" charset="-122"/>
                <a:cs typeface="Calibri" pitchFamily="34" charset="-120"/>
              </a:rPr>
              <a:t>Bài toán khai thác tập mục lợi ích cao và thuật toán EFIM</a:t>
            </a:r>
            <a:endParaRPr lang="en-US" sz="1400" dirty="0"/>
          </a:p>
        </p:txBody>
      </p:sp>
      <p:sp>
        <p:nvSpPr>
          <p:cNvPr id="10" name="Text 8"/>
          <p:cNvSpPr txBox="1"/>
          <p:nvPr/>
        </p:nvSpPr>
        <p:spPr>
          <a:xfrm>
            <a:off x="548640" y="3429000"/>
            <a:ext cx="914400" cy="731520"/>
          </a:xfrm>
          <a:prstGeom prst="rect">
            <a:avLst/>
          </a:prstGeom>
          <a:noFill/>
          <a:ln/>
        </p:spPr>
        <p:txBody>
          <a:bodyPr wrap="square" lIns="0" tIns="0" rIns="0" bIns="0" rtlCol="0" anchor="t"/>
          <a:lstStyle/>
          <a:p>
            <a:pPr indent="0" marL="0">
              <a:buNone/>
            </a:pPr>
            <a:r>
              <a:rPr lang="en-US" sz="3400" b="1" dirty="0">
                <a:solidFill>
                  <a:srgbClr val="2E7D8C"/>
                </a:solidFill>
                <a:latin typeface="Cambria" pitchFamily="34" charset="0"/>
                <a:ea typeface="Cambria" pitchFamily="34" charset="-122"/>
                <a:cs typeface="Cambria" pitchFamily="34" charset="-120"/>
              </a:rPr>
              <a:t>03</a:t>
            </a:r>
            <a:endParaRPr lang="en-US" sz="3400" dirty="0"/>
          </a:p>
        </p:txBody>
      </p:sp>
      <p:sp>
        <p:nvSpPr>
          <p:cNvPr id="11" name="Text 9"/>
          <p:cNvSpPr txBox="1"/>
          <p:nvPr/>
        </p:nvSpPr>
        <p:spPr>
          <a:xfrm>
            <a:off x="1600200" y="3447288"/>
            <a:ext cx="5486400" cy="384048"/>
          </a:xfrm>
          <a:prstGeom prst="rect">
            <a:avLst/>
          </a:prstGeom>
          <a:noFill/>
          <a:ln/>
        </p:spPr>
        <p:txBody>
          <a:bodyPr wrap="square" lIns="0" tIns="0" rIns="0" bIns="0" rtlCol="0" anchor="ctr"/>
          <a:lstStyle/>
          <a:p>
            <a:pPr indent="0" marL="0">
              <a:buNone/>
            </a:pPr>
            <a:r>
              <a:rPr lang="en-US" sz="2000" b="1" dirty="0">
                <a:solidFill>
                  <a:srgbClr val="1F3A5F"/>
                </a:solidFill>
                <a:latin typeface="Cambria" pitchFamily="34" charset="0"/>
                <a:ea typeface="Cambria" pitchFamily="34" charset="-122"/>
                <a:cs typeface="Cambria" pitchFamily="34" charset="-120"/>
              </a:rPr>
              <a:t>Phương pháp đề xuất</a:t>
            </a:r>
            <a:endParaRPr lang="en-US" sz="2000" dirty="0"/>
          </a:p>
        </p:txBody>
      </p:sp>
      <p:sp>
        <p:nvSpPr>
          <p:cNvPr id="12" name="Text 10"/>
          <p:cNvSpPr txBox="1"/>
          <p:nvPr/>
        </p:nvSpPr>
        <p:spPr>
          <a:xfrm>
            <a:off x="1600200" y="3831336"/>
            <a:ext cx="9144000" cy="320040"/>
          </a:xfrm>
          <a:prstGeom prst="rect">
            <a:avLst/>
          </a:prstGeom>
          <a:noFill/>
          <a:ln/>
        </p:spPr>
        <p:txBody>
          <a:bodyPr wrap="square" lIns="0" tIns="0" rIns="0" bIns="0" rtlCol="0" anchor="ctr"/>
          <a:lstStyle/>
          <a:p>
            <a:pPr indent="0" marL="0">
              <a:buNone/>
            </a:pPr>
            <a:r>
              <a:rPr lang="en-US" sz="1400" dirty="0">
                <a:solidFill>
                  <a:srgbClr val="7A8C99"/>
                </a:solidFill>
                <a:latin typeface="Calibri" pitchFamily="34" charset="0"/>
                <a:ea typeface="Calibri" pitchFamily="34" charset="-122"/>
                <a:cs typeface="Calibri" pitchFamily="34" charset="-120"/>
              </a:rPr>
              <a:t>Bảy bước từ vân tay Wi-Fi tới toạ độ, chỉ dùng HUI</a:t>
            </a:r>
            <a:endParaRPr lang="en-US" sz="1400" dirty="0"/>
          </a:p>
        </p:txBody>
      </p:sp>
      <p:sp>
        <p:nvSpPr>
          <p:cNvPr id="13" name="Text 11"/>
          <p:cNvSpPr txBox="1"/>
          <p:nvPr/>
        </p:nvSpPr>
        <p:spPr>
          <a:xfrm>
            <a:off x="548640" y="4343400"/>
            <a:ext cx="914400" cy="731520"/>
          </a:xfrm>
          <a:prstGeom prst="rect">
            <a:avLst/>
          </a:prstGeom>
          <a:noFill/>
          <a:ln/>
        </p:spPr>
        <p:txBody>
          <a:bodyPr wrap="square" lIns="0" tIns="0" rIns="0" bIns="0" rtlCol="0" anchor="t"/>
          <a:lstStyle/>
          <a:p>
            <a:pPr indent="0" marL="0">
              <a:buNone/>
            </a:pPr>
            <a:r>
              <a:rPr lang="en-US" sz="3400" b="1" dirty="0">
                <a:solidFill>
                  <a:srgbClr val="2E7D8C"/>
                </a:solidFill>
                <a:latin typeface="Cambria" pitchFamily="34" charset="0"/>
                <a:ea typeface="Cambria" pitchFamily="34" charset="-122"/>
                <a:cs typeface="Cambria" pitchFamily="34" charset="-120"/>
              </a:rPr>
              <a:t>04</a:t>
            </a:r>
            <a:endParaRPr lang="en-US" sz="3400" dirty="0"/>
          </a:p>
        </p:txBody>
      </p:sp>
      <p:sp>
        <p:nvSpPr>
          <p:cNvPr id="14" name="Text 12"/>
          <p:cNvSpPr txBox="1"/>
          <p:nvPr/>
        </p:nvSpPr>
        <p:spPr>
          <a:xfrm>
            <a:off x="1600200" y="4361688"/>
            <a:ext cx="5486400" cy="384048"/>
          </a:xfrm>
          <a:prstGeom prst="rect">
            <a:avLst/>
          </a:prstGeom>
          <a:noFill/>
          <a:ln/>
        </p:spPr>
        <p:txBody>
          <a:bodyPr wrap="square" lIns="0" tIns="0" rIns="0" bIns="0" rtlCol="0" anchor="ctr"/>
          <a:lstStyle/>
          <a:p>
            <a:pPr indent="0" marL="0">
              <a:buNone/>
            </a:pPr>
            <a:r>
              <a:rPr lang="en-US" sz="2000" b="1" dirty="0">
                <a:solidFill>
                  <a:srgbClr val="1F3A5F"/>
                </a:solidFill>
                <a:latin typeface="Cambria" pitchFamily="34" charset="0"/>
                <a:ea typeface="Cambria" pitchFamily="34" charset="-122"/>
                <a:cs typeface="Cambria" pitchFamily="34" charset="-120"/>
              </a:rPr>
              <a:t>Thực nghiệm và đánh giá</a:t>
            </a:r>
            <a:endParaRPr lang="en-US" sz="2000" dirty="0"/>
          </a:p>
        </p:txBody>
      </p:sp>
      <p:sp>
        <p:nvSpPr>
          <p:cNvPr id="15" name="Text 13"/>
          <p:cNvSpPr txBox="1"/>
          <p:nvPr/>
        </p:nvSpPr>
        <p:spPr>
          <a:xfrm>
            <a:off x="1600200" y="4745736"/>
            <a:ext cx="9144000" cy="320040"/>
          </a:xfrm>
          <a:prstGeom prst="rect">
            <a:avLst/>
          </a:prstGeom>
          <a:noFill/>
          <a:ln/>
        </p:spPr>
        <p:txBody>
          <a:bodyPr wrap="square" lIns="0" tIns="0" rIns="0" bIns="0" rtlCol="0" anchor="ctr"/>
          <a:lstStyle/>
          <a:p>
            <a:pPr indent="0" marL="0">
              <a:buNone/>
            </a:pPr>
            <a:r>
              <a:rPr lang="en-US" sz="1400" dirty="0">
                <a:solidFill>
                  <a:srgbClr val="7A8C99"/>
                </a:solidFill>
                <a:latin typeface="Calibri" pitchFamily="34" charset="0"/>
                <a:ea typeface="Calibri" pitchFamily="34" charset="-122"/>
                <a:cs typeface="Calibri" pitchFamily="34" charset="-120"/>
              </a:rPr>
              <a:t>Giao thức, kết quả trên 9 tập kiểm tra, phân tích và kiểm chứng</a:t>
            </a:r>
            <a:endParaRPr lang="en-US" sz="1400" dirty="0"/>
          </a:p>
        </p:txBody>
      </p:sp>
      <p:sp>
        <p:nvSpPr>
          <p:cNvPr id="16" name="Text 14"/>
          <p:cNvSpPr txBox="1"/>
          <p:nvPr/>
        </p:nvSpPr>
        <p:spPr>
          <a:xfrm>
            <a:off x="548640" y="5257800"/>
            <a:ext cx="914400" cy="731520"/>
          </a:xfrm>
          <a:prstGeom prst="rect">
            <a:avLst/>
          </a:prstGeom>
          <a:noFill/>
          <a:ln/>
        </p:spPr>
        <p:txBody>
          <a:bodyPr wrap="square" lIns="0" tIns="0" rIns="0" bIns="0" rtlCol="0" anchor="t"/>
          <a:lstStyle/>
          <a:p>
            <a:pPr indent="0" marL="0">
              <a:buNone/>
            </a:pPr>
            <a:r>
              <a:rPr lang="en-US" sz="3400" b="1" dirty="0">
                <a:solidFill>
                  <a:srgbClr val="2E7D8C"/>
                </a:solidFill>
                <a:latin typeface="Cambria" pitchFamily="34" charset="0"/>
                <a:ea typeface="Cambria" pitchFamily="34" charset="-122"/>
                <a:cs typeface="Cambria" pitchFamily="34" charset="-120"/>
              </a:rPr>
              <a:t>05</a:t>
            </a:r>
            <a:endParaRPr lang="en-US" sz="3400" dirty="0"/>
          </a:p>
        </p:txBody>
      </p:sp>
      <p:sp>
        <p:nvSpPr>
          <p:cNvPr id="17" name="Text 15"/>
          <p:cNvSpPr txBox="1"/>
          <p:nvPr/>
        </p:nvSpPr>
        <p:spPr>
          <a:xfrm>
            <a:off x="1600200" y="5276088"/>
            <a:ext cx="5486400" cy="384048"/>
          </a:xfrm>
          <a:prstGeom prst="rect">
            <a:avLst/>
          </a:prstGeom>
          <a:noFill/>
          <a:ln/>
        </p:spPr>
        <p:txBody>
          <a:bodyPr wrap="square" lIns="0" tIns="0" rIns="0" bIns="0" rtlCol="0" anchor="ctr"/>
          <a:lstStyle/>
          <a:p>
            <a:pPr indent="0" marL="0">
              <a:buNone/>
            </a:pPr>
            <a:r>
              <a:rPr lang="en-US" sz="2000" b="1" dirty="0">
                <a:solidFill>
                  <a:srgbClr val="1F3A5F"/>
                </a:solidFill>
                <a:latin typeface="Cambria" pitchFamily="34" charset="0"/>
                <a:ea typeface="Cambria" pitchFamily="34" charset="-122"/>
                <a:cs typeface="Cambria" pitchFamily="34" charset="-120"/>
              </a:rPr>
              <a:t>Kết luận</a:t>
            </a:r>
            <a:endParaRPr lang="en-US" sz="2000" dirty="0"/>
          </a:p>
        </p:txBody>
      </p:sp>
      <p:sp>
        <p:nvSpPr>
          <p:cNvPr id="18" name="Text 16"/>
          <p:cNvSpPr txBox="1"/>
          <p:nvPr/>
        </p:nvSpPr>
        <p:spPr>
          <a:xfrm>
            <a:off x="1600200" y="5660136"/>
            <a:ext cx="9144000" cy="320040"/>
          </a:xfrm>
          <a:prstGeom prst="rect">
            <a:avLst/>
          </a:prstGeom>
          <a:noFill/>
          <a:ln/>
        </p:spPr>
        <p:txBody>
          <a:bodyPr wrap="square" lIns="0" tIns="0" rIns="0" bIns="0" rtlCol="0" anchor="ctr"/>
          <a:lstStyle/>
          <a:p>
            <a:pPr indent="0" marL="0">
              <a:buNone/>
            </a:pPr>
            <a:r>
              <a:rPr lang="en-US" sz="1400" dirty="0">
                <a:solidFill>
                  <a:srgbClr val="7A8C99"/>
                </a:solidFill>
                <a:latin typeface="Calibri" pitchFamily="34" charset="0"/>
                <a:ea typeface="Calibri" pitchFamily="34" charset="-122"/>
                <a:cs typeface="Calibri" pitchFamily="34" charset="-120"/>
              </a:rPr>
              <a:t>Đóng góp, hạn chế và hướng phát triển</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01 · ĐẶT VẤN ĐỀ</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HUIM phải là thuật toán định vị, không chỉ là bước lọc AP</a:t>
            </a:r>
            <a:endParaRPr lang="en-US" sz="2600" dirty="0"/>
          </a:p>
        </p:txBody>
      </p:sp>
      <p:sp>
        <p:nvSpPr>
          <p:cNvPr id="5" name="Shape 2"/>
          <p:cNvSpPr/>
          <p:nvPr/>
        </p:nvSpPr>
        <p:spPr>
          <a:xfrm>
            <a:off x="548640" y="1554480"/>
            <a:ext cx="5349240" cy="3566160"/>
          </a:xfrm>
          <a:prstGeom prst="rect">
            <a:avLst/>
          </a:prstGeom>
          <a:solidFill>
            <a:srgbClr val="F6E9E2"/>
          </a:solidFill>
          <a:ln w="12700">
            <a:solidFill>
              <a:srgbClr val="F6E9E2"/>
            </a:solidFill>
            <a:prstDash val="solid"/>
          </a:ln>
        </p:spPr>
      </p:sp>
      <p:sp>
        <p:nvSpPr>
          <p:cNvPr id="6" name="Text 3"/>
          <p:cNvSpPr txBox="1"/>
          <p:nvPr/>
        </p:nvSpPr>
        <p:spPr>
          <a:xfrm>
            <a:off x="777240" y="1719072"/>
            <a:ext cx="4892040" cy="365760"/>
          </a:xfrm>
          <a:prstGeom prst="rect">
            <a:avLst/>
          </a:prstGeom>
          <a:noFill/>
          <a:ln/>
        </p:spPr>
        <p:txBody>
          <a:bodyPr wrap="square" lIns="0" tIns="0" rIns="0" bIns="0" rtlCol="0" anchor="ctr"/>
          <a:lstStyle/>
          <a:p>
            <a:pPr indent="0" marL="0">
              <a:buNone/>
            </a:pPr>
            <a:r>
              <a:rPr lang="en-US" sz="1700" b="1" dirty="0">
                <a:solidFill>
                  <a:srgbClr val="B5532A"/>
                </a:solidFill>
                <a:latin typeface="Cambria" pitchFamily="34" charset="0"/>
                <a:ea typeface="Cambria" pitchFamily="34" charset="-122"/>
                <a:cs typeface="Cambria" pitchFamily="34" charset="-120"/>
              </a:rPr>
              <a:t>Trước: HUIM là nhánh tiền xử lý</a:t>
            </a:r>
            <a:endParaRPr lang="en-US" sz="1700" dirty="0"/>
          </a:p>
        </p:txBody>
      </p:sp>
      <p:sp>
        <p:nvSpPr>
          <p:cNvPr id="7" name="Text 4"/>
          <p:cNvSpPr txBox="1"/>
          <p:nvPr/>
        </p:nvSpPr>
        <p:spPr>
          <a:xfrm>
            <a:off x="777240" y="2240280"/>
            <a:ext cx="4892040" cy="274320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HUIM chọn tập AP; </a:t>
            </a:r>
            <a:pPr algn="l" marL="228600" indent="-228600">
              <a:spcAft>
                <a:spcPts val="800"/>
              </a:spcAft>
              <a:buSzPct val="100000"/>
              <a:buChar char="•"/>
            </a:pPr>
            <a:r>
              <a:rPr lang="en-US" sz="1700" b="1" dirty="0">
                <a:solidFill>
                  <a:srgbClr val="1B2A3D"/>
                </a:solidFill>
                <a:latin typeface="Calibri" pitchFamily="34" charset="0"/>
                <a:ea typeface="Calibri" pitchFamily="34" charset="-122"/>
                <a:cs typeface="Calibri" pitchFamily="34" charset="-120"/>
              </a:rPr>
              <a:t>k-NN</a:t>
            </a:r>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 so khoảng cách vân tay và quyết định vị trí</a:t>
            </a:r>
            <a:endParaRPr lang="en-US" sz="1700" dirty="0"/>
          </a:p>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HUI toàn cục: còn 91/520 AP, sai số 17,49 m</a:t>
            </a:r>
            <a:endParaRPr lang="en-US" sz="1700" dirty="0"/>
          </a:p>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HUI theo tòa–tầng: 240/520 AP, sai số 5,30 m</a:t>
            </a:r>
            <a:endParaRPr lang="en-US" sz="1700" dirty="0"/>
          </a:p>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Phân tích Shapley: HUIM đóng góp khoảng </a:t>
            </a:r>
            <a:pPr algn="l" marL="228600" indent="-228600">
              <a:spcAft>
                <a:spcPts val="800"/>
              </a:spcAft>
              <a:buSzPct val="100000"/>
              <a:buChar char="•"/>
            </a:pPr>
            <a:r>
              <a:rPr lang="en-US" sz="1700" b="1" dirty="0">
                <a:solidFill>
                  <a:srgbClr val="1B2A3D"/>
                </a:solidFill>
                <a:latin typeface="Calibri" pitchFamily="34" charset="0"/>
                <a:ea typeface="Calibri" pitchFamily="34" charset="-122"/>
                <a:cs typeface="Calibri" pitchFamily="34" charset="-120"/>
              </a:rPr>
              <a:t>6%</a:t>
            </a:r>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 mức giảm sai số</a:t>
            </a:r>
            <a:endParaRPr lang="en-US" sz="1700" dirty="0"/>
          </a:p>
        </p:txBody>
      </p:sp>
      <p:sp>
        <p:nvSpPr>
          <p:cNvPr id="8" name="Shape 5"/>
          <p:cNvSpPr/>
          <p:nvPr/>
        </p:nvSpPr>
        <p:spPr>
          <a:xfrm>
            <a:off x="6291072" y="1554480"/>
            <a:ext cx="5349240" cy="3566160"/>
          </a:xfrm>
          <a:prstGeom prst="rect">
            <a:avLst/>
          </a:prstGeom>
          <a:solidFill>
            <a:srgbClr val="E8F1F2"/>
          </a:solidFill>
          <a:ln w="12700">
            <a:solidFill>
              <a:srgbClr val="E8F1F2"/>
            </a:solidFill>
            <a:prstDash val="solid"/>
          </a:ln>
        </p:spPr>
      </p:sp>
      <p:sp>
        <p:nvSpPr>
          <p:cNvPr id="9" name="Text 6"/>
          <p:cNvSpPr txBox="1"/>
          <p:nvPr/>
        </p:nvSpPr>
        <p:spPr>
          <a:xfrm>
            <a:off x="6519672" y="1719072"/>
            <a:ext cx="4892040" cy="365760"/>
          </a:xfrm>
          <a:prstGeom prst="rect">
            <a:avLst/>
          </a:prstGeom>
          <a:noFill/>
          <a:ln/>
        </p:spPr>
        <p:txBody>
          <a:bodyPr wrap="square" lIns="0" tIns="0" rIns="0" bIns="0" rtlCol="0" anchor="ctr"/>
          <a:lstStyle/>
          <a:p>
            <a:pPr indent="0" marL="0">
              <a:buNone/>
            </a:pPr>
            <a:r>
              <a:rPr lang="en-US" sz="1700" b="1" dirty="0">
                <a:solidFill>
                  <a:srgbClr val="2E7D8C"/>
                </a:solidFill>
                <a:latin typeface="Cambria" pitchFamily="34" charset="0"/>
                <a:ea typeface="Cambria" pitchFamily="34" charset="-122"/>
                <a:cs typeface="Cambria" pitchFamily="34" charset="-120"/>
              </a:rPr>
              <a:t>Đề xuất: HUIM là mô hình định vị</a:t>
            </a:r>
            <a:endParaRPr lang="en-US" sz="1700" dirty="0"/>
          </a:p>
        </p:txBody>
      </p:sp>
      <p:sp>
        <p:nvSpPr>
          <p:cNvPr id="10" name="Text 7"/>
          <p:cNvSpPr txBox="1"/>
          <p:nvPr/>
        </p:nvSpPr>
        <p:spPr>
          <a:xfrm>
            <a:off x="6519672" y="2240280"/>
            <a:ext cx="4892040" cy="274320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Mỗi điểm tham chiếu là một </a:t>
            </a:r>
            <a:pPr algn="l" marL="228600" indent="-228600">
              <a:spcAft>
                <a:spcPts val="800"/>
              </a:spcAft>
              <a:buSzPct val="100000"/>
              <a:buChar char="•"/>
            </a:pPr>
            <a:r>
              <a:rPr lang="en-US" sz="1700" b="1" dirty="0">
                <a:solidFill>
                  <a:srgbClr val="1B2A3D"/>
                </a:solidFill>
                <a:latin typeface="Calibri" pitchFamily="34" charset="0"/>
                <a:ea typeface="Calibri" pitchFamily="34" charset="-122"/>
                <a:cs typeface="Calibri" pitchFamily="34" charset="-120"/>
              </a:rPr>
              <a:t>ô</a:t>
            </a:r>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 vân tay của ô là một cơ sở dữ liệu giao dịch</a:t>
            </a:r>
            <a:endParaRPr lang="en-US" sz="1700" dirty="0"/>
          </a:p>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EFIM khai thác tập HUI của từng ô; </a:t>
            </a:r>
            <a:pPr algn="l" marL="228600" indent="-228600">
              <a:spcAft>
                <a:spcPts val="800"/>
              </a:spcAft>
              <a:buSzPct val="100000"/>
              <a:buChar char="•"/>
            </a:pPr>
            <a:r>
              <a:rPr lang="en-US" sz="1700" b="1" dirty="0">
                <a:solidFill>
                  <a:srgbClr val="1B2A3D"/>
                </a:solidFill>
                <a:latin typeface="Calibri" pitchFamily="34" charset="0"/>
                <a:ea typeface="Calibri" pitchFamily="34" charset="-122"/>
                <a:cs typeface="Calibri" pitchFamily="34" charset="-120"/>
              </a:rPr>
              <a:t>tập HUI chính là mô hình</a:t>
            </a:r>
            <a:endParaRPr lang="en-US" sz="1700" dirty="0"/>
          </a:p>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Tầng và toạ độ suy ra từ </a:t>
            </a:r>
            <a:pPr algn="l" marL="228600" indent="-228600">
              <a:spcAft>
                <a:spcPts val="800"/>
              </a:spcAft>
              <a:buSzPct val="100000"/>
              <a:buChar char="•"/>
            </a:pPr>
            <a:r>
              <a:rPr lang="en-US" sz="1700" b="1" dirty="0">
                <a:solidFill>
                  <a:srgbClr val="1B2A3D"/>
                </a:solidFill>
                <a:latin typeface="Calibri" pitchFamily="34" charset="0"/>
                <a:ea typeface="Calibri" pitchFamily="34" charset="-122"/>
                <a:cs typeface="Calibri" pitchFamily="34" charset="-120"/>
              </a:rPr>
              <a:t>điểm khớp HUI</a:t>
            </a:r>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 không có k-NN, không lưu vân tay</a:t>
            </a:r>
            <a:endParaRPr lang="en-US" sz="1700" dirty="0"/>
          </a:p>
          <a:p>
            <a:pPr algn="l" marL="228600" indent="-228600">
              <a:spcAft>
                <a:spcPts val="800"/>
              </a:spcAft>
              <a:buSzPct val="100000"/>
              <a:buChar char="•"/>
            </a:pPr>
            <a:r>
              <a:rPr lang="en-US" sz="1700" dirty="0">
                <a:solidFill>
                  <a:srgbClr val="1B2A3D"/>
                </a:solidFill>
                <a:latin typeface="Calibri" pitchFamily="34" charset="0"/>
                <a:ea typeface="Calibri" pitchFamily="34" charset="-122"/>
                <a:cs typeface="Calibri" pitchFamily="34" charset="-120"/>
              </a:rPr>
              <a:t>Bỏ HUIM thì hệ thống không còn mô hình để định vị</a:t>
            </a:r>
            <a:endParaRPr lang="en-US" sz="1700" dirty="0"/>
          </a:p>
        </p:txBody>
      </p:sp>
      <p:sp>
        <p:nvSpPr>
          <p:cNvPr id="11" name="Text 8"/>
          <p:cNvSpPr txBox="1"/>
          <p:nvPr/>
        </p:nvSpPr>
        <p:spPr>
          <a:xfrm>
            <a:off x="548640" y="5349240"/>
            <a:ext cx="11094415" cy="82296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Câu hỏi nghiên cứu:</a:t>
            </a:r>
            <a:pPr indent="0" marL="0">
              <a:buNone/>
            </a:pPr>
            <a:r>
              <a:rPr lang="en-US" sz="1600" dirty="0">
                <a:solidFill>
                  <a:srgbClr val="1F3A5F"/>
                </a:solidFill>
                <a:latin typeface="Calibri" pitchFamily="34" charset="0"/>
                <a:ea typeface="Calibri" pitchFamily="34" charset="-122"/>
                <a:cs typeface="Calibri" pitchFamily="34" charset="-120"/>
              </a:rPr>
              <a:t> có thể xây dựng hệ thống định vị trong đó HUIM là thuật toán định vị chính, không dùng k-NN, mà vẫn đạt sai số trung bình dưới 7 m hay không?</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02 · CƠ SỞ LÝ THUYẾT</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Bài toán khai thác tập mục lợi ích cao</a:t>
            </a:r>
            <a:endParaRPr lang="en-US" sz="2600" dirty="0"/>
          </a:p>
        </p:txBody>
      </p:sp>
      <p:sp>
        <p:nvSpPr>
          <p:cNvPr id="5" name="Shape 2"/>
          <p:cNvSpPr/>
          <p:nvPr/>
        </p:nvSpPr>
        <p:spPr>
          <a:xfrm>
            <a:off x="548640" y="1554480"/>
            <a:ext cx="5669280" cy="4480560"/>
          </a:xfrm>
          <a:prstGeom prst="rect">
            <a:avLst/>
          </a:prstGeom>
          <a:solidFill>
            <a:srgbClr val="FBFAF7"/>
          </a:solidFill>
          <a:ln w="12700">
            <a:solidFill>
              <a:srgbClr val="FBFAF7"/>
            </a:solidFill>
            <a:prstDash val="solid"/>
          </a:ln>
        </p:spPr>
      </p:sp>
      <p:pic>
        <p:nvPicPr>
          <p:cNvPr id="6" name="Image 0" descr="Định nghĩa lợi ích">    </p:cNvPr>
          <p:cNvPicPr>
            <a:picLocks noChangeAspect="1"/>
          </p:cNvPicPr>
          <p:nvPr/>
        </p:nvPicPr>
        <p:blipFill>
          <a:blip r:embed="rId1"/>
          <a:stretch>
            <a:fillRect/>
          </a:stretch>
        </p:blipFill>
        <p:spPr>
          <a:xfrm>
            <a:off x="914400" y="1828800"/>
            <a:ext cx="4937760" cy="3318495"/>
          </a:xfrm>
          <a:prstGeom prst="rect">
            <a:avLst/>
          </a:prstGeom>
        </p:spPr>
      </p:pic>
      <p:sp>
        <p:nvSpPr>
          <p:cNvPr id="7" name="Text 3"/>
          <p:cNvSpPr txBox="1"/>
          <p:nvPr/>
        </p:nvSpPr>
        <p:spPr>
          <a:xfrm>
            <a:off x="6675120" y="1600200"/>
            <a:ext cx="4937760" cy="36576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Ánh xạ sang định vị Wi-Fi</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75120" y="2057400"/>
          <a:ext cx="4937760" cy="914400"/>
        </p:xfrm>
        <a:graphic>
          <a:graphicData uri="http://schemas.openxmlformats.org/drawingml/2006/table">
            <a:tbl>
              <a:tblPr/>
              <a:tblGrid>
                <a:gridCol w="2011680"/>
                <a:gridCol w="292608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HUIM</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Định vị vân tay</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r>
              <a:tr h="384048">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mục i</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một AP</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giao dịch T</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một vân tay (một lần quét)</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384048">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lợi ích nội q(i,T)</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cường độ RSSI đã chuẩn hoá</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lợi ích ngoài p(i)</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đặt bằng 1</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384048">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cơ sở dữ liệu D</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D"/>
                          </a:solidFill>
                          <a:latin typeface="Calibri" pitchFamily="34" charset="0"/>
                          <a:ea typeface="Calibri" pitchFamily="34" charset="-122"/>
                          <a:cs typeface="Calibri" pitchFamily="34" charset="-120"/>
                        </a:rPr>
                        <a:t>các vân tay của một ô</a:t>
                      </a:r>
                      <a:endParaRPr lang="en-US" sz="14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6675120" y="4572000"/>
            <a:ext cx="4937760" cy="1280160"/>
          </a:xfrm>
          <a:prstGeom prst="rect">
            <a:avLst/>
          </a:prstGeom>
          <a:noFill/>
          <a:ln/>
        </p:spPr>
        <p:txBody>
          <a:bodyPr wrap="square" lIns="0" tIns="0" rIns="0" bIns="0" rtlCol="0" anchor="t"/>
          <a:lstStyle/>
          <a:p>
            <a:pPr indent="0" marL="0">
              <a:buNone/>
            </a:pPr>
            <a:r>
              <a:rPr lang="en-US" sz="1500" dirty="0">
                <a:solidFill>
                  <a:srgbClr val="1B2A3D"/>
                </a:solidFill>
                <a:latin typeface="Calibri" pitchFamily="34" charset="0"/>
                <a:ea typeface="Calibri" pitchFamily="34" charset="-122"/>
                <a:cs typeface="Calibri" pitchFamily="34" charset="-120"/>
              </a:rPr>
              <a:t>Lợi ích </a:t>
            </a:r>
            <a:pPr indent="0" marL="0">
              <a:buNone/>
            </a:pPr>
            <a:r>
              <a:rPr lang="en-US" sz="1500" b="1" dirty="0">
                <a:solidFill>
                  <a:srgbClr val="1B2A3D"/>
                </a:solidFill>
                <a:latin typeface="Calibri" pitchFamily="34" charset="0"/>
                <a:ea typeface="Calibri" pitchFamily="34" charset="-122"/>
                <a:cs typeface="Calibri" pitchFamily="34" charset="-120"/>
              </a:rPr>
              <a:t>không đơn điệu</a:t>
            </a:r>
            <a:pPr indent="0" marL="0">
              <a:buNone/>
            </a:pPr>
            <a:r>
              <a:rPr lang="en-US" sz="1500" dirty="0">
                <a:solidFill>
                  <a:srgbClr val="1B2A3D"/>
                </a:solidFill>
                <a:latin typeface="Calibri" pitchFamily="34" charset="0"/>
                <a:ea typeface="Calibri" pitchFamily="34" charset="-122"/>
                <a:cs typeface="Calibri" pitchFamily="34" charset="-120"/>
              </a:rPr>
              <a:t>: thêm một mục có thể làm u(X) tăng hoặc giảm, nên cần các chặn trên để cắt tỉa không gian tìm kiếm.</a:t>
            </a:r>
            <a:endParaRPr lang="en-US" sz="15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02 · CƠ SỞ LÝ THUYẾT</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Thuật toán EFIM (Zida và cộng sự, 2017)</a:t>
            </a:r>
            <a:endParaRPr lang="en-US" sz="2600" dirty="0"/>
          </a:p>
        </p:txBody>
      </p:sp>
      <p:sp>
        <p:nvSpPr>
          <p:cNvPr id="5" name="Shape 2"/>
          <p:cNvSpPr/>
          <p:nvPr/>
        </p:nvSpPr>
        <p:spPr>
          <a:xfrm>
            <a:off x="548640" y="1554480"/>
            <a:ext cx="6766560" cy="3017520"/>
          </a:xfrm>
          <a:prstGeom prst="rect">
            <a:avLst/>
          </a:prstGeom>
          <a:solidFill>
            <a:srgbClr val="FBFAF7"/>
          </a:solidFill>
          <a:ln w="12700">
            <a:solidFill>
              <a:srgbClr val="FBFAF7"/>
            </a:solidFill>
            <a:prstDash val="solid"/>
          </a:ln>
        </p:spPr>
      </p:sp>
      <p:pic>
        <p:nvPicPr>
          <p:cNvPr id="6" name="Image 0" descr="Chặn trên của EFIM">    </p:cNvPr>
          <p:cNvPicPr>
            <a:picLocks noChangeAspect="1"/>
          </p:cNvPicPr>
          <p:nvPr/>
        </p:nvPicPr>
        <p:blipFill>
          <a:blip r:embed="rId1"/>
          <a:stretch>
            <a:fillRect/>
          </a:stretch>
        </p:blipFill>
        <p:spPr>
          <a:xfrm>
            <a:off x="868680" y="1783080"/>
            <a:ext cx="6126480" cy="2085909"/>
          </a:xfrm>
          <a:prstGeom prst="rect">
            <a:avLst/>
          </a:prstGeom>
        </p:spPr>
      </p:pic>
      <p:sp>
        <p:nvSpPr>
          <p:cNvPr id="7" name="Text 3"/>
          <p:cNvSpPr txBox="1"/>
          <p:nvPr/>
        </p:nvSpPr>
        <p:spPr>
          <a:xfrm>
            <a:off x="7772400" y="1600200"/>
            <a:ext cx="3870655" cy="310896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Duyệt cây liệt kê tập theo chiều sâu, mục sắp theo </a:t>
            </a:r>
            <a:pPr algn="l" marL="228600" indent="-228600">
              <a:spcAft>
                <a:spcPts val="800"/>
              </a:spcAft>
              <a:buSzPct val="100000"/>
              <a:buChar char="•"/>
            </a:pPr>
            <a:r>
              <a:rPr lang="en-US" sz="1500" b="1" dirty="0">
                <a:solidFill>
                  <a:srgbClr val="1B2A3D"/>
                </a:solidFill>
                <a:latin typeface="Calibri" pitchFamily="34" charset="0"/>
                <a:ea typeface="Calibri" pitchFamily="34" charset="-122"/>
                <a:cs typeface="Calibri" pitchFamily="34" charset="-120"/>
              </a:rPr>
              <a:t>TWU</a:t>
            </a:r>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 tăng dần</a:t>
            </a:r>
            <a:endParaRPr lang="en-US" sz="1500" dirty="0"/>
          </a:p>
          <a:p>
            <a:pPr algn="l" marL="228600" indent="-228600">
              <a:spcAft>
                <a:spcPts val="800"/>
              </a:spcAft>
              <a:buSzPct val="100000"/>
              <a:buChar char="•"/>
            </a:pPr>
            <a:r>
              <a:rPr lang="en-US" sz="1500" b="1" dirty="0">
                <a:solidFill>
                  <a:srgbClr val="1B2A3D"/>
                </a:solidFill>
                <a:latin typeface="Calibri" pitchFamily="34" charset="0"/>
                <a:ea typeface="Calibri" pitchFamily="34" charset="-122"/>
                <a:cs typeface="Calibri" pitchFamily="34" charset="-120"/>
              </a:rPr>
              <a:t>lu</a:t>
            </a:r>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 &lt; minUtil: loại z khỏi toàn bộ cây con của α</a:t>
            </a:r>
            <a:endParaRPr lang="en-US" sz="1500" dirty="0"/>
          </a:p>
          <a:p>
            <a:pPr algn="l" marL="228600" indent="-228600">
              <a:spcAft>
                <a:spcPts val="800"/>
              </a:spcAft>
              <a:buSzPct val="100000"/>
              <a:buChar char="•"/>
            </a:pPr>
            <a:r>
              <a:rPr lang="en-US" sz="1500" b="1" dirty="0">
                <a:solidFill>
                  <a:srgbClr val="1B2A3D"/>
                </a:solidFill>
                <a:latin typeface="Calibri" pitchFamily="34" charset="0"/>
                <a:ea typeface="Calibri" pitchFamily="34" charset="-122"/>
                <a:cs typeface="Calibri" pitchFamily="34" charset="-120"/>
              </a:rPr>
              <a:t>su</a:t>
            </a:r>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 &lt; minUtil: không duyệt nhánh α ∪ {z}</a:t>
            </a:r>
            <a:endParaRPr lang="en-US" sz="1500" dirty="0"/>
          </a:p>
          <a:p>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Chiếu cơ sở dữ liệu và gộp giao dịch trùng để tiết kiệm bộ nhớ</a:t>
            </a:r>
            <a:endParaRPr lang="en-US" sz="1500" dirty="0"/>
          </a:p>
        </p:txBody>
      </p:sp>
      <p:sp>
        <p:nvSpPr>
          <p:cNvPr id="8" name="Shape 4"/>
          <p:cNvSpPr/>
          <p:nvPr/>
        </p:nvSpPr>
        <p:spPr>
          <a:xfrm>
            <a:off x="548640" y="4846320"/>
            <a:ext cx="11094415" cy="1234440"/>
          </a:xfrm>
          <a:prstGeom prst="rect">
            <a:avLst/>
          </a:prstGeom>
          <a:solidFill>
            <a:srgbClr val="E8F1F2"/>
          </a:solidFill>
          <a:ln w="12700">
            <a:solidFill>
              <a:srgbClr val="E8F1F2"/>
            </a:solidFill>
            <a:prstDash val="solid"/>
          </a:ln>
        </p:spPr>
      </p:sp>
      <p:sp>
        <p:nvSpPr>
          <p:cNvPr id="9" name="Text 5"/>
          <p:cNvSpPr txBox="1"/>
          <p:nvPr/>
        </p:nvSpPr>
        <p:spPr>
          <a:xfrm>
            <a:off x="822960" y="5029200"/>
            <a:ext cx="10545775" cy="914400"/>
          </a:xfrm>
          <a:prstGeom prst="rect">
            <a:avLst/>
          </a:prstGeom>
          <a:noFill/>
          <a:ln/>
        </p:spPr>
        <p:txBody>
          <a:bodyPr wrap="square" lIns="0" tIns="0" rIns="0" bIns="0" rtlCol="0" anchor="t"/>
          <a:lstStyle/>
          <a:p>
            <a:pPr indent="0" marL="0">
              <a:buNone/>
            </a:pPr>
            <a:r>
              <a:rPr lang="en-US" sz="1500" b="1" dirty="0">
                <a:solidFill>
                  <a:srgbClr val="1B2A3D"/>
                </a:solidFill>
                <a:latin typeface="Calibri" pitchFamily="34" charset="0"/>
                <a:ea typeface="Calibri" pitchFamily="34" charset="-122"/>
                <a:cs typeface="Calibri" pitchFamily="34" charset="-120"/>
              </a:rPr>
              <a:t>Kiểm chứng cài đặt:</a:t>
            </a:r>
            <a:pPr indent="0" marL="0">
              <a:buNone/>
            </a:pPr>
            <a:r>
              <a:rPr lang="en-US" sz="1500" dirty="0">
                <a:solidFill>
                  <a:srgbClr val="1B2A3D"/>
                </a:solidFill>
                <a:latin typeface="Calibri" pitchFamily="34" charset="0"/>
                <a:ea typeface="Calibri" pitchFamily="34" charset="-122"/>
                <a:cs typeface="Calibri" pitchFamily="34" charset="-120"/>
              </a:rPr>
              <a:t> EFIM trong mã nguồn được so với một thuật toán vét cạn trên dữ liệu ngẫu nhiên (thư mục ma_nguon/tests); tập HUI và lợi ích trùng khớp hoàn toàn.</a:t>
            </a:r>
            <a:endParaRPr lang="en-US" sz="15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PHƯƠNG PHÁP ĐỀ XUẤT</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Tổng quan: hệ thống định vị chỉ dùng HUIM</a:t>
            </a:r>
            <a:endParaRPr lang="en-US" sz="2600" dirty="0"/>
          </a:p>
        </p:txBody>
      </p:sp>
      <p:pic>
        <p:nvPicPr>
          <p:cNvPr id="5" name="Image 0" descr="Sơ đồ tổng quát">    </p:cNvPr>
          <p:cNvPicPr>
            <a:picLocks noChangeAspect="1"/>
          </p:cNvPicPr>
          <p:nvPr/>
        </p:nvPicPr>
        <p:blipFill>
          <a:blip r:embed="rId1"/>
          <a:stretch>
            <a:fillRect/>
          </a:stretch>
        </p:blipFill>
        <p:spPr>
          <a:xfrm>
            <a:off x="1873533" y="1417320"/>
            <a:ext cx="8444629" cy="4846320"/>
          </a:xfrm>
          <a:prstGeom prst="rect">
            <a:avLst/>
          </a:prstGeom>
        </p:spPr>
      </p:pic>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BƯỚC 1</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Từ cường độ tín hiệu tới lợi ích nội</a:t>
            </a:r>
            <a:endParaRPr lang="en-US" sz="2600" dirty="0"/>
          </a:p>
        </p:txBody>
      </p:sp>
      <p:pic>
        <p:nvPicPr>
          <p:cNvPr id="5" name="Image 0" descr="Bước 1 trên một vân tay thật">    </p:cNvPr>
          <p:cNvPicPr>
            <a:picLocks noChangeAspect="1"/>
          </p:cNvPicPr>
          <p:nvPr/>
        </p:nvPicPr>
        <p:blipFill>
          <a:blip r:embed="rId1"/>
          <a:stretch>
            <a:fillRect/>
          </a:stretch>
        </p:blipFill>
        <p:spPr>
          <a:xfrm>
            <a:off x="548640" y="1417320"/>
            <a:ext cx="6949440" cy="3637649"/>
          </a:xfrm>
          <a:prstGeom prst="rect">
            <a:avLst/>
          </a:prstGeom>
        </p:spPr>
      </p:pic>
      <p:pic>
        <p:nvPicPr>
          <p:cNvPr id="6" name="Image 1" descr="Lợi ích nội dạng rank">    </p:cNvPr>
          <p:cNvPicPr>
            <a:picLocks noChangeAspect="1"/>
          </p:cNvPicPr>
          <p:nvPr/>
        </p:nvPicPr>
        <p:blipFill>
          <a:blip r:embed="rId2"/>
          <a:stretch>
            <a:fillRect/>
          </a:stretch>
        </p:blipFill>
        <p:spPr>
          <a:xfrm>
            <a:off x="7818120" y="1600200"/>
            <a:ext cx="3824935" cy="620576"/>
          </a:xfrm>
          <a:prstGeom prst="rect">
            <a:avLst/>
          </a:prstGeom>
        </p:spPr>
      </p:pic>
      <p:sp>
        <p:nvSpPr>
          <p:cNvPr id="7" name="Text 2"/>
          <p:cNvSpPr txBox="1"/>
          <p:nvPr/>
        </p:nvSpPr>
        <p:spPr>
          <a:xfrm>
            <a:off x="7818120" y="2834640"/>
            <a:ext cx="3824935" cy="329184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n</a:t>
            </a:r>
            <a:pPr algn="l" marL="228600" indent="-228600">
              <a:spcAft>
                <a:spcPts val="800"/>
              </a:spcAft>
              <a:buSzPct val="100000"/>
              <a:buChar char="•"/>
            </a:pPr>
            <a:r>
              <a:rPr lang="en-US" sz="1400" baseline="-40000" dirty="0">
                <a:solidFill>
                  <a:srgbClr val="1B2A3D"/>
                </a:solidFill>
                <a:latin typeface="Calibri" pitchFamily="34" charset="0"/>
                <a:ea typeface="Calibri" pitchFamily="34" charset="-122"/>
                <a:cs typeface="Calibri" pitchFamily="34" charset="-120"/>
              </a:rPr>
              <a:t>T</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số AP thấy được trong T; r</a:t>
            </a:r>
            <a:pPr algn="l" marL="228600" indent="-228600">
              <a:spcAft>
                <a:spcPts val="800"/>
              </a:spcAft>
              <a:buSzPct val="100000"/>
              <a:buChar char="•"/>
            </a:pPr>
            <a:r>
              <a:rPr lang="en-US" sz="1400" baseline="-40000" dirty="0">
                <a:solidFill>
                  <a:srgbClr val="1B2A3D"/>
                </a:solidFill>
                <a:latin typeface="Calibri" pitchFamily="34" charset="0"/>
                <a:ea typeface="Calibri" pitchFamily="34" charset="-122"/>
                <a:cs typeface="Calibri" pitchFamily="34" charset="-120"/>
              </a:rPr>
              <a:t>T</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(i): thứ hạng cường độ của AP i</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AP không thấy không có trong giao dịch</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Dạng </a:t>
            </a:r>
            <a:pPr algn="l" marL="228600" indent="-228600">
              <a:spcAft>
                <a:spcPts val="800"/>
              </a:spcAft>
              <a:buSzPct val="100000"/>
              <a:buChar char="•"/>
            </a:pPr>
            <a:r>
              <a:rPr lang="en-US" sz="1400" b="1" dirty="0">
                <a:solidFill>
                  <a:srgbClr val="1B2A3D"/>
                </a:solidFill>
                <a:latin typeface="Calibri" pitchFamily="34" charset="0"/>
                <a:ea typeface="Calibri" pitchFamily="34" charset="-122"/>
                <a:cs typeface="Calibri" pitchFamily="34" charset="-120"/>
              </a:rPr>
              <a:t>rank</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được chọn trên dev: 7,67 m, so với 7,68 m (abs) và 8,36 m (rel)</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Bền với khác biệt giữa các điện thoại</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BƯỚC 2 VÀ 3</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Cơ sở dữ liệu giao dịch theo ô và khai thác EFIM</a:t>
            </a:r>
            <a:endParaRPr lang="en-US" sz="2600" dirty="0"/>
          </a:p>
        </p:txBody>
      </p:sp>
      <p:pic>
        <p:nvPicPr>
          <p:cNvPr id="5" name="Image 0" descr="Ngưỡng theo ô">    </p:cNvPr>
          <p:cNvPicPr>
            <a:picLocks noChangeAspect="1"/>
          </p:cNvPicPr>
          <p:nvPr/>
        </p:nvPicPr>
        <p:blipFill>
          <a:blip r:embed="rId1"/>
          <a:stretch>
            <a:fillRect/>
          </a:stretch>
        </p:blipFill>
        <p:spPr>
          <a:xfrm>
            <a:off x="548640" y="1463040"/>
            <a:ext cx="7772400" cy="434622"/>
          </a:xfrm>
          <a:prstGeom prst="rect">
            <a:avLst/>
          </a:prstGeom>
        </p:spPr>
      </p:pic>
      <p:pic>
        <p:nvPicPr>
          <p:cNvPr id="6" name="Image 1" descr="Một ô là cơ sở dữ liệu giao dịch">    </p:cNvPr>
          <p:cNvPicPr>
            <a:picLocks noChangeAspect="1"/>
          </p:cNvPicPr>
          <p:nvPr/>
        </p:nvPicPr>
        <p:blipFill>
          <a:blip r:embed="rId2"/>
          <a:stretch>
            <a:fillRect/>
          </a:stretch>
        </p:blipFill>
        <p:spPr>
          <a:xfrm>
            <a:off x="548640" y="2148840"/>
            <a:ext cx="5410048" cy="2919873"/>
          </a:xfrm>
          <a:prstGeom prst="rect">
            <a:avLst/>
          </a:prstGeom>
        </p:spPr>
      </p:pic>
      <p:pic>
        <p:nvPicPr>
          <p:cNvPr id="7" name="Image 2" descr="EFIM liệt kê HUI của ô">    </p:cNvPr>
          <p:cNvPicPr>
            <a:picLocks noChangeAspect="1"/>
          </p:cNvPicPr>
          <p:nvPr/>
        </p:nvPicPr>
        <p:blipFill>
          <a:blip r:embed="rId3"/>
          <a:stretch>
            <a:fillRect/>
          </a:stretch>
        </p:blipFill>
        <p:spPr>
          <a:xfrm>
            <a:off x="6233008" y="2148840"/>
            <a:ext cx="5410048" cy="2919873"/>
          </a:xfrm>
          <a:prstGeom prst="rect">
            <a:avLst/>
          </a:prstGeom>
        </p:spPr>
      </p:pic>
      <p:sp>
        <p:nvSpPr>
          <p:cNvPr id="8" name="Text 2"/>
          <p:cNvSpPr txBox="1"/>
          <p:nvPr/>
        </p:nvSpPr>
        <p:spPr>
          <a:xfrm>
            <a:off x="548640" y="5669280"/>
            <a:ext cx="11094415" cy="640080"/>
          </a:xfrm>
          <a:prstGeom prst="rect">
            <a:avLst/>
          </a:prstGeom>
          <a:noFill/>
          <a:ln/>
        </p:spPr>
        <p:txBody>
          <a:bodyPr wrap="square" lIns="0" tIns="0" rIns="0" bIns="0" rtlCol="0" anchor="t"/>
          <a:lstStyle/>
          <a:p>
            <a:pPr indent="0" marL="0">
              <a:buNone/>
            </a:pPr>
            <a:r>
              <a:rPr lang="en-US" sz="1400" dirty="0">
                <a:solidFill>
                  <a:srgbClr val="1B2A3D"/>
                </a:solidFill>
                <a:latin typeface="Calibri" pitchFamily="34" charset="0"/>
                <a:ea typeface="Calibri" pitchFamily="34" charset="-122"/>
                <a:cs typeface="Calibri" pitchFamily="34" charset="-120"/>
              </a:rPr>
              <a:t>UJIIndoorLoc: </a:t>
            </a:r>
            <a:pPr indent="0" marL="0">
              <a:buNone/>
            </a:pPr>
            <a:r>
              <a:rPr lang="en-US" sz="1400" b="1" dirty="0">
                <a:solidFill>
                  <a:srgbClr val="1B2A3D"/>
                </a:solidFill>
                <a:latin typeface="Calibri" pitchFamily="34" charset="0"/>
                <a:ea typeface="Calibri" pitchFamily="34" charset="-122"/>
                <a:cs typeface="Calibri" pitchFamily="34" charset="-120"/>
              </a:rPr>
              <a:t>933 ô</a:t>
            </a:r>
            <a:pPr indent="0" marL="0">
              <a:buNone/>
            </a:pPr>
            <a:r>
              <a:rPr lang="en-US" sz="1400" dirty="0">
                <a:solidFill>
                  <a:srgbClr val="1B2A3D"/>
                </a:solidFill>
                <a:latin typeface="Calibri" pitchFamily="34" charset="0"/>
                <a:ea typeface="Calibri" pitchFamily="34" charset="-122"/>
                <a:cs typeface="Calibri" pitchFamily="34" charset="-120"/>
              </a:rPr>
              <a:t>, trung bình 21,3 giao dịch mỗi ô; θ = 20%; vượt ngân sách thì θ ← 1,25·θ và khai thác lại tới khi hoàn tất, nên tập HUI luôn đầy đủ.</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BƯỚC 4</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Mô hình định vị là tập HUI của mọi ô</a:t>
            </a:r>
            <a:endParaRPr lang="en-US" sz="2600" dirty="0"/>
          </a:p>
        </p:txBody>
      </p:sp>
      <p:pic>
        <p:nvPicPr>
          <p:cNvPr id="5" name="Image 0" descr="HUI của một ô">    </p:cNvPr>
          <p:cNvPicPr>
            <a:picLocks noChangeAspect="1"/>
          </p:cNvPicPr>
          <p:nvPr/>
        </p:nvPicPr>
        <p:blipFill>
          <a:blip r:embed="rId1"/>
          <a:stretch>
            <a:fillRect/>
          </a:stretch>
        </p:blipFill>
        <p:spPr>
          <a:xfrm>
            <a:off x="548640" y="1417320"/>
            <a:ext cx="7315200" cy="3710101"/>
          </a:xfrm>
          <a:prstGeom prst="rect">
            <a:avLst/>
          </a:prstGeom>
        </p:spPr>
      </p:pic>
      <p:sp>
        <p:nvSpPr>
          <p:cNvPr id="6" name="Text 2"/>
          <p:cNvSpPr txBox="1"/>
          <p:nvPr/>
        </p:nvSpPr>
        <p:spPr>
          <a:xfrm>
            <a:off x="8229600" y="1600200"/>
            <a:ext cx="3413455" cy="73152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3 238 416</a:t>
            </a:r>
            <a:endParaRPr lang="en-US" sz="4000" dirty="0"/>
          </a:p>
        </p:txBody>
      </p:sp>
      <p:sp>
        <p:nvSpPr>
          <p:cNvPr id="7" name="Text 3"/>
          <p:cNvSpPr txBox="1"/>
          <p:nvPr/>
        </p:nvSpPr>
        <p:spPr>
          <a:xfrm>
            <a:off x="8229600" y="2350008"/>
            <a:ext cx="3413455"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HUI trong mô hình UJIIndoorLoc</a:t>
            </a:r>
            <a:endParaRPr lang="en-US" sz="1300" dirty="0"/>
          </a:p>
        </p:txBody>
      </p:sp>
      <p:sp>
        <p:nvSpPr>
          <p:cNvPr id="8" name="Text 4"/>
          <p:cNvSpPr txBox="1"/>
          <p:nvPr/>
        </p:nvSpPr>
        <p:spPr>
          <a:xfrm>
            <a:off x="8229600" y="2971800"/>
            <a:ext cx="3413455" cy="731520"/>
          </a:xfrm>
          <a:prstGeom prst="rect">
            <a:avLst/>
          </a:prstGeom>
          <a:noFill/>
          <a:ln/>
        </p:spPr>
        <p:txBody>
          <a:bodyPr wrap="square" lIns="0" tIns="0" rIns="0" bIns="0" rtlCol="0" anchor="ctr"/>
          <a:lstStyle/>
          <a:p>
            <a:pPr indent="0" marL="0">
              <a:buNone/>
            </a:pPr>
            <a:r>
              <a:rPr lang="en-US" sz="4000" b="1" dirty="0">
                <a:solidFill>
                  <a:srgbClr val="2E7D8C"/>
                </a:solidFill>
                <a:latin typeface="Cambria" pitchFamily="34" charset="0"/>
                <a:ea typeface="Cambria" pitchFamily="34" charset="-122"/>
                <a:cs typeface="Cambria" pitchFamily="34" charset="-120"/>
              </a:rPr>
              <a:t>379/520</a:t>
            </a:r>
            <a:endParaRPr lang="en-US" sz="4000" dirty="0"/>
          </a:p>
        </p:txBody>
      </p:sp>
      <p:sp>
        <p:nvSpPr>
          <p:cNvPr id="9" name="Text 5"/>
          <p:cNvSpPr txBox="1"/>
          <p:nvPr/>
        </p:nvSpPr>
        <p:spPr>
          <a:xfrm>
            <a:off x="8229600" y="3721608"/>
            <a:ext cx="3413455"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AP xuất hiện trong ít nhất một HUI</a:t>
            </a:r>
            <a:endParaRPr lang="en-US" sz="1300" dirty="0"/>
          </a:p>
        </p:txBody>
      </p:sp>
      <p:sp>
        <p:nvSpPr>
          <p:cNvPr id="10" name="Text 6"/>
          <p:cNvSpPr txBox="1"/>
          <p:nvPr/>
        </p:nvSpPr>
        <p:spPr>
          <a:xfrm>
            <a:off x="8229600" y="4343400"/>
            <a:ext cx="3413455" cy="731520"/>
          </a:xfrm>
          <a:prstGeom prst="rect">
            <a:avLst/>
          </a:prstGeom>
          <a:noFill/>
          <a:ln/>
        </p:spPr>
        <p:txBody>
          <a:bodyPr wrap="square" lIns="0" tIns="0" rIns="0" bIns="0" rtlCol="0" anchor="ctr"/>
          <a:lstStyle/>
          <a:p>
            <a:pPr indent="0" marL="0">
              <a:buNone/>
            </a:pPr>
            <a:r>
              <a:rPr lang="en-US" sz="4000" b="1" dirty="0">
                <a:solidFill>
                  <a:srgbClr val="B5532A"/>
                </a:solidFill>
                <a:latin typeface="Cambria" pitchFamily="34" charset="0"/>
                <a:ea typeface="Cambria" pitchFamily="34" charset="-122"/>
                <a:cs typeface="Cambria" pitchFamily="34" charset="-120"/>
              </a:rPr>
              <a:t>0</a:t>
            </a:r>
            <a:endParaRPr lang="en-US" sz="4000" dirty="0"/>
          </a:p>
        </p:txBody>
      </p:sp>
      <p:sp>
        <p:nvSpPr>
          <p:cNvPr id="11" name="Text 7"/>
          <p:cNvSpPr txBox="1"/>
          <p:nvPr/>
        </p:nvSpPr>
        <p:spPr>
          <a:xfrm>
            <a:off x="8229600" y="5093208"/>
            <a:ext cx="3413455"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vân tay huấn luyện được lưu</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BƯỚC 5</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Chấm điểm khớp giữa vân tay và HUI của ô</a:t>
            </a:r>
            <a:endParaRPr lang="en-US" sz="2600" dirty="0"/>
          </a:p>
        </p:txBody>
      </p:sp>
      <p:sp>
        <p:nvSpPr>
          <p:cNvPr id="5" name="Shape 2"/>
          <p:cNvSpPr/>
          <p:nvPr/>
        </p:nvSpPr>
        <p:spPr>
          <a:xfrm>
            <a:off x="548640" y="1417320"/>
            <a:ext cx="5760720" cy="3108960"/>
          </a:xfrm>
          <a:prstGeom prst="rect">
            <a:avLst/>
          </a:prstGeom>
          <a:solidFill>
            <a:srgbClr val="FBFAF7"/>
          </a:solidFill>
          <a:ln w="12700">
            <a:solidFill>
              <a:srgbClr val="FBFAF7"/>
            </a:solidFill>
            <a:prstDash val="solid"/>
          </a:ln>
        </p:spPr>
      </p:sp>
      <p:pic>
        <p:nvPicPr>
          <p:cNvPr id="6" name="Image 0" descr="Công thức điểm khớp">    </p:cNvPr>
          <p:cNvPicPr>
            <a:picLocks noChangeAspect="1"/>
          </p:cNvPicPr>
          <p:nvPr/>
        </p:nvPicPr>
        <p:blipFill>
          <a:blip r:embed="rId1"/>
          <a:stretch>
            <a:fillRect/>
          </a:stretch>
        </p:blipFill>
        <p:spPr>
          <a:xfrm>
            <a:off x="777240" y="1600200"/>
            <a:ext cx="5303520" cy="2435217"/>
          </a:xfrm>
          <a:prstGeom prst="rect">
            <a:avLst/>
          </a:prstGeom>
        </p:spPr>
      </p:pic>
      <p:sp>
        <p:nvSpPr>
          <p:cNvPr id="7" name="Text 3"/>
          <p:cNvSpPr txBox="1"/>
          <p:nvPr/>
        </p:nvSpPr>
        <p:spPr>
          <a:xfrm>
            <a:off x="548640" y="4709160"/>
            <a:ext cx="5760720" cy="155448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ρ: khớp mềm, chịu được AP bị bỏ sót</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agree: phạt chênh lệch cường độ, thang τ</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P</a:t>
            </a:r>
            <a:pPr algn="l" marL="228600" indent="-228600">
              <a:spcAft>
                <a:spcPts val="800"/>
              </a:spcAft>
              <a:buSzPct val="100000"/>
              <a:buChar char="•"/>
            </a:pPr>
            <a:r>
              <a:rPr lang="en-US" sz="1400" baseline="-40000" dirty="0">
                <a:solidFill>
                  <a:srgbClr val="1B2A3D"/>
                </a:solidFill>
                <a:latin typeface="Calibri" pitchFamily="34" charset="0"/>
                <a:ea typeface="Calibri" pitchFamily="34" charset="-122"/>
                <a:cs typeface="Calibri" pitchFamily="34" charset="-120"/>
              </a:rPr>
              <a:t>c</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khối lượng HUI của ô có trong vân tay</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V</a:t>
            </a:r>
            <a:pPr algn="l" marL="228600" indent="-228600">
              <a:spcAft>
                <a:spcPts val="800"/>
              </a:spcAft>
              <a:buSzPct val="100000"/>
              <a:buChar char="•"/>
            </a:pPr>
            <a:r>
              <a:rPr lang="en-US" sz="1400" baseline="-40000" dirty="0">
                <a:solidFill>
                  <a:srgbClr val="1B2A3D"/>
                </a:solidFill>
                <a:latin typeface="Calibri" pitchFamily="34" charset="0"/>
                <a:ea typeface="Calibri" pitchFamily="34" charset="-122"/>
                <a:cs typeface="Calibri" pitchFamily="34" charset="-120"/>
              </a:rPr>
              <a:t>c</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phần vân tay được HUI của ô giải thích</a:t>
            </a:r>
            <a:endParaRPr lang="en-US" sz="1400" dirty="0"/>
          </a:p>
        </p:txBody>
      </p:sp>
      <p:pic>
        <p:nvPicPr>
          <p:cNvPr id="8" name="Image 1" descr="Chấm điểm một vân tay thật">    </p:cNvPr>
          <p:cNvPicPr>
            <a:picLocks noChangeAspect="1"/>
          </p:cNvPicPr>
          <p:nvPr/>
        </p:nvPicPr>
        <p:blipFill>
          <a:blip r:embed="rId2"/>
          <a:stretch>
            <a:fillRect/>
          </a:stretch>
        </p:blipFill>
        <p:spPr>
          <a:xfrm>
            <a:off x="6583680" y="1417320"/>
            <a:ext cx="5059375" cy="2937927"/>
          </a:xfrm>
          <a:prstGeom prst="rect">
            <a:avLst/>
          </a:prstGeom>
        </p:spPr>
      </p:pic>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BƯỚC 6</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Làm mượt không gian và chọn tầng</a:t>
            </a:r>
            <a:endParaRPr lang="en-US" sz="2600" dirty="0"/>
          </a:p>
        </p:txBody>
      </p:sp>
      <p:sp>
        <p:nvSpPr>
          <p:cNvPr id="5" name="Shape 2"/>
          <p:cNvSpPr/>
          <p:nvPr/>
        </p:nvSpPr>
        <p:spPr>
          <a:xfrm>
            <a:off x="548640" y="1417320"/>
            <a:ext cx="11094415" cy="1600200"/>
          </a:xfrm>
          <a:prstGeom prst="rect">
            <a:avLst/>
          </a:prstGeom>
          <a:solidFill>
            <a:srgbClr val="FBFAF7"/>
          </a:solidFill>
          <a:ln w="12700">
            <a:solidFill>
              <a:srgbClr val="FBFAF7"/>
            </a:solidFill>
            <a:prstDash val="solid"/>
          </a:ln>
        </p:spPr>
      </p:sp>
      <p:pic>
        <p:nvPicPr>
          <p:cNvPr id="6" name="Image 0" descr="Làm mượt và chọn tầng">    </p:cNvPr>
          <p:cNvPicPr>
            <a:picLocks noChangeAspect="1"/>
          </p:cNvPicPr>
          <p:nvPr/>
        </p:nvPicPr>
        <p:blipFill>
          <a:blip r:embed="rId1"/>
          <a:stretch>
            <a:fillRect/>
          </a:stretch>
        </p:blipFill>
        <p:spPr>
          <a:xfrm>
            <a:off x="822960" y="1554480"/>
            <a:ext cx="5105013" cy="1325880"/>
          </a:xfrm>
          <a:prstGeom prst="rect">
            <a:avLst/>
          </a:prstGeom>
        </p:spPr>
      </p:pic>
      <p:sp>
        <p:nvSpPr>
          <p:cNvPr id="7" name="Text 3"/>
          <p:cNvSpPr txBox="1"/>
          <p:nvPr/>
        </p:nvSpPr>
        <p:spPr>
          <a:xfrm>
            <a:off x="8961120" y="1783080"/>
            <a:ext cx="2560320" cy="914400"/>
          </a:xfrm>
          <a:prstGeom prst="rect">
            <a:avLst/>
          </a:prstGeom>
          <a:noFill/>
          <a:ln/>
        </p:spPr>
        <p:txBody>
          <a:bodyPr wrap="square" lIns="0" tIns="0" rIns="0" bIns="0" rtlCol="0" anchor="t"/>
          <a:lstStyle/>
          <a:p>
            <a:pPr indent="0" marL="0">
              <a:buNone/>
            </a:pPr>
            <a:r>
              <a:rPr lang="en-US" sz="1600" b="1" dirty="0">
                <a:solidFill>
                  <a:srgbClr val="2E7D8C"/>
                </a:solidFill>
                <a:latin typeface="Calibri" pitchFamily="34" charset="0"/>
                <a:ea typeface="Calibri" pitchFamily="34" charset="-122"/>
                <a:cs typeface="Calibri" pitchFamily="34" charset="-120"/>
              </a:rPr>
              <a:t>σ = 3 m,  k</a:t>
            </a:r>
            <a:pPr indent="0" marL="0">
              <a:buNone/>
            </a:pPr>
            <a:r>
              <a:rPr lang="en-US" sz="1600" b="1" baseline="-40000" dirty="0">
                <a:solidFill>
                  <a:srgbClr val="2E7D8C"/>
                </a:solidFill>
                <a:latin typeface="Calibri" pitchFamily="34" charset="0"/>
                <a:ea typeface="Calibri" pitchFamily="34" charset="-122"/>
                <a:cs typeface="Calibri" pitchFamily="34" charset="-120"/>
              </a:rPr>
              <a:t>f</a:t>
            </a:r>
            <a:pPr indent="0" marL="0">
              <a:buNone/>
            </a:pPr>
            <a:r>
              <a:rPr lang="en-US" sz="1600" b="1" dirty="0">
                <a:solidFill>
                  <a:srgbClr val="2E7D8C"/>
                </a:solidFill>
                <a:latin typeface="Calibri" pitchFamily="34" charset="0"/>
                <a:ea typeface="Calibri" pitchFamily="34" charset="-122"/>
                <a:cs typeface="Calibri" pitchFamily="34" charset="-120"/>
              </a:rPr>
              <a:t> = 20</a:t>
            </a:r>
            <a:endParaRPr lang="en-US" sz="1600" dirty="0"/>
          </a:p>
          <a:p>
            <a:pPr indent="0" marL="0">
              <a:buNone/>
            </a:pPr>
            <a:r>
              <a:rPr lang="en-US" sz="1600" b="1" dirty="0">
                <a:solidFill>
                  <a:srgbClr val="2E7D8C"/>
                </a:solidFill>
                <a:latin typeface="Calibri" pitchFamily="34" charset="0"/>
                <a:ea typeface="Calibri" pitchFamily="34" charset="-122"/>
                <a:cs typeface="Calibri" pitchFamily="34" charset="-120"/>
              </a:rPr>
              <a:t>(chọn trên dev)</a:t>
            </a:r>
            <a:endParaRPr lang="en-US" sz="1600" dirty="0"/>
          </a:p>
        </p:txBody>
      </p:sp>
      <p:pic>
        <p:nvPicPr>
          <p:cNvPr id="8" name="Image 1" descr="Điểm trước và sau làm mượt">    </p:cNvPr>
          <p:cNvPicPr>
            <a:picLocks noChangeAspect="1"/>
          </p:cNvPicPr>
          <p:nvPr/>
        </p:nvPicPr>
        <p:blipFill>
          <a:blip r:embed="rId2"/>
          <a:stretch>
            <a:fillRect/>
          </a:stretch>
        </p:blipFill>
        <p:spPr>
          <a:xfrm>
            <a:off x="2604134" y="3200400"/>
            <a:ext cx="6983428" cy="3108960"/>
          </a:xfrm>
          <a:prstGeom prst="rect">
            <a:avLst/>
          </a:prstGeom>
        </p:spPr>
      </p:pic>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03 · BƯỚC 7</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Ước lượng toạ độ từ các ô khớp nhất</a:t>
            </a:r>
            <a:endParaRPr lang="en-US" sz="2600" dirty="0"/>
          </a:p>
        </p:txBody>
      </p:sp>
      <p:pic>
        <p:nvPicPr>
          <p:cNvPr id="5" name="Image 0" descr="Toạ độ của vân tay ví dụ">    </p:cNvPr>
          <p:cNvPicPr>
            <a:picLocks noChangeAspect="1"/>
          </p:cNvPicPr>
          <p:nvPr/>
        </p:nvPicPr>
        <p:blipFill>
          <a:blip r:embed="rId1"/>
          <a:stretch>
            <a:fillRect/>
          </a:stretch>
        </p:blipFill>
        <p:spPr>
          <a:xfrm>
            <a:off x="548640" y="1417320"/>
            <a:ext cx="6400800" cy="4557252"/>
          </a:xfrm>
          <a:prstGeom prst="rect">
            <a:avLst/>
          </a:prstGeom>
        </p:spPr>
      </p:pic>
      <p:pic>
        <p:nvPicPr>
          <p:cNvPr id="6" name="Image 1" descr="Trọng tâm có trọng số">    </p:cNvPr>
          <p:cNvPicPr>
            <a:picLocks noChangeAspect="1"/>
          </p:cNvPicPr>
          <p:nvPr/>
        </p:nvPicPr>
        <p:blipFill>
          <a:blip r:embed="rId2"/>
          <a:stretch>
            <a:fillRect/>
          </a:stretch>
        </p:blipFill>
        <p:spPr>
          <a:xfrm>
            <a:off x="7315200" y="1645920"/>
            <a:ext cx="4327855" cy="932475"/>
          </a:xfrm>
          <a:prstGeom prst="rect">
            <a:avLst/>
          </a:prstGeom>
        </p:spPr>
      </p:pic>
      <p:sp>
        <p:nvSpPr>
          <p:cNvPr id="7" name="Text 2"/>
          <p:cNvSpPr txBox="1"/>
          <p:nvPr/>
        </p:nvSpPr>
        <p:spPr>
          <a:xfrm>
            <a:off x="7315200" y="2971800"/>
            <a:ext cx="4327855" cy="320040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m = 12 ô tốt nhất, trọng số a</a:t>
            </a:r>
            <a:pPr algn="l" marL="228600" indent="-228600">
              <a:spcAft>
                <a:spcPts val="800"/>
              </a:spcAft>
              <a:buSzPct val="100000"/>
              <a:buChar char="•"/>
            </a:pPr>
            <a:r>
              <a:rPr lang="en-US" sz="1400" baseline="-40000" dirty="0">
                <a:solidFill>
                  <a:srgbClr val="1B2A3D"/>
                </a:solidFill>
                <a:latin typeface="Calibri" pitchFamily="34" charset="0"/>
                <a:ea typeface="Calibri" pitchFamily="34" charset="-122"/>
                <a:cs typeface="Calibri" pitchFamily="34" charset="-120"/>
              </a:rPr>
              <a:t>c</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tỷ lệ S</a:t>
            </a:r>
            <a:pPr algn="l" marL="228600" indent="-228600">
              <a:spcAft>
                <a:spcPts val="800"/>
              </a:spcAft>
              <a:buSzPct val="100000"/>
              <a:buChar char="•"/>
            </a:pPr>
            <a:r>
              <a:rPr lang="en-US" sz="1400" baseline="-40000" dirty="0">
                <a:solidFill>
                  <a:srgbClr val="1B2A3D"/>
                </a:solidFill>
                <a:latin typeface="Calibri" pitchFamily="34" charset="0"/>
                <a:ea typeface="Calibri" pitchFamily="34" charset="-122"/>
                <a:cs typeface="Calibri" pitchFamily="34" charset="-120"/>
              </a:rPr>
              <a:t>c</a:t>
            </a:r>
            <a:pPr algn="l" marL="228600" indent="-228600">
              <a:spcAft>
                <a:spcPts val="800"/>
              </a:spcAft>
              <a:buSzPct val="100000"/>
              <a:buChar char="•"/>
            </a:pPr>
            <a:r>
              <a:rPr lang="en-US" sz="1400" baseline="30000" dirty="0">
                <a:solidFill>
                  <a:srgbClr val="1B2A3D"/>
                </a:solidFill>
                <a:latin typeface="Calibri" pitchFamily="34" charset="0"/>
                <a:ea typeface="Calibri" pitchFamily="34" charset="-122"/>
                <a:cs typeface="Calibri" pitchFamily="34" charset="-120"/>
              </a:rPr>
              <a:t>p</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với p = 8</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Vân tay ví dụ (dòng 729 của validationData): sai số </a:t>
            </a:r>
            <a:pPr algn="l" marL="228600" indent="-228600">
              <a:spcAft>
                <a:spcPts val="800"/>
              </a:spcAft>
              <a:buSzPct val="100000"/>
              <a:buChar char="•"/>
            </a:pPr>
            <a:r>
              <a:rPr lang="en-US" sz="1400" b="1" dirty="0">
                <a:solidFill>
                  <a:srgbClr val="1B2A3D"/>
                </a:solidFill>
                <a:latin typeface="Calibri" pitchFamily="34" charset="0"/>
                <a:ea typeface="Calibri" pitchFamily="34" charset="-122"/>
                <a:cs typeface="Calibri" pitchFamily="34" charset="-120"/>
              </a:rPr>
              <a:t>6,15 m</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Giống bước tổng hợp của k-NN có trọng số về hình thức, nhưng ô và trọng số </a:t>
            </a:r>
            <a:pPr algn="l" marL="228600" indent="-228600">
              <a:spcAft>
                <a:spcPts val="800"/>
              </a:spcAft>
              <a:buSzPct val="100000"/>
              <a:buChar char="•"/>
            </a:pPr>
            <a:r>
              <a:rPr lang="en-US" sz="1400" b="1" dirty="0">
                <a:solidFill>
                  <a:srgbClr val="1B2A3D"/>
                </a:solidFill>
                <a:latin typeface="Calibri" pitchFamily="34" charset="0"/>
                <a:ea typeface="Calibri" pitchFamily="34" charset="-122"/>
                <a:cs typeface="Calibri" pitchFamily="34" charset="-120"/>
              </a:rPr>
              <a:t>hoàn toàn do điểm khớp HUI quyết định</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04 · THỰC NGHIỆM</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Giao thức đánh giá: chọn trên dev, chấm tập kiểm tra một lần</a:t>
            </a:r>
            <a:endParaRPr lang="en-US" sz="2600" dirty="0"/>
          </a:p>
        </p:txBody>
      </p:sp>
      <p:pic>
        <p:nvPicPr>
          <p:cNvPr id="5" name="Image 0" descr="Giao thức đánh giá">    </p:cNvPr>
          <p:cNvPicPr>
            <a:picLocks noChangeAspect="1"/>
          </p:cNvPicPr>
          <p:nvPr/>
        </p:nvPicPr>
        <p:blipFill>
          <a:blip r:embed="rId1"/>
          <a:stretch>
            <a:fillRect/>
          </a:stretch>
        </p:blipFill>
        <p:spPr>
          <a:xfrm>
            <a:off x="548640" y="1417320"/>
            <a:ext cx="7406640" cy="3808193"/>
          </a:xfrm>
          <a:prstGeom prst="rect">
            <a:avLst/>
          </a:prstGeom>
        </p:spPr>
      </p:pic>
      <p:pic>
        <p:nvPicPr>
          <p:cNvPr id="6" name="Image 1" descr="Sai số theo mét">    </p:cNvPr>
          <p:cNvPicPr>
            <a:picLocks noChangeAspect="1"/>
          </p:cNvPicPr>
          <p:nvPr/>
        </p:nvPicPr>
        <p:blipFill>
          <a:blip r:embed="rId2"/>
          <a:stretch>
            <a:fillRect/>
          </a:stretch>
        </p:blipFill>
        <p:spPr>
          <a:xfrm>
            <a:off x="731520" y="5454113"/>
            <a:ext cx="6043041" cy="777240"/>
          </a:xfrm>
          <a:prstGeom prst="rect">
            <a:avLst/>
          </a:prstGeom>
        </p:spPr>
      </p:pic>
      <p:sp>
        <p:nvSpPr>
          <p:cNvPr id="7" name="Text 2"/>
          <p:cNvSpPr txBox="1"/>
          <p:nvPr/>
        </p:nvSpPr>
        <p:spPr>
          <a:xfrm>
            <a:off x="8321040" y="1600200"/>
            <a:ext cx="3322015" cy="457200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g = 0,766126 cho UJIIndoorLoc (Web Mercator), g = 1 cho bộ còn lại</a:t>
            </a:r>
            <a:endParaRPr lang="en-US" sz="1500" dirty="0"/>
          </a:p>
          <a:p>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6 fold dev, </a:t>
            </a:r>
            <a:pPr algn="l" marL="228600" indent="-228600">
              <a:spcAft>
                <a:spcPts val="800"/>
              </a:spcAft>
              <a:buSzPct val="100000"/>
              <a:buChar char="•"/>
            </a:pPr>
            <a:r>
              <a:rPr lang="en-US" sz="1500" b="1" dirty="0">
                <a:solidFill>
                  <a:srgbClr val="1B2A3D"/>
                </a:solidFill>
                <a:latin typeface="Calibri" pitchFamily="34" charset="0"/>
                <a:ea typeface="Calibri" pitchFamily="34" charset="-122"/>
                <a:cs typeface="Calibri" pitchFamily="34" charset="-120"/>
              </a:rPr>
              <a:t>GroupKFold theo PHONEID</a:t>
            </a:r>
            <a:endParaRPr lang="en-US" sz="1500" dirty="0"/>
          </a:p>
          <a:p>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2 880 cấu hình được so trên dev</a:t>
            </a:r>
            <a:endParaRPr lang="en-US" sz="1500" dirty="0"/>
          </a:p>
          <a:p>
            <a:pPr algn="l" marL="228600" indent="-228600">
              <a:spcAft>
                <a:spcPts val="800"/>
              </a:spcAft>
              <a:buSzPct val="100000"/>
              <a:buChar char="•"/>
            </a:pPr>
            <a:r>
              <a:rPr lang="en-US" sz="1500" dirty="0">
                <a:solidFill>
                  <a:srgbClr val="1B2A3D"/>
                </a:solidFill>
                <a:latin typeface="Calibri" pitchFamily="34" charset="0"/>
                <a:ea typeface="Calibri" pitchFamily="34" charset="-122"/>
                <a:cs typeface="Calibri" pitchFamily="34" charset="-120"/>
              </a:rPr>
              <a:t>Tập kiểm tra không tham gia bất kỳ lựa chọn nào</a:t>
            </a:r>
            <a:endParaRPr lang="en-US" sz="15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04 · KẾT QUẢ</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8/9 tập kiểm tra đạt sai số trung bình dưới 7 m</a:t>
            </a:r>
            <a:endParaRPr lang="en-US" sz="2600" dirty="0"/>
          </a:p>
        </p:txBody>
      </p:sp>
      <p:graphicFrame>
        <p:nvGraphicFramePr>
          <p:cNvPr id="5" name="Chart 0" descr=""/>
          <p:cNvGraphicFramePr/>
          <p:nvPr/>
        </p:nvGraphicFramePr>
        <p:xfrm>
          <a:off x="548640" y="1371600"/>
          <a:ext cx="7863840" cy="4892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778240" y="1554480"/>
            <a:ext cx="2864815" cy="731520"/>
          </a:xfrm>
          <a:prstGeom prst="rect">
            <a:avLst/>
          </a:prstGeom>
          <a:noFill/>
          <a:ln/>
        </p:spPr>
        <p:txBody>
          <a:bodyPr wrap="square" lIns="0" tIns="0" rIns="0" bIns="0" rtlCol="0" anchor="ctr"/>
          <a:lstStyle/>
          <a:p>
            <a:pPr indent="0" marL="0">
              <a:buNone/>
            </a:pPr>
            <a:r>
              <a:rPr lang="en-US" sz="4000" b="1" dirty="0">
                <a:solidFill>
                  <a:srgbClr val="2E7D8C"/>
                </a:solidFill>
                <a:latin typeface="Cambria" pitchFamily="34" charset="0"/>
                <a:ea typeface="Cambria" pitchFamily="34" charset="-122"/>
                <a:cs typeface="Cambria" pitchFamily="34" charset="-120"/>
              </a:rPr>
              <a:t>8/9</a:t>
            </a:r>
            <a:endParaRPr lang="en-US" sz="4000" dirty="0"/>
          </a:p>
        </p:txBody>
      </p:sp>
      <p:sp>
        <p:nvSpPr>
          <p:cNvPr id="7" name="Text 3"/>
          <p:cNvSpPr txBox="1"/>
          <p:nvPr/>
        </p:nvSpPr>
        <p:spPr>
          <a:xfrm>
            <a:off x="8778240" y="2304288"/>
            <a:ext cx="2864815"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tập kiểm tra dưới 7 m</a:t>
            </a:r>
            <a:endParaRPr lang="en-US" sz="1300" dirty="0"/>
          </a:p>
        </p:txBody>
      </p:sp>
      <p:sp>
        <p:nvSpPr>
          <p:cNvPr id="8" name="Text 4"/>
          <p:cNvSpPr txBox="1"/>
          <p:nvPr/>
        </p:nvSpPr>
        <p:spPr>
          <a:xfrm>
            <a:off x="8778240" y="2926080"/>
            <a:ext cx="2864815" cy="73152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1,30–6,01 m</a:t>
            </a:r>
            <a:endParaRPr lang="en-US" sz="4000" dirty="0"/>
          </a:p>
        </p:txBody>
      </p:sp>
      <p:sp>
        <p:nvSpPr>
          <p:cNvPr id="9" name="Text 5"/>
          <p:cNvSpPr txBox="1"/>
          <p:nvPr/>
        </p:nvSpPr>
        <p:spPr>
          <a:xfrm>
            <a:off x="8778240" y="3675888"/>
            <a:ext cx="2864815"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khoảng sai số trên 5 bộ ngoài UJIIndoorLoc</a:t>
            </a:r>
            <a:endParaRPr lang="en-US" sz="1300" dirty="0"/>
          </a:p>
        </p:txBody>
      </p:sp>
      <p:sp>
        <p:nvSpPr>
          <p:cNvPr id="10" name="Text 6"/>
          <p:cNvSpPr txBox="1"/>
          <p:nvPr/>
        </p:nvSpPr>
        <p:spPr>
          <a:xfrm>
            <a:off x="8778240" y="4297680"/>
            <a:ext cx="2864815" cy="731520"/>
          </a:xfrm>
          <a:prstGeom prst="rect">
            <a:avLst/>
          </a:prstGeom>
          <a:noFill/>
          <a:ln/>
        </p:spPr>
        <p:txBody>
          <a:bodyPr wrap="square" lIns="0" tIns="0" rIns="0" bIns="0" rtlCol="0" anchor="ctr"/>
          <a:lstStyle/>
          <a:p>
            <a:pPr indent="0" marL="0">
              <a:buNone/>
            </a:pPr>
            <a:r>
              <a:rPr lang="en-US" sz="4000" b="1" dirty="0">
                <a:solidFill>
                  <a:srgbClr val="B5532A"/>
                </a:solidFill>
                <a:latin typeface="Cambria" pitchFamily="34" charset="0"/>
                <a:ea typeface="Cambria" pitchFamily="34" charset="-122"/>
                <a:cs typeface="Cambria" pitchFamily="34" charset="-120"/>
              </a:rPr>
              <a:t>8,06 m</a:t>
            </a:r>
            <a:endParaRPr lang="en-US" sz="4000" dirty="0"/>
          </a:p>
        </p:txBody>
      </p:sp>
      <p:sp>
        <p:nvSpPr>
          <p:cNvPr id="11" name="Text 7"/>
          <p:cNvSpPr txBox="1"/>
          <p:nvPr/>
        </p:nvSpPr>
        <p:spPr>
          <a:xfrm>
            <a:off x="8778240" y="5047488"/>
            <a:ext cx="2864815"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UJIIndoorLoc (1 111 vân tay), chưa đạt mức 7 m</a:t>
            </a:r>
            <a:endParaRPr lang="en-US" sz="13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04 · PHÂN TÍCH</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UJIIndoorLoc: sai số nằm ở độ phân giải trong tầng</a:t>
            </a:r>
            <a:endParaRPr lang="en-US" sz="2600" dirty="0"/>
          </a:p>
        </p:txBody>
      </p:sp>
      <p:sp>
        <p:nvSpPr>
          <p:cNvPr id="5" name="Text 2"/>
          <p:cNvSpPr txBox="1"/>
          <p:nvPr/>
        </p:nvSpPr>
        <p:spPr>
          <a:xfrm>
            <a:off x="548640" y="1463040"/>
            <a:ext cx="2606040" cy="731520"/>
          </a:xfrm>
          <a:prstGeom prst="rect">
            <a:avLst/>
          </a:prstGeom>
          <a:noFill/>
          <a:ln/>
        </p:spPr>
        <p:txBody>
          <a:bodyPr wrap="square" lIns="0" tIns="0" rIns="0" bIns="0" rtlCol="0" anchor="ctr"/>
          <a:lstStyle/>
          <a:p>
            <a:pPr indent="0" marL="0">
              <a:buNone/>
            </a:pPr>
            <a:r>
              <a:rPr lang="en-US" sz="4000" b="1" dirty="0">
                <a:solidFill>
                  <a:srgbClr val="B5532A"/>
                </a:solidFill>
                <a:latin typeface="Cambria" pitchFamily="34" charset="0"/>
                <a:ea typeface="Cambria" pitchFamily="34" charset="-122"/>
                <a:cs typeface="Cambria" pitchFamily="34" charset="-120"/>
              </a:rPr>
              <a:t>8,06 m</a:t>
            </a:r>
            <a:endParaRPr lang="en-US" sz="4000" dirty="0"/>
          </a:p>
        </p:txBody>
      </p:sp>
      <p:sp>
        <p:nvSpPr>
          <p:cNvPr id="6" name="Text 3"/>
          <p:cNvSpPr txBox="1"/>
          <p:nvPr/>
        </p:nvSpPr>
        <p:spPr>
          <a:xfrm>
            <a:off x="548640" y="2212848"/>
            <a:ext cx="2606040"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sai số trung bình</a:t>
            </a:r>
            <a:endParaRPr lang="en-US" sz="1300" dirty="0"/>
          </a:p>
        </p:txBody>
      </p:sp>
      <p:sp>
        <p:nvSpPr>
          <p:cNvPr id="7" name="Text 4"/>
          <p:cNvSpPr txBox="1"/>
          <p:nvPr/>
        </p:nvSpPr>
        <p:spPr>
          <a:xfrm>
            <a:off x="3273552" y="1463040"/>
            <a:ext cx="2606040" cy="73152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6,15 m</a:t>
            </a:r>
            <a:endParaRPr lang="en-US" sz="4000" dirty="0"/>
          </a:p>
        </p:txBody>
      </p:sp>
      <p:sp>
        <p:nvSpPr>
          <p:cNvPr id="8" name="Text 5"/>
          <p:cNvSpPr txBox="1"/>
          <p:nvPr/>
        </p:nvSpPr>
        <p:spPr>
          <a:xfrm>
            <a:off x="3273552" y="2212848"/>
            <a:ext cx="2606040"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trung vị</a:t>
            </a:r>
            <a:endParaRPr lang="en-US" sz="1300" dirty="0"/>
          </a:p>
        </p:txBody>
      </p:sp>
      <p:sp>
        <p:nvSpPr>
          <p:cNvPr id="9" name="Text 6"/>
          <p:cNvSpPr txBox="1"/>
          <p:nvPr/>
        </p:nvSpPr>
        <p:spPr>
          <a:xfrm>
            <a:off x="5998464" y="1463040"/>
            <a:ext cx="2606040" cy="731520"/>
          </a:xfrm>
          <a:prstGeom prst="rect">
            <a:avLst/>
          </a:prstGeom>
          <a:noFill/>
          <a:ln/>
        </p:spPr>
        <p:txBody>
          <a:bodyPr wrap="square" lIns="0" tIns="0" rIns="0" bIns="0" rtlCol="0" anchor="ctr"/>
          <a:lstStyle/>
          <a:p>
            <a:pPr indent="0" marL="0">
              <a:buNone/>
            </a:pPr>
            <a:r>
              <a:rPr lang="en-US" sz="4000" b="1" dirty="0">
                <a:solidFill>
                  <a:srgbClr val="2E7D8C"/>
                </a:solidFill>
                <a:latin typeface="Cambria" pitchFamily="34" charset="0"/>
                <a:ea typeface="Cambria" pitchFamily="34" charset="-122"/>
                <a:cs typeface="Cambria" pitchFamily="34" charset="-120"/>
              </a:rPr>
              <a:t>80,4%</a:t>
            </a:r>
            <a:endParaRPr lang="en-US" sz="4000" dirty="0"/>
          </a:p>
        </p:txBody>
      </p:sp>
      <p:sp>
        <p:nvSpPr>
          <p:cNvPr id="10" name="Text 7"/>
          <p:cNvSpPr txBox="1"/>
          <p:nvPr/>
        </p:nvSpPr>
        <p:spPr>
          <a:xfrm>
            <a:off x="5998464" y="2212848"/>
            <a:ext cx="2606040"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đúng tòa và tầng</a:t>
            </a:r>
            <a:endParaRPr lang="en-US" sz="1300" dirty="0"/>
          </a:p>
        </p:txBody>
      </p:sp>
      <p:sp>
        <p:nvSpPr>
          <p:cNvPr id="11" name="Text 8"/>
          <p:cNvSpPr txBox="1"/>
          <p:nvPr/>
        </p:nvSpPr>
        <p:spPr>
          <a:xfrm>
            <a:off x="8723376" y="1463040"/>
            <a:ext cx="2606040" cy="73152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77,6%</a:t>
            </a:r>
            <a:endParaRPr lang="en-US" sz="4000" dirty="0"/>
          </a:p>
        </p:txBody>
      </p:sp>
      <p:sp>
        <p:nvSpPr>
          <p:cNvPr id="12" name="Text 9"/>
          <p:cNvSpPr txBox="1"/>
          <p:nvPr/>
        </p:nvSpPr>
        <p:spPr>
          <a:xfrm>
            <a:off x="8723376" y="2212848"/>
            <a:ext cx="2606040" cy="548640"/>
          </a:xfrm>
          <a:prstGeom prst="rect">
            <a:avLst/>
          </a:prstGeom>
          <a:noFill/>
          <a:ln/>
        </p:spPr>
        <p:txBody>
          <a:bodyPr wrap="square" lIns="0" tIns="0" rIns="0" bIns="0" rtlCol="0" anchor="t"/>
          <a:lstStyle/>
          <a:p>
            <a:pPr indent="0" marL="0">
              <a:buNone/>
            </a:pPr>
            <a:r>
              <a:rPr lang="en-US" sz="1300" dirty="0">
                <a:solidFill>
                  <a:srgbClr val="7A8C99"/>
                </a:solidFill>
                <a:latin typeface="Calibri" pitchFamily="34" charset="0"/>
                <a:ea typeface="Calibri" pitchFamily="34" charset="-122"/>
                <a:cs typeface="Calibri" pitchFamily="34" charset="-120"/>
              </a:rPr>
              <a:t>tổng sai số thuộc mẫu đúng tầng</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5669280" cy="914400"/>
        </p:xfrm>
        <a:graphic>
          <a:graphicData uri="http://schemas.openxmlformats.org/drawingml/2006/table">
            <a:tbl>
              <a:tblPr/>
              <a:tblGrid>
                <a:gridCol w="2377440"/>
                <a:gridCol w="914400"/>
                <a:gridCol w="1143000"/>
                <a:gridCol w="123444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Nhóm mẫu</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Số mẫu</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Sai số TB (m)</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Phần tổng sai số</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r>
              <a:tr h="384048">
                <a:tc>
                  <a:txBody>
                    <a:bodyPr/>
                    <a:lstStyle/>
                    <a:p>
                      <a:pPr algn="l" indent="0" marL="0">
                        <a:buNone/>
                      </a:pPr>
                      <a:r>
                        <a:rPr lang="en-US" sz="1300" dirty="0">
                          <a:solidFill>
                            <a:srgbClr val="1B2A3D"/>
                          </a:solidFill>
                          <a:latin typeface="Calibri" pitchFamily="34" charset="0"/>
                          <a:ea typeface="Calibri" pitchFamily="34" charset="-122"/>
                          <a:cs typeface="Calibri" pitchFamily="34" charset="-120"/>
                        </a:rPr>
                        <a:t>Đoán đúng tòa và tầng</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A3D"/>
                          </a:solidFill>
                          <a:latin typeface="Calibri" pitchFamily="34" charset="0"/>
                          <a:ea typeface="Calibri" pitchFamily="34" charset="-122"/>
                          <a:cs typeface="Calibri" pitchFamily="34" charset="-120"/>
                        </a:rPr>
                        <a:t>893</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A3D"/>
                          </a:solidFill>
                          <a:latin typeface="Calibri" pitchFamily="34" charset="0"/>
                          <a:ea typeface="Calibri" pitchFamily="34" charset="-122"/>
                          <a:cs typeface="Calibri" pitchFamily="34" charset="-120"/>
                        </a:rPr>
                        <a:t>7,78</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A3D"/>
                          </a:solidFill>
                          <a:latin typeface="Calibri" pitchFamily="34" charset="0"/>
                          <a:ea typeface="Calibri" pitchFamily="34" charset="-122"/>
                          <a:cs typeface="Calibri" pitchFamily="34" charset="-120"/>
                        </a:rPr>
                        <a:t>77,6%</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A3D"/>
                          </a:solidFill>
                          <a:latin typeface="Calibri" pitchFamily="34" charset="0"/>
                          <a:ea typeface="Calibri" pitchFamily="34" charset="-122"/>
                          <a:cs typeface="Calibri" pitchFamily="34" charset="-120"/>
                        </a:rPr>
                        <a:t>Đoán sai tầng</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300" dirty="0">
                          <a:solidFill>
                            <a:srgbClr val="1B2A3D"/>
                          </a:solidFill>
                          <a:latin typeface="Calibri" pitchFamily="34" charset="0"/>
                          <a:ea typeface="Calibri" pitchFamily="34" charset="-122"/>
                          <a:cs typeface="Calibri" pitchFamily="34" charset="-120"/>
                        </a:rPr>
                        <a:t>218</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300" dirty="0">
                          <a:solidFill>
                            <a:srgbClr val="1B2A3D"/>
                          </a:solidFill>
                          <a:latin typeface="Calibri" pitchFamily="34" charset="0"/>
                          <a:ea typeface="Calibri" pitchFamily="34" charset="-122"/>
                          <a:cs typeface="Calibri" pitchFamily="34" charset="-120"/>
                        </a:rPr>
                        <a:t>9,18</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300" dirty="0">
                          <a:solidFill>
                            <a:srgbClr val="1B2A3D"/>
                          </a:solidFill>
                          <a:latin typeface="Calibri" pitchFamily="34" charset="0"/>
                          <a:ea typeface="Calibri" pitchFamily="34" charset="-122"/>
                          <a:cs typeface="Calibri" pitchFamily="34" charset="-120"/>
                        </a:rPr>
                        <a:t>22,4%</a:t>
                      </a:r>
                      <a:endParaRPr lang="en-US" sz="13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bl>
          </a:graphicData>
        </a:graphic>
      </p:graphicFrame>
      <p:sp>
        <p:nvSpPr>
          <p:cNvPr id="14" name="Text 10"/>
          <p:cNvSpPr txBox="1"/>
          <p:nvPr/>
        </p:nvSpPr>
        <p:spPr>
          <a:xfrm>
            <a:off x="548640" y="4434840"/>
            <a:ext cx="5760720" cy="182880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Điểm nghẽn là </a:t>
            </a:r>
            <a:pPr algn="l" marL="228600" indent="-228600">
              <a:spcAft>
                <a:spcPts val="800"/>
              </a:spcAft>
              <a:buSzPct val="100000"/>
              <a:buChar char="•"/>
            </a:pPr>
            <a:r>
              <a:rPr lang="en-US" sz="1400" b="1" dirty="0">
                <a:solidFill>
                  <a:srgbClr val="1B2A3D"/>
                </a:solidFill>
                <a:latin typeface="Calibri" pitchFamily="34" charset="0"/>
                <a:ea typeface="Calibri" pitchFamily="34" charset="-122"/>
                <a:cs typeface="Calibri" pitchFamily="34" charset="-120"/>
              </a:rPr>
              <a:t>độ phân giải trong tầng</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không phải việc chọn tầng</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Mỗi ô chỉ có khoảng 21 vân tay của một tới bốn người dùng</a:t>
            </a:r>
            <a:endParaRPr lang="en-US" sz="1400" dirty="0"/>
          </a:p>
          <a:p>
            <a:pPr algn="l" marL="228600" indent="-228600">
              <a:spcAft>
                <a:spcPts val="800"/>
              </a:spcAft>
              <a:buSzPct val="100000"/>
              <a:buChar char="•"/>
            </a:pPr>
            <a:r>
              <a:rPr lang="en-US" sz="1400" b="1" dirty="0">
                <a:solidFill>
                  <a:srgbClr val="1B2A3D"/>
                </a:solidFill>
                <a:latin typeface="Calibri" pitchFamily="34" charset="0"/>
                <a:ea typeface="Calibri" pitchFamily="34" charset="-122"/>
                <a:cs typeface="Calibri" pitchFamily="34" charset="-120"/>
              </a:rPr>
              <a:t>9/11 điện thoại</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của tập kiểm tra không có trong tập huấn luyện</a:t>
            </a:r>
            <a:endParaRPr lang="en-US" sz="1400" dirty="0"/>
          </a:p>
        </p:txBody>
      </p:sp>
      <p:pic>
        <p:nvPicPr>
          <p:cNvPr id="15" name="Image 0" descr="Phân bố sai số UJIIndoorLoc">    </p:cNvPr>
          <p:cNvPicPr>
            <a:picLocks noChangeAspect="1"/>
          </p:cNvPicPr>
          <p:nvPr/>
        </p:nvPicPr>
        <p:blipFill>
          <a:blip r:embed="rId1"/>
          <a:stretch>
            <a:fillRect/>
          </a:stretch>
        </p:blipFill>
        <p:spPr>
          <a:xfrm>
            <a:off x="6583680" y="2926080"/>
            <a:ext cx="5059375" cy="3060378"/>
          </a:xfrm>
          <a:prstGeom prst="rect">
            <a:avLst/>
          </a:prstGeom>
        </p:spPr>
      </p:pic>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04 · PHÂN TÍCH</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Lịch sử phiên bản và lựa chọn mô hình cuối</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097280"/>
                <a:gridCol w="5394960"/>
                <a:gridCol w="1417320"/>
                <a:gridCol w="1051560"/>
                <a:gridCol w="1234440"/>
                <a:gridCol w="896112"/>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Phiên bản</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Thay đổi</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Fold dev</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Dev TB (m)</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Kiểm tra TB (m)</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Đúng tầng</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r>
              <a:tr h="56692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v1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EFIM theo từng ô, θ 30/50/70%, khớp HUI mềm, tầng do các ô điểm cao bỏ phiếu</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theo người dùng</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7,66</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79,7%</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v2</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 làm mượt không gian (σ), chọn tầng trước (kf), θ 10% (thí nghiệm trên 2 fold dev)</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theo người dùng</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7,70</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8,18</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76,1%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56692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v3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fold dev giữ lại theo ĐIỆN THOẠI; chọn utility nội trong abs / rel / rank; θ 20%</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theo điện thoại</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7,67</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8,00</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79,9%</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B2A3D"/>
                          </a:solidFill>
                          <a:latin typeface="Calibri" pitchFamily="34" charset="0"/>
                          <a:ea typeface="Calibri" pitchFamily="34" charset="-122"/>
                          <a:cs typeface="Calibri" pitchFamily="34" charset="-120"/>
                        </a:rPr>
                        <a:t>v4 (cuối)</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l" indent="0" marL="0">
                        <a:buNone/>
                      </a:pPr>
                      <a:r>
                        <a:rPr lang="en-US" sz="1200" b="1" dirty="0">
                          <a:solidFill>
                            <a:srgbClr val="1B2A3D"/>
                          </a:solidFill>
                          <a:latin typeface="Calibri" pitchFamily="34" charset="0"/>
                          <a:ea typeface="Calibri" pitchFamily="34" charset="-122"/>
                          <a:cs typeface="Calibri" pitchFamily="34" charset="-120"/>
                        </a:rPr>
                        <a:t>mở rộng lưới kf, m, p (v3 chọn giá trị ở biên lưới)</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l" indent="0" marL="0">
                        <a:buNone/>
                      </a:pPr>
                      <a:r>
                        <a:rPr lang="en-US" sz="1200" b="1" dirty="0">
                          <a:solidFill>
                            <a:srgbClr val="1B2A3D"/>
                          </a:solidFill>
                          <a:latin typeface="Calibri" pitchFamily="34" charset="0"/>
                          <a:ea typeface="Calibri" pitchFamily="34" charset="-122"/>
                          <a:cs typeface="Calibri" pitchFamily="34" charset="-120"/>
                        </a:rPr>
                        <a:t>theo điện thoại</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7,65</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8,06</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80,4%</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r>
            </a:tbl>
          </a:graphicData>
        </a:graphic>
      </p:graphicFrame>
      <p:sp>
        <p:nvSpPr>
          <p:cNvPr id="6" name="Shape 2"/>
          <p:cNvSpPr/>
          <p:nvPr/>
        </p:nvSpPr>
        <p:spPr>
          <a:xfrm>
            <a:off x="548640" y="4709160"/>
            <a:ext cx="11094415" cy="1417320"/>
          </a:xfrm>
          <a:prstGeom prst="rect">
            <a:avLst/>
          </a:prstGeom>
          <a:solidFill>
            <a:srgbClr val="E8F1F2"/>
          </a:solidFill>
          <a:ln w="12700">
            <a:solidFill>
              <a:srgbClr val="E8F1F2"/>
            </a:solidFill>
            <a:prstDash val="solid"/>
          </a:ln>
        </p:spPr>
      </p:sp>
      <p:sp>
        <p:nvSpPr>
          <p:cNvPr id="7" name="Text 3"/>
          <p:cNvSpPr txBox="1"/>
          <p:nvPr/>
        </p:nvSpPr>
        <p:spPr>
          <a:xfrm>
            <a:off x="822960" y="4892040"/>
            <a:ext cx="10545775" cy="1097280"/>
          </a:xfrm>
          <a:prstGeom prst="rect">
            <a:avLst/>
          </a:prstGeom>
          <a:noFill/>
          <a:ln/>
        </p:spPr>
        <p:txBody>
          <a:bodyPr wrap="square" lIns="0" tIns="0" rIns="0" bIns="0" rtlCol="0" anchor="t"/>
          <a:lstStyle/>
          <a:p>
            <a:pPr indent="0" marL="0">
              <a:buNone/>
            </a:pPr>
            <a:r>
              <a:rPr lang="en-US" sz="1500" b="1" dirty="0">
                <a:solidFill>
                  <a:srgbClr val="1B2A3D"/>
                </a:solidFill>
                <a:latin typeface="Calibri" pitchFamily="34" charset="0"/>
                <a:ea typeface="Calibri" pitchFamily="34" charset="-122"/>
                <a:cs typeface="Calibri" pitchFamily="34" charset="-120"/>
              </a:rPr>
              <a:t>Nguyên tắc:</a:t>
            </a:r>
            <a:pPr indent="0" marL="0">
              <a:buNone/>
            </a:pPr>
            <a:r>
              <a:rPr lang="en-US" sz="1500" dirty="0">
                <a:solidFill>
                  <a:srgbClr val="1B2A3D"/>
                </a:solidFill>
                <a:latin typeface="Calibri" pitchFamily="34" charset="0"/>
                <a:ea typeface="Calibri" pitchFamily="34" charset="-122"/>
                <a:cs typeface="Calibri" pitchFamily="34" charset="-120"/>
              </a:rPr>
              <a:t> mọi lựa chọn dựa trên dev. v1 có sai số kiểm tra thấp nhất nhưng dev kém nhất; chọn v1 là chọn mô hình trên tập kiểm tra. Mô hình cuối là </a:t>
            </a:r>
            <a:pPr indent="0" marL="0">
              <a:buNone/>
            </a:pPr>
            <a:r>
              <a:rPr lang="en-US" sz="1500" b="1" dirty="0">
                <a:solidFill>
                  <a:srgbClr val="1B2A3D"/>
                </a:solidFill>
                <a:latin typeface="Calibri" pitchFamily="34" charset="0"/>
                <a:ea typeface="Calibri" pitchFamily="34" charset="-122"/>
                <a:cs typeface="Calibri" pitchFamily="34" charset="-120"/>
              </a:rPr>
              <a:t>v4</a:t>
            </a:r>
            <a:pPr indent="0" marL="0">
              <a:buNone/>
            </a:pPr>
            <a:r>
              <a:rPr lang="en-US" sz="1500" dirty="0">
                <a:solidFill>
                  <a:srgbClr val="1B2A3D"/>
                </a:solidFill>
                <a:latin typeface="Calibri" pitchFamily="34" charset="0"/>
                <a:ea typeface="Calibri" pitchFamily="34" charset="-122"/>
                <a:cs typeface="Calibri" pitchFamily="34" charset="-120"/>
              </a:rPr>
              <a:t>, phiên bản mà giao thức chọn.</a:t>
            </a:r>
            <a:endParaRPr lang="en-US" sz="15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04 · SO SÁNH</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Đặt cạnh các hệ thống dùng k-NN</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1828800"/>
                <a:gridCol w="1325880"/>
                <a:gridCol w="960120"/>
                <a:gridCol w="960120"/>
                <a:gridCol w="105156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Bộ dữ liệu</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Tập kiểm tra</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Chỉ HUIM</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k-NN gốc</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k-NN tối ưu</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HUIM chọn AP + k-NN</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F3A5F"/>
                    </a:solidFill>
                  </a:tcPr>
                </a:tc>
              </a:tr>
              <a:tr h="384048">
                <a:tc>
                  <a:txBody>
                    <a:bodyPr/>
                    <a:lstStyle/>
                    <a:p>
                      <a:pPr algn="l" indent="0" marL="0">
                        <a:buNone/>
                      </a:pPr>
                      <a:r>
                        <a:rPr lang="en-US" sz="1200" b="1" dirty="0">
                          <a:solidFill>
                            <a:srgbClr val="1B2A3D"/>
                          </a:solidFill>
                          <a:latin typeface="Calibri" pitchFamily="34" charset="0"/>
                          <a:ea typeface="Calibri" pitchFamily="34" charset="-122"/>
                          <a:cs typeface="Calibri" pitchFamily="34" charset="-120"/>
                        </a:rPr>
                        <a:t>UJIIndoorLoc</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l" indent="0" marL="0">
                        <a:buNone/>
                      </a:pPr>
                      <a:r>
                        <a:rPr lang="en-US" sz="1200" b="1" dirty="0">
                          <a:solidFill>
                            <a:srgbClr val="1B2A3D"/>
                          </a:solidFill>
                          <a:latin typeface="Calibri" pitchFamily="34" charset="0"/>
                          <a:ea typeface="Calibri" pitchFamily="34" charset="-122"/>
                          <a:cs typeface="Calibri" pitchFamily="34" charset="-120"/>
                        </a:rPr>
                        <a:t>validationData</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8,06</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9,28</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5,36</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c>
                  <a:txBody>
                    <a:bodyPr/>
                    <a:lstStyle/>
                    <a:p>
                      <a:pPr algn="r" indent="0" marL="0">
                        <a:buNone/>
                      </a:pPr>
                      <a:r>
                        <a:rPr lang="en-US" sz="1200" b="1" dirty="0">
                          <a:solidFill>
                            <a:srgbClr val="1B2A3D"/>
                          </a:solidFill>
                          <a:latin typeface="Calibri" pitchFamily="34" charset="0"/>
                          <a:ea typeface="Calibri" pitchFamily="34" charset="-122"/>
                          <a:cs typeface="Calibri" pitchFamily="34" charset="-120"/>
                        </a:rPr>
                        <a:t>5,30 (240/520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6E9E2"/>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UJI_LIB tầng 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Test-01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2,57</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1,21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1,20 (90/620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UJI_LIB tầng 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Test-02</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2,03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2,02 (90/620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DLULIB</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6,01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4,18</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3,43 (17/17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HCXY</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test_HCXY</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1,93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1,50 (137/347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HUS</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testcase1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0,07</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0,07 (5/5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HUS</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testcase2</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0,06</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0,06 (5/5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HUS (khử trùng lặp)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testcase1</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0,39</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0,39 (5/5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7F6F2"/>
                    </a:solidFill>
                  </a:tcPr>
                </a:tc>
              </a:tr>
              <a:tr h="384048">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HUS (khử trùng lặp)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D"/>
                          </a:solidFill>
                          <a:latin typeface="Calibri" pitchFamily="34" charset="0"/>
                          <a:ea typeface="Calibri" pitchFamily="34" charset="-122"/>
                          <a:cs typeface="Calibri" pitchFamily="34" charset="-120"/>
                        </a:rPr>
                        <a:t>testcase2</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3D"/>
                          </a:solidFill>
                          <a:latin typeface="Calibri" pitchFamily="34" charset="0"/>
                          <a:ea typeface="Calibri" pitchFamily="34" charset="-122"/>
                          <a:cs typeface="Calibri" pitchFamily="34" charset="-120"/>
                        </a:rPr>
                        <a:t>0,25 (5/5 AP)</a:t>
                      </a:r>
                      <a:endParaRPr lang="en-US" sz="1200" dirty="0">
                        <a:latin typeface="Calibri" charset="0"/>
                        <a:ea typeface="Calibri" charset="0"/>
                        <a:cs typeface="Calibri" charset="0"/>
                      </a:endParaRPr>
                    </a:p>
                  </a:txBody>
                  <a:tcPr marL="76200" marR="76200" marT="25400" marB="254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8503920" y="1463040"/>
            <a:ext cx="3139135"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Đọc bảng</a:t>
            </a:r>
            <a:endParaRPr lang="en-US" sz="1700" dirty="0"/>
          </a:p>
        </p:txBody>
      </p:sp>
      <p:sp>
        <p:nvSpPr>
          <p:cNvPr id="7" name="Text 3"/>
          <p:cNvSpPr txBox="1"/>
          <p:nvPr/>
        </p:nvSpPr>
        <p:spPr>
          <a:xfrm>
            <a:off x="8503920" y="1920240"/>
            <a:ext cx="3139135" cy="429768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Đơn vị: mét, sai số trung bình trên tập kiểm tra</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UJIIndoorLoc: chỉ HUIM tốt hơn </a:t>
            </a:r>
            <a:pPr algn="l" marL="228600" indent="-228600">
              <a:spcAft>
                <a:spcPts val="800"/>
              </a:spcAft>
              <a:buSzPct val="100000"/>
              <a:buChar char="•"/>
            </a:pPr>
            <a:r>
              <a:rPr lang="en-US" sz="1400" b="1" dirty="0">
                <a:solidFill>
                  <a:srgbClr val="1B2A3D"/>
                </a:solidFill>
                <a:latin typeface="Calibri" pitchFamily="34" charset="0"/>
                <a:ea typeface="Calibri" pitchFamily="34" charset="-122"/>
                <a:cs typeface="Calibri" pitchFamily="34" charset="-120"/>
              </a:rPr>
              <a:t>k-NN gốc</a:t>
            </a:r>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 kém k-NN đã tối ưu</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Bộ một tầng: vị trí kiểm tra trùng hoặc rất gần điểm tham chiếu, lợi thế cho k-NN</a:t>
            </a:r>
            <a:endParaRPr lang="en-US" sz="1400" dirty="0"/>
          </a:p>
          <a:p>
            <a:pPr algn="l" marL="228600" indent="-228600">
              <a:spcAft>
                <a:spcPts val="800"/>
              </a:spcAft>
              <a:buSzPct val="100000"/>
              <a:buChar char="•"/>
            </a:pPr>
            <a:r>
              <a:rPr lang="en-US" sz="1400" dirty="0">
                <a:solidFill>
                  <a:srgbClr val="1B2A3D"/>
                </a:solidFill>
                <a:latin typeface="Calibri" pitchFamily="34" charset="0"/>
                <a:ea typeface="Calibri" pitchFamily="34" charset="-122"/>
                <a:cs typeface="Calibri" pitchFamily="34" charset="-120"/>
              </a:rPr>
              <a:t>Ở hệ thống đề xuất, bỏ HUIM thì không còn mô hình định vị</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100" b="1" spc="150" kern="0" dirty="0">
                <a:solidFill>
                  <a:srgbClr val="2E7D8C"/>
                </a:solidFill>
                <a:latin typeface="Calibri" pitchFamily="34" charset="0"/>
                <a:ea typeface="Calibri" pitchFamily="34" charset="-122"/>
                <a:cs typeface="Calibri" pitchFamily="34" charset="-120"/>
              </a:rPr>
              <a:t>04 · KIỂM CHỨNG</a:t>
            </a:r>
            <a:endParaRPr lang="en-US" sz="1100" dirty="0"/>
          </a:p>
        </p:txBody>
      </p:sp>
      <p:sp>
        <p:nvSpPr>
          <p:cNvPr id="3" name="Text 2"/>
          <p:cNvSpPr/>
          <p:nvPr>
            <p:ph idx="102" type="title" hasCustomPrompt="1"/>
          </p:nvPr>
        </p:nvSpPr>
        <p:spPr>
          <a:xfrm>
            <a:off x="548640" y="566928"/>
            <a:ext cx="11094415" cy="685800"/>
          </a:xfrm>
          <a:prstGeom prst="rect">
            <a:avLst/>
          </a:prstGeom>
          <a:noFill/>
          <a:ln/>
        </p:spPr>
        <p:txBody>
          <a:bodyPr wrap="square" lIns="0" tIns="0" rIns="0" bIns="0" rtlCol="0" anchor="t"/>
          <a:lstStyle/>
          <a:p>
            <a:pPr algn="l" indent="0" marL="0">
              <a:buNone/>
            </a:pPr>
            <a:r>
              <a:rPr lang="en-US" sz="2600" b="1" dirty="0">
                <a:solidFill>
                  <a:srgbClr val="1F3A5F"/>
                </a:solidFill>
                <a:latin typeface="Cambria" pitchFamily="34" charset="0"/>
                <a:ea typeface="Cambria" pitchFamily="34" charset="-122"/>
                <a:cs typeface="Cambria" pitchFamily="34" charset="-120"/>
              </a:rPr>
              <a:t>Mọi con số đều tính lại được độc lập</a:t>
            </a:r>
            <a:endParaRPr lang="en-US" sz="2600" dirty="0"/>
          </a:p>
        </p:txBody>
      </p:sp>
      <p:sp>
        <p:nvSpPr>
          <p:cNvPr id="5" name="Shape 2"/>
          <p:cNvSpPr/>
          <p:nvPr/>
        </p:nvSpPr>
        <p:spPr>
          <a:xfrm>
            <a:off x="548640" y="1508760"/>
            <a:ext cx="3515258" cy="3520440"/>
          </a:xfrm>
          <a:prstGeom prst="rect">
            <a:avLst/>
          </a:prstGeom>
          <a:solidFill>
            <a:srgbClr val="E8F1F2"/>
          </a:solidFill>
          <a:ln w="12700">
            <a:solidFill>
              <a:srgbClr val="E8F1F2"/>
            </a:solidFill>
            <a:prstDash val="solid"/>
          </a:ln>
        </p:spPr>
      </p:sp>
      <p:sp>
        <p:nvSpPr>
          <p:cNvPr id="6" name="Text 3"/>
          <p:cNvSpPr txBox="1"/>
          <p:nvPr/>
        </p:nvSpPr>
        <p:spPr>
          <a:xfrm>
            <a:off x="822960" y="1737360"/>
            <a:ext cx="2966618" cy="640080"/>
          </a:xfrm>
          <a:prstGeom prst="rect">
            <a:avLst/>
          </a:prstGeom>
          <a:noFill/>
          <a:ln/>
        </p:spPr>
        <p:txBody>
          <a:bodyPr wrap="square" lIns="0" tIns="0" rIns="0" bIns="0" rtlCol="0" anchor="ctr"/>
          <a:lstStyle/>
          <a:p>
            <a:pPr indent="0" marL="0">
              <a:buNone/>
            </a:pPr>
            <a:r>
              <a:rPr lang="en-US" sz="2600" b="1" dirty="0">
                <a:solidFill>
                  <a:srgbClr val="2E7D8C"/>
                </a:solidFill>
                <a:latin typeface="Cambria" pitchFamily="34" charset="0"/>
                <a:ea typeface="Cambria" pitchFamily="34" charset="-122"/>
                <a:cs typeface="Cambria" pitchFamily="34" charset="-120"/>
              </a:rPr>
              <a:t>42 phép kiểm</a:t>
            </a:r>
            <a:endParaRPr lang="en-US" sz="2600" dirty="0"/>
          </a:p>
        </p:txBody>
      </p:sp>
      <p:sp>
        <p:nvSpPr>
          <p:cNvPr id="7" name="Text 4"/>
          <p:cNvSpPr txBox="1"/>
          <p:nvPr/>
        </p:nvSpPr>
        <p:spPr>
          <a:xfrm>
            <a:off x="822960" y="2377440"/>
            <a:ext cx="2966618" cy="411480"/>
          </a:xfrm>
          <a:prstGeom prst="rect">
            <a:avLst/>
          </a:prstGeom>
          <a:noFill/>
          <a:ln/>
        </p:spPr>
        <p:txBody>
          <a:bodyPr wrap="square" lIns="0" tIns="0" rIns="0" bIns="0" rtlCol="0" anchor="ctr"/>
          <a:lstStyle/>
          <a:p>
            <a:pPr indent="0" marL="0">
              <a:buNone/>
            </a:pPr>
            <a:r>
              <a:rPr lang="en-US" sz="1400" b="1" dirty="0">
                <a:solidFill>
                  <a:srgbClr val="7A8C99"/>
                </a:solidFill>
                <a:latin typeface="Calibri" pitchFamily="34" charset="0"/>
                <a:ea typeface="Calibri" pitchFamily="34" charset="-122"/>
                <a:cs typeface="Calibri" pitchFamily="34" charset="-120"/>
              </a:rPr>
              <a:t>0 thất bại</a:t>
            </a:r>
            <a:endParaRPr lang="en-US" sz="1400" dirty="0"/>
          </a:p>
        </p:txBody>
      </p:sp>
      <p:sp>
        <p:nvSpPr>
          <p:cNvPr id="8" name="Text 5"/>
          <p:cNvSpPr txBox="1"/>
          <p:nvPr/>
        </p:nvSpPr>
        <p:spPr>
          <a:xfrm>
            <a:off x="822960" y="2971800"/>
            <a:ext cx="2966618" cy="1920240"/>
          </a:xfrm>
          <a:prstGeom prst="rect">
            <a:avLst/>
          </a:prstGeom>
          <a:noFill/>
          <a:ln/>
        </p:spPr>
        <p:txBody>
          <a:bodyPr wrap="square" lIns="0" tIns="0" rIns="0" bIns="0" rtlCol="0" anchor="t"/>
          <a:lstStyle/>
          <a:p>
            <a:pPr indent="0" marL="0">
              <a:buNone/>
            </a:pPr>
            <a:r>
              <a:rPr lang="en-US" sz="1500" dirty="0">
                <a:solidFill>
                  <a:srgbClr val="1B2A3D"/>
                </a:solidFill>
                <a:latin typeface="Calibri" pitchFamily="34" charset="0"/>
                <a:ea typeface="Calibri" pitchFamily="34" charset="-122"/>
                <a:cs typeface="Calibri" pitchFamily="34" charset="-120"/>
              </a:rPr>
              <a:t>Chương trình kiểm chứng độc lập: đọc dữ liệu gốc, tính lại lợi ích, kiểm tra HUI vượt ngưỡng, điểm khớp, tầng và toạ độ của mẫu ngẫu nhiên; không gọi EFIM hay bộ định vị.</a:t>
            </a:r>
            <a:endParaRPr lang="en-US" sz="1500" dirty="0"/>
          </a:p>
        </p:txBody>
      </p:sp>
      <p:sp>
        <p:nvSpPr>
          <p:cNvPr id="9" name="Shape 6"/>
          <p:cNvSpPr/>
          <p:nvPr/>
        </p:nvSpPr>
        <p:spPr>
          <a:xfrm>
            <a:off x="4338218" y="1508760"/>
            <a:ext cx="3515258" cy="3520440"/>
          </a:xfrm>
          <a:prstGeom prst="rect">
            <a:avLst/>
          </a:prstGeom>
          <a:solidFill>
            <a:srgbClr val="FBFAF7"/>
          </a:solidFill>
          <a:ln w="12700">
            <a:solidFill>
              <a:srgbClr val="FBFAF7"/>
            </a:solidFill>
            <a:prstDash val="solid"/>
          </a:ln>
        </p:spPr>
      </p:sp>
      <p:sp>
        <p:nvSpPr>
          <p:cNvPr id="10" name="Text 7"/>
          <p:cNvSpPr txBox="1"/>
          <p:nvPr/>
        </p:nvSpPr>
        <p:spPr>
          <a:xfrm>
            <a:off x="4612538" y="1737360"/>
            <a:ext cx="2966618" cy="64008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Sổ Excel</a:t>
            </a:r>
            <a:endParaRPr lang="en-US" sz="2600" dirty="0"/>
          </a:p>
        </p:txBody>
      </p:sp>
      <p:sp>
        <p:nvSpPr>
          <p:cNvPr id="11" name="Text 8"/>
          <p:cNvSpPr txBox="1"/>
          <p:nvPr/>
        </p:nvSpPr>
        <p:spPr>
          <a:xfrm>
            <a:off x="4612538" y="2377440"/>
            <a:ext cx="2966618" cy="411480"/>
          </a:xfrm>
          <a:prstGeom prst="rect">
            <a:avLst/>
          </a:prstGeom>
          <a:noFill/>
          <a:ln/>
        </p:spPr>
        <p:txBody>
          <a:bodyPr wrap="square" lIns="0" tIns="0" rIns="0" bIns="0" rtlCol="0" anchor="ctr"/>
          <a:lstStyle/>
          <a:p>
            <a:pPr indent="0" marL="0">
              <a:buNone/>
            </a:pPr>
            <a:r>
              <a:rPr lang="en-US" sz="1400" b="1" dirty="0">
                <a:solidFill>
                  <a:srgbClr val="7A8C99"/>
                </a:solidFill>
                <a:latin typeface="Calibri" pitchFamily="34" charset="0"/>
                <a:ea typeface="Calibri" pitchFamily="34" charset="-122"/>
                <a:cs typeface="Calibri" pitchFamily="34" charset="-120"/>
              </a:rPr>
              <a:t>so_lieu/kiem_chung_mean.xlsx</a:t>
            </a:r>
            <a:endParaRPr lang="en-US" sz="1400" dirty="0"/>
          </a:p>
        </p:txBody>
      </p:sp>
      <p:sp>
        <p:nvSpPr>
          <p:cNvPr id="12" name="Text 9"/>
          <p:cNvSpPr txBox="1"/>
          <p:nvPr/>
        </p:nvSpPr>
        <p:spPr>
          <a:xfrm>
            <a:off x="4612538" y="2971800"/>
            <a:ext cx="2966618" cy="1920240"/>
          </a:xfrm>
          <a:prstGeom prst="rect">
            <a:avLst/>
          </a:prstGeom>
          <a:noFill/>
          <a:ln/>
        </p:spPr>
        <p:txBody>
          <a:bodyPr wrap="square" lIns="0" tIns="0" rIns="0" bIns="0" rtlCol="0" anchor="t"/>
          <a:lstStyle/>
          <a:p>
            <a:pPr indent="0" marL="0">
              <a:buNone/>
            </a:pPr>
            <a:r>
              <a:rPr lang="en-US" sz="1500" dirty="0">
                <a:solidFill>
                  <a:srgbClr val="1B2A3D"/>
                </a:solidFill>
                <a:latin typeface="Calibri" pitchFamily="34" charset="0"/>
                <a:ea typeface="Calibri" pitchFamily="34" charset="-122"/>
                <a:cs typeface="Calibri" pitchFamily="34" charset="-120"/>
              </a:rPr>
              <a:t>Mỗi tập kiểm tra một sheet; sai số từng mẫu = SQRT((x̂ − x)² + (ŷ − y)²)·g; AVERAGE so với số báo cáo. Sheet ví dụ dựng lại toạ độ một truy vấn bằng SUMPRODUCT.</a:t>
            </a:r>
            <a:endParaRPr lang="en-US" sz="1500" dirty="0"/>
          </a:p>
        </p:txBody>
      </p:sp>
      <p:sp>
        <p:nvSpPr>
          <p:cNvPr id="13" name="Shape 10"/>
          <p:cNvSpPr/>
          <p:nvPr/>
        </p:nvSpPr>
        <p:spPr>
          <a:xfrm>
            <a:off x="8127797" y="1508760"/>
            <a:ext cx="3515258" cy="3520440"/>
          </a:xfrm>
          <a:prstGeom prst="rect">
            <a:avLst/>
          </a:prstGeom>
          <a:solidFill>
            <a:srgbClr val="FBFAF7"/>
          </a:solidFill>
          <a:ln w="12700">
            <a:solidFill>
              <a:srgbClr val="FBFAF7"/>
            </a:solidFill>
            <a:prstDash val="solid"/>
          </a:ln>
        </p:spPr>
      </p:sp>
      <p:sp>
        <p:nvSpPr>
          <p:cNvPr id="14" name="Text 11"/>
          <p:cNvSpPr txBox="1"/>
          <p:nvPr/>
        </p:nvSpPr>
        <p:spPr>
          <a:xfrm>
            <a:off x="8402117" y="1737360"/>
            <a:ext cx="2966618" cy="64008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Script Python</a:t>
            </a:r>
            <a:endParaRPr lang="en-US" sz="2600" dirty="0"/>
          </a:p>
        </p:txBody>
      </p:sp>
      <p:sp>
        <p:nvSpPr>
          <p:cNvPr id="15" name="Text 12"/>
          <p:cNvSpPr txBox="1"/>
          <p:nvPr/>
        </p:nvSpPr>
        <p:spPr>
          <a:xfrm>
            <a:off x="8402117" y="2377440"/>
            <a:ext cx="2966618" cy="411480"/>
          </a:xfrm>
          <a:prstGeom prst="rect">
            <a:avLst/>
          </a:prstGeom>
          <a:noFill/>
          <a:ln/>
        </p:spPr>
        <p:txBody>
          <a:bodyPr wrap="square" lIns="0" tIns="0" rIns="0" bIns="0" rtlCol="0" anchor="ctr"/>
          <a:lstStyle/>
          <a:p>
            <a:pPr indent="0" marL="0">
              <a:buNone/>
            </a:pPr>
            <a:r>
              <a:rPr lang="en-US" sz="1400" b="1" dirty="0">
                <a:solidFill>
                  <a:srgbClr val="7A8C99"/>
                </a:solidFill>
                <a:latin typeface="Calibri" pitchFamily="34" charset="0"/>
                <a:ea typeface="Calibri" pitchFamily="34" charset="-122"/>
                <a:cs typeface="Calibri" pitchFamily="34" charset="-120"/>
              </a:rPr>
              <a:t>so_lieu/kiem_tra_mean.py</a:t>
            </a:r>
            <a:endParaRPr lang="en-US" sz="1400" dirty="0"/>
          </a:p>
        </p:txBody>
      </p:sp>
      <p:sp>
        <p:nvSpPr>
          <p:cNvPr id="16" name="Text 13"/>
          <p:cNvSpPr txBox="1"/>
          <p:nvPr/>
        </p:nvSpPr>
        <p:spPr>
          <a:xfrm>
            <a:off x="8402117" y="2971800"/>
            <a:ext cx="2966618" cy="1920240"/>
          </a:xfrm>
          <a:prstGeom prst="rect">
            <a:avLst/>
          </a:prstGeom>
          <a:noFill/>
          <a:ln/>
        </p:spPr>
        <p:txBody>
          <a:bodyPr wrap="square" lIns="0" tIns="0" rIns="0" bIns="0" rtlCol="0" anchor="t"/>
          <a:lstStyle/>
          <a:p>
            <a:pPr indent="0" marL="0">
              <a:buNone/>
            </a:pPr>
            <a:r>
              <a:rPr lang="en-US" sz="1500" dirty="0">
                <a:solidFill>
                  <a:srgbClr val="1B2A3D"/>
                </a:solidFill>
                <a:latin typeface="Calibri" pitchFamily="34" charset="0"/>
                <a:ea typeface="Calibri" pitchFamily="34" charset="-122"/>
                <a:cs typeface="Calibri" pitchFamily="34" charset="-120"/>
              </a:rPr>
              <a:t>Chỉ dùng thư viện chuẩn: đọc du_doan/*.csv, tính lại sai số trung bình, trung vị và tỷ lệ đúng tòa-tầng; in KHỚP hoặc LỆCH cho từng tập kiểm tra.</a:t>
            </a:r>
            <a:endParaRPr lang="en-US" sz="1500" dirty="0"/>
          </a:p>
        </p:txBody>
      </p:sp>
      <p:sp>
        <p:nvSpPr>
          <p:cNvPr id="17" name="Shape 14"/>
          <p:cNvSpPr/>
          <p:nvPr/>
        </p:nvSpPr>
        <p:spPr>
          <a:xfrm>
            <a:off x="548640" y="5303520"/>
            <a:ext cx="11094415" cy="777240"/>
          </a:xfrm>
          <a:prstGeom prst="rect">
            <a:avLst/>
          </a:prstGeom>
          <a:solidFill>
            <a:srgbClr val="1F3A5F"/>
          </a:solidFill>
          <a:ln w="12700">
            <a:solidFill>
              <a:srgbClr val="1F3A5F"/>
            </a:solidFill>
            <a:prstDash val="solid"/>
          </a:ln>
        </p:spPr>
      </p:sp>
      <p:sp>
        <p:nvSpPr>
          <p:cNvPr id="18" name="Text 15"/>
          <p:cNvSpPr txBox="1"/>
          <p:nvPr/>
        </p:nvSpPr>
        <p:spPr>
          <a:xfrm>
            <a:off x="822960" y="5486400"/>
            <a:ext cx="10545775"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Kết quả:</a:t>
            </a:r>
            <a:pPr indent="0" marL="0">
              <a:buNone/>
            </a:pPr>
            <a:r>
              <a:rPr lang="en-US" sz="1600" dirty="0">
                <a:solidFill>
                  <a:srgbClr val="FFFFFF"/>
                </a:solidFill>
                <a:latin typeface="Calibri" pitchFamily="34" charset="0"/>
                <a:ea typeface="Calibri" pitchFamily="34" charset="-122"/>
                <a:cs typeface="Calibri" pitchFamily="34" charset="-120"/>
              </a:rPr>
              <a:t> cả 9/9 tập kiểm tra KHỚP, chênh lệch giữa sai số tính lại và sai số báo cáo dưới 0,00005 m.</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99"/>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502920"/>
            <a:ext cx="7315200" cy="365760"/>
          </a:xfrm>
          <a:prstGeom prst="rect">
            <a:avLst/>
          </a:prstGeom>
          <a:noFill/>
          <a:ln/>
        </p:spPr>
        <p:txBody>
          <a:bodyPr wrap="square" lIns="0" tIns="0" rIns="0" bIns="0" rtlCol="0" anchor="ctr"/>
          <a:lstStyle/>
          <a:p>
            <a:pPr indent="0" marL="0">
              <a:buNone/>
            </a:pPr>
            <a:r>
              <a:rPr lang="en-US" sz="1300" b="1" spc="200" kern="0" dirty="0">
                <a:solidFill>
                  <a:srgbClr val="9BB7C4"/>
                </a:solidFill>
                <a:latin typeface="Calibri" pitchFamily="34" charset="0"/>
                <a:ea typeface="Calibri" pitchFamily="34" charset="-122"/>
                <a:cs typeface="Calibri" pitchFamily="34" charset="-120"/>
              </a:rPr>
              <a:t>05 · KẾT LUẬN</a:t>
            </a:r>
            <a:endParaRPr lang="en-US" sz="1300" dirty="0"/>
          </a:p>
        </p:txBody>
      </p:sp>
      <p:sp>
        <p:nvSpPr>
          <p:cNvPr id="3" name="Text 1"/>
          <p:cNvSpPr txBox="1"/>
          <p:nvPr/>
        </p:nvSpPr>
        <p:spPr>
          <a:xfrm>
            <a:off x="548640" y="86868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Kết luận và hướng phát triển</a:t>
            </a:r>
            <a:endParaRPr lang="en-US" sz="3200" dirty="0"/>
          </a:p>
        </p:txBody>
      </p:sp>
      <p:sp>
        <p:nvSpPr>
          <p:cNvPr id="4" name="Text 2"/>
          <p:cNvSpPr txBox="1"/>
          <p:nvPr/>
        </p:nvSpPr>
        <p:spPr>
          <a:xfrm>
            <a:off x="548640" y="1874520"/>
            <a:ext cx="5212080" cy="411480"/>
          </a:xfrm>
          <a:prstGeom prst="rect">
            <a:avLst/>
          </a:prstGeom>
          <a:noFill/>
          <a:ln/>
        </p:spPr>
        <p:txBody>
          <a:bodyPr wrap="square" lIns="0" tIns="0" rIns="0" bIns="0" rtlCol="0" anchor="ctr"/>
          <a:lstStyle/>
          <a:p>
            <a:pPr indent="0" marL="0">
              <a:buNone/>
            </a:pPr>
            <a:r>
              <a:rPr lang="en-US" sz="1900" b="1" dirty="0">
                <a:solidFill>
                  <a:srgbClr val="9BB7C4"/>
                </a:solidFill>
                <a:latin typeface="Cambria" pitchFamily="34" charset="0"/>
                <a:ea typeface="Cambria" pitchFamily="34" charset="-122"/>
                <a:cs typeface="Cambria" pitchFamily="34" charset="-120"/>
              </a:rPr>
              <a:t>Kết quả đạt được</a:t>
            </a:r>
            <a:endParaRPr lang="en-US" sz="1900" dirty="0"/>
          </a:p>
        </p:txBody>
      </p:sp>
      <p:sp>
        <p:nvSpPr>
          <p:cNvPr id="5" name="Text 3"/>
          <p:cNvSpPr txBox="1"/>
          <p:nvPr/>
        </p:nvSpPr>
        <p:spPr>
          <a:xfrm>
            <a:off x="548640" y="2377440"/>
            <a:ext cx="5212080" cy="393192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HUIM là thuật toán định vị chính: mô hình là tập HUI của từng ô, tầng và toạ độ đến từ điểm khớp HUI; </a:t>
            </a:r>
            <a:pPr algn="l" marL="228600" indent="-228600">
              <a:spcAft>
                <a:spcPts val="800"/>
              </a:spcAft>
              <a:buSzPct val="100000"/>
              <a:buChar char="•"/>
            </a:pPr>
            <a:r>
              <a:rPr lang="en-US" sz="1500" b="1" dirty="0">
                <a:solidFill>
                  <a:srgbClr val="FFFFFF"/>
                </a:solidFill>
                <a:latin typeface="Calibri" pitchFamily="34" charset="0"/>
                <a:ea typeface="Calibri" pitchFamily="34" charset="-122"/>
                <a:cs typeface="Calibri" pitchFamily="34" charset="-120"/>
              </a:rPr>
              <a:t>không dùng k-NN</a:t>
            </a:r>
            <a:endParaRPr lang="en-US" sz="1500" dirty="0"/>
          </a:p>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8/9 tập kiểm tra đạt sai số trung bình dưới 7 m trên năm bộ dữ liệu bổ sung</a:t>
            </a:r>
            <a:endParaRPr lang="en-US" sz="1500" dirty="0"/>
          </a:p>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UJIIndoorLoc: 8,06 m, </a:t>
            </a:r>
            <a:pPr algn="l" marL="228600" indent="-228600">
              <a:spcAft>
                <a:spcPts val="800"/>
              </a:spcAft>
              <a:buSzPct val="100000"/>
              <a:buChar char="•"/>
            </a:pPr>
            <a:r>
              <a:rPr lang="en-US" sz="1500" b="1" dirty="0">
                <a:solidFill>
                  <a:srgbClr val="FFFFFF"/>
                </a:solidFill>
                <a:latin typeface="Calibri" pitchFamily="34" charset="0"/>
                <a:ea typeface="Calibri" pitchFamily="34" charset="-122"/>
                <a:cs typeface="Calibri" pitchFamily="34" charset="-120"/>
              </a:rPr>
              <a:t>chưa đạt 7 m</a:t>
            </a:r>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 nguyên nhân là thiết bị thu khác nhau và độ phân giải trong tầng</a:t>
            </a:r>
            <a:endParaRPr lang="en-US" sz="1500" dirty="0"/>
          </a:p>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Tham số chọn trên dev, mọi con số kiểm chứng được</a:t>
            </a:r>
            <a:endParaRPr lang="en-US" sz="1500" dirty="0"/>
          </a:p>
        </p:txBody>
      </p:sp>
      <p:sp>
        <p:nvSpPr>
          <p:cNvPr id="6" name="Text 4"/>
          <p:cNvSpPr txBox="1"/>
          <p:nvPr/>
        </p:nvSpPr>
        <p:spPr>
          <a:xfrm>
            <a:off x="6309360" y="1874520"/>
            <a:ext cx="5212080" cy="411480"/>
          </a:xfrm>
          <a:prstGeom prst="rect">
            <a:avLst/>
          </a:prstGeom>
          <a:noFill/>
          <a:ln/>
        </p:spPr>
        <p:txBody>
          <a:bodyPr wrap="square" lIns="0" tIns="0" rIns="0" bIns="0" rtlCol="0" anchor="ctr"/>
          <a:lstStyle/>
          <a:p>
            <a:pPr indent="0" marL="0">
              <a:buNone/>
            </a:pPr>
            <a:r>
              <a:rPr lang="en-US" sz="1900" b="1" dirty="0">
                <a:solidFill>
                  <a:srgbClr val="9BB7C4"/>
                </a:solidFill>
                <a:latin typeface="Cambria" pitchFamily="34" charset="0"/>
                <a:ea typeface="Cambria" pitchFamily="34" charset="-122"/>
                <a:cs typeface="Cambria" pitchFamily="34" charset="-120"/>
              </a:rPr>
              <a:t>Hướng phát triển</a:t>
            </a:r>
            <a:endParaRPr lang="en-US" sz="1900" dirty="0"/>
          </a:p>
        </p:txBody>
      </p:sp>
      <p:sp>
        <p:nvSpPr>
          <p:cNvPr id="7" name="Text 5"/>
          <p:cNvSpPr txBox="1"/>
          <p:nvPr/>
        </p:nvSpPr>
        <p:spPr>
          <a:xfrm>
            <a:off x="6309360" y="2377440"/>
            <a:ext cx="5212080" cy="3931920"/>
          </a:xfrm>
          <a:prstGeom prst="rect">
            <a:avLst/>
          </a:prstGeom>
          <a:noFill/>
          <a:ln/>
        </p:spPr>
        <p:txBody>
          <a:bodyPr wrap="square" lIns="25400" tIns="25400" rIns="25400" bIns="25400" rtlCol="0" anchor="t"/>
          <a:lstStyle/>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Lợi ích nội bất biến hơn với thiết bị, ví dụ hiệu chỉnh độ lệch theo từng điện thoại</a:t>
            </a:r>
            <a:endParaRPr lang="en-US" sz="1500" dirty="0"/>
          </a:p>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Tăng độ phân giải trong tầng bằng ô nhỏ hơn hoặc kết hợp HUI ở nhiều mức không gian</a:t>
            </a:r>
            <a:endParaRPr lang="en-US" sz="1500" dirty="0"/>
          </a:p>
          <a:p>
            <a:pPr algn="l"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Dùng HUI đóng hoặc HUI cực đại và cài đặt EFIM biên dịch để giảm số mẫu và thời gian định vị</a:t>
            </a:r>
            <a:endParaRPr lang="en-US" sz="1500" dirty="0"/>
          </a:p>
        </p:txBody>
      </p:sp>
      <p:sp>
        <p:nvSpPr>
          <p:cNvPr id="9" name="Text 0"/>
          <p:cNvSpPr/>
          <p:nvPr>
            <p:ph idx="100" type="title" hasCustomPrompt="1"/>
          </p:nvPr>
        </p:nvSpPr>
        <p:spPr>
          <a:xfrm>
            <a:off x="548640" y="1828800"/>
            <a:ext cx="10607040" cy="17373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6070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Xin cảm ơn quý thầy cô đã lắng nghe</a:t>
            </a:r>
            <a:endParaRPr lang="en-US" sz="3600" dirty="0"/>
          </a:p>
        </p:txBody>
      </p:sp>
      <p:sp>
        <p:nvSpPr>
          <p:cNvPr id="3" name="Text 1"/>
          <p:cNvSpPr txBox="1"/>
          <p:nvPr/>
        </p:nvSpPr>
        <p:spPr>
          <a:xfrm>
            <a:off x="548640" y="3611880"/>
            <a:ext cx="10058400" cy="457200"/>
          </a:xfrm>
          <a:prstGeom prst="rect">
            <a:avLst/>
          </a:prstGeom>
          <a:noFill/>
          <a:ln/>
        </p:spPr>
        <p:txBody>
          <a:bodyPr wrap="square" lIns="0" tIns="0" rIns="0" bIns="0" rtlCol="0" anchor="ctr"/>
          <a:lstStyle/>
          <a:p>
            <a:pPr indent="0" marL="0">
              <a:buNone/>
            </a:pPr>
            <a:r>
              <a:rPr lang="en-US" sz="2000" i="1" dirty="0">
                <a:solidFill>
                  <a:srgbClr val="DCE6EE"/>
                </a:solidFill>
                <a:latin typeface="Calibri" pitchFamily="34" charset="0"/>
                <a:ea typeface="Calibri" pitchFamily="34" charset="-122"/>
                <a:cs typeface="Calibri" pitchFamily="34" charset="-120"/>
              </a:rPr>
              <a:t>Rất mong nhận được ý kiến đóng góp</a:t>
            </a:r>
            <a:endParaRPr lang="en-US" sz="2000" dirty="0"/>
          </a:p>
        </p:txBody>
      </p:sp>
      <p:sp>
        <p:nvSpPr>
          <p:cNvPr id="4" name="Shape 2"/>
          <p:cNvSpPr/>
          <p:nvPr/>
        </p:nvSpPr>
        <p:spPr>
          <a:xfrm>
            <a:off x="548640" y="4434840"/>
            <a:ext cx="2743200" cy="0"/>
          </a:xfrm>
          <a:prstGeom prst="line">
            <a:avLst/>
          </a:prstGeom>
          <a:noFill/>
          <a:ln w="12700">
            <a:solidFill>
              <a:srgbClr val="9BB7C4"/>
            </a:solidFill>
            <a:prstDash val="solid"/>
          </a:ln>
        </p:spPr>
      </p:sp>
      <p:sp>
        <p:nvSpPr>
          <p:cNvPr id="5" name="Text 3"/>
          <p:cNvSpPr txBox="1"/>
          <p:nvPr/>
        </p:nvSpPr>
        <p:spPr>
          <a:xfrm>
            <a:off x="548640" y="4617720"/>
            <a:ext cx="100584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Mã nguồn, số liệu và sổ kiểm chứng: thư mục BAOCAO</a:t>
            </a:r>
            <a:endParaRPr lang="en-US" sz="1500" dirty="0"/>
          </a:p>
        </p:txBody>
      </p:sp>
    </p:spTree>
  </p:cSld>
  <p:clrMapOvr>
    <a:masterClrMapping/>
  </p:clrMapOvr>
</p:sld>
</file>

<file path=ppt/theme/theme1.xml><?xml version="1.0" encoding="utf-8"?>
<a:theme xmlns:a="http://schemas.openxmlformats.org/drawingml/2006/main" name="HUIM IPS">
  <a:themeElements>
    <a:clrScheme name="HUIM IPS">
      <a:dk1>
        <a:srgbClr val="1B2A3D"/>
      </a:dk1>
      <a:lt1>
        <a:srgbClr val="FFFFFF"/>
      </a:lt1>
      <a:dk2>
        <a:srgbClr val="1F3A5F"/>
      </a:dk2>
      <a:lt2>
        <a:srgbClr val="F4F1EA"/>
      </a:lt2>
      <a:accent1>
        <a:srgbClr val="2E7D8C"/>
      </a:accent1>
      <a:accent2>
        <a:srgbClr val="B5532A"/>
      </a:accent2>
      <a:accent3>
        <a:srgbClr val="7A8C99"/>
      </a:accent3>
      <a:accent4>
        <a:srgbClr val="D9A441"/>
      </a:accent4>
      <a:accent5>
        <a:srgbClr val="4C6A88"/>
      </a:accent5>
      <a:accent6>
        <a:srgbClr val="9BB7C4"/>
      </a:accent6>
      <a:hlink>
        <a:srgbClr val="2E7D8C"/>
      </a:hlink>
      <a:folHlink>
        <a:srgbClr val="4C6A88"/>
      </a:folHlink>
    </a:clrScheme>
    <a:fontScheme name="HUIM I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HUIM trong hệ thống định vị trong nhà</dc:title>
  <dc:subject>Định vị bằng so khớp High Utility Itemset trên UJIIndoorLoc</dc:subject>
  <dc:creator>PptxGenJS</dc:creator>
  <cp:lastModifiedBy>PptxGenJS</cp:lastModifiedBy>
  <cp:revision>1</cp:revision>
  <dcterms:created xsi:type="dcterms:W3CDTF">2026-10-18T02:33:39Z</dcterms:created>
  <dcterms:modified xsi:type="dcterms:W3CDTF">2026-10-18T02:33:39Z</dcterms:modified>
</cp:coreProperties>
</file>