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b2984211-b030-cdf7-5117-d063ee13dfd5}">
          <p14:sldIdLst>
            <p14:sldId id="256"/>
            <p14:sldId id="257"/>
          </p14:sldIdLst>
        </p14:section>
        <p14:section name="Đặt vấn đề" id="{16542fc4-7555-503c-98d5-4c65efdfac9d}">
          <p14:sldIdLst>
            <p14:sldId id="258"/>
          </p14:sldIdLst>
        </p14:section>
        <p14:section name="Cơ sở lý thuyết" id="{6d56baad-e7de-a314-2d43-567d157bc3a7}">
          <p14:sldIdLst>
            <p14:sldId id="259"/>
            <p14:sldId id="260"/>
          </p14:sldIdLst>
        </p14:section>
        <p14:section name="Phương pháp đề xuất" id="{66b5ebf4-9967-11de-4d37-e47532b102df}">
          <p14:sldIdLst>
            <p14:sldId id="261"/>
            <p14:sldId id="262"/>
            <p14:sldId id="263"/>
            <p14:sldId id="264"/>
            <p14:sldId id="265"/>
            <p14:sldId id="266"/>
            <p14:sldId id="267"/>
            <p14:sldId id="268"/>
          </p14:sldIdLst>
        </p14:section>
        <p14:section name="Thực nghiệm" id="{90fc7991-e29c-554c-bb3d-4922f53b9408}">
          <p14:sldIdLst>
            <p14:sldId id="269"/>
            <p14:sldId id="270"/>
            <p14:sldId id="271"/>
            <p14:sldId id="272"/>
            <p14:sldId id="273"/>
            <p14:sldId id="274"/>
            <p14:sldId id="275"/>
          </p14:sldIdLst>
        </p14:section>
        <p14:section name="Kết luận" id="{18ca392c-c34a-a4dd-fc29-c6705a3e09bb}">
          <p14:sldIdLst>
            <p14:sldId id="276"/>
            <p14:sldId id="27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3A5F"/>
                </a:solidFill>
                <a:latin typeface="+mj-lt"/>
              </a:defRPr>
            </a:pPr>
            <a:r>
              <a:rPr sz="1400" b="0" i="0" u="none" strike="noStrike">
                <a:solidFill>
                  <a:srgbClr val="1F3A5F"/>
                </a:solidFill>
                <a:latin typeface="+mj-lt"/>
              </a:rPr>
              <a:t>Sai số trung bình trên tập kiểm tra (m)</a:t>
            </a:r>
          </a:p>
        </c:rich>
      </c:tx>
      <c:layout/>
      <c:overlay val="0"/>
    </c:title>
    <c:autoTitleDeleted val="0"/>
    <c:plotArea>
      <c:layout/>
      <c:barChart>
        <c:barDir val="bar"/>
        <c:grouping val="clustered"/>
        <c:varyColors val="0"/>
        <c:ser>
          <c:idx val="0"/>
          <c:order val="0"/>
          <c:tx>
            <c:strRef>
              <c:f>Sheet1!$B$1</c:f>
              <c:strCache>
                <c:ptCount val="1"/>
                <c:pt idx="0">
                  <c:v>Sai số trung bình (m)</c:v>
                </c:pt>
              </c:strCache>
            </c:strRef>
          </c:tx>
          <c:spPr>
            <a:solidFill>
              <a:srgbClr val="1F3A5F"/>
            </a:solidFill>
            <a:effectLst/>
          </c:spPr>
          <c:invertIfNegative val="0"/>
          <c:dLbls>
            <c:numFmt formatCode="0.00" sourceLinked="0"/>
            <c:txPr>
              <a:bodyPr/>
              <a:lstStyle/>
              <a:p>
                <a:pPr>
                  <a:defRPr b="0" i="0" strike="noStrike" sz="1200" u="none">
                    <a:solidFill>
                      <a:srgbClr val="1B2A3D"/>
                    </a:solidFill>
                    <a:latin typeface="+mn-lt"/>
                  </a:defRPr>
                </a:pPr>
              </a:p>
            </c:txPr>
            <c:showLegendKey val="0"/>
            <c:showVal val="1"/>
            <c:showCatName val="0"/>
            <c:showSerName val="0"/>
            <c:showPercent val="0"/>
            <c:showBubbleSize val="0"/>
            <c:showLeaderLines val="0"/>
          </c:dLbls>
          <c:dPt>
            <c:idx val="0"/>
            <c:invertIfNegative val="0"/>
            <c:bubble3D val="0"/>
            <c:spPr>
              <a:solidFill>
                <a:srgbClr val="1F3A5F"/>
              </a:solidFill>
              <a:effectLst/>
            </c:spPr>
          </c:dPt>
          <c:dPt>
            <c:idx val="1"/>
            <c:invertIfNegative val="0"/>
            <c:bubble3D val="0"/>
            <c:spPr>
              <a:solidFill>
                <a:srgbClr val="2E7D8C"/>
              </a:solidFill>
              <a:effectLst/>
            </c:spPr>
          </c:dPt>
          <c:dPt>
            <c:idx val="2"/>
            <c:invertIfNegative val="0"/>
            <c:bubble3D val="0"/>
            <c:spPr>
              <a:solidFill>
                <a:srgbClr val="2E7D8C"/>
              </a:solidFill>
              <a:effectLst/>
            </c:spPr>
          </c:dPt>
          <c:dPt>
            <c:idx val="3"/>
            <c:invertIfNegative val="0"/>
            <c:bubble3D val="0"/>
            <c:spPr>
              <a:solidFill>
                <a:srgbClr val="2E7D8C"/>
              </a:solidFill>
              <a:effectLst/>
            </c:spPr>
          </c:dPt>
          <c:dPt>
            <c:idx val="4"/>
            <c:invertIfNegative val="0"/>
            <c:bubble3D val="0"/>
            <c:spPr>
              <a:solidFill>
                <a:srgbClr val="2E7D8C"/>
              </a:solidFill>
              <a:effectLst/>
            </c:spPr>
          </c:dPt>
          <c:dPt>
            <c:idx val="5"/>
            <c:invertIfNegative val="0"/>
            <c:bubble3D val="0"/>
            <c:spPr>
              <a:solidFill>
                <a:srgbClr val="2E7D8C"/>
              </a:solidFill>
              <a:effectLst/>
            </c:spPr>
          </c:dPt>
          <c:dPt>
            <c:idx val="6"/>
            <c:invertIfNegative val="0"/>
            <c:bubble3D val="0"/>
            <c:spPr>
              <a:solidFill>
                <a:srgbClr val="2E7D8C"/>
              </a:solidFill>
              <a:effectLst/>
            </c:spPr>
          </c:dPt>
          <c:dPt>
            <c:idx val="7"/>
            <c:invertIfNegative val="0"/>
            <c:bubble3D val="0"/>
            <c:spPr>
              <a:solidFill>
                <a:srgbClr val="2E7D8C"/>
              </a:solidFill>
              <a:effectLst/>
            </c:spPr>
          </c:dPt>
          <c:dPt>
            <c:idx val="8"/>
            <c:invertIfNegative val="0"/>
            <c:bubble3D val="0"/>
            <c:spPr>
              <a:solidFill>
                <a:srgbClr val="2E7D8C"/>
              </a:solidFill>
              <a:effectLst/>
            </c:spPr>
          </c:dPt>
          <c:cat>
            <c:multiLvlStrRef>
              <c:f>Sheet1!$A$2:$A$10</c:f>
              <c:multiLvlStrCache>
                <c:ptCount val="9"/>
                <c:lvl>
                  <c:pt idx="0">
                    <c:v>UJIIndoorLoc · validation</c:v>
                  </c:pt>
                  <c:pt idx="1">
                    <c:v>UJI_LIB · Test-01</c:v>
                  </c:pt>
                  <c:pt idx="2">
                    <c:v>UJI_LIB · Test-02</c:v>
                  </c:pt>
                  <c:pt idx="3">
                    <c:v>DLULIB · Testing</c:v>
                  </c:pt>
                  <c:pt idx="4">
                    <c:v>HCXY · test</c:v>
                  </c:pt>
                  <c:pt idx="5">
                    <c:v>HUS · case 1</c:v>
                  </c:pt>
                  <c:pt idx="6">
                    <c:v>HUS · case 2</c:v>
                  </c:pt>
                  <c:pt idx="7">
                    <c:v>HUS khử trùng · case 1</c:v>
                  </c:pt>
                  <c:pt idx="8">
                    <c:v>HUS khử trùng · case 2</c:v>
                  </c:pt>
                </c:lvl>
              </c:multiLvlStrCache>
            </c:multiLvlStrRef>
          </c:cat>
          <c:val>
            <c:numRef>
              <c:f>Sheet1!$B$2:$B$10</c:f>
              <c:numCache>
                <c:formatCode>General</c:formatCode>
                <c:ptCount val="9"/>
                <c:pt idx="0">
                  <c:v>6.87</c:v>
                </c:pt>
                <c:pt idx="1">
                  <c:v>2.57</c:v>
                </c:pt>
                <c:pt idx="2">
                  <c:v>2.68</c:v>
                </c:pt>
                <c:pt idx="3">
                  <c:v>6.01</c:v>
                </c:pt>
                <c:pt idx="4">
                  <c:v>2.82</c:v>
                </c:pt>
                <c:pt idx="5">
                  <c:v>1.3</c:v>
                </c:pt>
                <c:pt idx="6">
                  <c:v>1.54</c:v>
                </c:pt>
                <c:pt idx="7">
                  <c:v>1.3</c:v>
                </c:pt>
                <c:pt idx="8">
                  <c:v>1.54</c:v>
                </c:pt>
              </c:numCache>
            </c:numRef>
          </c:val>
        </c:ser>
        <c:dLbls>
          <c:numFmt formatCode="0.00" sourceLinked="0"/>
          <c:txPr>
            <a:bodyPr/>
            <a:lstStyle/>
            <a:p>
              <a:pPr>
                <a:defRPr b="0" i="0" strike="noStrike" sz="1200" u="none">
                  <a:solidFill>
                    <a:srgbClr val="1B2A3D"/>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B2A3D"/>
                </a:solidFill>
                <a:latin typeface="+mn-lt"/>
              </a:defRPr>
            </a:pPr>
            <a:endParaRPr lang="en-US"/>
          </a:p>
        </c:txPr>
        <c:crossAx val="2094734552"/>
        <c:crosses val="autoZero"/>
        <c:auto val="1"/>
        <c:lblAlgn val="ctr"/>
        <c:noMultiLvlLbl val="1"/>
      </c:catAx>
      <c:valAx>
        <c:axId val="2094734552"/>
        <c:scaling>
          <c:orientation val="minMax"/>
          <c:max val="10"/>
          <c:min val="0"/>
        </c:scaling>
        <c:delete val="0"/>
        <c:axPos val="b"/>
        <c:majorGridlines>
          <c:spPr>
            <a:ln w="6350" cap="flat">
              <a:solidFill>
                <a:srgbClr val="E3E0D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7A8C99"/>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Kính thưa thầy cô. Đề tài trình bày cách dùng thuật toán khai thác tập mục lợi ích cao làm thuật toán định vị chính của một hệ thống định vị trong nhà dựa trên vân tay Wi-Fi, không dùng k-NN.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trình bày gồm năm phần, theo đúng bố cục của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Ở các phiên bản trước, HUIM chỉ chọn tập AP rồi k-NN định vị. Khai thác HUI toàn cục chỉ giữ 91 AP và cho 17,49 m; khai thác theo tòa-tầng giữ 240 trên 520 AP và cho 5,30 m, nhưng HUIM chỉ đóng góp khoảng 6% mức giảm sai số. Bỏ HUIM đi, k-NN vẫn định vị được, nên đề tài cần một thiết kế mà HUIM quyết định vị trí.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mục có lợi ích nội trong từng giao dịch và lợi ích ngoài. Lợi ích của tập mục là tổng lợi ích các mục trên mọi giao dịch chứa nó. Khác với tập phổ biến, lợi ích không đơn điệu giảm nên không cắt tỉa trực tiếp bằng u(X)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EFIM duyệt cây liệt kê tập theo chiều sâu, mục sắp theo TWU tăng dần. Tại mỗi nút, hai chặn trên lu và su được tính trong một lần quét cơ sở dữ liệu đã chiếu: lu dùng để loại mục khỏi cây con, su dùng để không duyệt nhánh. Bản cài đặt được kiểm thử với thuật toán vét cạn.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pha. Huấn luyện chạy một lần: chuyển RSSI thành lợi ích nội, nhóm vân tay theo điểm tham chiếu, khai thác HUI bằng EFIM và lưu mô hình. Định vị cho từng vân tay: chấm điểm khớp với HUI của mọi ô, làm mượt, chọn tầng, rồi ước lượng toạ độ.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dạng lợi ích nội được thử: abs, rel và rank. Dạng rank không đổi khi một điện thoại đọc lệch mọi AP cùng một lượng dB, và bất biến với mọi biến đổi đơn điệu của thang RSSI. Rank được chọn trên dev.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điểm tham chiếu là một ô, tập vân tay đo tại ô là một cơ sở dữ liệu giao dịch. Ngưỡng minUtil đặt tương đối theo lợi ích của chính ô. EFIM có ngân sách 10 giây hoặc 10 000 HUI; vượt ngân sách thì θ nhân 1,25 và khai thác lại cho tới khi hoàn tất, nên tập HUI luôn đầy đủ. Trên UJIIndoorLoc 676 trên 933 ô phải nâng 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hình chỉ gồm các HUI cùng toạ độ trọng tâm và nhãn tòa-tầng của từng ô. Không có vân tay huấn luyện nào được lưu, vì vậy không thể so khoảng cách vân tay như k-NN.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Với mỗi HUI X của ô c: ρ là tỷ lệ mục của X có trong vân tay (khớp mềm vì thiết bị khác có thể bỏ sót AP), agree đo mức phù hợp cường độ. P_c là khối lượng lợi ích HUI của ô mà vân tay chứa, V_c là phần lợi ích của vân tay được các HUI của ô giải thích.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Ô lân cận trên cùng tầng có chữ ký HUI gần nhau, nên điểm mỗi ô được cộng điểm các ô cùng tầng bằng nhân Gauss bán kính σ = 3 m. Tầng được chọn là tầng có trung bình k_f = 20 điểm lớn nhất cao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ô có điểm cao nhất trên tầng đã chọn là ô ứng viên. Ước lượng ban đầu là trọng tâm có trọng số của m = 12 ô tốt nhất; đây là đầu ra của phiên bản v4. Trong 12 ô đó luôn có ô gần đúng vị trí (trung bình 2,4 m), nhưng ô điểm cao nhất cách tới 8,8 m: tập ứng viên đúng vùng, chỉ thứ tự là chưa đúng.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Mỗi ô ứng viên có 33 đặc trưng, đều tính từ HUI: điểm khớp của ba mô hình HUI (rank, mục theo mức cường độ, lợi ích abs), độ phủ, hồ sơ cường độ của ô suy ra từ HUI và độ đồng thuận không gian. Bộ hồi quy Gradient Boosting học trên 6 fold dev dự đoán khoảng cách từ ô tới vị trí thật; toạ độ là trọng tâm của 20 ô dự đoán gần nhất. Bộ hồi quy không thấy vân tay huấn luyện nào, và không có k-NN.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tham số được chọn trên 6 fold dev tách từ tập huấn luyện. Với UJIIndoorLoc, 9 trên 11 điện thoại của tập kiểm tra không có trong tập huấn luyện, nên fold được giữ lại theo điện thoại. Sau khi chọn, mô hình được huấn luyện lại trên toàn bộ tập huấn luyện và chấm tập kiểm tra đúng một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tập kiểm tra đều dưới 7 m. UJIIndoorLoc đạt 6,87 m sau Bước 8 (v4: 8,06 m); biên dưới 7 m nhỏ, sai số chuẩn của trung bình là 0,20 m. Các bộ khác dùng Bước 1–7.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Trung vị 5,14 m, đúng tòa 99,9%, đúng tòa-tầng 80,4%. 75,9% tổng sai số nằm ở các mẫu đã đoán đúng tầng, nên điểm nghẽn là độ phân giải trong tầng: mỗi ô chỉ có khoảng 21 vân tay của một tới bốn người dùng. Thêm vào đó, 9/11 điện thoại của tập kiểm tra không có trong tập huấn luyện.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lựa chọn dựa trên sai số dev. Trong các phiên bản Bước 1–7, v1 có sai số kiểm tra thấp nhất nhưng dev kém nhất nên không được chọn. v5 và v6 thêm Bước 8; v6 có sai số dev thấp nhất nên là mô hình cuối, và tập kiểm tra chỉ được chấm sau khi đã chọn.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biến thể được so bằng sai số dev ngoài fold trên 19 937 truy vấn; tập kiểm tra không được đọc. Trọng số IDF của HUI và mô hình mục theo mức cường độ dùng riêng không cải thiện; chúng chỉ có ích khi làm bằng chứng bổ sung cho bộ hồi quy. Bộ phân loại tầng học trên dev tăng độ chính xác tầng nhưng không giảm sai số vị trí nên không dùng.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Trên UJIIndoorLoc, hệ thống chỉ dùng HUIM tốt hơn k-NN gốc nhưng kém k-NN đã tối ưu. Trên các bộ dữ liệu một tầng, k-NN cho sai số thấp hơn vì vị trí kiểm tra trùng hoặc rất gần điểm tham chiếu. Ưu điểm của thiết kế là toàn bộ quyết định định vị đến từ mẫu HUI.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ba cách kiểm tra: chương trình kiểm chứng độc lập không gọi EFIM hay bộ định vị; sổ Excel tính lại sai số bằng công thức; script chỉ dùng thư viện chuẩn của Python. Cả ba đều khớp với con số báo cáo.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đề tài đã chuyển HUIM từ vai trò tiền xử lý sang vai trò thuật toán định vị. Kết quả đạt mục tiêu dưới 7 m trên cả sáu bộ dữ liệu; trên UJIIndoorLoc nhờ Bước 8, với biên nhỏ cần nói rõ.</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EU_DE">
    <p:bg>
      <p:bgPr>
        <a:solidFill>
          <a:srgbClr val="1F3A5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607040" cy="1737360"/>
          </a:xfrm>
          <a:prstGeom prst="rect">
            <a:avLst/>
          </a:prstGeom>
          <a:noFill/>
          <a:ln/>
        </p:spPr>
        <p:txBody>
          <a:bodyPr wrap="square" rtlCol="0"/>
          <a:lstStyle>
            <a:lvl1pPr algn="l" indent="0" marL="0">
              <a:buNone/>
              <a:defRPr lang="en-US" sz="3600" b="1" dirty="0">
                <a:solidFill>
                  <a:srgbClr val="FFFFFF"/>
                </a:solidFill>
                <a:latin typeface="Cambria" pitchFamily="34" charset="0"/>
                <a:ea typeface="Cambria" pitchFamily="34" charset="-122"/>
                <a:cs typeface="Cambria" pitchFamily="34" charset="-120"/>
              </a:defRPr>
            </a:lvl1pPr>
          </a:lstStyle>
          <a:p>
            <a:pPr algn="l" indent="0" marL="0">
              <a:buNone/>
            </a:pPr>
            <a:endParaRPr lang="en-US" sz="3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OI_DUNG">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6400800"/>
            <a:ext cx="11094415" cy="0"/>
          </a:xfrm>
          <a:prstGeom prst="line">
            <a:avLst/>
          </a:prstGeom>
          <a:noFill/>
          <a:ln w="9525">
            <a:solidFill>
              <a:srgbClr val="D5D0C4"/>
            </a:solidFill>
            <a:prstDash val="solid"/>
          </a:ln>
        </p:spPr>
      </p:sp>
      <p:sp>
        <p:nvSpPr>
          <p:cNvPr id="3" name="Text 1"/>
          <p:cNvSpPr/>
          <p:nvPr/>
        </p:nvSpPr>
        <p:spPr>
          <a:xfrm>
            <a:off x="548640" y="6446520"/>
            <a:ext cx="6400800" cy="274320"/>
          </a:xfrm>
          <a:prstGeom prst="rect">
            <a:avLst/>
          </a:prstGeom>
          <a:noFill/>
          <a:ln/>
        </p:spPr>
        <p:txBody>
          <a:bodyPr wrap="square" lIns="0" tIns="0" rIns="0" bIns="0" rtlCol="0" anchor="ctr"/>
          <a:lstStyle/>
          <a:p>
            <a:pPr indent="0" marL="0">
              <a:buNone/>
            </a:pPr>
            <a:r>
              <a:rPr lang="en-US" sz="1000" dirty="0">
                <a:solidFill>
                  <a:srgbClr val="7A8C99"/>
                </a:solidFill>
                <a:latin typeface="Calibri" pitchFamily="34" charset="0"/>
                <a:ea typeface="Calibri" pitchFamily="34" charset="-122"/>
                <a:cs typeface="Calibri" pitchFamily="34" charset="-120"/>
              </a:rPr>
              <a:t>Ứng dụng HUIM trong định vị trong nhà</a:t>
            </a:r>
            <a:endParaRPr lang="en-US" sz="1000" dirty="0"/>
          </a:p>
        </p:txBody>
      </p:sp>
      <p:sp>
        <p:nvSpPr>
          <p:cNvPr id="4" name="Text 2"/>
          <p:cNvSpPr/>
          <p:nvPr>
            <p:ph idx="102" type="title" hasCustomPrompt="1"/>
          </p:nvPr>
        </p:nvSpPr>
        <p:spPr>
          <a:xfrm>
            <a:off x="548640" y="566928"/>
            <a:ext cx="11094415" cy="685800"/>
          </a:xfrm>
          <a:prstGeom prst="rect">
            <a:avLst/>
          </a:prstGeom>
          <a:noFill/>
          <a:ln/>
        </p:spPr>
        <p:txBody>
          <a:bodyPr wrap="square" rtlCol="0"/>
          <a:lstStyle>
            <a:lvl1pPr algn="l" indent="0" marL="0">
              <a:buNone/>
              <a:defRPr lang="en-US" sz="2600" b="1" dirty="0">
                <a:solidFill>
                  <a:srgbClr val="1F3A5F"/>
                </a:solidFill>
                <a:latin typeface="Cambria" pitchFamily="34" charset="0"/>
                <a:ea typeface="Cambria" pitchFamily="34" charset="-122"/>
                <a:cs typeface="Cambria" pitchFamily="34" charset="-120"/>
              </a:defRPr>
            </a:lvl1pPr>
          </a:lstStyle>
          <a:p>
            <a:pPr algn="l" indent="0" marL="0">
              <a:buNone/>
            </a:pPr>
            <a:endParaRPr lang="en-US" sz="26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3.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3.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097280"/>
            <a:ext cx="10058400" cy="365760"/>
          </a:xfrm>
          <a:prstGeom prst="rect">
            <a:avLst/>
          </a:prstGeom>
          <a:noFill/>
          <a:ln/>
        </p:spPr>
        <p:txBody>
          <a:bodyPr wrap="square" lIns="0" tIns="0" rIns="0" bIns="0" rtlCol="0" anchor="ctr"/>
          <a:lstStyle/>
          <a:p>
            <a:pPr indent="0" marL="0">
              <a:buNone/>
            </a:pPr>
            <a:r>
              <a:rPr lang="en-US" sz="1300" b="1" spc="200" kern="0" dirty="0">
                <a:solidFill>
                  <a:srgbClr val="9BB7C4"/>
                </a:solidFill>
                <a:latin typeface="Calibri" pitchFamily="34" charset="0"/>
                <a:ea typeface="Calibri" pitchFamily="34" charset="-122"/>
                <a:cs typeface="Calibri" pitchFamily="34" charset="-120"/>
              </a:rPr>
              <a:t>BÁO CÁO CHUYÊN ĐỀ CAO HỌC  ·  NGÀNH KHOA HỌC MÁY TÍNH</a:t>
            </a:r>
            <a:endParaRPr lang="en-US" sz="1300" dirty="0"/>
          </a:p>
        </p:txBody>
      </p:sp>
      <p:sp>
        <p:nvSpPr>
          <p:cNvPr id="3" name="Text 0"/>
          <p:cNvSpPr/>
          <p:nvPr>
            <p:ph idx="100" type="title" hasCustomPrompt="1"/>
          </p:nvPr>
        </p:nvSpPr>
        <p:spPr>
          <a:xfrm>
            <a:off x="548640" y="1828800"/>
            <a:ext cx="10607040" cy="173736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Ứng dụng khai thác tập mục lợi ích cao (HUIM) trong hệ thống định vị trong nhà</a:t>
            </a:r>
            <a:endParaRPr lang="en-US" sz="3600" dirty="0"/>
          </a:p>
        </p:txBody>
      </p:sp>
      <p:sp>
        <p:nvSpPr>
          <p:cNvPr id="4" name="Text 2"/>
          <p:cNvSpPr txBox="1"/>
          <p:nvPr/>
        </p:nvSpPr>
        <p:spPr>
          <a:xfrm>
            <a:off x="548640" y="3611880"/>
            <a:ext cx="10058400" cy="457200"/>
          </a:xfrm>
          <a:prstGeom prst="rect">
            <a:avLst/>
          </a:prstGeom>
          <a:noFill/>
          <a:ln/>
        </p:spPr>
        <p:txBody>
          <a:bodyPr wrap="square" lIns="0" tIns="0" rIns="0" bIns="0" rtlCol="0" anchor="ctr"/>
          <a:lstStyle/>
          <a:p>
            <a:pPr indent="0" marL="0">
              <a:buNone/>
            </a:pPr>
            <a:r>
              <a:rPr lang="en-US" sz="1800" i="1" dirty="0">
                <a:solidFill>
                  <a:srgbClr val="DCE6EE"/>
                </a:solidFill>
                <a:latin typeface="Calibri" pitchFamily="34" charset="0"/>
                <a:ea typeface="Calibri" pitchFamily="34" charset="-122"/>
                <a:cs typeface="Calibri" pitchFamily="34" charset="-120"/>
              </a:rPr>
              <a:t>Định vị bằng so khớp High Utility Itemset trên vân tay Wi-Fi UJIIndoorLoc và năm bộ dữ liệu bổ sung</a:t>
            </a:r>
            <a:endParaRPr lang="en-US" sz="1800" dirty="0"/>
          </a:p>
        </p:txBody>
      </p:sp>
      <p:sp>
        <p:nvSpPr>
          <p:cNvPr id="5" name="Shape 3"/>
          <p:cNvSpPr/>
          <p:nvPr/>
        </p:nvSpPr>
        <p:spPr>
          <a:xfrm>
            <a:off x="548640" y="4434840"/>
            <a:ext cx="2743200" cy="0"/>
          </a:xfrm>
          <a:prstGeom prst="line">
            <a:avLst/>
          </a:prstGeom>
          <a:noFill/>
          <a:ln w="12700">
            <a:solidFill>
              <a:srgbClr val="9BB7C4"/>
            </a:solidFill>
            <a:prstDash val="solid"/>
          </a:ln>
        </p:spPr>
      </p:sp>
      <p:sp>
        <p:nvSpPr>
          <p:cNvPr id="6" name="Text 4"/>
          <p:cNvSpPr txBox="1"/>
          <p:nvPr/>
        </p:nvSpPr>
        <p:spPr>
          <a:xfrm>
            <a:off x="548640" y="4617720"/>
            <a:ext cx="7315200" cy="1280160"/>
          </a:xfrm>
          <a:prstGeom prst="rect">
            <a:avLst/>
          </a:prstGeom>
          <a:noFill/>
          <a:ln/>
        </p:spPr>
        <p:txBody>
          <a:bodyPr wrap="square" lIns="0" tIns="0" rIns="0" bIns="0" rtlCol="0" anchor="ctr"/>
          <a:lstStyle/>
          <a:p>
            <a:pPr indent="0" marL="0">
              <a:spcAft>
                <a:spcPts val="600"/>
              </a:spcAft>
              <a:buNone/>
            </a:pPr>
            <a:r>
              <a:rPr lang="en-US" sz="1600" b="1" dirty="0">
                <a:solidFill>
                  <a:srgbClr val="FFFFFF"/>
                </a:solidFill>
                <a:latin typeface="Calibri" pitchFamily="34" charset="0"/>
                <a:ea typeface="Calibri" pitchFamily="34" charset="-122"/>
                <a:cs typeface="Calibri" pitchFamily="34" charset="-120"/>
              </a:rPr>
              <a:t>Học viên thực hiện: </a:t>
            </a:r>
            <a:pPr indent="0" marL="0">
              <a:spcAft>
                <a:spcPts val="600"/>
              </a:spcAft>
              <a:buNone/>
            </a:pPr>
            <a:r>
              <a:rPr lang="en-US" sz="1600" dirty="0">
                <a:solidFill>
                  <a:srgbClr val="FFFFFF"/>
                </a:solidFill>
                <a:latin typeface="Calibri" pitchFamily="34" charset="0"/>
                <a:ea typeface="Calibri" pitchFamily="34" charset="-122"/>
                <a:cs typeface="Calibri" pitchFamily="34" charset="-120"/>
              </a:rPr>
              <a:t>……………………………</a:t>
            </a:r>
            <a:endParaRPr lang="en-US" sz="1600" dirty="0"/>
          </a:p>
          <a:p>
            <a:pPr indent="0" marL="0">
              <a:spcAft>
                <a:spcPts val="600"/>
              </a:spcAft>
              <a:buNone/>
            </a:pPr>
            <a:r>
              <a:rPr lang="en-US" sz="1600" b="1" dirty="0">
                <a:solidFill>
                  <a:srgbClr val="FFFFFF"/>
                </a:solidFill>
                <a:latin typeface="Calibri" pitchFamily="34" charset="0"/>
                <a:ea typeface="Calibri" pitchFamily="34" charset="-122"/>
                <a:cs typeface="Calibri" pitchFamily="34" charset="-120"/>
              </a:rPr>
              <a:t>Giảng viên hướng dẫn: </a:t>
            </a:r>
            <a:pPr indent="0" marL="0">
              <a:spcAft>
                <a:spcPts val="600"/>
              </a:spcAft>
              <a:buNone/>
            </a:pPr>
            <a:r>
              <a:rPr lang="en-US" sz="1600" dirty="0">
                <a:solidFill>
                  <a:srgbClr val="FFFFFF"/>
                </a:solidFill>
                <a:latin typeface="Calibri" pitchFamily="34" charset="0"/>
                <a:ea typeface="Calibri" pitchFamily="34" charset="-122"/>
                <a:cs typeface="Calibri" pitchFamily="34" charset="-120"/>
              </a:rPr>
              <a:t>……………………………</a:t>
            </a:r>
            <a:endParaRPr lang="en-US" sz="1600" dirty="0"/>
          </a:p>
          <a:p>
            <a:pPr indent="0" marL="0">
              <a:spcAft>
                <a:spcPts val="600"/>
              </a:spcAft>
              <a:buNone/>
            </a:pPr>
            <a:r>
              <a:rPr lang="en-US" sz="1600" dirty="0">
                <a:solidFill>
                  <a:srgbClr val="FFFFFF"/>
                </a:solidFill>
                <a:latin typeface="Calibri" pitchFamily="34" charset="0"/>
                <a:ea typeface="Calibri" pitchFamily="34" charset="-122"/>
                <a:cs typeface="Calibri" pitchFamily="34" charset="-120"/>
              </a:rPr>
              <a:t>Năm 2026</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74320"/>
            <a:ext cx="8229600" cy="274320"/>
          </a:xfrm>
          <a:prstGeom prst="rect">
            <a:avLst/>
          </a:prstGeom>
          <a:noFill/>
          <a:ln/>
        </p:spPr>
        <p:txBody>
          <a:bodyPr wrap="square" lIns="0" tIns="0" rIns="0" bIns="0" rtlCol="0" anchor="ctr"/>
          <a:lstStyle/>
          <a:p>
            <a:pPr indent="0" marL="0">
              <a:buNone/>
            </a:pPr>
            <a:r>
              <a:rPr lang="en-US" sz="1100" b="1" spc="150" kern="0" dirty="0">
                <a:solidFill>
                  <a:srgbClr val="2E7D8C"/>
                </a:solidFill>
                <a:latin typeface="Calibri" pitchFamily="34" charset="0"/>
                <a:ea typeface="Calibri" pitchFamily="34" charset="-122"/>
                <a:cs typeface="Calibri" pitchFamily="34" charset="-120"/>
              </a:rPr>
              <a:t>MỞ ĐẦU</a:t>
            </a:r>
            <a:endParaRPr lang="en-US" sz="1100" dirty="0"/>
          </a:p>
        </p:txBody>
      </p:sp>
      <p:sp>
        <p:nvSpPr>
          <p:cNvPr id="3" name="Text 2"/>
          <p:cNvSpPr/>
          <p:nvPr>
            <p:ph idx="102" type="title" hasCustomPrompt="1"/>
          </p:nvPr>
        </p:nvSpPr>
        <p:spPr>
          <a:xfrm>
            <a:off x="548640" y="566928"/>
            <a:ext cx="11094415" cy="685800"/>
          </a:xfrm>
          <a:prstGeom prst="rect">
            <a:avLst/>
          </a:prstGeom>
          <a:noFill/>
          <a:ln/>
        </p:spPr>
        <p:txBody>
          <a:bodyPr wrap="square" lIns="0" tIns="0" rIns="0" bIns="0" rtlCol="0" anchor="t"/>
          <a:lstStyle/>
          <a:p>
            <a:pPr algn="l" indent="0" marL="0">
              <a:buNone/>
            </a:pPr>
            <a:r>
              <a:rPr lang="en-US" sz="2600" b="1" dirty="0">
                <a:solidFill>
                  <a:srgbClr val="1F3A5F"/>
                </a:solidFill>
                <a:latin typeface="Cambria" pitchFamily="34" charset="0"/>
                <a:ea typeface="Cambria" pitchFamily="34" charset="-122"/>
                <a:cs typeface="Cambria" pitchFamily="34" charset="-120"/>
              </a:rPr>
              <a:t>Nội dung trình bày</a:t>
            </a:r>
            <a:endParaRPr lang="en-US" sz="2600" dirty="0"/>
          </a:p>
        </p:txBody>
      </p:sp>
      <p:sp>
        <p:nvSpPr>
          <p:cNvPr id="4" name="Text 2"/>
          <p:cNvSpPr txBox="1"/>
          <p:nvPr/>
        </p:nvSpPr>
        <p:spPr>
          <a:xfrm>
            <a:off x="548640" y="1600200"/>
            <a:ext cx="914400" cy="731520"/>
          </a:xfrm>
          <a:prstGeom prst="rect">
            <a:avLst/>
          </a:prstGeom>
          <a:noFill/>
          <a:ln/>
        </p:spPr>
        <p:txBody>
          <a:bodyPr wrap="square" lIns="0" tIns="0" rIns="0" bIns="0" rtlCol="0" anchor="t"/>
          <a:lstStyle/>
          <a:p>
            <a:pPr indent="0" marL="0">
              <a:buNone/>
            </a:pPr>
            <a:r>
              <a:rPr lang="en-US" sz="3400" b="1" dirty="0">
                <a:solidFill>
                  <a:srgbClr val="2E7D8C"/>
                </a:solidFill>
                <a:latin typeface="Cambria" pitchFamily="34" charset="0"/>
                <a:ea typeface="Cambria" pitchFamily="34" charset="-122"/>
                <a:cs typeface="Cambria" pitchFamily="34" charset="-120"/>
              </a:rPr>
              <a:t>01</a:t>
            </a:r>
            <a:endParaRPr lang="en-US" sz="3400" dirty="0"/>
          </a:p>
        </p:txBody>
      </p:sp>
      <p:sp>
        <p:nvSpPr>
          <p:cNvPr id="5" name="Text 3"/>
          <p:cNvSpPr txBox="1"/>
          <p:nvPr/>
        </p:nvSpPr>
        <p:spPr>
          <a:xfrm>
            <a:off x="1600200" y="1618488"/>
            <a:ext cx="5486400" cy="384048"/>
          </a:xfrm>
          <a:prstGeom prst="rect">
            <a:avLst/>
          </a:prstGeom>
          <a:noFill/>
          <a:ln/>
        </p:spPr>
        <p:txBody>
          <a:bodyPr wrap="square" lIns="0" tIns="0" rIns="0" bIns="0" rtlCol="0" anchor="ctr"/>
          <a:lstStyle/>
          <a:p>
            <a:pPr indent="0" marL="0">
              <a:buNone/>
            </a:pPr>
            <a:r>
              <a:rPr lang="en-US" sz="2000" b="1" dirty="0">
                <a:solidFill>
                  <a:srgbClr val="1F3A5F"/>
                </a:solidFill>
                <a:latin typeface="Cambria" pitchFamily="34" charset="0"/>
                <a:ea typeface="Cambria" pitchFamily="34" charset="-122"/>
                <a:cs typeface="Cambria" pitchFamily="34" charset="-120"/>
              </a:rPr>
              <a:t>Đặt vấn đề</a:t>
            </a:r>
            <a:endParaRPr lang="en-US" sz="2000" dirty="0"/>
          </a:p>
        </p:txBody>
      </p:sp>
      <p:sp>
        <p:nvSpPr>
          <p:cNvPr id="6" name="Text 4"/>
          <p:cNvSpPr txBox="1"/>
          <p:nvPr/>
        </p:nvSpPr>
        <p:spPr>
          <a:xfrm>
            <a:off x="1600200" y="2002536"/>
            <a:ext cx="9144000" cy="320040"/>
          </a:xfrm>
          <a:prstGeom prst="rect">
            <a:avLst/>
          </a:prstGeom>
          <a:noFill/>
          <a:ln/>
        </p:spPr>
        <p:txBody>
          <a:bodyPr wrap="square" lIns="0" tIns="0" rIns="0" bIns="0" rtlCol="0" anchor="ctr"/>
          <a:lstStyle/>
          <a:p>
            <a:pPr indent="0" marL="0">
              <a:buNone/>
            </a:pPr>
            <a:r>
              <a:rPr lang="en-US" sz="1400" dirty="0">
                <a:solidFill>
                  <a:srgbClr val="7A8C99"/>
                </a:solidFill>
                <a:latin typeface="Calibri" pitchFamily="34" charset="0"/>
                <a:ea typeface="Calibri" pitchFamily="34" charset="-122"/>
                <a:cs typeface="Calibri" pitchFamily="34" charset="-120"/>
              </a:rPr>
              <a:t>Vai trò của HUIM trong các phiên bản trước và câu hỏi nghiên cứu</a:t>
            </a:r>
            <a:endParaRPr lang="en-US" sz="1400" dirty="0"/>
          </a:p>
        </p:txBody>
      </p:sp>
      <p:sp>
        <p:nvSpPr>
          <p:cNvPr id="7" name="Text 5"/>
          <p:cNvSpPr txBox="1"/>
          <p:nvPr/>
        </p:nvSpPr>
        <p:spPr>
          <a:xfrm>
            <a:off x="548640" y="2514600"/>
            <a:ext cx="914400" cy="731520"/>
          </a:xfrm>
          <a:prstGeom prst="rect">
            <a:avLst/>
          </a:prstGeom>
          <a:noFill/>
          <a:ln/>
        </p:spPr>
        <p:txBody>
          <a:bodyPr wrap="square" lIns="0" tIns="0" rIns="0" bIns="0" rtlCol="0" anchor="t"/>
          <a:lstStyle/>
          <a:p>
            <a:pPr indent="0" marL="0">
              <a:buNone/>
            </a:pPr>
            <a:r>
              <a:rPr lang="en-US" sz="3400" b="1" dirty="0">
                <a:solidFill>
                  <a:srgbClr val="2E7D8C"/>
                </a:solidFill>
                <a:latin typeface="Cambria" pitchFamily="34" charset="0"/>
                <a:ea typeface="Cambria" pitchFamily="34" charset="-122"/>
                <a:cs typeface="Cambria" pitchFamily="34" charset="-120"/>
              </a:rPr>
              <a:t>02</a:t>
            </a:r>
            <a:endParaRPr lang="en-US" sz="3400" dirty="0"/>
          </a:p>
        </p:txBody>
      </p:sp>
      <p:sp>
        <p:nvSpPr>
          <p:cNvPr id="8" name="Text 6"/>
          <p:cNvSpPr txBox="1"/>
          <p:nvPr/>
        </p:nvSpPr>
        <p:spPr>
          <a:xfrm>
            <a:off x="1600200" y="2532888"/>
            <a:ext cx="5486400" cy="384048"/>
          </a:xfrm>
          <a:prstGeom prst="rect">
            <a:avLst/>
          </a:prstGeom>
          <a:noFill/>
          <a:ln/>
        </p:spPr>
        <p:txBody>
          <a:bodyPr wrap="square" lIns="0" tIns="0" rIns="0" bIns="0" rtlCol="0" anchor="ctr"/>
          <a:lstStyle/>
          <a:p>
            <a:pPr indent="0" marL="0">
              <a:buNone/>
            </a:pPr>
            <a:r>
              <a:rPr lang="en-US" sz="2000" b="1" dirty="0">
                <a:solidFill>
                  <a:srgbClr val="1F3A5F"/>
                </a:solidFill>
                <a:latin typeface="Cambria" pitchFamily="34" charset="0"/>
                <a:ea typeface="Cambria" pitchFamily="34" charset="-122"/>
                <a:cs typeface="Cambria" pitchFamily="34" charset="-120"/>
              </a:rPr>
              <a:t>Cơ sở lý thuyết</a:t>
            </a:r>
            <a:endParaRPr lang="en-US" sz="2000" dirty="0"/>
          </a:p>
        </p:txBody>
      </p:sp>
      <p:sp>
        <p:nvSpPr>
          <p:cNvPr id="9" name="Text 7"/>
          <p:cNvSpPr txBox="1"/>
          <p:nvPr/>
        </p:nvSpPr>
        <p:spPr>
          <a:xfrm>
            <a:off x="1600200" y="2916936"/>
            <a:ext cx="9144000" cy="320040"/>
          </a:xfrm>
          <a:prstGeom prst="rect">
            <a:avLst/>
          </a:prstGeom>
          <a:noFill/>
          <a:ln/>
        </p:spPr>
        <p:txBody>
          <a:bodyPr wrap="square" lIns="0" tIns="0" rIns="0" bIns="0" rtlCol="0" anchor="ctr"/>
          <a:lstStyle/>
          <a:p>
            <a:pPr indent="0" marL="0">
              <a:buNone/>
            </a:pPr>
            <a:r>
              <a:rPr lang="en-US" sz="1400" dirty="0">
                <a:solidFill>
                  <a:srgbClr val="7A8C99"/>
                </a:solidFill>
                <a:latin typeface="Calibri" pitchFamily="34" charset="0"/>
                <a:ea typeface="Calibri" pitchFamily="34" charset="-122"/>
                <a:cs typeface="Calibri" pitchFamily="34" charset="-120"/>
              </a:rPr>
              <a:t>Bài toán khai thác tập mục lợi ích cao và thuật toán EFIM</a:t>
            </a:r>
            <a:endParaRPr lang="en-US" sz="1400" dirty="0"/>
          </a:p>
        </p:txBody>
      </p:sp>
      <p:sp>
        <p:nvSpPr>
          <p:cNvPr id="10" name="Text 8"/>
          <p:cNvSpPr txBox="1"/>
          <p:nvPr/>
        </p:nvSpPr>
        <p:spPr>
          <a:xfrm>
            <a:off x="548640" y="3429000"/>
            <a:ext cx="914400" cy="731520"/>
          </a:xfrm>
          <a:prstGeom prst="rect">
            <a:avLst/>
          </a:prstGeom>
          <a:noFill/>
          <a:ln/>
        </p:spPr>
        <p:txBody>
          <a:bodyPr wrap="square" lIns="0" tIns="0" rIns="0" bIns="0" rtlCol="0" anchor="t"/>
          <a:lstStyle/>
          <a:p>
            <a:pPr indent="0" marL="0">
              <a:buNone/>
            </a:pPr>
            <a:r>
              <a:rPr lang="en-US" sz="3400" b="1" dirty="0">
                <a:solidFill>
                  <a:srgbClr val="2E7D8C"/>
                </a:solidFill>
                <a:latin typeface="Cambria" pitchFamily="34" charset="0"/>
                <a:ea typeface="Cambria" pitchFamily="34" charset="-122"/>
                <a:cs typeface="Cambria" pitchFamily="34" charset="-120"/>
              </a:rPr>
              <a:t>03</a:t>
            </a:r>
            <a:endParaRPr lang="en-US" sz="3400" dirty="0"/>
          </a:p>
        </p:txBody>
      </p:sp>
      <p:sp>
        <p:nvSpPr>
          <p:cNvPr id="11" name="Text 9"/>
          <p:cNvSpPr txBox="1"/>
          <p:nvPr/>
        </p:nvSpPr>
        <p:spPr>
          <a:xfrm>
            <a:off x="1600200" y="3447288"/>
            <a:ext cx="5486400" cy="384048"/>
          </a:xfrm>
          <a:prstGeom prst="rect">
            <a:avLst/>
          </a:prstGeom>
          <a:noFill/>
          <a:ln/>
        </p:spPr>
        <p:txBody>
          <a:bodyPr wrap="square" lIns="0" tIns="0" rIns="0" bIns="0" rtlCol="0" anchor="ctr"/>
          <a:lstStyle/>
          <a:p>
            <a:pPr indent="0" marL="0">
              <a:buNone/>
            </a:pPr>
            <a:r>
              <a:rPr lang="en-US" sz="2000" b="1" dirty="0">
                <a:solidFill>
                  <a:srgbClr val="1F3A5F"/>
                </a:solidFill>
                <a:latin typeface="Cambria" pitchFamily="34" charset="0"/>
                <a:ea typeface="Cambria" pitchFamily="34" charset="-122"/>
                <a:cs typeface="Cambria" pitchFamily="34" charset="-120"/>
              </a:rPr>
              <a:t>Phương pháp đề xuất</a:t>
            </a:r>
            <a:endParaRPr lang="en-US" sz="2000" dirty="0"/>
          </a:p>
        </p:txBody>
      </p:sp>
      <p:sp>
        <p:nvSpPr>
          <p:cNvPr id="12" name="Text 10"/>
          <p:cNvSpPr txBox="1"/>
          <p:nvPr/>
        </p:nvSpPr>
        <p:spPr>
          <a:xfrm>
            <a:off x="1600200" y="3831336"/>
            <a:ext cx="9144000" cy="320040"/>
          </a:xfrm>
          <a:prstGeom prst="rect">
            <a:avLst/>
          </a:prstGeom>
          <a:noFill/>
          <a:ln/>
        </p:spPr>
        <p:txBody>
          <a:bodyPr wrap="square" lIns="0" tIns="0" rIns="0" bIns="0" rtlCol="0" anchor="ctr"/>
          <a:lstStyle/>
          <a:p>
            <a:pPr indent="0" marL="0">
              <a:buNone/>
            </a:pPr>
            <a:r>
              <a:rPr lang="en-US" sz="1400" dirty="0">
                <a:solidFill>
                  <a:srgbClr val="7A8C99"/>
                </a:solidFill>
                <a:latin typeface="Calibri" pitchFamily="34" charset="0"/>
                <a:ea typeface="Calibri" pitchFamily="34" charset="-122"/>
                <a:cs typeface="Calibri" pitchFamily="34" charset="-120"/>
              </a:rPr>
              <a:t>Bảy bước từ vân tay Wi-Fi tới toạ độ, chỉ dùng HUI</a:t>
            </a:r>
            <a:endParaRPr lang="en-US" sz="1400" dirty="0"/>
          </a:p>
        </p:txBody>
      </p:sp>
      <p:sp>
        <p:nvSpPr>
          <p:cNvPr id="13" name="Text 11"/>
          <p:cNvSpPr txBox="1"/>
          <p:nvPr/>
        </p:nvSpPr>
        <p:spPr>
          <a:xfrm>
            <a:off x="548640" y="4343400"/>
            <a:ext cx="914400" cy="731520"/>
          </a:xfrm>
          <a:prstGeom prst="rect">
            <a:avLst/>
          </a:prstGeom>
          <a:noFill/>
          <a:ln/>
        </p:spPr>
        <p:txBody>
          <a:bodyPr wrap="square" lIns="0" tIns="0" rIns="0" bIns="0" rtlCol="0" anchor="t"/>
          <a:lstStyle/>
          <a:p>
            <a:pPr indent="0" marL="0">
              <a:buNone/>
            </a:pPr>
            <a:r>
              <a:rPr lang="en-US" sz="3400" b="1" dirty="0">
                <a:solidFill>
                  <a:srgbClr val="2E7D8C"/>
                </a:solidFill>
                <a:latin typeface="Cambria" pitchFamily="34" charset="0"/>
                <a:ea typeface="Cambria" pitchFamily="34" charset="-122"/>
                <a:cs typeface="Cambria" pitchFamily="34" charset="-120"/>
              </a:rPr>
              <a:t>04</a:t>
            </a:r>
            <a:endParaRPr lang="en-US" sz="3400" dirty="0"/>
          </a:p>
        </p:txBody>
      </p:sp>
      <p:sp>
        <p:nvSpPr>
          <p:cNvPr id="14" name="Text 12"/>
          <p:cNvSpPr txBox="1"/>
          <p:nvPr/>
        </p:nvSpPr>
        <p:spPr>
          <a:xfrm>
            <a:off x="1600200" y="4361688"/>
            <a:ext cx="5486400" cy="384048"/>
          </a:xfrm>
          <a:prstGeom prst="rect">
            <a:avLst/>
          </a:prstGeom>
          <a:noFill/>
          <a:ln/>
        </p:spPr>
        <p:txBody>
          <a:bodyPr wrap="square" lIns="0" tIns="0" rIns="0" bIns="0" rtlCol="0" anchor="ctr"/>
          <a:lstStyle/>
          <a:p>
            <a:pPr indent="0" marL="0">
              <a:buNone/>
            </a:pPr>
            <a:r>
              <a:rPr lang="en-US" sz="2000" b="1" dirty="0">
                <a:solidFill>
                  <a:srgbClr val="1F3A5F"/>
                </a:solidFill>
                <a:latin typeface="Cambria" pitchFamily="34" charset="0"/>
                <a:ea typeface="Cambria" pitchFamily="34" charset="-122"/>
                <a:cs typeface="Cambria" pitchFamily="34" charset="-120"/>
              </a:rPr>
              <a:t>Thực nghiệm và đánh giá</a:t>
            </a:r>
            <a:endParaRPr lang="en-US" sz="2000" dirty="0"/>
          </a:p>
        </p:txBody>
      </p:sp>
      <p:sp>
        <p:nvSpPr>
          <p:cNvPr id="15" name="Text 13"/>
          <p:cNvSpPr txBox="1"/>
          <p:nvPr/>
        </p:nvSpPr>
        <p:spPr>
          <a:xfrm>
            <a:off x="1600200" y="4745736"/>
            <a:ext cx="9144000" cy="320040"/>
          </a:xfrm>
          <a:prstGeom prst="rect">
            <a:avLst/>
          </a:prstGeom>
          <a:noFill/>
          <a:ln/>
        </p:spPr>
        <p:txBody>
          <a:bodyPr wrap="square" lIns="0" tIns="0" rIns="0" bIns="0" rtlCol="0" anchor="ctr"/>
          <a:lstStyle/>
          <a:p>
            <a:pPr indent="0" marL="0">
              <a:buNone/>
            </a:pPr>
            <a:r>
              <a:rPr lang="en-US" sz="1400" dirty="0">
                <a:solidFill>
                  <a:srgbClr val="7A8C99"/>
                </a:solidFill>
                <a:latin typeface="Calibri" pitchFamily="34" charset="0"/>
                <a:ea typeface="Calibri" pitchFamily="34" charset="-122"/>
                <a:cs typeface="Calibri" pitchFamily="34" charset="-120"/>
              </a:rPr>
              <a:t>Giao thức, kết quả trên 9 tập kiểm tra, phân tích và kiểm chứng</a:t>
            </a:r>
            <a:endParaRPr lang="en-US" sz="1400" dirty="0"/>
          </a:p>
        </p:txBody>
      </p:sp>
      <p:sp>
        <p:nvSpPr>
          <p:cNvPr id="16" name="Text 14"/>
          <p:cNvSpPr txBox="1"/>
          <p:nvPr/>
        </p:nvSpPr>
        <p:spPr>
          <a:xfrm>
            <a:off x="548640" y="5257800"/>
            <a:ext cx="914400" cy="731520"/>
          </a:xfrm>
          <a:prstGeom prst="rect">
            <a:avLst/>
          </a:prstGeom>
          <a:noFill/>
          <a:ln/>
        </p:spPr>
        <p:txBody>
          <a:bodyPr wrap="square" lIns="0" tIns="0" rIns="0" bIns="0" rtlCol="0" anchor="t"/>
          <a:lstStyle/>
          <a:p>
            <a:pPr indent="0" marL="0">
              <a:buNone/>
            </a:pPr>
            <a:r>
              <a:rPr lang="en-US" sz="3400" b="1" dirty="0">
                <a:solidFill>
                  <a:srgbClr val="2E7D8C"/>
                </a:solidFill>
                <a:latin typeface="Cambria" pitchFamily="34" charset="0"/>
                <a:ea typeface="Cambria" pitchFamily="34" charset="-122"/>
                <a:cs typeface="Cambria" pitchFamily="34" charset="-120"/>
              </a:rPr>
              <a:t>05</a:t>
            </a:r>
            <a:endParaRPr lang="en-US" sz="3400" dirty="0"/>
          </a:p>
        </p:txBody>
      </p:sp>
      <p:sp>
        <p:nvSpPr>
          <p:cNvPr id="17" name="Text 15"/>
          <p:cNvSpPr txBox="1"/>
          <p:nvPr/>
        </p:nvSpPr>
        <p:spPr>
          <a:xfrm>
            <a:off x="1600200" y="5276088"/>
            <a:ext cx="5486400" cy="384048"/>
          </a:xfrm>
          <a:prstGeom prst="rect">
            <a:avLst/>
          </a:prstGeom>
          <a:noFill/>
          <a:ln/>
        </p:spPr>
        <p:txBody>
          <a:bodyPr wrap="square" lIns="0" tIns="0" rIns="0" bIns="0" rtlCol="0" anchor="ctr"/>
          <a:lstStyle/>
          <a:p>
            <a:pPr indent="0" marL="0">
              <a:buNone/>
            </a:pPr>
            <a:r>
              <a:rPr lang="en-US" sz="2000" b="1" dirty="0">
                <a:solidFill>
                  <a:srgbClr val="1F3A5F"/>
                </a:solidFill>
                <a:latin typeface="Cambria" pitchFamily="34" charset="0"/>
                <a:ea typeface="Cambria" pitchFamily="34" charset="-122"/>
                <a:cs typeface="Cambria" pitchFamily="34" charset="-120"/>
              </a:rPr>
              <a:t>Kết luận</a:t>
            </a:r>
            <a:endParaRPr lang="en-US" sz="2000" dirty="0"/>
          </a:p>
        </p:txBody>
      </p:sp>
      <p:sp>
        <p:nvSpPr>
          <p:cNvPr id="18" name="Text 16"/>
          <p:cNvSpPr txBox="1"/>
          <p:nvPr/>
        </p:nvSpPr>
        <p:spPr>
          <a:xfrm>
            <a:off x="1600200" y="5660136"/>
            <a:ext cx="9144000" cy="320040"/>
          </a:xfrm>
          <a:prstGeom prst="rect">
            <a:avLst/>
          </a:prstGeom>
          <a:noFill/>
          <a:ln/>
        </p:spPr>
        <p:txBody>
          <a:bodyPr wrap="square" lIns="0" tIns="0" rIns="0" bIns="0" rtlCol="0" anchor="ctr"/>
          <a:lstStyle/>
          <a:p>
            <a:pPr indent="0" marL="0">
              <a:buNone/>
            </a:pPr>
            <a:r>
              <a:rPr lang="en-US" sz="1400" dirty="0">
                <a:solidFill>
                  <a:srgbClr val="7A8C99"/>
                </a:solidFill>
                <a:latin typeface="Calibri" pitchFamily="34" charset="0"/>
                <a:ea typeface="Calibri" pitchFamily="34" charset="-122"/>
                <a:cs typeface="Calibri" pitchFamily="34" charset="-120"/>
              </a:rPr>
              <a:t>Đóng góp, hạn chế và hướng phát triển</a:t>
            </a:r>
            <a:endParaRPr lang="en-US" sz="14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74320"/>
            <a:ext cx="8229600" cy="274320"/>
          </a:xfrm>
          <a:prstGeom prst="rect">
            <a:avLst/>
          </a:prstGeom>
          <a:noFill/>
          <a:ln/>
        </p:spPr>
        <p:txBody>
          <a:bodyPr wrap="square" lIns="0" tIns="0" rIns="0" bIns="0" rtlCol="0" anchor="ctr"/>
          <a:lstStyle/>
          <a:p>
            <a:pPr indent="0" marL="0">
              <a:buNone/>
            </a:pPr>
            <a:r>
              <a:rPr lang="en-US" sz="1100" b="1" spc="150" kern="0" dirty="0">
                <a:solidFill>
                  <a:srgbClr val="2E7D8C"/>
                </a:solidFill>
                <a:latin typeface="Calibri" pitchFamily="34" charset="0"/>
                <a:ea typeface="Calibri" pitchFamily="34" charset="-122"/>
                <a:cs typeface="Calibri" pitchFamily="34" charset="-120"/>
              </a:rPr>
              <a:t>01 · ĐẶT VẤN ĐỀ</a:t>
            </a:r>
            <a:endParaRPr lang="en-US" sz="1100" dirty="0"/>
          </a:p>
        </p:txBody>
      </p:sp>
      <p:sp>
        <p:nvSpPr>
          <p:cNvPr id="3" name="Text 2"/>
          <p:cNvSpPr/>
          <p:nvPr>
            <p:ph idx="102" type="title" hasCustomPrompt="1"/>
          </p:nvPr>
        </p:nvSpPr>
        <p:spPr>
          <a:xfrm>
            <a:off x="548640" y="566928"/>
            <a:ext cx="11094415" cy="685800"/>
          </a:xfrm>
          <a:prstGeom prst="rect">
            <a:avLst/>
          </a:prstGeom>
          <a:noFill/>
          <a:ln/>
        </p:spPr>
        <p:txBody>
          <a:bodyPr wrap="square" lIns="0" tIns="0" rIns="0" bIns="0" rtlCol="0" anchor="t"/>
          <a:lstStyle/>
          <a:p>
            <a:pPr algn="l" indent="0" marL="0">
              <a:buNone/>
            </a:pPr>
            <a:r>
              <a:rPr lang="en-US" sz="2600" b="1" dirty="0">
                <a:solidFill>
                  <a:srgbClr val="1F3A5F"/>
                </a:solidFill>
                <a:latin typeface="Cambria" pitchFamily="34" charset="0"/>
                <a:ea typeface="Cambria" pitchFamily="34" charset="-122"/>
                <a:cs typeface="Cambria" pitchFamily="34" charset="-120"/>
              </a:rPr>
              <a:t>HUIM phải là thuật toán định vị, không chỉ là bước lọc AP</a:t>
            </a:r>
            <a:endParaRPr lang="en-US" sz="2600" dirty="0"/>
          </a:p>
        </p:txBody>
      </p:sp>
      <p:sp>
        <p:nvSpPr>
          <p:cNvPr id="5" name="Shape 2"/>
          <p:cNvSpPr/>
          <p:nvPr/>
        </p:nvSpPr>
        <p:spPr>
          <a:xfrm>
            <a:off x="548640" y="1554480"/>
            <a:ext cx="5349240" cy="3566160"/>
          </a:xfrm>
          <a:prstGeom prst="rect">
            <a:avLst/>
          </a:prstGeom>
          <a:solidFill>
            <a:srgbClr val="F6E9E2"/>
          </a:solidFill>
          <a:ln w="12700">
            <a:solidFill>
              <a:srgbClr val="F6E9E2"/>
            </a:solidFill>
            <a:prstDash val="solid"/>
          </a:ln>
        </p:spPr>
      </p:sp>
      <p:sp>
        <p:nvSpPr>
          <p:cNvPr id="6" name="Text 3"/>
          <p:cNvSpPr txBox="1"/>
          <p:nvPr/>
        </p:nvSpPr>
        <p:spPr>
          <a:xfrm>
            <a:off x="777240" y="1719072"/>
            <a:ext cx="4892040" cy="365760"/>
          </a:xfrm>
          <a:prstGeom prst="rect">
            <a:avLst/>
          </a:prstGeom>
          <a:noFill/>
          <a:ln/>
        </p:spPr>
        <p:txBody>
          <a:bodyPr wrap="square" lIns="0" tIns="0" rIns="0" bIns="0" rtlCol="0" anchor="ctr"/>
          <a:lstStyle/>
          <a:p>
            <a:pPr indent="0" marL="0">
              <a:buNone/>
            </a:pPr>
            <a:r>
              <a:rPr lang="en-US" sz="1700" b="1" dirty="0">
                <a:solidFill>
                  <a:srgbClr val="B5532A"/>
                </a:solidFill>
                <a:latin typeface="Cambria" pitchFamily="34" charset="0"/>
                <a:ea typeface="Cambria" pitchFamily="34" charset="-122"/>
                <a:cs typeface="Cambria" pitchFamily="34" charset="-120"/>
              </a:rPr>
              <a:t>Trước: HUIM là nhánh tiền xử lý</a:t>
            </a:r>
            <a:endParaRPr lang="en-US" sz="1700" dirty="0"/>
          </a:p>
        </p:txBody>
      </p:sp>
      <p:sp>
        <p:nvSpPr>
          <p:cNvPr id="7" name="Text 4"/>
          <p:cNvSpPr txBox="1"/>
          <p:nvPr/>
        </p:nvSpPr>
        <p:spPr>
          <a:xfrm>
            <a:off x="777240" y="2240280"/>
            <a:ext cx="4892040" cy="2743200"/>
          </a:xfrm>
          <a:prstGeom prst="rect">
            <a:avLst/>
          </a:prstGeom>
          <a:noFill/>
          <a:ln/>
        </p:spPr>
        <p:txBody>
          <a:bodyPr wrap="square" lIns="25400" tIns="25400" rIns="25400" bIns="25400" rtlCol="0" anchor="t"/>
          <a:lstStyle/>
          <a:p>
            <a:pPr algn="l" marL="228600" indent="-228600">
              <a:spcAft>
                <a:spcPts val="800"/>
              </a:spcAft>
              <a:buSzPct val="100000"/>
              <a:buChar char="•"/>
            </a:pPr>
            <a:r>
              <a:rPr lang="en-US" sz="1700" dirty="0">
                <a:solidFill>
                  <a:srgbClr val="1B2A3D"/>
                </a:solidFill>
                <a:latin typeface="Calibri" pitchFamily="34" charset="0"/>
                <a:ea typeface="Calibri" pitchFamily="34" charset="-122"/>
                <a:cs typeface="Calibri" pitchFamily="34" charset="-120"/>
              </a:rPr>
              <a:t>HUIM chọn tập AP; </a:t>
            </a:r>
            <a:pPr algn="l" marL="228600" indent="-228600">
              <a:spcAft>
                <a:spcPts val="800"/>
              </a:spcAft>
              <a:buSzPct val="100000"/>
              <a:buChar char="•"/>
            </a:pPr>
            <a:r>
              <a:rPr lang="en-US" sz="1700" b="1" dirty="0">
                <a:solidFill>
                  <a:srgbClr val="1B2A3D"/>
                </a:solidFill>
                <a:latin typeface="Calibri" pitchFamily="34" charset="0"/>
                <a:ea typeface="Calibri" pitchFamily="34" charset="-122"/>
                <a:cs typeface="Calibri" pitchFamily="34" charset="-120"/>
              </a:rPr>
              <a:t>k-NN</a:t>
            </a:r>
            <a:pPr algn="l" marL="228600" indent="-228600">
              <a:spcAft>
                <a:spcPts val="800"/>
              </a:spcAft>
              <a:buSzPct val="100000"/>
              <a:buChar char="•"/>
            </a:pPr>
            <a:r>
              <a:rPr lang="en-US" sz="1700" dirty="0">
                <a:solidFill>
                  <a:srgbClr val="1B2A3D"/>
                </a:solidFill>
                <a:latin typeface="Calibri" pitchFamily="34" charset="0"/>
                <a:ea typeface="Calibri" pitchFamily="34" charset="-122"/>
                <a:cs typeface="Calibri" pitchFamily="34" charset="-120"/>
              </a:rPr>
              <a:t> so khoảng cách vân tay và quyết định vị trí</a:t>
            </a:r>
            <a:endParaRPr lang="en-US" sz="1700" dirty="0"/>
          </a:p>
          <a:p>
            <a:pPr algn="l" marL="228600" indent="-228600">
              <a:spcAft>
                <a:spcPts val="800"/>
              </a:spcAft>
              <a:buSzPct val="100000"/>
              <a:buChar char="•"/>
            </a:pPr>
            <a:r>
              <a:rPr lang="en-US" sz="1700" dirty="0">
                <a:solidFill>
                  <a:srgbClr val="1B2A3D"/>
                </a:solidFill>
                <a:latin typeface="Calibri" pitchFamily="34" charset="0"/>
                <a:ea typeface="Calibri" pitchFamily="34" charset="-122"/>
                <a:cs typeface="Calibri" pitchFamily="34" charset="-120"/>
              </a:rPr>
              <a:t>HUI toàn cục: còn 91/520 AP, sai số 17,49 m</a:t>
            </a:r>
            <a:endParaRPr lang="en-US" sz="1700" dirty="0"/>
          </a:p>
          <a:p>
            <a:pPr algn="l" marL="228600" indent="-228600">
              <a:spcAft>
                <a:spcPts val="800"/>
              </a:spcAft>
              <a:buSzPct val="100000"/>
              <a:buChar char="•"/>
            </a:pPr>
            <a:r>
              <a:rPr lang="en-US" sz="1700" dirty="0">
                <a:solidFill>
                  <a:srgbClr val="1B2A3D"/>
                </a:solidFill>
                <a:latin typeface="Calibri" pitchFamily="34" charset="0"/>
                <a:ea typeface="Calibri" pitchFamily="34" charset="-122"/>
                <a:cs typeface="Calibri" pitchFamily="34" charset="-120"/>
              </a:rPr>
              <a:t>HUI theo tòa–tầng: 240/520 AP, sai số 5,30 m</a:t>
            </a:r>
            <a:endParaRPr lang="en-US" sz="1700" dirty="0"/>
          </a:p>
          <a:p>
            <a:pPr algn="l" marL="228600" indent="-228600">
              <a:spcAft>
                <a:spcPts val="800"/>
              </a:spcAft>
              <a:buSzPct val="100000"/>
              <a:buChar char="•"/>
            </a:pPr>
            <a:r>
              <a:rPr lang="en-US" sz="1700" dirty="0">
                <a:solidFill>
                  <a:srgbClr val="1B2A3D"/>
                </a:solidFill>
                <a:latin typeface="Calibri" pitchFamily="34" charset="0"/>
                <a:ea typeface="Calibri" pitchFamily="34" charset="-122"/>
                <a:cs typeface="Calibri" pitchFamily="34" charset="-120"/>
              </a:rPr>
              <a:t>Phân tích Shapley: HUIM đóng góp khoảng </a:t>
            </a:r>
            <a:pPr algn="l" marL="228600" indent="-228600">
              <a:spcAft>
                <a:spcPts val="800"/>
              </a:spcAft>
              <a:buSzPct val="100000"/>
              <a:buChar char="•"/>
            </a:pPr>
            <a:r>
              <a:rPr lang="en-US" sz="1700" b="1" dirty="0">
                <a:solidFill>
                  <a:srgbClr val="1B2A3D"/>
                </a:solidFill>
                <a:latin typeface="Calibri" pitchFamily="34" charset="0"/>
                <a:ea typeface="Calibri" pitchFamily="34" charset="-122"/>
                <a:cs typeface="Calibri" pitchFamily="34" charset="-120"/>
              </a:rPr>
              <a:t>6%</a:t>
            </a:r>
            <a:pPr algn="l" marL="228600" indent="-228600">
              <a:spcAft>
                <a:spcPts val="800"/>
              </a:spcAft>
              <a:buSzPct val="100000"/>
              <a:buChar char="•"/>
            </a:pPr>
            <a:r>
              <a:rPr lang="en-US" sz="1700" dirty="0">
                <a:solidFill>
                  <a:srgbClr val="1B2A3D"/>
                </a:solidFill>
                <a:latin typeface="Calibri" pitchFamily="34" charset="0"/>
                <a:ea typeface="Calibri" pitchFamily="34" charset="-122"/>
                <a:cs typeface="Calibri" pitchFamily="34" charset="-120"/>
              </a:rPr>
              <a:t> mức giảm sai số</a:t>
            </a:r>
            <a:endParaRPr lang="en-US" sz="1700" dirty="0"/>
          </a:p>
        </p:txBody>
      </p:sp>
      <p:sp>
        <p:nvSpPr>
          <p:cNvPr id="8" name="Shape 5"/>
          <p:cNvSpPr/>
          <p:nvPr/>
        </p:nvSpPr>
        <p:spPr>
          <a:xfrm>
            <a:off x="6291072" y="1554480"/>
            <a:ext cx="5349240" cy="3566160"/>
          </a:xfrm>
          <a:prstGeom prst="rect">
            <a:avLst/>
          </a:prstGeom>
          <a:solidFill>
            <a:srgbClr val="E8F1F2"/>
          </a:solidFill>
          <a:ln w="12700">
            <a:solidFill>
              <a:srgbClr val="E8F1F2"/>
            </a:solidFill>
            <a:prstDash val="solid"/>
          </a:ln>
        </p:spPr>
      </p:sp>
      <p:sp>
        <p:nvSpPr>
          <p:cNvPr id="9" name="Text 6"/>
          <p:cNvSpPr txBox="1"/>
          <p:nvPr/>
        </p:nvSpPr>
        <p:spPr>
          <a:xfrm>
            <a:off x="6519672" y="1719072"/>
            <a:ext cx="4892040" cy="365760"/>
          </a:xfrm>
          <a:prstGeom prst="rect">
            <a:avLst/>
          </a:prstGeom>
          <a:noFill/>
          <a:ln/>
        </p:spPr>
        <p:txBody>
          <a:bodyPr wrap="square" lIns="0" tIns="0" rIns="0" bIns="0" rtlCol="0" anchor="ctr"/>
          <a:lstStyle/>
          <a:p>
            <a:pPr indent="0" marL="0">
              <a:buNone/>
            </a:pPr>
            <a:r>
              <a:rPr lang="en-US" sz="1700" b="1" dirty="0">
                <a:solidFill>
                  <a:srgbClr val="2E7D8C"/>
                </a:solidFill>
                <a:latin typeface="Cambria" pitchFamily="34" charset="0"/>
                <a:ea typeface="Cambria" pitchFamily="34" charset="-122"/>
                <a:cs typeface="Cambria" pitchFamily="34" charset="-120"/>
              </a:rPr>
              <a:t>Đề xuất: HUIM là mô hình định vị</a:t>
            </a:r>
            <a:endParaRPr lang="en-US" sz="1700" dirty="0"/>
          </a:p>
        </p:txBody>
      </p:sp>
      <p:sp>
        <p:nvSpPr>
          <p:cNvPr id="10" name="Text 7"/>
          <p:cNvSpPr txBox="1"/>
          <p:nvPr/>
        </p:nvSpPr>
        <p:spPr>
          <a:xfrm>
            <a:off x="6519672" y="2240280"/>
            <a:ext cx="4892040" cy="2743200"/>
          </a:xfrm>
          <a:prstGeom prst="rect">
            <a:avLst/>
          </a:prstGeom>
          <a:noFill/>
          <a:ln/>
        </p:spPr>
        <p:txBody>
          <a:bodyPr wrap="square" lIns="25400" tIns="25400" rIns="25400" bIns="25400" rtlCol="0" anchor="t"/>
          <a:lstStyle/>
          <a:p>
            <a:pPr algn="l" marL="228600" indent="-228600">
              <a:spcAft>
                <a:spcPts val="800"/>
              </a:spcAft>
              <a:buSzPct val="100000"/>
              <a:buChar char="•"/>
            </a:pPr>
            <a:r>
              <a:rPr lang="en-US" sz="1700" dirty="0">
                <a:solidFill>
                  <a:srgbClr val="1B2A3D"/>
                </a:solidFill>
                <a:latin typeface="Calibri" pitchFamily="34" charset="0"/>
                <a:ea typeface="Calibri" pitchFamily="34" charset="-122"/>
                <a:cs typeface="Calibri" pitchFamily="34" charset="-120"/>
              </a:rPr>
              <a:t>Mỗi điểm tham chiếu là một </a:t>
            </a:r>
            <a:pPr algn="l" marL="228600" indent="-228600">
              <a:spcAft>
                <a:spcPts val="800"/>
              </a:spcAft>
              <a:buSzPct val="100000"/>
              <a:buChar char="•"/>
            </a:pPr>
            <a:r>
              <a:rPr lang="en-US" sz="1700" b="1" dirty="0">
                <a:solidFill>
                  <a:srgbClr val="1B2A3D"/>
                </a:solidFill>
                <a:latin typeface="Calibri" pitchFamily="34" charset="0"/>
                <a:ea typeface="Calibri" pitchFamily="34" charset="-122"/>
                <a:cs typeface="Calibri" pitchFamily="34" charset="-120"/>
              </a:rPr>
              <a:t>ô</a:t>
            </a:r>
            <a:pPr algn="l" marL="228600" indent="-228600">
              <a:spcAft>
                <a:spcPts val="800"/>
              </a:spcAft>
              <a:buSzPct val="100000"/>
              <a:buChar char="•"/>
            </a:pPr>
            <a:r>
              <a:rPr lang="en-US" sz="1700" dirty="0">
                <a:solidFill>
                  <a:srgbClr val="1B2A3D"/>
                </a:solidFill>
                <a:latin typeface="Calibri" pitchFamily="34" charset="0"/>
                <a:ea typeface="Calibri" pitchFamily="34" charset="-122"/>
                <a:cs typeface="Calibri" pitchFamily="34" charset="-120"/>
              </a:rPr>
              <a:t>; vân tay của ô là một cơ sở dữ liệu giao dịch</a:t>
            </a:r>
            <a:endParaRPr lang="en-US" sz="1700" dirty="0"/>
          </a:p>
          <a:p>
            <a:pPr algn="l" marL="228600" indent="-228600">
              <a:spcAft>
                <a:spcPts val="800"/>
              </a:spcAft>
              <a:buSzPct val="100000"/>
              <a:buChar char="•"/>
            </a:pPr>
            <a:r>
              <a:rPr lang="en-US" sz="1700" dirty="0">
                <a:solidFill>
                  <a:srgbClr val="1B2A3D"/>
                </a:solidFill>
                <a:latin typeface="Calibri" pitchFamily="34" charset="0"/>
                <a:ea typeface="Calibri" pitchFamily="34" charset="-122"/>
                <a:cs typeface="Calibri" pitchFamily="34" charset="-120"/>
              </a:rPr>
              <a:t>EFIM khai thác tập HUI của từng ô; </a:t>
            </a:r>
            <a:pPr algn="l" marL="228600" indent="-228600">
              <a:spcAft>
                <a:spcPts val="800"/>
              </a:spcAft>
              <a:buSzPct val="100000"/>
              <a:buChar char="•"/>
            </a:pPr>
            <a:r>
              <a:rPr lang="en-US" sz="1700" b="1" dirty="0">
                <a:solidFill>
                  <a:srgbClr val="1B2A3D"/>
                </a:solidFill>
                <a:latin typeface="Calibri" pitchFamily="34" charset="0"/>
                <a:ea typeface="Calibri" pitchFamily="34" charset="-122"/>
                <a:cs typeface="Calibri" pitchFamily="34" charset="-120"/>
              </a:rPr>
              <a:t>tập HUI chính là mô hình</a:t>
            </a:r>
            <a:endParaRPr lang="en-US" sz="1700" dirty="0"/>
          </a:p>
          <a:p>
            <a:pPr algn="l" marL="228600" indent="-228600">
              <a:spcAft>
                <a:spcPts val="800"/>
              </a:spcAft>
              <a:buSzPct val="100000"/>
              <a:buChar char="•"/>
            </a:pPr>
            <a:r>
              <a:rPr lang="en-US" sz="1700" dirty="0">
                <a:solidFill>
                  <a:srgbClr val="1B2A3D"/>
                </a:solidFill>
                <a:latin typeface="Calibri" pitchFamily="34" charset="0"/>
                <a:ea typeface="Calibri" pitchFamily="34" charset="-122"/>
                <a:cs typeface="Calibri" pitchFamily="34" charset="-120"/>
              </a:rPr>
              <a:t>Tầng và toạ độ suy ra từ </a:t>
            </a:r>
            <a:pPr algn="l" marL="228600" indent="-228600">
              <a:spcAft>
                <a:spcPts val="800"/>
              </a:spcAft>
              <a:buSzPct val="100000"/>
              <a:buChar char="•"/>
            </a:pPr>
            <a:r>
              <a:rPr lang="en-US" sz="1700" b="1" dirty="0">
                <a:solidFill>
                  <a:srgbClr val="1B2A3D"/>
                </a:solidFill>
                <a:latin typeface="Calibri" pitchFamily="34" charset="0"/>
                <a:ea typeface="Calibri" pitchFamily="34" charset="-122"/>
                <a:cs typeface="Calibri" pitchFamily="34" charset="-120"/>
              </a:rPr>
              <a:t>điểm khớp HUI</a:t>
            </a:r>
            <a:pPr algn="l" marL="228600" indent="-228600">
              <a:spcAft>
                <a:spcPts val="800"/>
              </a:spcAft>
              <a:buSzPct val="100000"/>
              <a:buChar char="•"/>
            </a:pPr>
            <a:r>
              <a:rPr lang="en-US" sz="1700" dirty="0">
                <a:solidFill>
                  <a:srgbClr val="1B2A3D"/>
                </a:solidFill>
                <a:latin typeface="Calibri" pitchFamily="34" charset="0"/>
                <a:ea typeface="Calibri" pitchFamily="34" charset="-122"/>
                <a:cs typeface="Calibri" pitchFamily="34" charset="-120"/>
              </a:rPr>
              <a:t>; không có k-NN, không lưu vân tay</a:t>
            </a:r>
            <a:endParaRPr lang="en-US" sz="1700" dirty="0"/>
          </a:p>
          <a:p>
            <a:pPr algn="l" marL="228600" indent="-228600">
              <a:spcAft>
                <a:spcPts val="800"/>
              </a:spcAft>
              <a:buSzPct val="100000"/>
              <a:buChar char="•"/>
            </a:pPr>
            <a:r>
              <a:rPr lang="en-US" sz="1700" dirty="0">
                <a:solidFill>
                  <a:srgbClr val="1B2A3D"/>
                </a:solidFill>
                <a:latin typeface="Calibri" pitchFamily="34" charset="0"/>
                <a:ea typeface="Calibri" pitchFamily="34" charset="-122"/>
                <a:cs typeface="Calibri" pitchFamily="34" charset="-120"/>
              </a:rPr>
              <a:t>Bỏ HUIM thì hệ thống không còn mô hình để định vị</a:t>
            </a:r>
            <a:endParaRPr lang="en-US" sz="1700" dirty="0"/>
          </a:p>
        </p:txBody>
      </p:sp>
      <p:sp>
        <p:nvSpPr>
          <p:cNvPr id="11" name="Text 8"/>
          <p:cNvSpPr txBox="1"/>
          <p:nvPr/>
        </p:nvSpPr>
        <p:spPr>
          <a:xfrm>
            <a:off x="548640" y="5349240"/>
            <a:ext cx="11094415" cy="822960"/>
          </a:xfrm>
          <a:prstGeom prst="rect">
            <a:avLst/>
          </a:prstGeom>
          <a:noFill/>
          <a:ln/>
        </p:spPr>
        <p:txBody>
          <a:bodyPr wrap="square" lIns="0" tIns="0" rIns="0" bIns="0" rtlCol="0" anchor="t"/>
          <a:lstStyle/>
          <a:p>
            <a:pPr indent="0" marL="0">
              <a:buNone/>
            </a:pPr>
            <a:r>
              <a:rPr lang="en-US" sz="1600" b="1" dirty="0">
                <a:solidFill>
                  <a:srgbClr val="1F3A5F"/>
                </a:solidFill>
                <a:latin typeface="Calibri" pitchFamily="34" charset="0"/>
                <a:ea typeface="Calibri" pitchFamily="34" charset="-122"/>
                <a:cs typeface="Calibri" pitchFamily="34" charset="-120"/>
              </a:rPr>
              <a:t>Câu hỏi nghiên cứu:</a:t>
            </a:r>
            <a:pPr indent="0" marL="0">
              <a:buNone/>
            </a:pPr>
            <a:r>
              <a:rPr lang="en-US" sz="1600" dirty="0">
                <a:solidFill>
                  <a:srgbClr val="1F3A5F"/>
                </a:solidFill>
                <a:latin typeface="Calibri" pitchFamily="34" charset="0"/>
                <a:ea typeface="Calibri" pitchFamily="34" charset="-122"/>
                <a:cs typeface="Calibri" pitchFamily="34" charset="-120"/>
              </a:rPr>
              <a:t> có thể xây dựng hệ thống định vị trong đó HUIM là thuật toán định vị chính, không dùng k-NN, mà vẫn đạt sai số trung bình dưới 7 m hay không?</a:t>
            </a:r>
            <a:endParaRPr lang="en-US" sz="16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74320"/>
            <a:ext cx="8229600" cy="274320"/>
          </a:xfrm>
          <a:prstGeom prst="rect">
            <a:avLst/>
          </a:prstGeom>
          <a:noFill/>
          <a:ln/>
        </p:spPr>
        <p:txBody>
          <a:bodyPr wrap="square" lIns="0" tIns="0" rIns="0" bIns="0" rtlCol="0" anchor="ctr"/>
          <a:lstStyle/>
          <a:p>
            <a:pPr indent="0" marL="0">
              <a:buNone/>
            </a:pPr>
            <a:r>
              <a:rPr lang="en-US" sz="1100" b="1" spc="150" kern="0" dirty="0">
                <a:solidFill>
                  <a:srgbClr val="2E7D8C"/>
                </a:solidFill>
                <a:latin typeface="Calibri" pitchFamily="34" charset="0"/>
                <a:ea typeface="Calibri" pitchFamily="34" charset="-122"/>
                <a:cs typeface="Calibri" pitchFamily="34" charset="-120"/>
              </a:rPr>
              <a:t>02 · CƠ SỞ LÝ THUYẾT</a:t>
            </a:r>
            <a:endParaRPr lang="en-US" sz="1100" dirty="0"/>
          </a:p>
        </p:txBody>
      </p:sp>
      <p:sp>
        <p:nvSpPr>
          <p:cNvPr id="3" name="Text 2"/>
          <p:cNvSpPr/>
          <p:nvPr>
            <p:ph idx="102" type="title" hasCustomPrompt="1"/>
          </p:nvPr>
        </p:nvSpPr>
        <p:spPr>
          <a:xfrm>
            <a:off x="548640" y="566928"/>
            <a:ext cx="11094415" cy="685800"/>
          </a:xfrm>
          <a:prstGeom prst="rect">
            <a:avLst/>
          </a:prstGeom>
          <a:noFill/>
          <a:ln/>
        </p:spPr>
        <p:txBody>
          <a:bodyPr wrap="square" lIns="0" tIns="0" rIns="0" bIns="0" rtlCol="0" anchor="t"/>
          <a:lstStyle/>
          <a:p>
            <a:pPr algn="l" indent="0" marL="0">
              <a:buNone/>
            </a:pPr>
            <a:r>
              <a:rPr lang="en-US" sz="2600" b="1" dirty="0">
                <a:solidFill>
                  <a:srgbClr val="1F3A5F"/>
                </a:solidFill>
                <a:latin typeface="Cambria" pitchFamily="34" charset="0"/>
                <a:ea typeface="Cambria" pitchFamily="34" charset="-122"/>
                <a:cs typeface="Cambria" pitchFamily="34" charset="-120"/>
              </a:rPr>
              <a:t>Bài toán khai thác tập mục lợi ích cao</a:t>
            </a:r>
            <a:endParaRPr lang="en-US" sz="2600" dirty="0"/>
          </a:p>
        </p:txBody>
      </p:sp>
      <p:sp>
        <p:nvSpPr>
          <p:cNvPr id="5" name="Shape 2"/>
          <p:cNvSpPr/>
          <p:nvPr/>
        </p:nvSpPr>
        <p:spPr>
          <a:xfrm>
            <a:off x="548640" y="1554480"/>
            <a:ext cx="5669280" cy="4480560"/>
          </a:xfrm>
          <a:prstGeom prst="rect">
            <a:avLst/>
          </a:prstGeom>
          <a:solidFill>
            <a:srgbClr val="FBFAF7"/>
          </a:solidFill>
          <a:ln w="12700">
            <a:solidFill>
              <a:srgbClr val="FBFAF7"/>
            </a:solidFill>
            <a:prstDash val="solid"/>
          </a:ln>
        </p:spPr>
      </p:sp>
      <p:pic>
        <p:nvPicPr>
          <p:cNvPr id="6" name="Image 0" descr="Định nghĩa lợi ích">    </p:cNvPr>
          <p:cNvPicPr>
            <a:picLocks noChangeAspect="1"/>
          </p:cNvPicPr>
          <p:nvPr/>
        </p:nvPicPr>
        <p:blipFill>
          <a:blip r:embed="rId1"/>
          <a:stretch>
            <a:fillRect/>
          </a:stretch>
        </p:blipFill>
        <p:spPr>
          <a:xfrm>
            <a:off x="914400" y="1828800"/>
            <a:ext cx="4937760" cy="3318495"/>
          </a:xfrm>
          <a:prstGeom prst="rect">
            <a:avLst/>
          </a:prstGeom>
        </p:spPr>
      </p:pic>
      <p:sp>
        <p:nvSpPr>
          <p:cNvPr id="7" name="Text 3"/>
          <p:cNvSpPr txBox="1"/>
          <p:nvPr/>
        </p:nvSpPr>
        <p:spPr>
          <a:xfrm>
            <a:off x="6675120" y="1600200"/>
            <a:ext cx="4937760" cy="365760"/>
          </a:xfrm>
          <a:prstGeom prst="rect">
            <a:avLst/>
          </a:prstGeom>
          <a:noFill/>
          <a:ln/>
        </p:spPr>
        <p:txBody>
          <a:bodyPr wrap="square" lIns="0" tIns="0" rIns="0" bIns="0" rtlCol="0" anchor="t"/>
          <a:lstStyle/>
          <a:p>
            <a:pPr indent="0" marL="0">
              <a:buNone/>
            </a:pPr>
            <a:r>
              <a:rPr lang="en-US" sz="1800" b="1" dirty="0">
                <a:solidFill>
                  <a:srgbClr val="1F3A5F"/>
                </a:solidFill>
                <a:latin typeface="Calibri" pitchFamily="34" charset="0"/>
                <a:ea typeface="Calibri" pitchFamily="34" charset="-122"/>
                <a:cs typeface="Calibri" pitchFamily="34" charset="-120"/>
              </a:rPr>
              <a:t>Ánh xạ sang định vị Wi-Fi</a:t>
            </a:r>
            <a:endParaRPr lang="en-US" sz="1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6675120" y="2057400"/>
          <a:ext cx="4937760" cy="914400"/>
        </p:xfrm>
        <a:graphic>
          <a:graphicData uri="http://schemas.openxmlformats.org/drawingml/2006/table">
            <a:tbl>
              <a:tblPr/>
              <a:tblGrid>
                <a:gridCol w="2011680"/>
                <a:gridCol w="2926080"/>
              </a:tblGrid>
              <a:tr h="384048">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HUIM</a:t>
                      </a:r>
                      <a:endParaRPr lang="en-US" sz="14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Định vị vân tay</a:t>
                      </a:r>
                      <a:endParaRPr lang="en-US" sz="14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r>
              <a:tr h="384048">
                <a:tc>
                  <a:txBody>
                    <a:bodyPr/>
                    <a:lstStyle/>
                    <a:p>
                      <a:pPr algn="l" indent="0" marL="0">
                        <a:buNone/>
                      </a:pPr>
                      <a:r>
                        <a:rPr lang="en-US" sz="1400" dirty="0">
                          <a:solidFill>
                            <a:srgbClr val="1B2A3D"/>
                          </a:solidFill>
                          <a:latin typeface="Calibri" pitchFamily="34" charset="0"/>
                          <a:ea typeface="Calibri" pitchFamily="34" charset="-122"/>
                          <a:cs typeface="Calibri" pitchFamily="34" charset="-120"/>
                        </a:rPr>
                        <a:t>mục i</a:t>
                      </a:r>
                      <a:endParaRPr lang="en-US" sz="14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A3D"/>
                          </a:solidFill>
                          <a:latin typeface="Calibri" pitchFamily="34" charset="0"/>
                          <a:ea typeface="Calibri" pitchFamily="34" charset="-122"/>
                          <a:cs typeface="Calibri" pitchFamily="34" charset="-120"/>
                        </a:rPr>
                        <a:t>một AP</a:t>
                      </a:r>
                      <a:endParaRPr lang="en-US" sz="14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B2A3D"/>
                          </a:solidFill>
                          <a:latin typeface="Calibri" pitchFamily="34" charset="0"/>
                          <a:ea typeface="Calibri" pitchFamily="34" charset="-122"/>
                          <a:cs typeface="Calibri" pitchFamily="34" charset="-120"/>
                        </a:rPr>
                        <a:t>giao dịch T</a:t>
                      </a:r>
                      <a:endParaRPr lang="en-US" sz="14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l" indent="0" marL="0">
                        <a:buNone/>
                      </a:pPr>
                      <a:r>
                        <a:rPr lang="en-US" sz="1400" dirty="0">
                          <a:solidFill>
                            <a:srgbClr val="1B2A3D"/>
                          </a:solidFill>
                          <a:latin typeface="Calibri" pitchFamily="34" charset="0"/>
                          <a:ea typeface="Calibri" pitchFamily="34" charset="-122"/>
                          <a:cs typeface="Calibri" pitchFamily="34" charset="-120"/>
                        </a:rPr>
                        <a:t>một vân tay (một lần quét)</a:t>
                      </a:r>
                      <a:endParaRPr lang="en-US" sz="14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r>
              <a:tr h="384048">
                <a:tc>
                  <a:txBody>
                    <a:bodyPr/>
                    <a:lstStyle/>
                    <a:p>
                      <a:pPr algn="l" indent="0" marL="0">
                        <a:buNone/>
                      </a:pPr>
                      <a:r>
                        <a:rPr lang="en-US" sz="1400" dirty="0">
                          <a:solidFill>
                            <a:srgbClr val="1B2A3D"/>
                          </a:solidFill>
                          <a:latin typeface="Calibri" pitchFamily="34" charset="0"/>
                          <a:ea typeface="Calibri" pitchFamily="34" charset="-122"/>
                          <a:cs typeface="Calibri" pitchFamily="34" charset="-120"/>
                        </a:rPr>
                        <a:t>lợi ích nội q(i,T)</a:t>
                      </a:r>
                      <a:endParaRPr lang="en-US" sz="14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A3D"/>
                          </a:solidFill>
                          <a:latin typeface="Calibri" pitchFamily="34" charset="0"/>
                          <a:ea typeface="Calibri" pitchFamily="34" charset="-122"/>
                          <a:cs typeface="Calibri" pitchFamily="34" charset="-120"/>
                        </a:rPr>
                        <a:t>cường độ RSSI đã chuẩn hoá</a:t>
                      </a:r>
                      <a:endParaRPr lang="en-US" sz="14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r>
              <a:tr h="384048">
                <a:tc>
                  <a:txBody>
                    <a:bodyPr/>
                    <a:lstStyle/>
                    <a:p>
                      <a:pPr algn="l" indent="0" marL="0">
                        <a:buNone/>
                      </a:pPr>
                      <a:r>
                        <a:rPr lang="en-US" sz="1400" dirty="0">
                          <a:solidFill>
                            <a:srgbClr val="1B2A3D"/>
                          </a:solidFill>
                          <a:latin typeface="Calibri" pitchFamily="34" charset="0"/>
                          <a:ea typeface="Calibri" pitchFamily="34" charset="-122"/>
                          <a:cs typeface="Calibri" pitchFamily="34" charset="-120"/>
                        </a:rPr>
                        <a:t>lợi ích ngoài p(i)</a:t>
                      </a:r>
                      <a:endParaRPr lang="en-US" sz="14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l" indent="0" marL="0">
                        <a:buNone/>
                      </a:pPr>
                      <a:r>
                        <a:rPr lang="en-US" sz="1400" dirty="0">
                          <a:solidFill>
                            <a:srgbClr val="1B2A3D"/>
                          </a:solidFill>
                          <a:latin typeface="Calibri" pitchFamily="34" charset="0"/>
                          <a:ea typeface="Calibri" pitchFamily="34" charset="-122"/>
                          <a:cs typeface="Calibri" pitchFamily="34" charset="-120"/>
                        </a:rPr>
                        <a:t>đặt bằng 1</a:t>
                      </a:r>
                      <a:endParaRPr lang="en-US" sz="14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r>
              <a:tr h="384048">
                <a:tc>
                  <a:txBody>
                    <a:bodyPr/>
                    <a:lstStyle/>
                    <a:p>
                      <a:pPr algn="l" indent="0" marL="0">
                        <a:buNone/>
                      </a:pPr>
                      <a:r>
                        <a:rPr lang="en-US" sz="1400" dirty="0">
                          <a:solidFill>
                            <a:srgbClr val="1B2A3D"/>
                          </a:solidFill>
                          <a:latin typeface="Calibri" pitchFamily="34" charset="0"/>
                          <a:ea typeface="Calibri" pitchFamily="34" charset="-122"/>
                          <a:cs typeface="Calibri" pitchFamily="34" charset="-120"/>
                        </a:rPr>
                        <a:t>cơ sở dữ liệu D</a:t>
                      </a:r>
                      <a:endParaRPr lang="en-US" sz="14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l" indent="0" marL="0">
                        <a:buNone/>
                      </a:pPr>
                      <a:r>
                        <a:rPr lang="en-US" sz="1400" dirty="0">
                          <a:solidFill>
                            <a:srgbClr val="1B2A3D"/>
                          </a:solidFill>
                          <a:latin typeface="Calibri" pitchFamily="34" charset="0"/>
                          <a:ea typeface="Calibri" pitchFamily="34" charset="-122"/>
                          <a:cs typeface="Calibri" pitchFamily="34" charset="-120"/>
                        </a:rPr>
                        <a:t>các vân tay của một ô</a:t>
                      </a:r>
                      <a:endParaRPr lang="en-US" sz="14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r>
            </a:tbl>
          </a:graphicData>
        </a:graphic>
      </p:graphicFrame>
      <p:sp>
        <p:nvSpPr>
          <p:cNvPr id="9" name="Text 4"/>
          <p:cNvSpPr txBox="1"/>
          <p:nvPr/>
        </p:nvSpPr>
        <p:spPr>
          <a:xfrm>
            <a:off x="6675120" y="4572000"/>
            <a:ext cx="4937760" cy="1280160"/>
          </a:xfrm>
          <a:prstGeom prst="rect">
            <a:avLst/>
          </a:prstGeom>
          <a:noFill/>
          <a:ln/>
        </p:spPr>
        <p:txBody>
          <a:bodyPr wrap="square" lIns="0" tIns="0" rIns="0" bIns="0" rtlCol="0" anchor="t"/>
          <a:lstStyle/>
          <a:p>
            <a:pPr indent="0" marL="0">
              <a:buNone/>
            </a:pPr>
            <a:r>
              <a:rPr lang="en-US" sz="1500" dirty="0">
                <a:solidFill>
                  <a:srgbClr val="1B2A3D"/>
                </a:solidFill>
                <a:latin typeface="Calibri" pitchFamily="34" charset="0"/>
                <a:ea typeface="Calibri" pitchFamily="34" charset="-122"/>
                <a:cs typeface="Calibri" pitchFamily="34" charset="-120"/>
              </a:rPr>
              <a:t>Lợi ích </a:t>
            </a:r>
            <a:pPr indent="0" marL="0">
              <a:buNone/>
            </a:pPr>
            <a:r>
              <a:rPr lang="en-US" sz="1500" b="1" dirty="0">
                <a:solidFill>
                  <a:srgbClr val="1B2A3D"/>
                </a:solidFill>
                <a:latin typeface="Calibri" pitchFamily="34" charset="0"/>
                <a:ea typeface="Calibri" pitchFamily="34" charset="-122"/>
                <a:cs typeface="Calibri" pitchFamily="34" charset="-120"/>
              </a:rPr>
              <a:t>không đơn điệu</a:t>
            </a:r>
            <a:pPr indent="0" marL="0">
              <a:buNone/>
            </a:pPr>
            <a:r>
              <a:rPr lang="en-US" sz="1500" dirty="0">
                <a:solidFill>
                  <a:srgbClr val="1B2A3D"/>
                </a:solidFill>
                <a:latin typeface="Calibri" pitchFamily="34" charset="0"/>
                <a:ea typeface="Calibri" pitchFamily="34" charset="-122"/>
                <a:cs typeface="Calibri" pitchFamily="34" charset="-120"/>
              </a:rPr>
              <a:t>: thêm một mục có thể làm u(X) tăng hoặc giảm, nên cần các chặn trên để cắt tỉa không gian tìm kiếm.</a:t>
            </a:r>
            <a:endParaRPr lang="en-US" sz="15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74320"/>
            <a:ext cx="8229600" cy="274320"/>
          </a:xfrm>
          <a:prstGeom prst="rect">
            <a:avLst/>
          </a:prstGeom>
          <a:noFill/>
          <a:ln/>
        </p:spPr>
        <p:txBody>
          <a:bodyPr wrap="square" lIns="0" tIns="0" rIns="0" bIns="0" rtlCol="0" anchor="ctr"/>
          <a:lstStyle/>
          <a:p>
            <a:pPr indent="0" marL="0">
              <a:buNone/>
            </a:pPr>
            <a:r>
              <a:rPr lang="en-US" sz="1100" b="1" spc="150" kern="0" dirty="0">
                <a:solidFill>
                  <a:srgbClr val="2E7D8C"/>
                </a:solidFill>
                <a:latin typeface="Calibri" pitchFamily="34" charset="0"/>
                <a:ea typeface="Calibri" pitchFamily="34" charset="-122"/>
                <a:cs typeface="Calibri" pitchFamily="34" charset="-120"/>
              </a:rPr>
              <a:t>02 · CƠ SỞ LÝ THUYẾT</a:t>
            </a:r>
            <a:endParaRPr lang="en-US" sz="1100" dirty="0"/>
          </a:p>
        </p:txBody>
      </p:sp>
      <p:sp>
        <p:nvSpPr>
          <p:cNvPr id="3" name="Text 2"/>
          <p:cNvSpPr/>
          <p:nvPr>
            <p:ph idx="102" type="title" hasCustomPrompt="1"/>
          </p:nvPr>
        </p:nvSpPr>
        <p:spPr>
          <a:xfrm>
            <a:off x="548640" y="566928"/>
            <a:ext cx="11094415" cy="685800"/>
          </a:xfrm>
          <a:prstGeom prst="rect">
            <a:avLst/>
          </a:prstGeom>
          <a:noFill/>
          <a:ln/>
        </p:spPr>
        <p:txBody>
          <a:bodyPr wrap="square" lIns="0" tIns="0" rIns="0" bIns="0" rtlCol="0" anchor="t"/>
          <a:lstStyle/>
          <a:p>
            <a:pPr algn="l" indent="0" marL="0">
              <a:buNone/>
            </a:pPr>
            <a:r>
              <a:rPr lang="en-US" sz="2600" b="1" dirty="0">
                <a:solidFill>
                  <a:srgbClr val="1F3A5F"/>
                </a:solidFill>
                <a:latin typeface="Cambria" pitchFamily="34" charset="0"/>
                <a:ea typeface="Cambria" pitchFamily="34" charset="-122"/>
                <a:cs typeface="Cambria" pitchFamily="34" charset="-120"/>
              </a:rPr>
              <a:t>Thuật toán EFIM (Zida và cộng sự, 2017)</a:t>
            </a:r>
            <a:endParaRPr lang="en-US" sz="2600" dirty="0"/>
          </a:p>
        </p:txBody>
      </p:sp>
      <p:sp>
        <p:nvSpPr>
          <p:cNvPr id="5" name="Shape 2"/>
          <p:cNvSpPr/>
          <p:nvPr/>
        </p:nvSpPr>
        <p:spPr>
          <a:xfrm>
            <a:off x="548640" y="1554480"/>
            <a:ext cx="6766560" cy="3017520"/>
          </a:xfrm>
          <a:prstGeom prst="rect">
            <a:avLst/>
          </a:prstGeom>
          <a:solidFill>
            <a:srgbClr val="FBFAF7"/>
          </a:solidFill>
          <a:ln w="12700">
            <a:solidFill>
              <a:srgbClr val="FBFAF7"/>
            </a:solidFill>
            <a:prstDash val="solid"/>
          </a:ln>
        </p:spPr>
      </p:sp>
      <p:pic>
        <p:nvPicPr>
          <p:cNvPr id="6" name="Image 0" descr="Chặn trên của EFIM">    </p:cNvPr>
          <p:cNvPicPr>
            <a:picLocks noChangeAspect="1"/>
          </p:cNvPicPr>
          <p:nvPr/>
        </p:nvPicPr>
        <p:blipFill>
          <a:blip r:embed="rId1"/>
          <a:stretch>
            <a:fillRect/>
          </a:stretch>
        </p:blipFill>
        <p:spPr>
          <a:xfrm>
            <a:off x="868680" y="1783080"/>
            <a:ext cx="6126480" cy="2085909"/>
          </a:xfrm>
          <a:prstGeom prst="rect">
            <a:avLst/>
          </a:prstGeom>
        </p:spPr>
      </p:pic>
      <p:sp>
        <p:nvSpPr>
          <p:cNvPr id="7" name="Text 3"/>
          <p:cNvSpPr txBox="1"/>
          <p:nvPr/>
        </p:nvSpPr>
        <p:spPr>
          <a:xfrm>
            <a:off x="7772400" y="1600200"/>
            <a:ext cx="3870655" cy="3108960"/>
          </a:xfrm>
          <a:prstGeom prst="rect">
            <a:avLst/>
          </a:prstGeom>
          <a:noFill/>
          <a:ln/>
        </p:spPr>
        <p:txBody>
          <a:bodyPr wrap="square" lIns="25400" tIns="25400" rIns="25400" bIns="25400" rtlCol="0" anchor="t"/>
          <a:lstStyle/>
          <a:p>
            <a:pPr algn="l" marL="228600" indent="-228600">
              <a:spcAft>
                <a:spcPts val="800"/>
              </a:spcAft>
              <a:buSzPct val="100000"/>
              <a:buChar char="•"/>
            </a:pPr>
            <a:r>
              <a:rPr lang="en-US" sz="1500" dirty="0">
                <a:solidFill>
                  <a:srgbClr val="1B2A3D"/>
                </a:solidFill>
                <a:latin typeface="Calibri" pitchFamily="34" charset="0"/>
                <a:ea typeface="Calibri" pitchFamily="34" charset="-122"/>
                <a:cs typeface="Calibri" pitchFamily="34" charset="-120"/>
              </a:rPr>
              <a:t>Duyệt cây liệt kê tập theo chiều sâu, mục sắp theo </a:t>
            </a:r>
            <a:pPr algn="l" marL="228600" indent="-228600">
              <a:spcAft>
                <a:spcPts val="800"/>
              </a:spcAft>
              <a:buSzPct val="100000"/>
              <a:buChar char="•"/>
            </a:pPr>
            <a:r>
              <a:rPr lang="en-US" sz="1500" b="1" dirty="0">
                <a:solidFill>
                  <a:srgbClr val="1B2A3D"/>
                </a:solidFill>
                <a:latin typeface="Calibri" pitchFamily="34" charset="0"/>
                <a:ea typeface="Calibri" pitchFamily="34" charset="-122"/>
                <a:cs typeface="Calibri" pitchFamily="34" charset="-120"/>
              </a:rPr>
              <a:t>TWU</a:t>
            </a:r>
            <a:pPr algn="l" marL="228600" indent="-228600">
              <a:spcAft>
                <a:spcPts val="800"/>
              </a:spcAft>
              <a:buSzPct val="100000"/>
              <a:buChar char="•"/>
            </a:pPr>
            <a:r>
              <a:rPr lang="en-US" sz="1500" dirty="0">
                <a:solidFill>
                  <a:srgbClr val="1B2A3D"/>
                </a:solidFill>
                <a:latin typeface="Calibri" pitchFamily="34" charset="0"/>
                <a:ea typeface="Calibri" pitchFamily="34" charset="-122"/>
                <a:cs typeface="Calibri" pitchFamily="34" charset="-120"/>
              </a:rPr>
              <a:t> tăng dần</a:t>
            </a:r>
            <a:endParaRPr lang="en-US" sz="1500" dirty="0"/>
          </a:p>
          <a:p>
            <a:pPr algn="l" marL="228600" indent="-228600">
              <a:spcAft>
                <a:spcPts val="800"/>
              </a:spcAft>
              <a:buSzPct val="100000"/>
              <a:buChar char="•"/>
            </a:pPr>
            <a:r>
              <a:rPr lang="en-US" sz="1500" b="1" dirty="0">
                <a:solidFill>
                  <a:srgbClr val="1B2A3D"/>
                </a:solidFill>
                <a:latin typeface="Calibri" pitchFamily="34" charset="0"/>
                <a:ea typeface="Calibri" pitchFamily="34" charset="-122"/>
                <a:cs typeface="Calibri" pitchFamily="34" charset="-120"/>
              </a:rPr>
              <a:t>lu</a:t>
            </a:r>
            <a:pPr algn="l" marL="228600" indent="-228600">
              <a:spcAft>
                <a:spcPts val="800"/>
              </a:spcAft>
              <a:buSzPct val="100000"/>
              <a:buChar char="•"/>
            </a:pPr>
            <a:r>
              <a:rPr lang="en-US" sz="1500" dirty="0">
                <a:solidFill>
                  <a:srgbClr val="1B2A3D"/>
                </a:solidFill>
                <a:latin typeface="Calibri" pitchFamily="34" charset="0"/>
                <a:ea typeface="Calibri" pitchFamily="34" charset="-122"/>
                <a:cs typeface="Calibri" pitchFamily="34" charset="-120"/>
              </a:rPr>
              <a:t> &lt; minUtil: loại z khỏi toàn bộ cây con của α</a:t>
            </a:r>
            <a:endParaRPr lang="en-US" sz="1500" dirty="0"/>
          </a:p>
          <a:p>
            <a:pPr algn="l" marL="228600" indent="-228600">
              <a:spcAft>
                <a:spcPts val="800"/>
              </a:spcAft>
              <a:buSzPct val="100000"/>
              <a:buChar char="•"/>
            </a:pPr>
            <a:r>
              <a:rPr lang="en-US" sz="1500" b="1" dirty="0">
                <a:solidFill>
                  <a:srgbClr val="1B2A3D"/>
                </a:solidFill>
                <a:latin typeface="Calibri" pitchFamily="34" charset="0"/>
                <a:ea typeface="Calibri" pitchFamily="34" charset="-122"/>
                <a:cs typeface="Calibri" pitchFamily="34" charset="-120"/>
              </a:rPr>
              <a:t>su</a:t>
            </a:r>
            <a:pPr algn="l" marL="228600" indent="-228600">
              <a:spcAft>
                <a:spcPts val="800"/>
              </a:spcAft>
              <a:buSzPct val="100000"/>
              <a:buChar char="•"/>
            </a:pPr>
            <a:r>
              <a:rPr lang="en-US" sz="1500" dirty="0">
                <a:solidFill>
                  <a:srgbClr val="1B2A3D"/>
                </a:solidFill>
                <a:latin typeface="Calibri" pitchFamily="34" charset="0"/>
                <a:ea typeface="Calibri" pitchFamily="34" charset="-122"/>
                <a:cs typeface="Calibri" pitchFamily="34" charset="-120"/>
              </a:rPr>
              <a:t> &lt; minUtil: không duyệt nhánh α ∪ {z}</a:t>
            </a:r>
            <a:endParaRPr lang="en-US" sz="1500" dirty="0"/>
          </a:p>
          <a:p>
            <a:pPr algn="l" marL="228600" indent="-228600">
              <a:spcAft>
                <a:spcPts val="800"/>
              </a:spcAft>
              <a:buSzPct val="100000"/>
              <a:buChar char="•"/>
            </a:pPr>
            <a:r>
              <a:rPr lang="en-US" sz="1500" dirty="0">
                <a:solidFill>
                  <a:srgbClr val="1B2A3D"/>
                </a:solidFill>
                <a:latin typeface="Calibri" pitchFamily="34" charset="0"/>
                <a:ea typeface="Calibri" pitchFamily="34" charset="-122"/>
                <a:cs typeface="Calibri" pitchFamily="34" charset="-120"/>
              </a:rPr>
              <a:t>Chiếu cơ sở dữ liệu và gộp giao dịch trùng để tiết kiệm bộ nhớ</a:t>
            </a:r>
            <a:endParaRPr lang="en-US" sz="1500" dirty="0"/>
          </a:p>
        </p:txBody>
      </p:sp>
      <p:sp>
        <p:nvSpPr>
          <p:cNvPr id="8" name="Shape 4"/>
          <p:cNvSpPr/>
          <p:nvPr/>
        </p:nvSpPr>
        <p:spPr>
          <a:xfrm>
            <a:off x="548640" y="4846320"/>
            <a:ext cx="11094415" cy="1234440"/>
          </a:xfrm>
          <a:prstGeom prst="rect">
            <a:avLst/>
          </a:prstGeom>
          <a:solidFill>
            <a:srgbClr val="E8F1F2"/>
          </a:solidFill>
          <a:ln w="12700">
            <a:solidFill>
              <a:srgbClr val="E8F1F2"/>
            </a:solidFill>
            <a:prstDash val="solid"/>
          </a:ln>
        </p:spPr>
      </p:sp>
      <p:sp>
        <p:nvSpPr>
          <p:cNvPr id="9" name="Text 5"/>
          <p:cNvSpPr txBox="1"/>
          <p:nvPr/>
        </p:nvSpPr>
        <p:spPr>
          <a:xfrm>
            <a:off x="822960" y="5029200"/>
            <a:ext cx="10545775" cy="914400"/>
          </a:xfrm>
          <a:prstGeom prst="rect">
            <a:avLst/>
          </a:prstGeom>
          <a:noFill/>
          <a:ln/>
        </p:spPr>
        <p:txBody>
          <a:bodyPr wrap="square" lIns="0" tIns="0" rIns="0" bIns="0" rtlCol="0" anchor="t"/>
          <a:lstStyle/>
          <a:p>
            <a:pPr indent="0" marL="0">
              <a:buNone/>
            </a:pPr>
            <a:r>
              <a:rPr lang="en-US" sz="1500" b="1" dirty="0">
                <a:solidFill>
                  <a:srgbClr val="1B2A3D"/>
                </a:solidFill>
                <a:latin typeface="Calibri" pitchFamily="34" charset="0"/>
                <a:ea typeface="Calibri" pitchFamily="34" charset="-122"/>
                <a:cs typeface="Calibri" pitchFamily="34" charset="-120"/>
              </a:rPr>
              <a:t>Kiểm chứng cài đặt:</a:t>
            </a:r>
            <a:pPr indent="0" marL="0">
              <a:buNone/>
            </a:pPr>
            <a:r>
              <a:rPr lang="en-US" sz="1500" dirty="0">
                <a:solidFill>
                  <a:srgbClr val="1B2A3D"/>
                </a:solidFill>
                <a:latin typeface="Calibri" pitchFamily="34" charset="0"/>
                <a:ea typeface="Calibri" pitchFamily="34" charset="-122"/>
                <a:cs typeface="Calibri" pitchFamily="34" charset="-120"/>
              </a:rPr>
              <a:t> EFIM trong mã nguồn được so với một thuật toán vét cạn trên dữ liệu ngẫu nhiên (thư mục ma_nguon/tests); tập HUI và lợi ích trùng khớp hoàn toàn.</a:t>
            </a:r>
            <a:endParaRPr lang="en-US" sz="15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74320"/>
            <a:ext cx="8229600" cy="274320"/>
          </a:xfrm>
          <a:prstGeom prst="rect">
            <a:avLst/>
          </a:prstGeom>
          <a:noFill/>
          <a:ln/>
        </p:spPr>
        <p:txBody>
          <a:bodyPr wrap="square" lIns="0" tIns="0" rIns="0" bIns="0" rtlCol="0" anchor="ctr"/>
          <a:lstStyle/>
          <a:p>
            <a:pPr indent="0" marL="0">
              <a:buNone/>
            </a:pPr>
            <a:r>
              <a:rPr lang="en-US" sz="1100" b="1" spc="150" kern="0" dirty="0">
                <a:solidFill>
                  <a:srgbClr val="2E7D8C"/>
                </a:solidFill>
                <a:latin typeface="Calibri" pitchFamily="34" charset="0"/>
                <a:ea typeface="Calibri" pitchFamily="34" charset="-122"/>
                <a:cs typeface="Calibri" pitchFamily="34" charset="-120"/>
              </a:rPr>
              <a:t>03 · PHƯƠNG PHÁP ĐỀ XUẤT</a:t>
            </a:r>
            <a:endParaRPr lang="en-US" sz="1100" dirty="0"/>
          </a:p>
        </p:txBody>
      </p:sp>
      <p:sp>
        <p:nvSpPr>
          <p:cNvPr id="3" name="Text 2"/>
          <p:cNvSpPr/>
          <p:nvPr>
            <p:ph idx="102" type="title" hasCustomPrompt="1"/>
          </p:nvPr>
        </p:nvSpPr>
        <p:spPr>
          <a:xfrm>
            <a:off x="548640" y="566928"/>
            <a:ext cx="11094415" cy="685800"/>
          </a:xfrm>
          <a:prstGeom prst="rect">
            <a:avLst/>
          </a:prstGeom>
          <a:noFill/>
          <a:ln/>
        </p:spPr>
        <p:txBody>
          <a:bodyPr wrap="square" lIns="0" tIns="0" rIns="0" bIns="0" rtlCol="0" anchor="t"/>
          <a:lstStyle/>
          <a:p>
            <a:pPr algn="l" indent="0" marL="0">
              <a:buNone/>
            </a:pPr>
            <a:r>
              <a:rPr lang="en-US" sz="2600" b="1" dirty="0">
                <a:solidFill>
                  <a:srgbClr val="1F3A5F"/>
                </a:solidFill>
                <a:latin typeface="Cambria" pitchFamily="34" charset="0"/>
                <a:ea typeface="Cambria" pitchFamily="34" charset="-122"/>
                <a:cs typeface="Cambria" pitchFamily="34" charset="-120"/>
              </a:rPr>
              <a:t>Tổng quan: hệ thống định vị chỉ dùng HUIM</a:t>
            </a:r>
            <a:endParaRPr lang="en-US" sz="2600" dirty="0"/>
          </a:p>
        </p:txBody>
      </p:sp>
      <p:pic>
        <p:nvPicPr>
          <p:cNvPr id="5" name="Image 0" descr="Sơ đồ tổng quát">    </p:cNvPr>
          <p:cNvPicPr>
            <a:picLocks noChangeAspect="1"/>
          </p:cNvPicPr>
          <p:nvPr/>
        </p:nvPicPr>
        <p:blipFill>
          <a:blip r:embed="rId1"/>
          <a:stretch>
            <a:fillRect/>
          </a:stretch>
        </p:blipFill>
        <p:spPr>
          <a:xfrm>
            <a:off x="1873533" y="1417320"/>
            <a:ext cx="8444629" cy="4846320"/>
          </a:xfrm>
          <a:prstGeom prst="rect">
            <a:avLst/>
          </a:prstGeom>
        </p:spPr>
      </p:pic>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74320"/>
            <a:ext cx="8229600" cy="274320"/>
          </a:xfrm>
          <a:prstGeom prst="rect">
            <a:avLst/>
          </a:prstGeom>
          <a:noFill/>
          <a:ln/>
        </p:spPr>
        <p:txBody>
          <a:bodyPr wrap="square" lIns="0" tIns="0" rIns="0" bIns="0" rtlCol="0" anchor="ctr"/>
          <a:lstStyle/>
          <a:p>
            <a:pPr indent="0" marL="0">
              <a:buNone/>
            </a:pPr>
            <a:r>
              <a:rPr lang="en-US" sz="1100" b="1" spc="150" kern="0" dirty="0">
                <a:solidFill>
                  <a:srgbClr val="2E7D8C"/>
                </a:solidFill>
                <a:latin typeface="Calibri" pitchFamily="34" charset="0"/>
                <a:ea typeface="Calibri" pitchFamily="34" charset="-122"/>
                <a:cs typeface="Calibri" pitchFamily="34" charset="-120"/>
              </a:rPr>
              <a:t>03 · BƯỚC 1</a:t>
            </a:r>
            <a:endParaRPr lang="en-US" sz="1100" dirty="0"/>
          </a:p>
        </p:txBody>
      </p:sp>
      <p:sp>
        <p:nvSpPr>
          <p:cNvPr id="3" name="Text 2"/>
          <p:cNvSpPr/>
          <p:nvPr>
            <p:ph idx="102" type="title" hasCustomPrompt="1"/>
          </p:nvPr>
        </p:nvSpPr>
        <p:spPr>
          <a:xfrm>
            <a:off x="548640" y="566928"/>
            <a:ext cx="11094415" cy="685800"/>
          </a:xfrm>
          <a:prstGeom prst="rect">
            <a:avLst/>
          </a:prstGeom>
          <a:noFill/>
          <a:ln/>
        </p:spPr>
        <p:txBody>
          <a:bodyPr wrap="square" lIns="0" tIns="0" rIns="0" bIns="0" rtlCol="0" anchor="t"/>
          <a:lstStyle/>
          <a:p>
            <a:pPr algn="l" indent="0" marL="0">
              <a:buNone/>
            </a:pPr>
            <a:r>
              <a:rPr lang="en-US" sz="2600" b="1" dirty="0">
                <a:solidFill>
                  <a:srgbClr val="1F3A5F"/>
                </a:solidFill>
                <a:latin typeface="Cambria" pitchFamily="34" charset="0"/>
                <a:ea typeface="Cambria" pitchFamily="34" charset="-122"/>
                <a:cs typeface="Cambria" pitchFamily="34" charset="-120"/>
              </a:rPr>
              <a:t>Từ cường độ tín hiệu tới lợi ích nội</a:t>
            </a:r>
            <a:endParaRPr lang="en-US" sz="2600" dirty="0"/>
          </a:p>
        </p:txBody>
      </p:sp>
      <p:pic>
        <p:nvPicPr>
          <p:cNvPr id="5" name="Image 0" descr="Bước 1 trên một vân tay thật">    </p:cNvPr>
          <p:cNvPicPr>
            <a:picLocks noChangeAspect="1"/>
          </p:cNvPicPr>
          <p:nvPr/>
        </p:nvPicPr>
        <p:blipFill>
          <a:blip r:embed="rId1"/>
          <a:stretch>
            <a:fillRect/>
          </a:stretch>
        </p:blipFill>
        <p:spPr>
          <a:xfrm>
            <a:off x="548640" y="1417320"/>
            <a:ext cx="6949440" cy="3637649"/>
          </a:xfrm>
          <a:prstGeom prst="rect">
            <a:avLst/>
          </a:prstGeom>
        </p:spPr>
      </p:pic>
      <p:pic>
        <p:nvPicPr>
          <p:cNvPr id="6" name="Image 1" descr="Lợi ích nội dạng rank">    </p:cNvPr>
          <p:cNvPicPr>
            <a:picLocks noChangeAspect="1"/>
          </p:cNvPicPr>
          <p:nvPr/>
        </p:nvPicPr>
        <p:blipFill>
          <a:blip r:embed="rId2"/>
          <a:stretch>
            <a:fillRect/>
          </a:stretch>
        </p:blipFill>
        <p:spPr>
          <a:xfrm>
            <a:off x="7818120" y="1600200"/>
            <a:ext cx="3824935" cy="620576"/>
          </a:xfrm>
          <a:prstGeom prst="rect">
            <a:avLst/>
          </a:prstGeom>
        </p:spPr>
      </p:pic>
      <p:sp>
        <p:nvSpPr>
          <p:cNvPr id="7" name="Text 2"/>
          <p:cNvSpPr txBox="1"/>
          <p:nvPr/>
        </p:nvSpPr>
        <p:spPr>
          <a:xfrm>
            <a:off x="7818120" y="2834640"/>
            <a:ext cx="3824935" cy="3291840"/>
          </a:xfrm>
          <a:prstGeom prst="rect">
            <a:avLst/>
          </a:prstGeom>
          <a:noFill/>
          <a:ln/>
        </p:spPr>
        <p:txBody>
          <a:bodyPr wrap="square" lIns="25400" tIns="25400" rIns="25400" bIns="25400" rtlCol="0" anchor="t"/>
          <a:lstStyle/>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n</a:t>
            </a:r>
            <a:pPr algn="l" marL="228600" indent="-228600">
              <a:spcAft>
                <a:spcPts val="800"/>
              </a:spcAft>
              <a:buSzPct val="100000"/>
              <a:buChar char="•"/>
            </a:pPr>
            <a:r>
              <a:rPr lang="en-US" sz="1400" baseline="-40000" dirty="0">
                <a:solidFill>
                  <a:srgbClr val="1B2A3D"/>
                </a:solidFill>
                <a:latin typeface="Calibri" pitchFamily="34" charset="0"/>
                <a:ea typeface="Calibri" pitchFamily="34" charset="-122"/>
                <a:cs typeface="Calibri" pitchFamily="34" charset="-120"/>
              </a:rPr>
              <a:t>T</a:t>
            </a:r>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 số AP thấy được trong T; r</a:t>
            </a:r>
            <a:pPr algn="l" marL="228600" indent="-228600">
              <a:spcAft>
                <a:spcPts val="800"/>
              </a:spcAft>
              <a:buSzPct val="100000"/>
              <a:buChar char="•"/>
            </a:pPr>
            <a:r>
              <a:rPr lang="en-US" sz="1400" baseline="-40000" dirty="0">
                <a:solidFill>
                  <a:srgbClr val="1B2A3D"/>
                </a:solidFill>
                <a:latin typeface="Calibri" pitchFamily="34" charset="0"/>
                <a:ea typeface="Calibri" pitchFamily="34" charset="-122"/>
                <a:cs typeface="Calibri" pitchFamily="34" charset="-120"/>
              </a:rPr>
              <a:t>T</a:t>
            </a:r>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(i): thứ hạng cường độ của AP i</a:t>
            </a:r>
            <a:endParaRPr lang="en-US" sz="1400" dirty="0"/>
          </a:p>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AP không thấy không có trong giao dịch</a:t>
            </a:r>
            <a:endParaRPr lang="en-US" sz="1400" dirty="0"/>
          </a:p>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Dạng </a:t>
            </a:r>
            <a:pPr algn="l" marL="228600" indent="-228600">
              <a:spcAft>
                <a:spcPts val="800"/>
              </a:spcAft>
              <a:buSzPct val="100000"/>
              <a:buChar char="•"/>
            </a:pPr>
            <a:r>
              <a:rPr lang="en-US" sz="1400" b="1" dirty="0">
                <a:solidFill>
                  <a:srgbClr val="1B2A3D"/>
                </a:solidFill>
                <a:latin typeface="Calibri" pitchFamily="34" charset="0"/>
                <a:ea typeface="Calibri" pitchFamily="34" charset="-122"/>
                <a:cs typeface="Calibri" pitchFamily="34" charset="-120"/>
              </a:rPr>
              <a:t>rank</a:t>
            </a:r>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 được chọn trên dev: 7,67 m, so với 7,68 m (abs) và 8,36 m (rel)</a:t>
            </a:r>
            <a:endParaRPr lang="en-US" sz="1400" dirty="0"/>
          </a:p>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Bền với khác biệt giữa các điện thoại</a:t>
            </a:r>
            <a:endParaRPr lang="en-US" sz="14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74320"/>
            <a:ext cx="8229600" cy="274320"/>
          </a:xfrm>
          <a:prstGeom prst="rect">
            <a:avLst/>
          </a:prstGeom>
          <a:noFill/>
          <a:ln/>
        </p:spPr>
        <p:txBody>
          <a:bodyPr wrap="square" lIns="0" tIns="0" rIns="0" bIns="0" rtlCol="0" anchor="ctr"/>
          <a:lstStyle/>
          <a:p>
            <a:pPr indent="0" marL="0">
              <a:buNone/>
            </a:pPr>
            <a:r>
              <a:rPr lang="en-US" sz="1100" b="1" spc="150" kern="0" dirty="0">
                <a:solidFill>
                  <a:srgbClr val="2E7D8C"/>
                </a:solidFill>
                <a:latin typeface="Calibri" pitchFamily="34" charset="0"/>
                <a:ea typeface="Calibri" pitchFamily="34" charset="-122"/>
                <a:cs typeface="Calibri" pitchFamily="34" charset="-120"/>
              </a:rPr>
              <a:t>03 · BƯỚC 2 VÀ 3</a:t>
            </a:r>
            <a:endParaRPr lang="en-US" sz="1100" dirty="0"/>
          </a:p>
        </p:txBody>
      </p:sp>
      <p:sp>
        <p:nvSpPr>
          <p:cNvPr id="3" name="Text 2"/>
          <p:cNvSpPr/>
          <p:nvPr>
            <p:ph idx="102" type="title" hasCustomPrompt="1"/>
          </p:nvPr>
        </p:nvSpPr>
        <p:spPr>
          <a:xfrm>
            <a:off x="548640" y="566928"/>
            <a:ext cx="11094415" cy="685800"/>
          </a:xfrm>
          <a:prstGeom prst="rect">
            <a:avLst/>
          </a:prstGeom>
          <a:noFill/>
          <a:ln/>
        </p:spPr>
        <p:txBody>
          <a:bodyPr wrap="square" lIns="0" tIns="0" rIns="0" bIns="0" rtlCol="0" anchor="t"/>
          <a:lstStyle/>
          <a:p>
            <a:pPr algn="l" indent="0" marL="0">
              <a:buNone/>
            </a:pPr>
            <a:r>
              <a:rPr lang="en-US" sz="2600" b="1" dirty="0">
                <a:solidFill>
                  <a:srgbClr val="1F3A5F"/>
                </a:solidFill>
                <a:latin typeface="Cambria" pitchFamily="34" charset="0"/>
                <a:ea typeface="Cambria" pitchFamily="34" charset="-122"/>
                <a:cs typeface="Cambria" pitchFamily="34" charset="-120"/>
              </a:rPr>
              <a:t>Cơ sở dữ liệu giao dịch theo ô và khai thác EFIM</a:t>
            </a:r>
            <a:endParaRPr lang="en-US" sz="2600" dirty="0"/>
          </a:p>
        </p:txBody>
      </p:sp>
      <p:pic>
        <p:nvPicPr>
          <p:cNvPr id="5" name="Image 0" descr="Ngưỡng theo ô">    </p:cNvPr>
          <p:cNvPicPr>
            <a:picLocks noChangeAspect="1"/>
          </p:cNvPicPr>
          <p:nvPr/>
        </p:nvPicPr>
        <p:blipFill>
          <a:blip r:embed="rId1"/>
          <a:stretch>
            <a:fillRect/>
          </a:stretch>
        </p:blipFill>
        <p:spPr>
          <a:xfrm>
            <a:off x="548640" y="1463040"/>
            <a:ext cx="7772400" cy="434622"/>
          </a:xfrm>
          <a:prstGeom prst="rect">
            <a:avLst/>
          </a:prstGeom>
        </p:spPr>
      </p:pic>
      <p:pic>
        <p:nvPicPr>
          <p:cNvPr id="6" name="Image 1" descr="Một ô là cơ sở dữ liệu giao dịch">    </p:cNvPr>
          <p:cNvPicPr>
            <a:picLocks noChangeAspect="1"/>
          </p:cNvPicPr>
          <p:nvPr/>
        </p:nvPicPr>
        <p:blipFill>
          <a:blip r:embed="rId2"/>
          <a:stretch>
            <a:fillRect/>
          </a:stretch>
        </p:blipFill>
        <p:spPr>
          <a:xfrm>
            <a:off x="548640" y="2148840"/>
            <a:ext cx="5410048" cy="2919873"/>
          </a:xfrm>
          <a:prstGeom prst="rect">
            <a:avLst/>
          </a:prstGeom>
        </p:spPr>
      </p:pic>
      <p:pic>
        <p:nvPicPr>
          <p:cNvPr id="7" name="Image 2" descr="EFIM liệt kê HUI của ô">    </p:cNvPr>
          <p:cNvPicPr>
            <a:picLocks noChangeAspect="1"/>
          </p:cNvPicPr>
          <p:nvPr/>
        </p:nvPicPr>
        <p:blipFill>
          <a:blip r:embed="rId3"/>
          <a:stretch>
            <a:fillRect/>
          </a:stretch>
        </p:blipFill>
        <p:spPr>
          <a:xfrm>
            <a:off x="6233008" y="2148840"/>
            <a:ext cx="5410048" cy="2919873"/>
          </a:xfrm>
          <a:prstGeom prst="rect">
            <a:avLst/>
          </a:prstGeom>
        </p:spPr>
      </p:pic>
      <p:sp>
        <p:nvSpPr>
          <p:cNvPr id="8" name="Text 2"/>
          <p:cNvSpPr txBox="1"/>
          <p:nvPr/>
        </p:nvSpPr>
        <p:spPr>
          <a:xfrm>
            <a:off x="548640" y="5669280"/>
            <a:ext cx="11094415" cy="640080"/>
          </a:xfrm>
          <a:prstGeom prst="rect">
            <a:avLst/>
          </a:prstGeom>
          <a:noFill/>
          <a:ln/>
        </p:spPr>
        <p:txBody>
          <a:bodyPr wrap="square" lIns="0" tIns="0" rIns="0" bIns="0" rtlCol="0" anchor="t"/>
          <a:lstStyle/>
          <a:p>
            <a:pPr indent="0" marL="0">
              <a:buNone/>
            </a:pPr>
            <a:r>
              <a:rPr lang="en-US" sz="1400" dirty="0">
                <a:solidFill>
                  <a:srgbClr val="1B2A3D"/>
                </a:solidFill>
                <a:latin typeface="Calibri" pitchFamily="34" charset="0"/>
                <a:ea typeface="Calibri" pitchFamily="34" charset="-122"/>
                <a:cs typeface="Calibri" pitchFamily="34" charset="-120"/>
              </a:rPr>
              <a:t>UJIIndoorLoc: </a:t>
            </a:r>
            <a:pPr indent="0" marL="0">
              <a:buNone/>
            </a:pPr>
            <a:r>
              <a:rPr lang="en-US" sz="1400" b="1" dirty="0">
                <a:solidFill>
                  <a:srgbClr val="1B2A3D"/>
                </a:solidFill>
                <a:latin typeface="Calibri" pitchFamily="34" charset="0"/>
                <a:ea typeface="Calibri" pitchFamily="34" charset="-122"/>
                <a:cs typeface="Calibri" pitchFamily="34" charset="-120"/>
              </a:rPr>
              <a:t>933 ô</a:t>
            </a:r>
            <a:pPr indent="0" marL="0">
              <a:buNone/>
            </a:pPr>
            <a:r>
              <a:rPr lang="en-US" sz="1400" dirty="0">
                <a:solidFill>
                  <a:srgbClr val="1B2A3D"/>
                </a:solidFill>
                <a:latin typeface="Calibri" pitchFamily="34" charset="0"/>
                <a:ea typeface="Calibri" pitchFamily="34" charset="-122"/>
                <a:cs typeface="Calibri" pitchFamily="34" charset="-120"/>
              </a:rPr>
              <a:t>, trung bình 21,3 giao dịch mỗi ô; θ = 20%; vượt ngân sách thì θ ← 1,25·θ và khai thác lại tới khi hoàn tất, nên tập HUI luôn đầy đủ.</a:t>
            </a:r>
            <a:endParaRPr lang="en-US" sz="14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8229600" cy="274320"/>
          </a:xfrm>
          <a:prstGeom prst="rect">
            <a:avLst/>
          </a:prstGeom>
          <a:noFill/>
          <a:ln/>
        </p:spPr>
        <p:txBody>
          <a:bodyPr wrap="square" lIns="0" tIns="0" rIns="0" bIns="0" rtlCol="0" anchor="ctr"/>
          <a:lstStyle/>
          <a:p>
            <a:pPr indent="0" marL="0">
              <a:buNone/>
            </a:pPr>
            <a:r>
              <a:rPr lang="en-US" sz="1100" b="1" spc="150" kern="0" dirty="0">
                <a:solidFill>
                  <a:srgbClr val="2E7D8C"/>
                </a:solidFill>
                <a:latin typeface="Calibri" pitchFamily="34" charset="0"/>
                <a:ea typeface="Calibri" pitchFamily="34" charset="-122"/>
                <a:cs typeface="Calibri" pitchFamily="34" charset="-120"/>
              </a:rPr>
              <a:t>03 · BƯỚC 4</a:t>
            </a:r>
            <a:endParaRPr lang="en-US" sz="1100" dirty="0"/>
          </a:p>
        </p:txBody>
      </p:sp>
      <p:sp>
        <p:nvSpPr>
          <p:cNvPr id="3" name="Text 2"/>
          <p:cNvSpPr/>
          <p:nvPr>
            <p:ph idx="102" type="title" hasCustomPrompt="1"/>
          </p:nvPr>
        </p:nvSpPr>
        <p:spPr>
          <a:xfrm>
            <a:off x="548640" y="566928"/>
            <a:ext cx="11094415" cy="685800"/>
          </a:xfrm>
          <a:prstGeom prst="rect">
            <a:avLst/>
          </a:prstGeom>
          <a:noFill/>
          <a:ln/>
        </p:spPr>
        <p:txBody>
          <a:bodyPr wrap="square" lIns="0" tIns="0" rIns="0" bIns="0" rtlCol="0" anchor="t"/>
          <a:lstStyle/>
          <a:p>
            <a:pPr algn="l" indent="0" marL="0">
              <a:buNone/>
            </a:pPr>
            <a:r>
              <a:rPr lang="en-US" sz="2600" b="1" dirty="0">
                <a:solidFill>
                  <a:srgbClr val="1F3A5F"/>
                </a:solidFill>
                <a:latin typeface="Cambria" pitchFamily="34" charset="0"/>
                <a:ea typeface="Cambria" pitchFamily="34" charset="-122"/>
                <a:cs typeface="Cambria" pitchFamily="34" charset="-120"/>
              </a:rPr>
              <a:t>Mô hình định vị là tập HUI của mọi ô</a:t>
            </a:r>
            <a:endParaRPr lang="en-US" sz="2600" dirty="0"/>
          </a:p>
        </p:txBody>
      </p:sp>
      <p:pic>
        <p:nvPicPr>
          <p:cNvPr id="5" name="Image 0" descr="HUI của một ô">    </p:cNvPr>
          <p:cNvPicPr>
            <a:picLocks noChangeAspect="1"/>
          </p:cNvPicPr>
          <p:nvPr/>
        </p:nvPicPr>
        <p:blipFill>
          <a:blip r:embed="rId1"/>
          <a:stretch>
            <a:fillRect/>
          </a:stretch>
        </p:blipFill>
        <p:spPr>
          <a:xfrm>
            <a:off x="548640" y="1417320"/>
            <a:ext cx="7315200" cy="3710101"/>
          </a:xfrm>
          <a:prstGeom prst="rect">
            <a:avLst/>
          </a:prstGeom>
        </p:spPr>
      </p:pic>
      <p:sp>
        <p:nvSpPr>
          <p:cNvPr id="6" name="Text 2"/>
          <p:cNvSpPr txBox="1"/>
          <p:nvPr/>
        </p:nvSpPr>
        <p:spPr>
          <a:xfrm>
            <a:off x="8229600" y="1600200"/>
            <a:ext cx="3413455" cy="731520"/>
          </a:xfrm>
          <a:prstGeom prst="rect">
            <a:avLst/>
          </a:prstGeom>
          <a:noFill/>
          <a:ln/>
        </p:spPr>
        <p:txBody>
          <a:bodyPr wrap="square" lIns="0" tIns="0" rIns="0" bIns="0" rtlCol="0" anchor="ctr"/>
          <a:lstStyle/>
          <a:p>
            <a:pPr indent="0" marL="0">
              <a:buNone/>
            </a:pPr>
            <a:r>
              <a:rPr lang="en-US" sz="4000" b="1" dirty="0">
                <a:solidFill>
                  <a:srgbClr val="1F3A5F"/>
                </a:solidFill>
                <a:latin typeface="Cambria" pitchFamily="34" charset="0"/>
                <a:ea typeface="Cambria" pitchFamily="34" charset="-122"/>
                <a:cs typeface="Cambria" pitchFamily="34" charset="-120"/>
              </a:rPr>
              <a:t>3 238 416</a:t>
            </a:r>
            <a:endParaRPr lang="en-US" sz="4000" dirty="0"/>
          </a:p>
        </p:txBody>
      </p:sp>
      <p:sp>
        <p:nvSpPr>
          <p:cNvPr id="7" name="Text 3"/>
          <p:cNvSpPr txBox="1"/>
          <p:nvPr/>
        </p:nvSpPr>
        <p:spPr>
          <a:xfrm>
            <a:off x="8229600" y="2350008"/>
            <a:ext cx="3413455" cy="548640"/>
          </a:xfrm>
          <a:prstGeom prst="rect">
            <a:avLst/>
          </a:prstGeom>
          <a:noFill/>
          <a:ln/>
        </p:spPr>
        <p:txBody>
          <a:bodyPr wrap="square" lIns="0" tIns="0" rIns="0" bIns="0" rtlCol="0" anchor="t"/>
          <a:lstStyle/>
          <a:p>
            <a:pPr indent="0" marL="0">
              <a:buNone/>
            </a:pPr>
            <a:r>
              <a:rPr lang="en-US" sz="1300" dirty="0">
                <a:solidFill>
                  <a:srgbClr val="7A8C99"/>
                </a:solidFill>
                <a:latin typeface="Calibri" pitchFamily="34" charset="0"/>
                <a:ea typeface="Calibri" pitchFamily="34" charset="-122"/>
                <a:cs typeface="Calibri" pitchFamily="34" charset="-120"/>
              </a:rPr>
              <a:t>HUI trong mô hình UJIIndoorLoc</a:t>
            </a:r>
            <a:endParaRPr lang="en-US" sz="1300" dirty="0"/>
          </a:p>
        </p:txBody>
      </p:sp>
      <p:sp>
        <p:nvSpPr>
          <p:cNvPr id="8" name="Text 4"/>
          <p:cNvSpPr txBox="1"/>
          <p:nvPr/>
        </p:nvSpPr>
        <p:spPr>
          <a:xfrm>
            <a:off x="8229600" y="2971800"/>
            <a:ext cx="3413455" cy="731520"/>
          </a:xfrm>
          <a:prstGeom prst="rect">
            <a:avLst/>
          </a:prstGeom>
          <a:noFill/>
          <a:ln/>
        </p:spPr>
        <p:txBody>
          <a:bodyPr wrap="square" lIns="0" tIns="0" rIns="0" bIns="0" rtlCol="0" anchor="ctr"/>
          <a:lstStyle/>
          <a:p>
            <a:pPr indent="0" marL="0">
              <a:buNone/>
            </a:pPr>
            <a:r>
              <a:rPr lang="en-US" sz="4000" b="1" dirty="0">
                <a:solidFill>
                  <a:srgbClr val="2E7D8C"/>
                </a:solidFill>
                <a:latin typeface="Cambria" pitchFamily="34" charset="0"/>
                <a:ea typeface="Cambria" pitchFamily="34" charset="-122"/>
                <a:cs typeface="Cambria" pitchFamily="34" charset="-120"/>
              </a:rPr>
              <a:t>379/520</a:t>
            </a:r>
            <a:endParaRPr lang="en-US" sz="4000" dirty="0"/>
          </a:p>
        </p:txBody>
      </p:sp>
      <p:sp>
        <p:nvSpPr>
          <p:cNvPr id="9" name="Text 5"/>
          <p:cNvSpPr txBox="1"/>
          <p:nvPr/>
        </p:nvSpPr>
        <p:spPr>
          <a:xfrm>
            <a:off x="8229600" y="3721608"/>
            <a:ext cx="3413455" cy="548640"/>
          </a:xfrm>
          <a:prstGeom prst="rect">
            <a:avLst/>
          </a:prstGeom>
          <a:noFill/>
          <a:ln/>
        </p:spPr>
        <p:txBody>
          <a:bodyPr wrap="square" lIns="0" tIns="0" rIns="0" bIns="0" rtlCol="0" anchor="t"/>
          <a:lstStyle/>
          <a:p>
            <a:pPr indent="0" marL="0">
              <a:buNone/>
            </a:pPr>
            <a:r>
              <a:rPr lang="en-US" sz="1300" dirty="0">
                <a:solidFill>
                  <a:srgbClr val="7A8C99"/>
                </a:solidFill>
                <a:latin typeface="Calibri" pitchFamily="34" charset="0"/>
                <a:ea typeface="Calibri" pitchFamily="34" charset="-122"/>
                <a:cs typeface="Calibri" pitchFamily="34" charset="-120"/>
              </a:rPr>
              <a:t>AP xuất hiện trong ít nhất một HUI</a:t>
            </a:r>
            <a:endParaRPr lang="en-US" sz="1300" dirty="0"/>
          </a:p>
        </p:txBody>
      </p:sp>
      <p:sp>
        <p:nvSpPr>
          <p:cNvPr id="10" name="Text 6"/>
          <p:cNvSpPr txBox="1"/>
          <p:nvPr/>
        </p:nvSpPr>
        <p:spPr>
          <a:xfrm>
            <a:off x="8229600" y="4343400"/>
            <a:ext cx="3413455" cy="731520"/>
          </a:xfrm>
          <a:prstGeom prst="rect">
            <a:avLst/>
          </a:prstGeom>
          <a:noFill/>
          <a:ln/>
        </p:spPr>
        <p:txBody>
          <a:bodyPr wrap="square" lIns="0" tIns="0" rIns="0" bIns="0" rtlCol="0" anchor="ctr"/>
          <a:lstStyle/>
          <a:p>
            <a:pPr indent="0" marL="0">
              <a:buNone/>
            </a:pPr>
            <a:r>
              <a:rPr lang="en-US" sz="4000" b="1" dirty="0">
                <a:solidFill>
                  <a:srgbClr val="B5532A"/>
                </a:solidFill>
                <a:latin typeface="Cambria" pitchFamily="34" charset="0"/>
                <a:ea typeface="Cambria" pitchFamily="34" charset="-122"/>
                <a:cs typeface="Cambria" pitchFamily="34" charset="-120"/>
              </a:rPr>
              <a:t>0</a:t>
            </a:r>
            <a:endParaRPr lang="en-US" sz="4000" dirty="0"/>
          </a:p>
        </p:txBody>
      </p:sp>
      <p:sp>
        <p:nvSpPr>
          <p:cNvPr id="11" name="Text 7"/>
          <p:cNvSpPr txBox="1"/>
          <p:nvPr/>
        </p:nvSpPr>
        <p:spPr>
          <a:xfrm>
            <a:off x="8229600" y="5093208"/>
            <a:ext cx="3413455" cy="548640"/>
          </a:xfrm>
          <a:prstGeom prst="rect">
            <a:avLst/>
          </a:prstGeom>
          <a:noFill/>
          <a:ln/>
        </p:spPr>
        <p:txBody>
          <a:bodyPr wrap="square" lIns="0" tIns="0" rIns="0" bIns="0" rtlCol="0" anchor="t"/>
          <a:lstStyle/>
          <a:p>
            <a:pPr indent="0" marL="0">
              <a:buNone/>
            </a:pPr>
            <a:r>
              <a:rPr lang="en-US" sz="1300" dirty="0">
                <a:solidFill>
                  <a:srgbClr val="7A8C99"/>
                </a:solidFill>
                <a:latin typeface="Calibri" pitchFamily="34" charset="0"/>
                <a:ea typeface="Calibri" pitchFamily="34" charset="-122"/>
                <a:cs typeface="Calibri" pitchFamily="34" charset="-120"/>
              </a:rPr>
              <a:t>vân tay huấn luyện được lưu</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74320"/>
            <a:ext cx="8229600" cy="274320"/>
          </a:xfrm>
          <a:prstGeom prst="rect">
            <a:avLst/>
          </a:prstGeom>
          <a:noFill/>
          <a:ln/>
        </p:spPr>
        <p:txBody>
          <a:bodyPr wrap="square" lIns="0" tIns="0" rIns="0" bIns="0" rtlCol="0" anchor="ctr"/>
          <a:lstStyle/>
          <a:p>
            <a:pPr indent="0" marL="0">
              <a:buNone/>
            </a:pPr>
            <a:r>
              <a:rPr lang="en-US" sz="1100" b="1" spc="150" kern="0" dirty="0">
                <a:solidFill>
                  <a:srgbClr val="2E7D8C"/>
                </a:solidFill>
                <a:latin typeface="Calibri" pitchFamily="34" charset="0"/>
                <a:ea typeface="Calibri" pitchFamily="34" charset="-122"/>
                <a:cs typeface="Calibri" pitchFamily="34" charset="-120"/>
              </a:rPr>
              <a:t>03 · BƯỚC 5</a:t>
            </a:r>
            <a:endParaRPr lang="en-US" sz="1100" dirty="0"/>
          </a:p>
        </p:txBody>
      </p:sp>
      <p:sp>
        <p:nvSpPr>
          <p:cNvPr id="3" name="Text 2"/>
          <p:cNvSpPr/>
          <p:nvPr>
            <p:ph idx="102" type="title" hasCustomPrompt="1"/>
          </p:nvPr>
        </p:nvSpPr>
        <p:spPr>
          <a:xfrm>
            <a:off x="548640" y="566928"/>
            <a:ext cx="11094415" cy="685800"/>
          </a:xfrm>
          <a:prstGeom prst="rect">
            <a:avLst/>
          </a:prstGeom>
          <a:noFill/>
          <a:ln/>
        </p:spPr>
        <p:txBody>
          <a:bodyPr wrap="square" lIns="0" tIns="0" rIns="0" bIns="0" rtlCol="0" anchor="t"/>
          <a:lstStyle/>
          <a:p>
            <a:pPr algn="l" indent="0" marL="0">
              <a:buNone/>
            </a:pPr>
            <a:r>
              <a:rPr lang="en-US" sz="2600" b="1" dirty="0">
                <a:solidFill>
                  <a:srgbClr val="1F3A5F"/>
                </a:solidFill>
                <a:latin typeface="Cambria" pitchFamily="34" charset="0"/>
                <a:ea typeface="Cambria" pitchFamily="34" charset="-122"/>
                <a:cs typeface="Cambria" pitchFamily="34" charset="-120"/>
              </a:rPr>
              <a:t>Chấm điểm khớp giữa vân tay và HUI của ô</a:t>
            </a:r>
            <a:endParaRPr lang="en-US" sz="2600" dirty="0"/>
          </a:p>
        </p:txBody>
      </p:sp>
      <p:sp>
        <p:nvSpPr>
          <p:cNvPr id="5" name="Shape 2"/>
          <p:cNvSpPr/>
          <p:nvPr/>
        </p:nvSpPr>
        <p:spPr>
          <a:xfrm>
            <a:off x="548640" y="1417320"/>
            <a:ext cx="5760720" cy="3108960"/>
          </a:xfrm>
          <a:prstGeom prst="rect">
            <a:avLst/>
          </a:prstGeom>
          <a:solidFill>
            <a:srgbClr val="FBFAF7"/>
          </a:solidFill>
          <a:ln w="12700">
            <a:solidFill>
              <a:srgbClr val="FBFAF7"/>
            </a:solidFill>
            <a:prstDash val="solid"/>
          </a:ln>
        </p:spPr>
      </p:sp>
      <p:pic>
        <p:nvPicPr>
          <p:cNvPr id="6" name="Image 0" descr="Công thức điểm khớp">    </p:cNvPr>
          <p:cNvPicPr>
            <a:picLocks noChangeAspect="1"/>
          </p:cNvPicPr>
          <p:nvPr/>
        </p:nvPicPr>
        <p:blipFill>
          <a:blip r:embed="rId1"/>
          <a:stretch>
            <a:fillRect/>
          </a:stretch>
        </p:blipFill>
        <p:spPr>
          <a:xfrm>
            <a:off x="777240" y="1600200"/>
            <a:ext cx="5303520" cy="2435217"/>
          </a:xfrm>
          <a:prstGeom prst="rect">
            <a:avLst/>
          </a:prstGeom>
        </p:spPr>
      </p:pic>
      <p:sp>
        <p:nvSpPr>
          <p:cNvPr id="7" name="Text 3"/>
          <p:cNvSpPr txBox="1"/>
          <p:nvPr/>
        </p:nvSpPr>
        <p:spPr>
          <a:xfrm>
            <a:off x="548640" y="4709160"/>
            <a:ext cx="5760720" cy="1554480"/>
          </a:xfrm>
          <a:prstGeom prst="rect">
            <a:avLst/>
          </a:prstGeom>
          <a:noFill/>
          <a:ln/>
        </p:spPr>
        <p:txBody>
          <a:bodyPr wrap="square" lIns="25400" tIns="25400" rIns="25400" bIns="25400" rtlCol="0" anchor="t"/>
          <a:lstStyle/>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ρ: khớp mềm, chịu được AP bị bỏ sót</a:t>
            </a:r>
            <a:endParaRPr lang="en-US" sz="1400" dirty="0"/>
          </a:p>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agree: phạt chênh lệch cường độ, thang τ</a:t>
            </a:r>
            <a:endParaRPr lang="en-US" sz="1400" dirty="0"/>
          </a:p>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P</a:t>
            </a:r>
            <a:pPr algn="l" marL="228600" indent="-228600">
              <a:spcAft>
                <a:spcPts val="800"/>
              </a:spcAft>
              <a:buSzPct val="100000"/>
              <a:buChar char="•"/>
            </a:pPr>
            <a:r>
              <a:rPr lang="en-US" sz="1400" baseline="-40000" dirty="0">
                <a:solidFill>
                  <a:srgbClr val="1B2A3D"/>
                </a:solidFill>
                <a:latin typeface="Calibri" pitchFamily="34" charset="0"/>
                <a:ea typeface="Calibri" pitchFamily="34" charset="-122"/>
                <a:cs typeface="Calibri" pitchFamily="34" charset="-120"/>
              </a:rPr>
              <a:t>c</a:t>
            </a:r>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 khối lượng HUI của ô có trong vân tay</a:t>
            </a:r>
            <a:endParaRPr lang="en-US" sz="1400" dirty="0"/>
          </a:p>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V</a:t>
            </a:r>
            <a:pPr algn="l" marL="228600" indent="-228600">
              <a:spcAft>
                <a:spcPts val="800"/>
              </a:spcAft>
              <a:buSzPct val="100000"/>
              <a:buChar char="•"/>
            </a:pPr>
            <a:r>
              <a:rPr lang="en-US" sz="1400" baseline="-40000" dirty="0">
                <a:solidFill>
                  <a:srgbClr val="1B2A3D"/>
                </a:solidFill>
                <a:latin typeface="Calibri" pitchFamily="34" charset="0"/>
                <a:ea typeface="Calibri" pitchFamily="34" charset="-122"/>
                <a:cs typeface="Calibri" pitchFamily="34" charset="-120"/>
              </a:rPr>
              <a:t>c</a:t>
            </a:r>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 phần vân tay được HUI của ô giải thích</a:t>
            </a:r>
            <a:endParaRPr lang="en-US" sz="1400" dirty="0"/>
          </a:p>
        </p:txBody>
      </p:sp>
      <p:pic>
        <p:nvPicPr>
          <p:cNvPr id="8" name="Image 1" descr="Chấm điểm một vân tay thật">    </p:cNvPr>
          <p:cNvPicPr>
            <a:picLocks noChangeAspect="1"/>
          </p:cNvPicPr>
          <p:nvPr/>
        </p:nvPicPr>
        <p:blipFill>
          <a:blip r:embed="rId2"/>
          <a:stretch>
            <a:fillRect/>
          </a:stretch>
        </p:blipFill>
        <p:spPr>
          <a:xfrm>
            <a:off x="6583680" y="1417320"/>
            <a:ext cx="5059375" cy="2937927"/>
          </a:xfrm>
          <a:prstGeom prst="rect">
            <a:avLst/>
          </a:prstGeom>
        </p:spPr>
      </p:pic>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74320"/>
            <a:ext cx="8229600" cy="274320"/>
          </a:xfrm>
          <a:prstGeom prst="rect">
            <a:avLst/>
          </a:prstGeom>
          <a:noFill/>
          <a:ln/>
        </p:spPr>
        <p:txBody>
          <a:bodyPr wrap="square" lIns="0" tIns="0" rIns="0" bIns="0" rtlCol="0" anchor="ctr"/>
          <a:lstStyle/>
          <a:p>
            <a:pPr indent="0" marL="0">
              <a:buNone/>
            </a:pPr>
            <a:r>
              <a:rPr lang="en-US" sz="1100" b="1" spc="150" kern="0" dirty="0">
                <a:solidFill>
                  <a:srgbClr val="2E7D8C"/>
                </a:solidFill>
                <a:latin typeface="Calibri" pitchFamily="34" charset="0"/>
                <a:ea typeface="Calibri" pitchFamily="34" charset="-122"/>
                <a:cs typeface="Calibri" pitchFamily="34" charset="-120"/>
              </a:rPr>
              <a:t>03 · BƯỚC 6</a:t>
            </a:r>
            <a:endParaRPr lang="en-US" sz="1100" dirty="0"/>
          </a:p>
        </p:txBody>
      </p:sp>
      <p:sp>
        <p:nvSpPr>
          <p:cNvPr id="3" name="Text 2"/>
          <p:cNvSpPr/>
          <p:nvPr>
            <p:ph idx="102" type="title" hasCustomPrompt="1"/>
          </p:nvPr>
        </p:nvSpPr>
        <p:spPr>
          <a:xfrm>
            <a:off x="548640" y="566928"/>
            <a:ext cx="11094415" cy="685800"/>
          </a:xfrm>
          <a:prstGeom prst="rect">
            <a:avLst/>
          </a:prstGeom>
          <a:noFill/>
          <a:ln/>
        </p:spPr>
        <p:txBody>
          <a:bodyPr wrap="square" lIns="0" tIns="0" rIns="0" bIns="0" rtlCol="0" anchor="t"/>
          <a:lstStyle/>
          <a:p>
            <a:pPr algn="l" indent="0" marL="0">
              <a:buNone/>
            </a:pPr>
            <a:r>
              <a:rPr lang="en-US" sz="2600" b="1" dirty="0">
                <a:solidFill>
                  <a:srgbClr val="1F3A5F"/>
                </a:solidFill>
                <a:latin typeface="Cambria" pitchFamily="34" charset="0"/>
                <a:ea typeface="Cambria" pitchFamily="34" charset="-122"/>
                <a:cs typeface="Cambria" pitchFamily="34" charset="-120"/>
              </a:rPr>
              <a:t>Làm mượt không gian và chọn tầng</a:t>
            </a:r>
            <a:endParaRPr lang="en-US" sz="2600" dirty="0"/>
          </a:p>
        </p:txBody>
      </p:sp>
      <p:sp>
        <p:nvSpPr>
          <p:cNvPr id="5" name="Shape 2"/>
          <p:cNvSpPr/>
          <p:nvPr/>
        </p:nvSpPr>
        <p:spPr>
          <a:xfrm>
            <a:off x="548640" y="1417320"/>
            <a:ext cx="11094415" cy="1600200"/>
          </a:xfrm>
          <a:prstGeom prst="rect">
            <a:avLst/>
          </a:prstGeom>
          <a:solidFill>
            <a:srgbClr val="FBFAF7"/>
          </a:solidFill>
          <a:ln w="12700">
            <a:solidFill>
              <a:srgbClr val="FBFAF7"/>
            </a:solidFill>
            <a:prstDash val="solid"/>
          </a:ln>
        </p:spPr>
      </p:sp>
      <p:pic>
        <p:nvPicPr>
          <p:cNvPr id="6" name="Image 0" descr="Làm mượt và chọn tầng">    </p:cNvPr>
          <p:cNvPicPr>
            <a:picLocks noChangeAspect="1"/>
          </p:cNvPicPr>
          <p:nvPr/>
        </p:nvPicPr>
        <p:blipFill>
          <a:blip r:embed="rId1"/>
          <a:stretch>
            <a:fillRect/>
          </a:stretch>
        </p:blipFill>
        <p:spPr>
          <a:xfrm>
            <a:off x="822960" y="1554480"/>
            <a:ext cx="5105013" cy="1325880"/>
          </a:xfrm>
          <a:prstGeom prst="rect">
            <a:avLst/>
          </a:prstGeom>
        </p:spPr>
      </p:pic>
      <p:sp>
        <p:nvSpPr>
          <p:cNvPr id="7" name="Text 3"/>
          <p:cNvSpPr txBox="1"/>
          <p:nvPr/>
        </p:nvSpPr>
        <p:spPr>
          <a:xfrm>
            <a:off x="8961120" y="1783080"/>
            <a:ext cx="2560320" cy="914400"/>
          </a:xfrm>
          <a:prstGeom prst="rect">
            <a:avLst/>
          </a:prstGeom>
          <a:noFill/>
          <a:ln/>
        </p:spPr>
        <p:txBody>
          <a:bodyPr wrap="square" lIns="0" tIns="0" rIns="0" bIns="0" rtlCol="0" anchor="t"/>
          <a:lstStyle/>
          <a:p>
            <a:pPr indent="0" marL="0">
              <a:buNone/>
            </a:pPr>
            <a:r>
              <a:rPr lang="en-US" sz="1600" b="1" dirty="0">
                <a:solidFill>
                  <a:srgbClr val="2E7D8C"/>
                </a:solidFill>
                <a:latin typeface="Calibri" pitchFamily="34" charset="0"/>
                <a:ea typeface="Calibri" pitchFamily="34" charset="-122"/>
                <a:cs typeface="Calibri" pitchFamily="34" charset="-120"/>
              </a:rPr>
              <a:t>σ = 3 m,  k</a:t>
            </a:r>
            <a:pPr indent="0" marL="0">
              <a:buNone/>
            </a:pPr>
            <a:r>
              <a:rPr lang="en-US" sz="1600" b="1" baseline="-40000" dirty="0">
                <a:solidFill>
                  <a:srgbClr val="2E7D8C"/>
                </a:solidFill>
                <a:latin typeface="Calibri" pitchFamily="34" charset="0"/>
                <a:ea typeface="Calibri" pitchFamily="34" charset="-122"/>
                <a:cs typeface="Calibri" pitchFamily="34" charset="-120"/>
              </a:rPr>
              <a:t>f</a:t>
            </a:r>
            <a:pPr indent="0" marL="0">
              <a:buNone/>
            </a:pPr>
            <a:r>
              <a:rPr lang="en-US" sz="1600" b="1" dirty="0">
                <a:solidFill>
                  <a:srgbClr val="2E7D8C"/>
                </a:solidFill>
                <a:latin typeface="Calibri" pitchFamily="34" charset="0"/>
                <a:ea typeface="Calibri" pitchFamily="34" charset="-122"/>
                <a:cs typeface="Calibri" pitchFamily="34" charset="-120"/>
              </a:rPr>
              <a:t> = 20</a:t>
            </a:r>
            <a:endParaRPr lang="en-US" sz="1600" dirty="0"/>
          </a:p>
          <a:p>
            <a:pPr indent="0" marL="0">
              <a:buNone/>
            </a:pPr>
            <a:r>
              <a:rPr lang="en-US" sz="1600" b="1" dirty="0">
                <a:solidFill>
                  <a:srgbClr val="2E7D8C"/>
                </a:solidFill>
                <a:latin typeface="Calibri" pitchFamily="34" charset="0"/>
                <a:ea typeface="Calibri" pitchFamily="34" charset="-122"/>
                <a:cs typeface="Calibri" pitchFamily="34" charset="-120"/>
              </a:rPr>
              <a:t>(chọn trên dev)</a:t>
            </a:r>
            <a:endParaRPr lang="en-US" sz="1600" dirty="0"/>
          </a:p>
        </p:txBody>
      </p:sp>
      <p:pic>
        <p:nvPicPr>
          <p:cNvPr id="8" name="Image 1" descr="Điểm trước và sau làm mượt">    </p:cNvPr>
          <p:cNvPicPr>
            <a:picLocks noChangeAspect="1"/>
          </p:cNvPicPr>
          <p:nvPr/>
        </p:nvPicPr>
        <p:blipFill>
          <a:blip r:embed="rId2"/>
          <a:stretch>
            <a:fillRect/>
          </a:stretch>
        </p:blipFill>
        <p:spPr>
          <a:xfrm>
            <a:off x="2604134" y="3200400"/>
            <a:ext cx="6983428" cy="3108960"/>
          </a:xfrm>
          <a:prstGeom prst="rect">
            <a:avLst/>
          </a:prstGeom>
        </p:spPr>
      </p:pic>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74320"/>
            <a:ext cx="8229600" cy="274320"/>
          </a:xfrm>
          <a:prstGeom prst="rect">
            <a:avLst/>
          </a:prstGeom>
          <a:noFill/>
          <a:ln/>
        </p:spPr>
        <p:txBody>
          <a:bodyPr wrap="square" lIns="0" tIns="0" rIns="0" bIns="0" rtlCol="0" anchor="ctr"/>
          <a:lstStyle/>
          <a:p>
            <a:pPr indent="0" marL="0">
              <a:buNone/>
            </a:pPr>
            <a:r>
              <a:rPr lang="en-US" sz="1100" b="1" spc="150" kern="0" dirty="0">
                <a:solidFill>
                  <a:srgbClr val="2E7D8C"/>
                </a:solidFill>
                <a:latin typeface="Calibri" pitchFamily="34" charset="0"/>
                <a:ea typeface="Calibri" pitchFamily="34" charset="-122"/>
                <a:cs typeface="Calibri" pitchFamily="34" charset="-120"/>
              </a:rPr>
              <a:t>03 · BƯỚC 7</a:t>
            </a:r>
            <a:endParaRPr lang="en-US" sz="1100" dirty="0"/>
          </a:p>
        </p:txBody>
      </p:sp>
      <p:sp>
        <p:nvSpPr>
          <p:cNvPr id="3" name="Text 2"/>
          <p:cNvSpPr/>
          <p:nvPr>
            <p:ph idx="102" type="title" hasCustomPrompt="1"/>
          </p:nvPr>
        </p:nvSpPr>
        <p:spPr>
          <a:xfrm>
            <a:off x="548640" y="566928"/>
            <a:ext cx="11094415" cy="685800"/>
          </a:xfrm>
          <a:prstGeom prst="rect">
            <a:avLst/>
          </a:prstGeom>
          <a:noFill/>
          <a:ln/>
        </p:spPr>
        <p:txBody>
          <a:bodyPr wrap="square" lIns="0" tIns="0" rIns="0" bIns="0" rtlCol="0" anchor="t"/>
          <a:lstStyle/>
          <a:p>
            <a:pPr algn="l" indent="0" marL="0">
              <a:buNone/>
            </a:pPr>
            <a:r>
              <a:rPr lang="en-US" sz="2600" b="1" dirty="0">
                <a:solidFill>
                  <a:srgbClr val="1F3A5F"/>
                </a:solidFill>
                <a:latin typeface="Cambria" pitchFamily="34" charset="0"/>
                <a:ea typeface="Cambria" pitchFamily="34" charset="-122"/>
                <a:cs typeface="Cambria" pitchFamily="34" charset="-120"/>
              </a:rPr>
              <a:t>Ô ứng viên và ước lượng ban đầu</a:t>
            </a:r>
            <a:endParaRPr lang="en-US" sz="2600" dirty="0"/>
          </a:p>
        </p:txBody>
      </p:sp>
      <p:pic>
        <p:nvPicPr>
          <p:cNvPr id="5" name="Image 0" descr="Ô ứng viên của vân tay ví dụ">    </p:cNvPr>
          <p:cNvPicPr>
            <a:picLocks noChangeAspect="1"/>
          </p:cNvPicPr>
          <p:nvPr/>
        </p:nvPicPr>
        <p:blipFill>
          <a:blip r:embed="rId1"/>
          <a:stretch>
            <a:fillRect/>
          </a:stretch>
        </p:blipFill>
        <p:spPr>
          <a:xfrm>
            <a:off x="548640" y="1417320"/>
            <a:ext cx="6400800" cy="4575687"/>
          </a:xfrm>
          <a:prstGeom prst="rect">
            <a:avLst/>
          </a:prstGeom>
        </p:spPr>
      </p:pic>
      <p:pic>
        <p:nvPicPr>
          <p:cNvPr id="6" name="Image 1" descr="Trọng tâm có trọng số">    </p:cNvPr>
          <p:cNvPicPr>
            <a:picLocks noChangeAspect="1"/>
          </p:cNvPicPr>
          <p:nvPr/>
        </p:nvPicPr>
        <p:blipFill>
          <a:blip r:embed="rId2"/>
          <a:stretch>
            <a:fillRect/>
          </a:stretch>
        </p:blipFill>
        <p:spPr>
          <a:xfrm>
            <a:off x="7315200" y="1645920"/>
            <a:ext cx="4327855" cy="932475"/>
          </a:xfrm>
          <a:prstGeom prst="rect">
            <a:avLst/>
          </a:prstGeom>
        </p:spPr>
      </p:pic>
      <p:sp>
        <p:nvSpPr>
          <p:cNvPr id="7" name="Text 2"/>
          <p:cNvSpPr txBox="1"/>
          <p:nvPr/>
        </p:nvSpPr>
        <p:spPr>
          <a:xfrm>
            <a:off x="7315200" y="2971800"/>
            <a:ext cx="4327855" cy="3200400"/>
          </a:xfrm>
          <a:prstGeom prst="rect">
            <a:avLst/>
          </a:prstGeom>
          <a:noFill/>
          <a:ln/>
        </p:spPr>
        <p:txBody>
          <a:bodyPr wrap="square" lIns="25400" tIns="25400" rIns="25400" bIns="25400" rtlCol="0" anchor="t"/>
          <a:lstStyle/>
          <a:p>
            <a:pPr algn="l" marL="228600" indent="-228600">
              <a:spcAft>
                <a:spcPts val="800"/>
              </a:spcAft>
              <a:buSzPct val="100000"/>
              <a:buChar char="•"/>
            </a:pPr>
            <a:r>
              <a:rPr lang="en-US" sz="1400" b="1" dirty="0">
                <a:solidFill>
                  <a:srgbClr val="1B2A3D"/>
                </a:solidFill>
                <a:latin typeface="Calibri" pitchFamily="34" charset="0"/>
                <a:ea typeface="Calibri" pitchFamily="34" charset="-122"/>
                <a:cs typeface="Calibri" pitchFamily="34" charset="-120"/>
              </a:rPr>
              <a:t>30 ô ứng viên</a:t>
            </a:r>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 của tầng đã chọn được chuyển sang Bước 8</a:t>
            </a:r>
            <a:endParaRPr lang="en-US" sz="1400" dirty="0"/>
          </a:p>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Ước lượng ban đầu (v4): trọng tâm của m = 12 ô, trọng số theo S</a:t>
            </a:r>
            <a:pPr algn="l" marL="228600" indent="-228600">
              <a:spcAft>
                <a:spcPts val="800"/>
              </a:spcAft>
              <a:buSzPct val="100000"/>
              <a:buChar char="•"/>
            </a:pPr>
            <a:r>
              <a:rPr lang="en-US" sz="1400" baseline="-40000" dirty="0">
                <a:solidFill>
                  <a:srgbClr val="1B2A3D"/>
                </a:solidFill>
                <a:latin typeface="Calibri" pitchFamily="34" charset="0"/>
                <a:ea typeface="Calibri" pitchFamily="34" charset="-122"/>
                <a:cs typeface="Calibri" pitchFamily="34" charset="-120"/>
              </a:rPr>
              <a:t>c</a:t>
            </a:r>
            <a:pPr algn="l" marL="228600" indent="-228600">
              <a:spcAft>
                <a:spcPts val="800"/>
              </a:spcAft>
              <a:buSzPct val="100000"/>
              <a:buChar char="•"/>
            </a:pPr>
            <a:r>
              <a:rPr lang="en-US" sz="1400" baseline="30000" dirty="0">
                <a:solidFill>
                  <a:srgbClr val="1B2A3D"/>
                </a:solidFill>
                <a:latin typeface="Calibri" pitchFamily="34" charset="0"/>
                <a:ea typeface="Calibri" pitchFamily="34" charset="-122"/>
                <a:cs typeface="Calibri" pitchFamily="34" charset="-120"/>
              </a:rPr>
              <a:t>p</a:t>
            </a:r>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 p = 8</a:t>
            </a:r>
            <a:endParaRPr lang="en-US" sz="1400" dirty="0"/>
          </a:p>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Trên tập test v4: ô gần nhất trong 12 ô cách </a:t>
            </a:r>
            <a:pPr algn="l" marL="228600" indent="-228600">
              <a:spcAft>
                <a:spcPts val="800"/>
              </a:spcAft>
              <a:buSzPct val="100000"/>
              <a:buChar char="•"/>
            </a:pPr>
            <a:r>
              <a:rPr lang="en-US" sz="1400" b="1" dirty="0">
                <a:solidFill>
                  <a:srgbClr val="1B2A3D"/>
                </a:solidFill>
                <a:latin typeface="Calibri" pitchFamily="34" charset="0"/>
                <a:ea typeface="Calibri" pitchFamily="34" charset="-122"/>
                <a:cs typeface="Calibri" pitchFamily="34" charset="-120"/>
              </a:rPr>
              <a:t>2,4 m</a:t>
            </a:r>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 ô điểm cao nhất cách </a:t>
            </a:r>
            <a:pPr algn="l" marL="228600" indent="-228600">
              <a:spcAft>
                <a:spcPts val="800"/>
              </a:spcAft>
              <a:buSzPct val="100000"/>
              <a:buChar char="•"/>
            </a:pPr>
            <a:r>
              <a:rPr lang="en-US" sz="1400" b="1" dirty="0">
                <a:solidFill>
                  <a:srgbClr val="1B2A3D"/>
                </a:solidFill>
                <a:latin typeface="Calibri" pitchFamily="34" charset="0"/>
                <a:ea typeface="Calibri" pitchFamily="34" charset="-122"/>
                <a:cs typeface="Calibri" pitchFamily="34" charset="-120"/>
              </a:rPr>
              <a:t>8,8 m</a:t>
            </a:r>
            <a:endParaRPr lang="en-US" sz="14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74320"/>
            <a:ext cx="8229600" cy="274320"/>
          </a:xfrm>
          <a:prstGeom prst="rect">
            <a:avLst/>
          </a:prstGeom>
          <a:noFill/>
          <a:ln/>
        </p:spPr>
        <p:txBody>
          <a:bodyPr wrap="square" lIns="0" tIns="0" rIns="0" bIns="0" rtlCol="0" anchor="ctr"/>
          <a:lstStyle/>
          <a:p>
            <a:pPr indent="0" marL="0">
              <a:buNone/>
            </a:pPr>
            <a:r>
              <a:rPr lang="en-US" sz="1100" b="1" spc="150" kern="0" dirty="0">
                <a:solidFill>
                  <a:srgbClr val="2E7D8C"/>
                </a:solidFill>
                <a:latin typeface="Calibri" pitchFamily="34" charset="0"/>
                <a:ea typeface="Calibri" pitchFamily="34" charset="-122"/>
                <a:cs typeface="Calibri" pitchFamily="34" charset="-120"/>
              </a:rPr>
              <a:t>03 · BƯỚC 8</a:t>
            </a:r>
            <a:endParaRPr lang="en-US" sz="1100" dirty="0"/>
          </a:p>
        </p:txBody>
      </p:sp>
      <p:sp>
        <p:nvSpPr>
          <p:cNvPr id="3" name="Text 2"/>
          <p:cNvSpPr/>
          <p:nvPr>
            <p:ph idx="102" type="title" hasCustomPrompt="1"/>
          </p:nvPr>
        </p:nvSpPr>
        <p:spPr>
          <a:xfrm>
            <a:off x="548640" y="566928"/>
            <a:ext cx="11094415" cy="685800"/>
          </a:xfrm>
          <a:prstGeom prst="rect">
            <a:avLst/>
          </a:prstGeom>
          <a:noFill/>
          <a:ln/>
        </p:spPr>
        <p:txBody>
          <a:bodyPr wrap="square" lIns="0" tIns="0" rIns="0" bIns="0" rtlCol="0" anchor="t"/>
          <a:lstStyle/>
          <a:p>
            <a:pPr algn="l" indent="0" marL="0">
              <a:buNone/>
            </a:pPr>
            <a:r>
              <a:rPr lang="en-US" sz="2600" b="1" dirty="0">
                <a:solidFill>
                  <a:srgbClr val="1F3A5F"/>
                </a:solidFill>
                <a:latin typeface="Cambria" pitchFamily="34" charset="0"/>
                <a:ea typeface="Cambria" pitchFamily="34" charset="-122"/>
                <a:cs typeface="Cambria" pitchFamily="34" charset="-120"/>
              </a:rPr>
              <a:t>Xếp hạng lại ô ứng viên bằng bằng chứng HUI</a:t>
            </a:r>
            <a:endParaRPr lang="en-US" sz="2600" dirty="0"/>
          </a:p>
        </p:txBody>
      </p:sp>
      <p:pic>
        <p:nvPicPr>
          <p:cNvPr id="5" name="Image 0" descr="Bước 8 trên vân tay ví dụ">    </p:cNvPr>
          <p:cNvPicPr>
            <a:picLocks noChangeAspect="1"/>
          </p:cNvPicPr>
          <p:nvPr/>
        </p:nvPicPr>
        <p:blipFill>
          <a:blip r:embed="rId1"/>
          <a:stretch>
            <a:fillRect/>
          </a:stretch>
        </p:blipFill>
        <p:spPr>
          <a:xfrm>
            <a:off x="548640" y="1325880"/>
            <a:ext cx="6158734" cy="2971800"/>
          </a:xfrm>
          <a:prstGeom prst="rect">
            <a:avLst/>
          </a:prstGeom>
        </p:spPr>
      </p:pic>
      <p:sp>
        <p:nvSpPr>
          <p:cNvPr id="6" name="Shape 2"/>
          <p:cNvSpPr/>
          <p:nvPr/>
        </p:nvSpPr>
        <p:spPr>
          <a:xfrm>
            <a:off x="548640" y="4389120"/>
            <a:ext cx="7589520" cy="1874520"/>
          </a:xfrm>
          <a:prstGeom prst="rect">
            <a:avLst/>
          </a:prstGeom>
          <a:solidFill>
            <a:srgbClr val="FBFAF7"/>
          </a:solidFill>
          <a:ln w="12700">
            <a:solidFill>
              <a:srgbClr val="FBFAF7"/>
            </a:solidFill>
            <a:prstDash val="solid"/>
          </a:ln>
        </p:spPr>
      </p:sp>
      <p:pic>
        <p:nvPicPr>
          <p:cNvPr id="7" name="Image 1" descr="Công thức Bước 8">    </p:cNvPr>
          <p:cNvPicPr>
            <a:picLocks noChangeAspect="1"/>
          </p:cNvPicPr>
          <p:nvPr/>
        </p:nvPicPr>
        <p:blipFill>
          <a:blip r:embed="rId2"/>
          <a:stretch>
            <a:fillRect/>
          </a:stretch>
        </p:blipFill>
        <p:spPr>
          <a:xfrm>
            <a:off x="731520" y="4480560"/>
            <a:ext cx="3532579" cy="1645920"/>
          </a:xfrm>
          <a:prstGeom prst="rect">
            <a:avLst/>
          </a:prstGeom>
        </p:spPr>
      </p:pic>
      <p:sp>
        <p:nvSpPr>
          <p:cNvPr id="8" name="Text 3"/>
          <p:cNvSpPr txBox="1"/>
          <p:nvPr/>
        </p:nvSpPr>
        <p:spPr>
          <a:xfrm>
            <a:off x="8412480" y="1463040"/>
            <a:ext cx="3230575" cy="4754880"/>
          </a:xfrm>
          <a:prstGeom prst="rect">
            <a:avLst/>
          </a:prstGeom>
          <a:noFill/>
          <a:ln/>
        </p:spPr>
        <p:txBody>
          <a:bodyPr wrap="square" lIns="25400" tIns="25400" rIns="25400" bIns="25400" rtlCol="0" anchor="t"/>
          <a:lstStyle/>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Ba mô hình HUI: rank (3,24 tr.), mức cường độ (1,03 tr.), abs (3,06 tr. HUI)</a:t>
            </a:r>
            <a:endParaRPr lang="en-US" sz="1400" dirty="0"/>
          </a:p>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Hồ sơ cường độ q̂</a:t>
            </a:r>
            <a:pPr algn="l" marL="228600" indent="-228600">
              <a:spcAft>
                <a:spcPts val="800"/>
              </a:spcAft>
              <a:buSzPct val="100000"/>
              <a:buChar char="•"/>
            </a:pPr>
            <a:r>
              <a:rPr lang="en-US" sz="1400" baseline="-40000" dirty="0">
                <a:solidFill>
                  <a:srgbClr val="1B2A3D"/>
                </a:solidFill>
                <a:latin typeface="Calibri" pitchFamily="34" charset="0"/>
                <a:ea typeface="Calibri" pitchFamily="34" charset="-122"/>
                <a:cs typeface="Calibri" pitchFamily="34" charset="-120"/>
              </a:rPr>
              <a:t>c</a:t>
            </a:r>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(i) suy ra </a:t>
            </a:r>
            <a:pPr algn="l" marL="228600" indent="-228600">
              <a:spcAft>
                <a:spcPts val="800"/>
              </a:spcAft>
              <a:buSzPct val="100000"/>
              <a:buChar char="•"/>
            </a:pPr>
            <a:r>
              <a:rPr lang="en-US" sz="1400" b="1" dirty="0">
                <a:solidFill>
                  <a:srgbClr val="1B2A3D"/>
                </a:solidFill>
                <a:latin typeface="Calibri" pitchFamily="34" charset="0"/>
                <a:ea typeface="Calibri" pitchFamily="34" charset="-122"/>
                <a:cs typeface="Calibri" pitchFamily="34" charset="-120"/>
              </a:rPr>
              <a:t>từ HUI của ô</a:t>
            </a:r>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 không từ vân tay</a:t>
            </a:r>
            <a:endParaRPr lang="en-US" sz="1400" dirty="0"/>
          </a:p>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Bộ hồi quy học </a:t>
            </a:r>
            <a:pPr algn="l" marL="228600" indent="-228600">
              <a:spcAft>
                <a:spcPts val="800"/>
              </a:spcAft>
              <a:buSzPct val="100000"/>
              <a:buChar char="•"/>
            </a:pPr>
            <a:r>
              <a:rPr lang="en-US" sz="1400" b="1" dirty="0">
                <a:solidFill>
                  <a:srgbClr val="1B2A3D"/>
                </a:solidFill>
                <a:latin typeface="Calibri" pitchFamily="34" charset="0"/>
                <a:ea typeface="Calibri" pitchFamily="34" charset="-122"/>
                <a:cs typeface="Calibri" pitchFamily="34" charset="-120"/>
              </a:rPr>
              <a:t>chỉ trên fold dev</a:t>
            </a:r>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 nhãn = khoảng cách ô – vị trí thật</a:t>
            </a:r>
            <a:endParaRPr lang="en-US" sz="1400" dirty="0"/>
          </a:p>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Dev: </a:t>
            </a:r>
            <a:pPr algn="l" marL="228600" indent="-228600">
              <a:spcAft>
                <a:spcPts val="800"/>
              </a:spcAft>
              <a:buSzPct val="100000"/>
              <a:buChar char="•"/>
            </a:pPr>
            <a:r>
              <a:rPr lang="en-US" sz="1400" b="1" dirty="0">
                <a:solidFill>
                  <a:srgbClr val="1B2A3D"/>
                </a:solidFill>
                <a:latin typeface="Calibri" pitchFamily="34" charset="0"/>
                <a:ea typeface="Calibri" pitchFamily="34" charset="-122"/>
                <a:cs typeface="Calibri" pitchFamily="34" charset="-120"/>
              </a:rPr>
              <a:t>7,65 → 6,83 m</a:t>
            </a:r>
            <a:endParaRPr lang="en-US" sz="14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74320"/>
            <a:ext cx="8229600" cy="274320"/>
          </a:xfrm>
          <a:prstGeom prst="rect">
            <a:avLst/>
          </a:prstGeom>
          <a:noFill/>
          <a:ln/>
        </p:spPr>
        <p:txBody>
          <a:bodyPr wrap="square" lIns="0" tIns="0" rIns="0" bIns="0" rtlCol="0" anchor="ctr"/>
          <a:lstStyle/>
          <a:p>
            <a:pPr indent="0" marL="0">
              <a:buNone/>
            </a:pPr>
            <a:r>
              <a:rPr lang="en-US" sz="1100" b="1" spc="150" kern="0" dirty="0">
                <a:solidFill>
                  <a:srgbClr val="2E7D8C"/>
                </a:solidFill>
                <a:latin typeface="Calibri" pitchFamily="34" charset="0"/>
                <a:ea typeface="Calibri" pitchFamily="34" charset="-122"/>
                <a:cs typeface="Calibri" pitchFamily="34" charset="-120"/>
              </a:rPr>
              <a:t>04 · THỰC NGHIỆM</a:t>
            </a:r>
            <a:endParaRPr lang="en-US" sz="1100" dirty="0"/>
          </a:p>
        </p:txBody>
      </p:sp>
      <p:sp>
        <p:nvSpPr>
          <p:cNvPr id="3" name="Text 2"/>
          <p:cNvSpPr/>
          <p:nvPr>
            <p:ph idx="102" type="title" hasCustomPrompt="1"/>
          </p:nvPr>
        </p:nvSpPr>
        <p:spPr>
          <a:xfrm>
            <a:off x="548640" y="566928"/>
            <a:ext cx="11094415" cy="685800"/>
          </a:xfrm>
          <a:prstGeom prst="rect">
            <a:avLst/>
          </a:prstGeom>
          <a:noFill/>
          <a:ln/>
        </p:spPr>
        <p:txBody>
          <a:bodyPr wrap="square" lIns="0" tIns="0" rIns="0" bIns="0" rtlCol="0" anchor="t"/>
          <a:lstStyle/>
          <a:p>
            <a:pPr algn="l" indent="0" marL="0">
              <a:buNone/>
            </a:pPr>
            <a:r>
              <a:rPr lang="en-US" sz="2600" b="1" dirty="0">
                <a:solidFill>
                  <a:srgbClr val="1F3A5F"/>
                </a:solidFill>
                <a:latin typeface="Cambria" pitchFamily="34" charset="0"/>
                <a:ea typeface="Cambria" pitchFamily="34" charset="-122"/>
                <a:cs typeface="Cambria" pitchFamily="34" charset="-120"/>
              </a:rPr>
              <a:t>Giao thức đánh giá: chọn trên dev, chấm tập kiểm tra một lần</a:t>
            </a:r>
            <a:endParaRPr lang="en-US" sz="2600" dirty="0"/>
          </a:p>
        </p:txBody>
      </p:sp>
      <p:pic>
        <p:nvPicPr>
          <p:cNvPr id="5" name="Image 0" descr="Giao thức đánh giá">    </p:cNvPr>
          <p:cNvPicPr>
            <a:picLocks noChangeAspect="1"/>
          </p:cNvPicPr>
          <p:nvPr/>
        </p:nvPicPr>
        <p:blipFill>
          <a:blip r:embed="rId1"/>
          <a:stretch>
            <a:fillRect/>
          </a:stretch>
        </p:blipFill>
        <p:spPr>
          <a:xfrm>
            <a:off x="548640" y="1417320"/>
            <a:ext cx="7406640" cy="3808193"/>
          </a:xfrm>
          <a:prstGeom prst="rect">
            <a:avLst/>
          </a:prstGeom>
        </p:spPr>
      </p:pic>
      <p:pic>
        <p:nvPicPr>
          <p:cNvPr id="6" name="Image 1" descr="Sai số theo mét">    </p:cNvPr>
          <p:cNvPicPr>
            <a:picLocks noChangeAspect="1"/>
          </p:cNvPicPr>
          <p:nvPr/>
        </p:nvPicPr>
        <p:blipFill>
          <a:blip r:embed="rId2"/>
          <a:stretch>
            <a:fillRect/>
          </a:stretch>
        </p:blipFill>
        <p:spPr>
          <a:xfrm>
            <a:off x="731520" y="5454113"/>
            <a:ext cx="6043041" cy="777240"/>
          </a:xfrm>
          <a:prstGeom prst="rect">
            <a:avLst/>
          </a:prstGeom>
        </p:spPr>
      </p:pic>
      <p:sp>
        <p:nvSpPr>
          <p:cNvPr id="7" name="Text 2"/>
          <p:cNvSpPr txBox="1"/>
          <p:nvPr/>
        </p:nvSpPr>
        <p:spPr>
          <a:xfrm>
            <a:off x="8321040" y="1600200"/>
            <a:ext cx="3322015" cy="4572000"/>
          </a:xfrm>
          <a:prstGeom prst="rect">
            <a:avLst/>
          </a:prstGeom>
          <a:noFill/>
          <a:ln/>
        </p:spPr>
        <p:txBody>
          <a:bodyPr wrap="square" lIns="25400" tIns="25400" rIns="25400" bIns="25400" rtlCol="0" anchor="t"/>
          <a:lstStyle/>
          <a:p>
            <a:pPr algn="l" marL="228600" indent="-228600">
              <a:spcAft>
                <a:spcPts val="800"/>
              </a:spcAft>
              <a:buSzPct val="100000"/>
              <a:buChar char="•"/>
            </a:pPr>
            <a:r>
              <a:rPr lang="en-US" sz="1500" dirty="0">
                <a:solidFill>
                  <a:srgbClr val="1B2A3D"/>
                </a:solidFill>
                <a:latin typeface="Calibri" pitchFamily="34" charset="0"/>
                <a:ea typeface="Calibri" pitchFamily="34" charset="-122"/>
                <a:cs typeface="Calibri" pitchFamily="34" charset="-120"/>
              </a:rPr>
              <a:t>g = 0,766126 cho UJIIndoorLoc (Web Mercator), g = 1 cho bộ còn lại</a:t>
            </a:r>
            <a:endParaRPr lang="en-US" sz="1500" dirty="0"/>
          </a:p>
          <a:p>
            <a:pPr algn="l" marL="228600" indent="-228600">
              <a:spcAft>
                <a:spcPts val="800"/>
              </a:spcAft>
              <a:buSzPct val="100000"/>
              <a:buChar char="•"/>
            </a:pPr>
            <a:r>
              <a:rPr lang="en-US" sz="1500" dirty="0">
                <a:solidFill>
                  <a:srgbClr val="1B2A3D"/>
                </a:solidFill>
                <a:latin typeface="Calibri" pitchFamily="34" charset="0"/>
                <a:ea typeface="Calibri" pitchFamily="34" charset="-122"/>
                <a:cs typeface="Calibri" pitchFamily="34" charset="-120"/>
              </a:rPr>
              <a:t>6 fold dev, </a:t>
            </a:r>
            <a:pPr algn="l" marL="228600" indent="-228600">
              <a:spcAft>
                <a:spcPts val="800"/>
              </a:spcAft>
              <a:buSzPct val="100000"/>
              <a:buChar char="•"/>
            </a:pPr>
            <a:r>
              <a:rPr lang="en-US" sz="1500" b="1" dirty="0">
                <a:solidFill>
                  <a:srgbClr val="1B2A3D"/>
                </a:solidFill>
                <a:latin typeface="Calibri" pitchFamily="34" charset="0"/>
                <a:ea typeface="Calibri" pitchFamily="34" charset="-122"/>
                <a:cs typeface="Calibri" pitchFamily="34" charset="-120"/>
              </a:rPr>
              <a:t>GroupKFold theo PHONEID</a:t>
            </a:r>
            <a:endParaRPr lang="en-US" sz="1500" dirty="0"/>
          </a:p>
          <a:p>
            <a:pPr algn="l" marL="228600" indent="-228600">
              <a:spcAft>
                <a:spcPts val="800"/>
              </a:spcAft>
              <a:buSzPct val="100000"/>
              <a:buChar char="•"/>
            </a:pPr>
            <a:r>
              <a:rPr lang="en-US" sz="1500" dirty="0">
                <a:solidFill>
                  <a:srgbClr val="1B2A3D"/>
                </a:solidFill>
                <a:latin typeface="Calibri" pitchFamily="34" charset="0"/>
                <a:ea typeface="Calibri" pitchFamily="34" charset="-122"/>
                <a:cs typeface="Calibri" pitchFamily="34" charset="-120"/>
              </a:rPr>
              <a:t>2 880 cấu hình được so trên dev</a:t>
            </a:r>
            <a:endParaRPr lang="en-US" sz="1500" dirty="0"/>
          </a:p>
          <a:p>
            <a:pPr algn="l" marL="228600" indent="-228600">
              <a:spcAft>
                <a:spcPts val="800"/>
              </a:spcAft>
              <a:buSzPct val="100000"/>
              <a:buChar char="•"/>
            </a:pPr>
            <a:r>
              <a:rPr lang="en-US" sz="1500" dirty="0">
                <a:solidFill>
                  <a:srgbClr val="1B2A3D"/>
                </a:solidFill>
                <a:latin typeface="Calibri" pitchFamily="34" charset="0"/>
                <a:ea typeface="Calibri" pitchFamily="34" charset="-122"/>
                <a:cs typeface="Calibri" pitchFamily="34" charset="-120"/>
              </a:rPr>
              <a:t>Tập kiểm tra không tham gia bất kỳ lựa chọn nào</a:t>
            </a:r>
            <a:endParaRPr lang="en-US" sz="15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74320"/>
            <a:ext cx="8229600" cy="274320"/>
          </a:xfrm>
          <a:prstGeom prst="rect">
            <a:avLst/>
          </a:prstGeom>
          <a:noFill/>
          <a:ln/>
        </p:spPr>
        <p:txBody>
          <a:bodyPr wrap="square" lIns="0" tIns="0" rIns="0" bIns="0" rtlCol="0" anchor="ctr"/>
          <a:lstStyle/>
          <a:p>
            <a:pPr indent="0" marL="0">
              <a:buNone/>
            </a:pPr>
            <a:r>
              <a:rPr lang="en-US" sz="1100" b="1" spc="150" kern="0" dirty="0">
                <a:solidFill>
                  <a:srgbClr val="2E7D8C"/>
                </a:solidFill>
                <a:latin typeface="Calibri" pitchFamily="34" charset="0"/>
                <a:ea typeface="Calibri" pitchFamily="34" charset="-122"/>
                <a:cs typeface="Calibri" pitchFamily="34" charset="-120"/>
              </a:rPr>
              <a:t>04 · KẾT QUẢ</a:t>
            </a:r>
            <a:endParaRPr lang="en-US" sz="1100" dirty="0"/>
          </a:p>
        </p:txBody>
      </p:sp>
      <p:sp>
        <p:nvSpPr>
          <p:cNvPr id="3" name="Text 2"/>
          <p:cNvSpPr/>
          <p:nvPr>
            <p:ph idx="102" type="title" hasCustomPrompt="1"/>
          </p:nvPr>
        </p:nvSpPr>
        <p:spPr>
          <a:xfrm>
            <a:off x="548640" y="566928"/>
            <a:ext cx="11094415" cy="685800"/>
          </a:xfrm>
          <a:prstGeom prst="rect">
            <a:avLst/>
          </a:prstGeom>
          <a:noFill/>
          <a:ln/>
        </p:spPr>
        <p:txBody>
          <a:bodyPr wrap="square" lIns="0" tIns="0" rIns="0" bIns="0" rtlCol="0" anchor="t"/>
          <a:lstStyle/>
          <a:p>
            <a:pPr algn="l" indent="0" marL="0">
              <a:buNone/>
            </a:pPr>
            <a:r>
              <a:rPr lang="en-US" sz="2600" b="1" dirty="0">
                <a:solidFill>
                  <a:srgbClr val="1F3A5F"/>
                </a:solidFill>
                <a:latin typeface="Cambria" pitchFamily="34" charset="0"/>
                <a:ea typeface="Cambria" pitchFamily="34" charset="-122"/>
                <a:cs typeface="Cambria" pitchFamily="34" charset="-120"/>
              </a:rPr>
              <a:t>9/9 tập kiểm tra đạt sai số trung bình dưới 7 m</a:t>
            </a:r>
            <a:endParaRPr lang="en-US" sz="2600" dirty="0"/>
          </a:p>
        </p:txBody>
      </p:sp>
      <p:graphicFrame>
        <p:nvGraphicFramePr>
          <p:cNvPr id="5" name="Chart 0" descr=""/>
          <p:cNvGraphicFramePr/>
          <p:nvPr/>
        </p:nvGraphicFramePr>
        <p:xfrm>
          <a:off x="548640" y="1371600"/>
          <a:ext cx="7863840" cy="4892040"/>
        </p:xfrm>
        <a:graphic xmlns:a="http://schemas.openxmlformats.org/drawingml/2006/main">
          <a:graphicData uri="http://schemas.openxmlformats.org/drawingml/2006/chart">
            <c:chart xmlns:c="http://schemas.openxmlformats.org/drawingml/2006/chart" r:id="rId1"/>
          </a:graphicData>
        </a:graphic>
      </p:graphicFrame>
      <p:sp>
        <p:nvSpPr>
          <p:cNvPr id="6" name="Text 2"/>
          <p:cNvSpPr txBox="1"/>
          <p:nvPr/>
        </p:nvSpPr>
        <p:spPr>
          <a:xfrm>
            <a:off x="8778240" y="1554480"/>
            <a:ext cx="2864815" cy="731520"/>
          </a:xfrm>
          <a:prstGeom prst="rect">
            <a:avLst/>
          </a:prstGeom>
          <a:noFill/>
          <a:ln/>
        </p:spPr>
        <p:txBody>
          <a:bodyPr wrap="square" lIns="0" tIns="0" rIns="0" bIns="0" rtlCol="0" anchor="ctr"/>
          <a:lstStyle/>
          <a:p>
            <a:pPr indent="0" marL="0">
              <a:buNone/>
            </a:pPr>
            <a:r>
              <a:rPr lang="en-US" sz="4000" b="1" dirty="0">
                <a:solidFill>
                  <a:srgbClr val="2E7D8C"/>
                </a:solidFill>
                <a:latin typeface="Cambria" pitchFamily="34" charset="0"/>
                <a:ea typeface="Cambria" pitchFamily="34" charset="-122"/>
                <a:cs typeface="Cambria" pitchFamily="34" charset="-120"/>
              </a:rPr>
              <a:t>9/9</a:t>
            </a:r>
            <a:endParaRPr lang="en-US" sz="4000" dirty="0"/>
          </a:p>
        </p:txBody>
      </p:sp>
      <p:sp>
        <p:nvSpPr>
          <p:cNvPr id="7" name="Text 3"/>
          <p:cNvSpPr txBox="1"/>
          <p:nvPr/>
        </p:nvSpPr>
        <p:spPr>
          <a:xfrm>
            <a:off x="8778240" y="2304288"/>
            <a:ext cx="2864815" cy="548640"/>
          </a:xfrm>
          <a:prstGeom prst="rect">
            <a:avLst/>
          </a:prstGeom>
          <a:noFill/>
          <a:ln/>
        </p:spPr>
        <p:txBody>
          <a:bodyPr wrap="square" lIns="0" tIns="0" rIns="0" bIns="0" rtlCol="0" anchor="t"/>
          <a:lstStyle/>
          <a:p>
            <a:pPr indent="0" marL="0">
              <a:buNone/>
            </a:pPr>
            <a:r>
              <a:rPr lang="en-US" sz="1300" dirty="0">
                <a:solidFill>
                  <a:srgbClr val="7A8C99"/>
                </a:solidFill>
                <a:latin typeface="Calibri" pitchFamily="34" charset="0"/>
                <a:ea typeface="Calibri" pitchFamily="34" charset="-122"/>
                <a:cs typeface="Calibri" pitchFamily="34" charset="-120"/>
              </a:rPr>
              <a:t>tập kiểm tra dưới 7 m</a:t>
            </a:r>
            <a:endParaRPr lang="en-US" sz="1300" dirty="0"/>
          </a:p>
        </p:txBody>
      </p:sp>
      <p:sp>
        <p:nvSpPr>
          <p:cNvPr id="8" name="Text 4"/>
          <p:cNvSpPr txBox="1"/>
          <p:nvPr/>
        </p:nvSpPr>
        <p:spPr>
          <a:xfrm>
            <a:off x="8778240" y="2926080"/>
            <a:ext cx="2864815" cy="731520"/>
          </a:xfrm>
          <a:prstGeom prst="rect">
            <a:avLst/>
          </a:prstGeom>
          <a:noFill/>
          <a:ln/>
        </p:spPr>
        <p:txBody>
          <a:bodyPr wrap="square" lIns="0" tIns="0" rIns="0" bIns="0" rtlCol="0" anchor="ctr"/>
          <a:lstStyle/>
          <a:p>
            <a:pPr indent="0" marL="0">
              <a:buNone/>
            </a:pPr>
            <a:r>
              <a:rPr lang="en-US" sz="4000" b="1" dirty="0">
                <a:solidFill>
                  <a:srgbClr val="1F3A5F"/>
                </a:solidFill>
                <a:latin typeface="Cambria" pitchFamily="34" charset="0"/>
                <a:ea typeface="Cambria" pitchFamily="34" charset="-122"/>
                <a:cs typeface="Cambria" pitchFamily="34" charset="-120"/>
              </a:rPr>
              <a:t>1,30–6,01 m</a:t>
            </a:r>
            <a:endParaRPr lang="en-US" sz="4000" dirty="0"/>
          </a:p>
        </p:txBody>
      </p:sp>
      <p:sp>
        <p:nvSpPr>
          <p:cNvPr id="9" name="Text 5"/>
          <p:cNvSpPr txBox="1"/>
          <p:nvPr/>
        </p:nvSpPr>
        <p:spPr>
          <a:xfrm>
            <a:off x="8778240" y="3675888"/>
            <a:ext cx="2864815" cy="548640"/>
          </a:xfrm>
          <a:prstGeom prst="rect">
            <a:avLst/>
          </a:prstGeom>
          <a:noFill/>
          <a:ln/>
        </p:spPr>
        <p:txBody>
          <a:bodyPr wrap="square" lIns="0" tIns="0" rIns="0" bIns="0" rtlCol="0" anchor="t"/>
          <a:lstStyle/>
          <a:p>
            <a:pPr indent="0" marL="0">
              <a:buNone/>
            </a:pPr>
            <a:r>
              <a:rPr lang="en-US" sz="1300" dirty="0">
                <a:solidFill>
                  <a:srgbClr val="7A8C99"/>
                </a:solidFill>
                <a:latin typeface="Calibri" pitchFamily="34" charset="0"/>
                <a:ea typeface="Calibri" pitchFamily="34" charset="-122"/>
                <a:cs typeface="Calibri" pitchFamily="34" charset="-120"/>
              </a:rPr>
              <a:t>khoảng sai số trên 5 bộ ngoài UJIIndoorLoc</a:t>
            </a:r>
            <a:endParaRPr lang="en-US" sz="1300" dirty="0"/>
          </a:p>
        </p:txBody>
      </p:sp>
      <p:sp>
        <p:nvSpPr>
          <p:cNvPr id="10" name="Text 6"/>
          <p:cNvSpPr txBox="1"/>
          <p:nvPr/>
        </p:nvSpPr>
        <p:spPr>
          <a:xfrm>
            <a:off x="8778240" y="4297680"/>
            <a:ext cx="2864815" cy="731520"/>
          </a:xfrm>
          <a:prstGeom prst="rect">
            <a:avLst/>
          </a:prstGeom>
          <a:noFill/>
          <a:ln/>
        </p:spPr>
        <p:txBody>
          <a:bodyPr wrap="square" lIns="0" tIns="0" rIns="0" bIns="0" rtlCol="0" anchor="ctr"/>
          <a:lstStyle/>
          <a:p>
            <a:pPr indent="0" marL="0">
              <a:buNone/>
            </a:pPr>
            <a:r>
              <a:rPr lang="en-US" sz="4000" b="1" dirty="0">
                <a:solidFill>
                  <a:srgbClr val="1F3A5F"/>
                </a:solidFill>
                <a:latin typeface="Cambria" pitchFamily="34" charset="0"/>
                <a:ea typeface="Cambria" pitchFamily="34" charset="-122"/>
                <a:cs typeface="Cambria" pitchFamily="34" charset="-120"/>
              </a:rPr>
              <a:t>6,87 m</a:t>
            </a:r>
            <a:endParaRPr lang="en-US" sz="4000" dirty="0"/>
          </a:p>
        </p:txBody>
      </p:sp>
      <p:sp>
        <p:nvSpPr>
          <p:cNvPr id="11" name="Text 7"/>
          <p:cNvSpPr txBox="1"/>
          <p:nvPr/>
        </p:nvSpPr>
        <p:spPr>
          <a:xfrm>
            <a:off x="8778240" y="5047488"/>
            <a:ext cx="2864815" cy="548640"/>
          </a:xfrm>
          <a:prstGeom prst="rect">
            <a:avLst/>
          </a:prstGeom>
          <a:noFill/>
          <a:ln/>
        </p:spPr>
        <p:txBody>
          <a:bodyPr wrap="square" lIns="0" tIns="0" rIns="0" bIns="0" rtlCol="0" anchor="t"/>
          <a:lstStyle/>
          <a:p>
            <a:pPr indent="0" marL="0">
              <a:buNone/>
            </a:pPr>
            <a:r>
              <a:rPr lang="en-US" sz="1300" dirty="0">
                <a:solidFill>
                  <a:srgbClr val="7A8C99"/>
                </a:solidFill>
                <a:latin typeface="Calibri" pitchFamily="34" charset="0"/>
                <a:ea typeface="Calibri" pitchFamily="34" charset="-122"/>
                <a:cs typeface="Calibri" pitchFamily="34" charset="-120"/>
              </a:rPr>
              <a:t>UJIIndoorLoc (1 111 vân tay), v4: 8,06 m</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74320"/>
            <a:ext cx="8229600" cy="274320"/>
          </a:xfrm>
          <a:prstGeom prst="rect">
            <a:avLst/>
          </a:prstGeom>
          <a:noFill/>
          <a:ln/>
        </p:spPr>
        <p:txBody>
          <a:bodyPr wrap="square" lIns="0" tIns="0" rIns="0" bIns="0" rtlCol="0" anchor="ctr"/>
          <a:lstStyle/>
          <a:p>
            <a:pPr indent="0" marL="0">
              <a:buNone/>
            </a:pPr>
            <a:r>
              <a:rPr lang="en-US" sz="1100" b="1" spc="150" kern="0" dirty="0">
                <a:solidFill>
                  <a:srgbClr val="2E7D8C"/>
                </a:solidFill>
                <a:latin typeface="Calibri" pitchFamily="34" charset="0"/>
                <a:ea typeface="Calibri" pitchFamily="34" charset="-122"/>
                <a:cs typeface="Calibri" pitchFamily="34" charset="-120"/>
              </a:rPr>
              <a:t>04 · PHÂN TÍCH</a:t>
            </a:r>
            <a:endParaRPr lang="en-US" sz="1100" dirty="0"/>
          </a:p>
        </p:txBody>
      </p:sp>
      <p:sp>
        <p:nvSpPr>
          <p:cNvPr id="3" name="Text 2"/>
          <p:cNvSpPr/>
          <p:nvPr>
            <p:ph idx="102" type="title" hasCustomPrompt="1"/>
          </p:nvPr>
        </p:nvSpPr>
        <p:spPr>
          <a:xfrm>
            <a:off x="548640" y="566928"/>
            <a:ext cx="11094415" cy="685800"/>
          </a:xfrm>
          <a:prstGeom prst="rect">
            <a:avLst/>
          </a:prstGeom>
          <a:noFill/>
          <a:ln/>
        </p:spPr>
        <p:txBody>
          <a:bodyPr wrap="square" lIns="0" tIns="0" rIns="0" bIns="0" rtlCol="0" anchor="t"/>
          <a:lstStyle/>
          <a:p>
            <a:pPr algn="l" indent="0" marL="0">
              <a:buNone/>
            </a:pPr>
            <a:r>
              <a:rPr lang="en-US" sz="2600" b="1" dirty="0">
                <a:solidFill>
                  <a:srgbClr val="1F3A5F"/>
                </a:solidFill>
                <a:latin typeface="Cambria" pitchFamily="34" charset="0"/>
                <a:ea typeface="Cambria" pitchFamily="34" charset="-122"/>
                <a:cs typeface="Cambria" pitchFamily="34" charset="-120"/>
              </a:rPr>
              <a:t>UJIIndoorLoc: sai số còn lại nằm chủ yếu trong tầng</a:t>
            </a:r>
            <a:endParaRPr lang="en-US" sz="2600" dirty="0"/>
          </a:p>
        </p:txBody>
      </p:sp>
      <p:sp>
        <p:nvSpPr>
          <p:cNvPr id="5" name="Text 2"/>
          <p:cNvSpPr txBox="1"/>
          <p:nvPr/>
        </p:nvSpPr>
        <p:spPr>
          <a:xfrm>
            <a:off x="548640" y="1463040"/>
            <a:ext cx="2606040" cy="731520"/>
          </a:xfrm>
          <a:prstGeom prst="rect">
            <a:avLst/>
          </a:prstGeom>
          <a:noFill/>
          <a:ln/>
        </p:spPr>
        <p:txBody>
          <a:bodyPr wrap="square" lIns="0" tIns="0" rIns="0" bIns="0" rtlCol="0" anchor="ctr"/>
          <a:lstStyle/>
          <a:p>
            <a:pPr indent="0" marL="0">
              <a:buNone/>
            </a:pPr>
            <a:r>
              <a:rPr lang="en-US" sz="4000" b="1" dirty="0">
                <a:solidFill>
                  <a:srgbClr val="1F3A5F"/>
                </a:solidFill>
                <a:latin typeface="Cambria" pitchFamily="34" charset="0"/>
                <a:ea typeface="Cambria" pitchFamily="34" charset="-122"/>
                <a:cs typeface="Cambria" pitchFamily="34" charset="-120"/>
              </a:rPr>
              <a:t>6,87 m</a:t>
            </a:r>
            <a:endParaRPr lang="en-US" sz="4000" dirty="0"/>
          </a:p>
        </p:txBody>
      </p:sp>
      <p:sp>
        <p:nvSpPr>
          <p:cNvPr id="6" name="Text 3"/>
          <p:cNvSpPr txBox="1"/>
          <p:nvPr/>
        </p:nvSpPr>
        <p:spPr>
          <a:xfrm>
            <a:off x="548640" y="2212848"/>
            <a:ext cx="2606040" cy="548640"/>
          </a:xfrm>
          <a:prstGeom prst="rect">
            <a:avLst/>
          </a:prstGeom>
          <a:noFill/>
          <a:ln/>
        </p:spPr>
        <p:txBody>
          <a:bodyPr wrap="square" lIns="0" tIns="0" rIns="0" bIns="0" rtlCol="0" anchor="t"/>
          <a:lstStyle/>
          <a:p>
            <a:pPr indent="0" marL="0">
              <a:buNone/>
            </a:pPr>
            <a:r>
              <a:rPr lang="en-US" sz="1300" dirty="0">
                <a:solidFill>
                  <a:srgbClr val="7A8C99"/>
                </a:solidFill>
                <a:latin typeface="Calibri" pitchFamily="34" charset="0"/>
                <a:ea typeface="Calibri" pitchFamily="34" charset="-122"/>
                <a:cs typeface="Calibri" pitchFamily="34" charset="-120"/>
              </a:rPr>
              <a:t>sai số trung bình</a:t>
            </a:r>
            <a:endParaRPr lang="en-US" sz="1300" dirty="0"/>
          </a:p>
        </p:txBody>
      </p:sp>
      <p:sp>
        <p:nvSpPr>
          <p:cNvPr id="7" name="Text 4"/>
          <p:cNvSpPr txBox="1"/>
          <p:nvPr/>
        </p:nvSpPr>
        <p:spPr>
          <a:xfrm>
            <a:off x="3273552" y="1463040"/>
            <a:ext cx="2606040" cy="731520"/>
          </a:xfrm>
          <a:prstGeom prst="rect">
            <a:avLst/>
          </a:prstGeom>
          <a:noFill/>
          <a:ln/>
        </p:spPr>
        <p:txBody>
          <a:bodyPr wrap="square" lIns="0" tIns="0" rIns="0" bIns="0" rtlCol="0" anchor="ctr"/>
          <a:lstStyle/>
          <a:p>
            <a:pPr indent="0" marL="0">
              <a:buNone/>
            </a:pPr>
            <a:r>
              <a:rPr lang="en-US" sz="4000" b="1" dirty="0">
                <a:solidFill>
                  <a:srgbClr val="1F3A5F"/>
                </a:solidFill>
                <a:latin typeface="Cambria" pitchFamily="34" charset="0"/>
                <a:ea typeface="Cambria" pitchFamily="34" charset="-122"/>
                <a:cs typeface="Cambria" pitchFamily="34" charset="-120"/>
              </a:rPr>
              <a:t>5,14 m</a:t>
            </a:r>
            <a:endParaRPr lang="en-US" sz="4000" dirty="0"/>
          </a:p>
        </p:txBody>
      </p:sp>
      <p:sp>
        <p:nvSpPr>
          <p:cNvPr id="8" name="Text 5"/>
          <p:cNvSpPr txBox="1"/>
          <p:nvPr/>
        </p:nvSpPr>
        <p:spPr>
          <a:xfrm>
            <a:off x="3273552" y="2212848"/>
            <a:ext cx="2606040" cy="548640"/>
          </a:xfrm>
          <a:prstGeom prst="rect">
            <a:avLst/>
          </a:prstGeom>
          <a:noFill/>
          <a:ln/>
        </p:spPr>
        <p:txBody>
          <a:bodyPr wrap="square" lIns="0" tIns="0" rIns="0" bIns="0" rtlCol="0" anchor="t"/>
          <a:lstStyle/>
          <a:p>
            <a:pPr indent="0" marL="0">
              <a:buNone/>
            </a:pPr>
            <a:r>
              <a:rPr lang="en-US" sz="1300" dirty="0">
                <a:solidFill>
                  <a:srgbClr val="7A8C99"/>
                </a:solidFill>
                <a:latin typeface="Calibri" pitchFamily="34" charset="0"/>
                <a:ea typeface="Calibri" pitchFamily="34" charset="-122"/>
                <a:cs typeface="Calibri" pitchFamily="34" charset="-120"/>
              </a:rPr>
              <a:t>trung vị</a:t>
            </a:r>
            <a:endParaRPr lang="en-US" sz="1300" dirty="0"/>
          </a:p>
        </p:txBody>
      </p:sp>
      <p:sp>
        <p:nvSpPr>
          <p:cNvPr id="9" name="Text 6"/>
          <p:cNvSpPr txBox="1"/>
          <p:nvPr/>
        </p:nvSpPr>
        <p:spPr>
          <a:xfrm>
            <a:off x="5998464" y="1463040"/>
            <a:ext cx="2606040" cy="731520"/>
          </a:xfrm>
          <a:prstGeom prst="rect">
            <a:avLst/>
          </a:prstGeom>
          <a:noFill/>
          <a:ln/>
        </p:spPr>
        <p:txBody>
          <a:bodyPr wrap="square" lIns="0" tIns="0" rIns="0" bIns="0" rtlCol="0" anchor="ctr"/>
          <a:lstStyle/>
          <a:p>
            <a:pPr indent="0" marL="0">
              <a:buNone/>
            </a:pPr>
            <a:r>
              <a:rPr lang="en-US" sz="4000" b="1" dirty="0">
                <a:solidFill>
                  <a:srgbClr val="2E7D8C"/>
                </a:solidFill>
                <a:latin typeface="Cambria" pitchFamily="34" charset="0"/>
                <a:ea typeface="Cambria" pitchFamily="34" charset="-122"/>
                <a:cs typeface="Cambria" pitchFamily="34" charset="-120"/>
              </a:rPr>
              <a:t>80,4%</a:t>
            </a:r>
            <a:endParaRPr lang="en-US" sz="4000" dirty="0"/>
          </a:p>
        </p:txBody>
      </p:sp>
      <p:sp>
        <p:nvSpPr>
          <p:cNvPr id="10" name="Text 7"/>
          <p:cNvSpPr txBox="1"/>
          <p:nvPr/>
        </p:nvSpPr>
        <p:spPr>
          <a:xfrm>
            <a:off x="5998464" y="2212848"/>
            <a:ext cx="2606040" cy="548640"/>
          </a:xfrm>
          <a:prstGeom prst="rect">
            <a:avLst/>
          </a:prstGeom>
          <a:noFill/>
          <a:ln/>
        </p:spPr>
        <p:txBody>
          <a:bodyPr wrap="square" lIns="0" tIns="0" rIns="0" bIns="0" rtlCol="0" anchor="t"/>
          <a:lstStyle/>
          <a:p>
            <a:pPr indent="0" marL="0">
              <a:buNone/>
            </a:pPr>
            <a:r>
              <a:rPr lang="en-US" sz="1300" dirty="0">
                <a:solidFill>
                  <a:srgbClr val="7A8C99"/>
                </a:solidFill>
                <a:latin typeface="Calibri" pitchFamily="34" charset="0"/>
                <a:ea typeface="Calibri" pitchFamily="34" charset="-122"/>
                <a:cs typeface="Calibri" pitchFamily="34" charset="-120"/>
              </a:rPr>
              <a:t>đúng tòa và tầng</a:t>
            </a:r>
            <a:endParaRPr lang="en-US" sz="1300" dirty="0"/>
          </a:p>
        </p:txBody>
      </p:sp>
      <p:sp>
        <p:nvSpPr>
          <p:cNvPr id="11" name="Text 8"/>
          <p:cNvSpPr txBox="1"/>
          <p:nvPr/>
        </p:nvSpPr>
        <p:spPr>
          <a:xfrm>
            <a:off x="8723376" y="1463040"/>
            <a:ext cx="2606040" cy="731520"/>
          </a:xfrm>
          <a:prstGeom prst="rect">
            <a:avLst/>
          </a:prstGeom>
          <a:noFill/>
          <a:ln/>
        </p:spPr>
        <p:txBody>
          <a:bodyPr wrap="square" lIns="0" tIns="0" rIns="0" bIns="0" rtlCol="0" anchor="ctr"/>
          <a:lstStyle/>
          <a:p>
            <a:pPr indent="0" marL="0">
              <a:buNone/>
            </a:pPr>
            <a:r>
              <a:rPr lang="en-US" sz="4000" b="1" dirty="0">
                <a:solidFill>
                  <a:srgbClr val="1F3A5F"/>
                </a:solidFill>
                <a:latin typeface="Cambria" pitchFamily="34" charset="0"/>
                <a:ea typeface="Cambria" pitchFamily="34" charset="-122"/>
                <a:cs typeface="Cambria" pitchFamily="34" charset="-120"/>
              </a:rPr>
              <a:t>75,9%</a:t>
            </a:r>
            <a:endParaRPr lang="en-US" sz="4000" dirty="0"/>
          </a:p>
        </p:txBody>
      </p:sp>
      <p:sp>
        <p:nvSpPr>
          <p:cNvPr id="12" name="Text 9"/>
          <p:cNvSpPr txBox="1"/>
          <p:nvPr/>
        </p:nvSpPr>
        <p:spPr>
          <a:xfrm>
            <a:off x="8723376" y="2212848"/>
            <a:ext cx="2606040" cy="548640"/>
          </a:xfrm>
          <a:prstGeom prst="rect">
            <a:avLst/>
          </a:prstGeom>
          <a:noFill/>
          <a:ln/>
        </p:spPr>
        <p:txBody>
          <a:bodyPr wrap="square" lIns="0" tIns="0" rIns="0" bIns="0" rtlCol="0" anchor="t"/>
          <a:lstStyle/>
          <a:p>
            <a:pPr indent="0" marL="0">
              <a:buNone/>
            </a:pPr>
            <a:r>
              <a:rPr lang="en-US" sz="1300" dirty="0">
                <a:solidFill>
                  <a:srgbClr val="7A8C99"/>
                </a:solidFill>
                <a:latin typeface="Calibri" pitchFamily="34" charset="0"/>
                <a:ea typeface="Calibri" pitchFamily="34" charset="-122"/>
                <a:cs typeface="Calibri" pitchFamily="34" charset="-120"/>
              </a:rPr>
              <a:t>tổng sai số thuộc mẫu đúng tầng</a:t>
            </a:r>
            <a:endParaRPr lang="en-US" sz="13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3063240"/>
          <a:ext cx="5669280" cy="914400"/>
        </p:xfrm>
        <a:graphic>
          <a:graphicData uri="http://schemas.openxmlformats.org/drawingml/2006/table">
            <a:tbl>
              <a:tblPr/>
              <a:tblGrid>
                <a:gridCol w="2377440"/>
                <a:gridCol w="914400"/>
                <a:gridCol w="1143000"/>
                <a:gridCol w="1234440"/>
              </a:tblGrid>
              <a:tr h="384048">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Nhóm mẫu</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Số mẫu</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Sai số TB (m)</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Phần tổng sai số</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r>
              <a:tr h="384048">
                <a:tc>
                  <a:txBody>
                    <a:bodyPr/>
                    <a:lstStyle/>
                    <a:p>
                      <a:pPr algn="l" indent="0" marL="0">
                        <a:buNone/>
                      </a:pPr>
                      <a:r>
                        <a:rPr lang="en-US" sz="1300" dirty="0">
                          <a:solidFill>
                            <a:srgbClr val="1B2A3D"/>
                          </a:solidFill>
                          <a:latin typeface="Calibri" pitchFamily="34" charset="0"/>
                          <a:ea typeface="Calibri" pitchFamily="34" charset="-122"/>
                          <a:cs typeface="Calibri" pitchFamily="34" charset="-120"/>
                        </a:rPr>
                        <a:t>Đoán đúng tòa và tầng</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A3D"/>
                          </a:solidFill>
                          <a:latin typeface="Calibri" pitchFamily="34" charset="0"/>
                          <a:ea typeface="Calibri" pitchFamily="34" charset="-122"/>
                          <a:cs typeface="Calibri" pitchFamily="34" charset="-120"/>
                        </a:rPr>
                        <a:t>893</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A3D"/>
                          </a:solidFill>
                          <a:latin typeface="Calibri" pitchFamily="34" charset="0"/>
                          <a:ea typeface="Calibri" pitchFamily="34" charset="-122"/>
                          <a:cs typeface="Calibri" pitchFamily="34" charset="-120"/>
                        </a:rPr>
                        <a:t>6,48</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A3D"/>
                          </a:solidFill>
                          <a:latin typeface="Calibri" pitchFamily="34" charset="0"/>
                          <a:ea typeface="Calibri" pitchFamily="34" charset="-122"/>
                          <a:cs typeface="Calibri" pitchFamily="34" charset="-120"/>
                        </a:rPr>
                        <a:t>75,9%</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r>
              <a:tr h="384048">
                <a:tc>
                  <a:txBody>
                    <a:bodyPr/>
                    <a:lstStyle/>
                    <a:p>
                      <a:pPr algn="l" indent="0" marL="0">
                        <a:buNone/>
                      </a:pPr>
                      <a:r>
                        <a:rPr lang="en-US" sz="1300" dirty="0">
                          <a:solidFill>
                            <a:srgbClr val="1B2A3D"/>
                          </a:solidFill>
                          <a:latin typeface="Calibri" pitchFamily="34" charset="0"/>
                          <a:ea typeface="Calibri" pitchFamily="34" charset="-122"/>
                          <a:cs typeface="Calibri" pitchFamily="34" charset="-120"/>
                        </a:rPr>
                        <a:t>Đoán sai tầng</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300" dirty="0">
                          <a:solidFill>
                            <a:srgbClr val="1B2A3D"/>
                          </a:solidFill>
                          <a:latin typeface="Calibri" pitchFamily="34" charset="0"/>
                          <a:ea typeface="Calibri" pitchFamily="34" charset="-122"/>
                          <a:cs typeface="Calibri" pitchFamily="34" charset="-120"/>
                        </a:rPr>
                        <a:t>218</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300" dirty="0">
                          <a:solidFill>
                            <a:srgbClr val="1B2A3D"/>
                          </a:solidFill>
                          <a:latin typeface="Calibri" pitchFamily="34" charset="0"/>
                          <a:ea typeface="Calibri" pitchFamily="34" charset="-122"/>
                          <a:cs typeface="Calibri" pitchFamily="34" charset="-120"/>
                        </a:rPr>
                        <a:t>8,44</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300" dirty="0">
                          <a:solidFill>
                            <a:srgbClr val="1B2A3D"/>
                          </a:solidFill>
                          <a:latin typeface="Calibri" pitchFamily="34" charset="0"/>
                          <a:ea typeface="Calibri" pitchFamily="34" charset="-122"/>
                          <a:cs typeface="Calibri" pitchFamily="34" charset="-120"/>
                        </a:rPr>
                        <a:t>24,1%</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r>
            </a:tbl>
          </a:graphicData>
        </a:graphic>
      </p:graphicFrame>
      <p:sp>
        <p:nvSpPr>
          <p:cNvPr id="14" name="Text 10"/>
          <p:cNvSpPr txBox="1"/>
          <p:nvPr/>
        </p:nvSpPr>
        <p:spPr>
          <a:xfrm>
            <a:off x="548640" y="4434840"/>
            <a:ext cx="5760720" cy="1828800"/>
          </a:xfrm>
          <a:prstGeom prst="rect">
            <a:avLst/>
          </a:prstGeom>
          <a:noFill/>
          <a:ln/>
        </p:spPr>
        <p:txBody>
          <a:bodyPr wrap="square" lIns="25400" tIns="25400" rIns="25400" bIns="25400" rtlCol="0" anchor="t"/>
          <a:lstStyle/>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Bước 8 giảm sai số mẫu đúng tầng từ 7,78 m xuống </a:t>
            </a:r>
            <a:pPr algn="l" marL="228600" indent="-228600">
              <a:spcAft>
                <a:spcPts val="800"/>
              </a:spcAft>
              <a:buSzPct val="100000"/>
              <a:buChar char="•"/>
            </a:pPr>
            <a:r>
              <a:rPr lang="en-US" sz="1400" b="1" dirty="0">
                <a:solidFill>
                  <a:srgbClr val="1B2A3D"/>
                </a:solidFill>
                <a:latin typeface="Calibri" pitchFamily="34" charset="0"/>
                <a:ea typeface="Calibri" pitchFamily="34" charset="-122"/>
                <a:cs typeface="Calibri" pitchFamily="34" charset="-120"/>
              </a:rPr>
              <a:t>6,48 m</a:t>
            </a:r>
            <a:endParaRPr lang="en-US" sz="1400" dirty="0"/>
          </a:p>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Mỗi ô chỉ có khoảng 21 vân tay của một tới bốn người dùng</a:t>
            </a:r>
            <a:endParaRPr lang="en-US" sz="1400" dirty="0"/>
          </a:p>
          <a:p>
            <a:pPr algn="l" marL="228600" indent="-228600">
              <a:spcAft>
                <a:spcPts val="800"/>
              </a:spcAft>
              <a:buSzPct val="100000"/>
              <a:buChar char="•"/>
            </a:pPr>
            <a:r>
              <a:rPr lang="en-US" sz="1400" b="1" dirty="0">
                <a:solidFill>
                  <a:srgbClr val="1B2A3D"/>
                </a:solidFill>
                <a:latin typeface="Calibri" pitchFamily="34" charset="0"/>
                <a:ea typeface="Calibri" pitchFamily="34" charset="-122"/>
                <a:cs typeface="Calibri" pitchFamily="34" charset="-120"/>
              </a:rPr>
              <a:t>9/11 điện thoại</a:t>
            </a:r>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 của tập kiểm tra không có trong tập huấn luyện</a:t>
            </a:r>
            <a:endParaRPr lang="en-US" sz="1400" dirty="0"/>
          </a:p>
        </p:txBody>
      </p:sp>
      <p:pic>
        <p:nvPicPr>
          <p:cNvPr id="15" name="Image 0" descr="Phân bố sai số UJIIndoorLoc">    </p:cNvPr>
          <p:cNvPicPr>
            <a:picLocks noChangeAspect="1"/>
          </p:cNvPicPr>
          <p:nvPr/>
        </p:nvPicPr>
        <p:blipFill>
          <a:blip r:embed="rId1"/>
          <a:stretch>
            <a:fillRect/>
          </a:stretch>
        </p:blipFill>
        <p:spPr>
          <a:xfrm>
            <a:off x="6583680" y="2926080"/>
            <a:ext cx="5059375" cy="3060378"/>
          </a:xfrm>
          <a:prstGeom prst="rect">
            <a:avLst/>
          </a:prstGeom>
        </p:spPr>
      </p:pic>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74320"/>
            <a:ext cx="8229600" cy="274320"/>
          </a:xfrm>
          <a:prstGeom prst="rect">
            <a:avLst/>
          </a:prstGeom>
          <a:noFill/>
          <a:ln/>
        </p:spPr>
        <p:txBody>
          <a:bodyPr wrap="square" lIns="0" tIns="0" rIns="0" bIns="0" rtlCol="0" anchor="ctr"/>
          <a:lstStyle/>
          <a:p>
            <a:pPr indent="0" marL="0">
              <a:buNone/>
            </a:pPr>
            <a:r>
              <a:rPr lang="en-US" sz="1100" b="1" spc="150" kern="0" dirty="0">
                <a:solidFill>
                  <a:srgbClr val="2E7D8C"/>
                </a:solidFill>
                <a:latin typeface="Calibri" pitchFamily="34" charset="0"/>
                <a:ea typeface="Calibri" pitchFamily="34" charset="-122"/>
                <a:cs typeface="Calibri" pitchFamily="34" charset="-120"/>
              </a:rPr>
              <a:t>04 · PHÂN TÍCH</a:t>
            </a:r>
            <a:endParaRPr lang="en-US" sz="1100" dirty="0"/>
          </a:p>
        </p:txBody>
      </p:sp>
      <p:sp>
        <p:nvSpPr>
          <p:cNvPr id="3" name="Text 2"/>
          <p:cNvSpPr/>
          <p:nvPr>
            <p:ph idx="102" type="title" hasCustomPrompt="1"/>
          </p:nvPr>
        </p:nvSpPr>
        <p:spPr>
          <a:xfrm>
            <a:off x="548640" y="566928"/>
            <a:ext cx="11094415" cy="685800"/>
          </a:xfrm>
          <a:prstGeom prst="rect">
            <a:avLst/>
          </a:prstGeom>
          <a:noFill/>
          <a:ln/>
        </p:spPr>
        <p:txBody>
          <a:bodyPr wrap="square" lIns="0" tIns="0" rIns="0" bIns="0" rtlCol="0" anchor="t"/>
          <a:lstStyle/>
          <a:p>
            <a:pPr algn="l" indent="0" marL="0">
              <a:buNone/>
            </a:pPr>
            <a:r>
              <a:rPr lang="en-US" sz="2600" b="1" dirty="0">
                <a:solidFill>
                  <a:srgbClr val="1F3A5F"/>
                </a:solidFill>
                <a:latin typeface="Cambria" pitchFamily="34" charset="0"/>
                <a:ea typeface="Cambria" pitchFamily="34" charset="-122"/>
                <a:cs typeface="Cambria" pitchFamily="34" charset="-120"/>
              </a:rPr>
              <a:t>Lịch sử phiên bản và lựa chọn mô hình cuối</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94415" cy="914400"/>
        </p:xfrm>
        <a:graphic>
          <a:graphicData uri="http://schemas.openxmlformats.org/drawingml/2006/table">
            <a:tbl>
              <a:tblPr/>
              <a:tblGrid>
                <a:gridCol w="1097280"/>
                <a:gridCol w="5394960"/>
                <a:gridCol w="1417320"/>
                <a:gridCol w="1051560"/>
                <a:gridCol w="1234440"/>
                <a:gridCol w="896112"/>
              </a:tblGrid>
              <a:tr h="457200">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Phiên bản</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Thay đổi</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Fold dev</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Dev TB (m)</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Kiểm tra TB (m)</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Đúng tầng</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r>
              <a:tr h="457200">
                <a:tc>
                  <a:txBody>
                    <a:bodyPr/>
                    <a:lstStyle/>
                    <a:p>
                      <a:pPr algn="l" indent="0" marL="0">
                        <a:buNone/>
                      </a:pPr>
                      <a:r>
                        <a:rPr lang="en-US" sz="1100" dirty="0">
                          <a:solidFill>
                            <a:srgbClr val="1B2A3D"/>
                          </a:solidFill>
                          <a:latin typeface="Calibri" pitchFamily="34" charset="0"/>
                          <a:ea typeface="Calibri" pitchFamily="34" charset="-122"/>
                          <a:cs typeface="Calibri" pitchFamily="34" charset="-120"/>
                        </a:rPr>
                        <a:t>v1</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A3D"/>
                          </a:solidFill>
                          <a:latin typeface="Calibri" pitchFamily="34" charset="0"/>
                          <a:ea typeface="Calibri" pitchFamily="34" charset="-122"/>
                          <a:cs typeface="Calibri" pitchFamily="34" charset="-120"/>
                        </a:rPr>
                        <a:t>EFIM theo từng ô, θ 30/50/70%, khớp HUI mềm, tầng do các ô điểm cao bỏ phiếu</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A3D"/>
                          </a:solidFill>
                          <a:latin typeface="Calibri" pitchFamily="34" charset="0"/>
                          <a:ea typeface="Calibri" pitchFamily="34" charset="-122"/>
                          <a:cs typeface="Calibri" pitchFamily="34" charset="-120"/>
                        </a:rPr>
                        <a:t>theo người dùng</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A3D"/>
                          </a:solidFill>
                          <a:latin typeface="Calibri" pitchFamily="34" charset="0"/>
                          <a:ea typeface="Calibri" pitchFamily="34" charset="-122"/>
                          <a:cs typeface="Calibri" pitchFamily="34" charset="-120"/>
                        </a:rPr>
                        <a:t>8,27</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A3D"/>
                          </a:solidFill>
                          <a:latin typeface="Calibri" pitchFamily="34" charset="0"/>
                          <a:ea typeface="Calibri" pitchFamily="34" charset="-122"/>
                          <a:cs typeface="Calibri" pitchFamily="34" charset="-120"/>
                        </a:rPr>
                        <a:t>7,66</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A3D"/>
                          </a:solidFill>
                          <a:latin typeface="Calibri" pitchFamily="34" charset="0"/>
                          <a:ea typeface="Calibri" pitchFamily="34" charset="-122"/>
                          <a:cs typeface="Calibri" pitchFamily="34" charset="-120"/>
                        </a:rPr>
                        <a:t>79,7%</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r>
              <a:tr h="457200">
                <a:tc>
                  <a:txBody>
                    <a:bodyPr/>
                    <a:lstStyle/>
                    <a:p>
                      <a:pPr algn="l" indent="0" marL="0">
                        <a:buNone/>
                      </a:pPr>
                      <a:r>
                        <a:rPr lang="en-US" sz="1100" dirty="0">
                          <a:solidFill>
                            <a:srgbClr val="1B2A3D"/>
                          </a:solidFill>
                          <a:latin typeface="Calibri" pitchFamily="34" charset="0"/>
                          <a:ea typeface="Calibri" pitchFamily="34" charset="-122"/>
                          <a:cs typeface="Calibri" pitchFamily="34" charset="-120"/>
                        </a:rPr>
                        <a:t>v2</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l" indent="0" marL="0">
                        <a:buNone/>
                      </a:pPr>
                      <a:r>
                        <a:rPr lang="en-US" sz="1100" dirty="0">
                          <a:solidFill>
                            <a:srgbClr val="1B2A3D"/>
                          </a:solidFill>
                          <a:latin typeface="Calibri" pitchFamily="34" charset="0"/>
                          <a:ea typeface="Calibri" pitchFamily="34" charset="-122"/>
                          <a:cs typeface="Calibri" pitchFamily="34" charset="-120"/>
                        </a:rPr>
                        <a:t>+ làm mượt không gian (σ), chọn tầng trước (kf), θ 10% (thí nghiệm trên 2 fold dev)</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l" indent="0" marL="0">
                        <a:buNone/>
                      </a:pPr>
                      <a:r>
                        <a:rPr lang="en-US" sz="1100" dirty="0">
                          <a:solidFill>
                            <a:srgbClr val="1B2A3D"/>
                          </a:solidFill>
                          <a:latin typeface="Calibri" pitchFamily="34" charset="0"/>
                          <a:ea typeface="Calibri" pitchFamily="34" charset="-122"/>
                          <a:cs typeface="Calibri" pitchFamily="34" charset="-120"/>
                        </a:rPr>
                        <a:t>theo người dùng</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100" dirty="0">
                          <a:solidFill>
                            <a:srgbClr val="1B2A3D"/>
                          </a:solidFill>
                          <a:latin typeface="Calibri" pitchFamily="34" charset="0"/>
                          <a:ea typeface="Calibri" pitchFamily="34" charset="-122"/>
                          <a:cs typeface="Calibri" pitchFamily="34" charset="-120"/>
                        </a:rPr>
                        <a:t>7,70</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100" dirty="0">
                          <a:solidFill>
                            <a:srgbClr val="1B2A3D"/>
                          </a:solidFill>
                          <a:latin typeface="Calibri" pitchFamily="34" charset="0"/>
                          <a:ea typeface="Calibri" pitchFamily="34" charset="-122"/>
                          <a:cs typeface="Calibri" pitchFamily="34" charset="-120"/>
                        </a:rPr>
                        <a:t>8,18</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100" dirty="0">
                          <a:solidFill>
                            <a:srgbClr val="1B2A3D"/>
                          </a:solidFill>
                          <a:latin typeface="Calibri" pitchFamily="34" charset="0"/>
                          <a:ea typeface="Calibri" pitchFamily="34" charset="-122"/>
                          <a:cs typeface="Calibri" pitchFamily="34" charset="-120"/>
                        </a:rPr>
                        <a:t>76,1%</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r>
              <a:tr h="457200">
                <a:tc>
                  <a:txBody>
                    <a:bodyPr/>
                    <a:lstStyle/>
                    <a:p>
                      <a:pPr algn="l" indent="0" marL="0">
                        <a:buNone/>
                      </a:pPr>
                      <a:r>
                        <a:rPr lang="en-US" sz="1100" dirty="0">
                          <a:solidFill>
                            <a:srgbClr val="1B2A3D"/>
                          </a:solidFill>
                          <a:latin typeface="Calibri" pitchFamily="34" charset="0"/>
                          <a:ea typeface="Calibri" pitchFamily="34" charset="-122"/>
                          <a:cs typeface="Calibri" pitchFamily="34" charset="-120"/>
                        </a:rPr>
                        <a:t>v3</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A3D"/>
                          </a:solidFill>
                          <a:latin typeface="Calibri" pitchFamily="34" charset="0"/>
                          <a:ea typeface="Calibri" pitchFamily="34" charset="-122"/>
                          <a:cs typeface="Calibri" pitchFamily="34" charset="-120"/>
                        </a:rPr>
                        <a:t>fold dev giữ lại theo ĐIỆN THOẠI; chọn utility nội trong abs / rel / rank; θ 20%</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A3D"/>
                          </a:solidFill>
                          <a:latin typeface="Calibri" pitchFamily="34" charset="0"/>
                          <a:ea typeface="Calibri" pitchFamily="34" charset="-122"/>
                          <a:cs typeface="Calibri" pitchFamily="34" charset="-120"/>
                        </a:rPr>
                        <a:t>theo điện thoại</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A3D"/>
                          </a:solidFill>
                          <a:latin typeface="Calibri" pitchFamily="34" charset="0"/>
                          <a:ea typeface="Calibri" pitchFamily="34" charset="-122"/>
                          <a:cs typeface="Calibri" pitchFamily="34" charset="-120"/>
                        </a:rPr>
                        <a:t>7,67</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A3D"/>
                          </a:solidFill>
                          <a:latin typeface="Calibri" pitchFamily="34" charset="0"/>
                          <a:ea typeface="Calibri" pitchFamily="34" charset="-122"/>
                          <a:cs typeface="Calibri" pitchFamily="34" charset="-120"/>
                        </a:rPr>
                        <a:t>8,00</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A3D"/>
                          </a:solidFill>
                          <a:latin typeface="Calibri" pitchFamily="34" charset="0"/>
                          <a:ea typeface="Calibri" pitchFamily="34" charset="-122"/>
                          <a:cs typeface="Calibri" pitchFamily="34" charset="-120"/>
                        </a:rPr>
                        <a:t>79,9%</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r>
              <a:tr h="457200">
                <a:tc>
                  <a:txBody>
                    <a:bodyPr/>
                    <a:lstStyle/>
                    <a:p>
                      <a:pPr algn="l" indent="0" marL="0">
                        <a:buNone/>
                      </a:pPr>
                      <a:r>
                        <a:rPr lang="en-US" sz="1100" dirty="0">
                          <a:solidFill>
                            <a:srgbClr val="1B2A3D"/>
                          </a:solidFill>
                          <a:latin typeface="Calibri" pitchFamily="34" charset="0"/>
                          <a:ea typeface="Calibri" pitchFamily="34" charset="-122"/>
                          <a:cs typeface="Calibri" pitchFamily="34" charset="-120"/>
                        </a:rPr>
                        <a:t>v4</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l" indent="0" marL="0">
                        <a:buNone/>
                      </a:pPr>
                      <a:r>
                        <a:rPr lang="en-US" sz="1100" dirty="0">
                          <a:solidFill>
                            <a:srgbClr val="1B2A3D"/>
                          </a:solidFill>
                          <a:latin typeface="Calibri" pitchFamily="34" charset="0"/>
                          <a:ea typeface="Calibri" pitchFamily="34" charset="-122"/>
                          <a:cs typeface="Calibri" pitchFamily="34" charset="-120"/>
                        </a:rPr>
                        <a:t>mở rộng lưới kf, m, p (v3 chọn giá trị ở biên lưới)</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l" indent="0" marL="0">
                        <a:buNone/>
                      </a:pPr>
                      <a:r>
                        <a:rPr lang="en-US" sz="1100" dirty="0">
                          <a:solidFill>
                            <a:srgbClr val="1B2A3D"/>
                          </a:solidFill>
                          <a:latin typeface="Calibri" pitchFamily="34" charset="0"/>
                          <a:ea typeface="Calibri" pitchFamily="34" charset="-122"/>
                          <a:cs typeface="Calibri" pitchFamily="34" charset="-120"/>
                        </a:rPr>
                        <a:t>theo điện thoại</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100" dirty="0">
                          <a:solidFill>
                            <a:srgbClr val="1B2A3D"/>
                          </a:solidFill>
                          <a:latin typeface="Calibri" pitchFamily="34" charset="0"/>
                          <a:ea typeface="Calibri" pitchFamily="34" charset="-122"/>
                          <a:cs typeface="Calibri" pitchFamily="34" charset="-120"/>
                        </a:rPr>
                        <a:t>7,65</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100" dirty="0">
                          <a:solidFill>
                            <a:srgbClr val="1B2A3D"/>
                          </a:solidFill>
                          <a:latin typeface="Calibri" pitchFamily="34" charset="0"/>
                          <a:ea typeface="Calibri" pitchFamily="34" charset="-122"/>
                          <a:cs typeface="Calibri" pitchFamily="34" charset="-120"/>
                        </a:rPr>
                        <a:t>8,06</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100" dirty="0">
                          <a:solidFill>
                            <a:srgbClr val="1B2A3D"/>
                          </a:solidFill>
                          <a:latin typeface="Calibri" pitchFamily="34" charset="0"/>
                          <a:ea typeface="Calibri" pitchFamily="34" charset="-122"/>
                          <a:cs typeface="Calibri" pitchFamily="34" charset="-120"/>
                        </a:rPr>
                        <a:t>80,4%</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r>
              <a:tr h="457200">
                <a:tc>
                  <a:txBody>
                    <a:bodyPr/>
                    <a:lstStyle/>
                    <a:p>
                      <a:pPr algn="l" indent="0" marL="0">
                        <a:buNone/>
                      </a:pPr>
                      <a:r>
                        <a:rPr lang="en-US" sz="1100" dirty="0">
                          <a:solidFill>
                            <a:srgbClr val="1B2A3D"/>
                          </a:solidFill>
                          <a:latin typeface="Calibri" pitchFamily="34" charset="0"/>
                          <a:ea typeface="Calibri" pitchFamily="34" charset="-122"/>
                          <a:cs typeface="Calibri" pitchFamily="34" charset="-120"/>
                        </a:rPr>
                        <a:t>v5</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A3D"/>
                          </a:solidFill>
                          <a:latin typeface="Calibri" pitchFamily="34" charset="0"/>
                          <a:ea typeface="Calibri" pitchFamily="34" charset="-122"/>
                          <a:cs typeface="Calibri" pitchFamily="34" charset="-120"/>
                        </a:rPr>
                        <a:t>xếp hạng lại 30 ô ứng viên bằng bộ hồi quy trên bằng chứng HUI (mô hình rank, mô hình mục mức cường độ, hồ sơ cường độ từ HUI), học trên dev</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B2A3D"/>
                          </a:solidFill>
                          <a:latin typeface="Calibri" pitchFamily="34" charset="0"/>
                          <a:ea typeface="Calibri" pitchFamily="34" charset="-122"/>
                          <a:cs typeface="Calibri" pitchFamily="34" charset="-120"/>
                        </a:rPr>
                        <a:t>theo điện thoại</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A3D"/>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A3D"/>
                          </a:solidFill>
                          <a:latin typeface="Calibri" pitchFamily="34" charset="0"/>
                          <a:ea typeface="Calibri" pitchFamily="34" charset="-122"/>
                          <a:cs typeface="Calibri" pitchFamily="34" charset="-120"/>
                        </a:rPr>
                        <a:t>7,18</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B2A3D"/>
                          </a:solidFill>
                          <a:latin typeface="Calibri" pitchFamily="34" charset="0"/>
                          <a:ea typeface="Calibri" pitchFamily="34" charset="-122"/>
                          <a:cs typeface="Calibri" pitchFamily="34" charset="-120"/>
                        </a:rPr>
                        <a:t>80,4%</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r>
              <a:tr h="457200">
                <a:tc>
                  <a:txBody>
                    <a:bodyPr/>
                    <a:lstStyle/>
                    <a:p>
                      <a:pPr algn="l" indent="0" marL="0">
                        <a:buNone/>
                      </a:pPr>
                      <a:r>
                        <a:rPr lang="en-US" sz="1100" b="1" dirty="0">
                          <a:solidFill>
                            <a:srgbClr val="1B2A3D"/>
                          </a:solidFill>
                          <a:latin typeface="Calibri" pitchFamily="34" charset="0"/>
                          <a:ea typeface="Calibri" pitchFamily="34" charset="-122"/>
                          <a:cs typeface="Calibri" pitchFamily="34" charset="-120"/>
                        </a:rPr>
                        <a:t>v6 (cuối)</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6E9E2"/>
                    </a:solidFill>
                  </a:tcPr>
                </a:tc>
                <a:tc>
                  <a:txBody>
                    <a:bodyPr/>
                    <a:lstStyle/>
                    <a:p>
                      <a:pPr algn="l" indent="0" marL="0">
                        <a:buNone/>
                      </a:pPr>
                      <a:r>
                        <a:rPr lang="en-US" sz="1100" b="1" dirty="0">
                          <a:solidFill>
                            <a:srgbClr val="1B2A3D"/>
                          </a:solidFill>
                          <a:latin typeface="Calibri" pitchFamily="34" charset="0"/>
                          <a:ea typeface="Calibri" pitchFamily="34" charset="-122"/>
                          <a:cs typeface="Calibri" pitchFamily="34" charset="-120"/>
                        </a:rPr>
                        <a:t>v5 + bằng chứng từ mô hình HUI thứ ba khai thác trên lợi ích abs</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6E9E2"/>
                    </a:solidFill>
                  </a:tcPr>
                </a:tc>
                <a:tc>
                  <a:txBody>
                    <a:bodyPr/>
                    <a:lstStyle/>
                    <a:p>
                      <a:pPr algn="l" indent="0" marL="0">
                        <a:buNone/>
                      </a:pPr>
                      <a:r>
                        <a:rPr lang="en-US" sz="1100" b="1" dirty="0">
                          <a:solidFill>
                            <a:srgbClr val="1B2A3D"/>
                          </a:solidFill>
                          <a:latin typeface="Calibri" pitchFamily="34" charset="0"/>
                          <a:ea typeface="Calibri" pitchFamily="34" charset="-122"/>
                          <a:cs typeface="Calibri" pitchFamily="34" charset="-120"/>
                        </a:rPr>
                        <a:t>theo điện thoại</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6E9E2"/>
                    </a:solidFill>
                  </a:tcPr>
                </a:tc>
                <a:tc>
                  <a:txBody>
                    <a:bodyPr/>
                    <a:lstStyle/>
                    <a:p>
                      <a:pPr algn="r" indent="0" marL="0">
                        <a:buNone/>
                      </a:pPr>
                      <a:r>
                        <a:rPr lang="en-US" sz="1100" b="1" dirty="0">
                          <a:solidFill>
                            <a:srgbClr val="1B2A3D"/>
                          </a:solidFill>
                          <a:latin typeface="Calibri" pitchFamily="34" charset="0"/>
                          <a:ea typeface="Calibri" pitchFamily="34" charset="-122"/>
                          <a:cs typeface="Calibri" pitchFamily="34" charset="-120"/>
                        </a:rPr>
                        <a:t>6,83</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6E9E2"/>
                    </a:solidFill>
                  </a:tcPr>
                </a:tc>
                <a:tc>
                  <a:txBody>
                    <a:bodyPr/>
                    <a:lstStyle/>
                    <a:p>
                      <a:pPr algn="r" indent="0" marL="0">
                        <a:buNone/>
                      </a:pPr>
                      <a:r>
                        <a:rPr lang="en-US" sz="1100" b="1" dirty="0">
                          <a:solidFill>
                            <a:srgbClr val="1B2A3D"/>
                          </a:solidFill>
                          <a:latin typeface="Calibri" pitchFamily="34" charset="0"/>
                          <a:ea typeface="Calibri" pitchFamily="34" charset="-122"/>
                          <a:cs typeface="Calibri" pitchFamily="34" charset="-120"/>
                        </a:rPr>
                        <a:t>6,87</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6E9E2"/>
                    </a:solidFill>
                  </a:tcPr>
                </a:tc>
                <a:tc>
                  <a:txBody>
                    <a:bodyPr/>
                    <a:lstStyle/>
                    <a:p>
                      <a:pPr algn="r" indent="0" marL="0">
                        <a:buNone/>
                      </a:pPr>
                      <a:r>
                        <a:rPr lang="en-US" sz="1100" b="1" dirty="0">
                          <a:solidFill>
                            <a:srgbClr val="1B2A3D"/>
                          </a:solidFill>
                          <a:latin typeface="Calibri" pitchFamily="34" charset="0"/>
                          <a:ea typeface="Calibri" pitchFamily="34" charset="-122"/>
                          <a:cs typeface="Calibri" pitchFamily="34" charset="-120"/>
                        </a:rPr>
                        <a:t>80,4%</a:t>
                      </a:r>
                      <a:endParaRPr lang="en-US" sz="11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6E9E2"/>
                    </a:solidFill>
                  </a:tcPr>
                </a:tc>
              </a:tr>
            </a:tbl>
          </a:graphicData>
        </a:graphic>
      </p:graphicFrame>
      <p:sp>
        <p:nvSpPr>
          <p:cNvPr id="6" name="Shape 2"/>
          <p:cNvSpPr/>
          <p:nvPr/>
        </p:nvSpPr>
        <p:spPr>
          <a:xfrm>
            <a:off x="548640" y="5349240"/>
            <a:ext cx="11094415" cy="868680"/>
          </a:xfrm>
          <a:prstGeom prst="rect">
            <a:avLst/>
          </a:prstGeom>
          <a:solidFill>
            <a:srgbClr val="E8F1F2"/>
          </a:solidFill>
          <a:ln w="12700">
            <a:solidFill>
              <a:srgbClr val="E8F1F2"/>
            </a:solidFill>
            <a:prstDash val="solid"/>
          </a:ln>
        </p:spPr>
      </p:sp>
      <p:sp>
        <p:nvSpPr>
          <p:cNvPr id="7" name="Text 3"/>
          <p:cNvSpPr txBox="1"/>
          <p:nvPr/>
        </p:nvSpPr>
        <p:spPr>
          <a:xfrm>
            <a:off x="822960" y="5486400"/>
            <a:ext cx="10545775" cy="640080"/>
          </a:xfrm>
          <a:prstGeom prst="rect">
            <a:avLst/>
          </a:prstGeom>
          <a:noFill/>
          <a:ln/>
        </p:spPr>
        <p:txBody>
          <a:bodyPr wrap="square" lIns="0" tIns="0" rIns="0" bIns="0" rtlCol="0" anchor="t"/>
          <a:lstStyle/>
          <a:p>
            <a:pPr indent="0" marL="0">
              <a:buNone/>
            </a:pPr>
            <a:r>
              <a:rPr lang="en-US" sz="1400" b="1" dirty="0">
                <a:solidFill>
                  <a:srgbClr val="1B2A3D"/>
                </a:solidFill>
                <a:latin typeface="Calibri" pitchFamily="34" charset="0"/>
                <a:ea typeface="Calibri" pitchFamily="34" charset="-122"/>
                <a:cs typeface="Calibri" pitchFamily="34" charset="-120"/>
              </a:rPr>
              <a:t>Nguyên tắc:</a:t>
            </a:r>
            <a:pPr indent="0" marL="0">
              <a:buNone/>
            </a:pPr>
            <a:r>
              <a:rPr lang="en-US" sz="1400" dirty="0">
                <a:solidFill>
                  <a:srgbClr val="1B2A3D"/>
                </a:solidFill>
                <a:latin typeface="Calibri" pitchFamily="34" charset="0"/>
                <a:ea typeface="Calibri" pitchFamily="34" charset="-122"/>
                <a:cs typeface="Calibri" pitchFamily="34" charset="-120"/>
              </a:rPr>
              <a:t> mọi lựa chọn dựa trên dev; v1 có kiểm tra thấp nhất trong Bước 1–7 nhưng dev kém nhất nên không được chọn. Mô hình cuối là </a:t>
            </a:r>
            <a:pPr indent="0" marL="0">
              <a:buNone/>
            </a:pPr>
            <a:r>
              <a:rPr lang="en-US" sz="1400" b="1" dirty="0">
                <a:solidFill>
                  <a:srgbClr val="1B2A3D"/>
                </a:solidFill>
                <a:latin typeface="Calibri" pitchFamily="34" charset="0"/>
                <a:ea typeface="Calibri" pitchFamily="34" charset="-122"/>
                <a:cs typeface="Calibri" pitchFamily="34" charset="-120"/>
              </a:rPr>
              <a:t>v6</a:t>
            </a:r>
            <a:pPr indent="0" marL="0">
              <a:buNone/>
            </a:pPr>
            <a:r>
              <a:rPr lang="en-US" sz="1400" dirty="0">
                <a:solidFill>
                  <a:srgbClr val="1B2A3D"/>
                </a:solidFill>
                <a:latin typeface="Calibri" pitchFamily="34" charset="0"/>
                <a:ea typeface="Calibri" pitchFamily="34" charset="-122"/>
                <a:cs typeface="Calibri" pitchFamily="34" charset="-120"/>
              </a:rPr>
              <a:t> (dev 6,83 m), chấm tập kiểm tra đúng một lần: </a:t>
            </a:r>
            <a:pPr indent="0" marL="0">
              <a:buNone/>
            </a:pPr>
            <a:r>
              <a:rPr lang="en-US" sz="1400" b="1" dirty="0">
                <a:solidFill>
                  <a:srgbClr val="1B2A3D"/>
                </a:solidFill>
                <a:latin typeface="Calibri" pitchFamily="34" charset="0"/>
                <a:ea typeface="Calibri" pitchFamily="34" charset="-122"/>
                <a:cs typeface="Calibri" pitchFamily="34" charset="-120"/>
              </a:rPr>
              <a:t>6,87 m</a:t>
            </a:r>
            <a:pPr indent="0" marL="0">
              <a:buNone/>
            </a:pPr>
            <a:r>
              <a:rPr lang="en-US" sz="1400" dirty="0">
                <a:solidFill>
                  <a:srgbClr val="1B2A3D"/>
                </a:solidFill>
                <a:latin typeface="Calibri" pitchFamily="34" charset="0"/>
                <a:ea typeface="Calibri" pitchFamily="34" charset="-122"/>
                <a:cs typeface="Calibri" pitchFamily="34" charset="-120"/>
              </a:rPr>
              <a:t>.</a:t>
            </a:r>
            <a:endParaRPr lang="en-US" sz="14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74320"/>
            <a:ext cx="8229600" cy="274320"/>
          </a:xfrm>
          <a:prstGeom prst="rect">
            <a:avLst/>
          </a:prstGeom>
          <a:noFill/>
          <a:ln/>
        </p:spPr>
        <p:txBody>
          <a:bodyPr wrap="square" lIns="0" tIns="0" rIns="0" bIns="0" rtlCol="0" anchor="ctr"/>
          <a:lstStyle/>
          <a:p>
            <a:pPr indent="0" marL="0">
              <a:buNone/>
            </a:pPr>
            <a:r>
              <a:rPr lang="en-US" sz="1100" b="1" spc="150" kern="0" dirty="0">
                <a:solidFill>
                  <a:srgbClr val="2E7D8C"/>
                </a:solidFill>
                <a:latin typeface="Calibri" pitchFamily="34" charset="0"/>
                <a:ea typeface="Calibri" pitchFamily="34" charset="-122"/>
                <a:cs typeface="Calibri" pitchFamily="34" charset="-120"/>
              </a:rPr>
              <a:t>04 · PHÂN TÍCH</a:t>
            </a:r>
            <a:endParaRPr lang="en-US" sz="1100" dirty="0"/>
          </a:p>
        </p:txBody>
      </p:sp>
      <p:sp>
        <p:nvSpPr>
          <p:cNvPr id="3" name="Text 2"/>
          <p:cNvSpPr/>
          <p:nvPr>
            <p:ph idx="102" type="title" hasCustomPrompt="1"/>
          </p:nvPr>
        </p:nvSpPr>
        <p:spPr>
          <a:xfrm>
            <a:off x="548640" y="566928"/>
            <a:ext cx="11094415" cy="685800"/>
          </a:xfrm>
          <a:prstGeom prst="rect">
            <a:avLst/>
          </a:prstGeom>
          <a:noFill/>
          <a:ln/>
        </p:spPr>
        <p:txBody>
          <a:bodyPr wrap="square" lIns="0" tIns="0" rIns="0" bIns="0" rtlCol="0" anchor="t"/>
          <a:lstStyle/>
          <a:p>
            <a:pPr algn="l" indent="0" marL="0">
              <a:buNone/>
            </a:pPr>
            <a:r>
              <a:rPr lang="en-US" sz="2600" b="1" dirty="0">
                <a:solidFill>
                  <a:srgbClr val="1F3A5F"/>
                </a:solidFill>
                <a:latin typeface="Cambria" pitchFamily="34" charset="0"/>
                <a:ea typeface="Cambria" pitchFamily="34" charset="-122"/>
                <a:cs typeface="Cambria" pitchFamily="34" charset="-120"/>
              </a:rPr>
              <a:t>Bước 8: những gì đã thử trên dev</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7863840" cy="914400"/>
        </p:xfrm>
        <a:graphic>
          <a:graphicData uri="http://schemas.openxmlformats.org/drawingml/2006/table">
            <a:tbl>
              <a:tblPr/>
              <a:tblGrid>
                <a:gridCol w="4937760"/>
                <a:gridCol w="1371600"/>
                <a:gridCol w="1554480"/>
              </a:tblGrid>
              <a:tr h="438912">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Biến thể</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Dev TB (m)</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Kết luận</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r>
              <a:tr h="438912">
                <a:tc>
                  <a:txBody>
                    <a:bodyPr/>
                    <a:lstStyle/>
                    <a:p>
                      <a:pPr algn="l" indent="0" marL="0">
                        <a:buNone/>
                      </a:pPr>
                      <a:r>
                        <a:rPr lang="en-US" sz="1300" dirty="0">
                          <a:solidFill>
                            <a:srgbClr val="1B2A3D"/>
                          </a:solidFill>
                          <a:latin typeface="Calibri" pitchFamily="34" charset="0"/>
                          <a:ea typeface="Calibri" pitchFamily="34" charset="-122"/>
                          <a:cs typeface="Calibri" pitchFamily="34" charset="-120"/>
                        </a:rPr>
                        <a:t>Bước 1–7, một điểm khớp HUI (v4)</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A3D"/>
                          </a:solidFill>
                          <a:latin typeface="Calibri" pitchFamily="34" charset="0"/>
                          <a:ea typeface="Calibri" pitchFamily="34" charset="-122"/>
                          <a:cs typeface="Calibri" pitchFamily="34" charset="-120"/>
                        </a:rPr>
                        <a:t>7,65</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A3D"/>
                          </a:solidFill>
                          <a:latin typeface="Calibri" pitchFamily="34" charset="0"/>
                          <a:ea typeface="Calibri" pitchFamily="34" charset="-122"/>
                          <a:cs typeface="Calibri" pitchFamily="34" charset="-120"/>
                        </a:rPr>
                        <a:t>mốc</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r>
              <a:tr h="438912">
                <a:tc>
                  <a:txBody>
                    <a:bodyPr/>
                    <a:lstStyle/>
                    <a:p>
                      <a:pPr algn="l" indent="0" marL="0">
                        <a:buNone/>
                      </a:pPr>
                      <a:r>
                        <a:rPr lang="en-US" sz="1300" dirty="0">
                          <a:solidFill>
                            <a:srgbClr val="1B2A3D"/>
                          </a:solidFill>
                          <a:latin typeface="Calibri" pitchFamily="34" charset="0"/>
                          <a:ea typeface="Calibri" pitchFamily="34" charset="-122"/>
                          <a:cs typeface="Calibri" pitchFamily="34" charset="-120"/>
                        </a:rPr>
                        <a:t>Trọng số IDF của HUI giữa các ô lân cận</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300" dirty="0">
                          <a:solidFill>
                            <a:srgbClr val="1B2A3D"/>
                          </a:solidFill>
                          <a:latin typeface="Calibri" pitchFamily="34" charset="0"/>
                          <a:ea typeface="Calibri" pitchFamily="34" charset="-122"/>
                          <a:cs typeface="Calibri" pitchFamily="34" charset="-120"/>
                        </a:rPr>
                        <a:t>7,63</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l" indent="0" marL="0">
                        <a:buNone/>
                      </a:pPr>
                      <a:r>
                        <a:rPr lang="en-US" sz="1300" dirty="0">
                          <a:solidFill>
                            <a:srgbClr val="1B2A3D"/>
                          </a:solidFill>
                          <a:latin typeface="Calibri" pitchFamily="34" charset="0"/>
                          <a:ea typeface="Calibri" pitchFamily="34" charset="-122"/>
                          <a:cs typeface="Calibri" pitchFamily="34" charset="-120"/>
                        </a:rPr>
                        <a:t>gần như không đổi</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r>
              <a:tr h="438912">
                <a:tc>
                  <a:txBody>
                    <a:bodyPr/>
                    <a:lstStyle/>
                    <a:p>
                      <a:pPr algn="l" indent="0" marL="0">
                        <a:buNone/>
                      </a:pPr>
                      <a:r>
                        <a:rPr lang="en-US" sz="1300" dirty="0">
                          <a:solidFill>
                            <a:srgbClr val="1B2A3D"/>
                          </a:solidFill>
                          <a:latin typeface="Calibri" pitchFamily="34" charset="0"/>
                          <a:ea typeface="Calibri" pitchFamily="34" charset="-122"/>
                          <a:cs typeface="Calibri" pitchFamily="34" charset="-120"/>
                        </a:rPr>
                        <a:t>Chỉ dùng mô hình mục theo mức cường độ (fold 0)</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A3D"/>
                          </a:solidFill>
                          <a:latin typeface="Calibri" pitchFamily="34" charset="0"/>
                          <a:ea typeface="Calibri" pitchFamily="34" charset="-122"/>
                          <a:cs typeface="Calibri" pitchFamily="34" charset="-120"/>
                        </a:rPr>
                        <a:t>7,68 so với 7,02</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A3D"/>
                          </a:solidFill>
                          <a:latin typeface="Calibri" pitchFamily="34" charset="0"/>
                          <a:ea typeface="Calibri" pitchFamily="34" charset="-122"/>
                          <a:cs typeface="Calibri" pitchFamily="34" charset="-120"/>
                        </a:rPr>
                        <a:t>kém hơn</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r>
              <a:tr h="438912">
                <a:tc>
                  <a:txBody>
                    <a:bodyPr/>
                    <a:lstStyle/>
                    <a:p>
                      <a:pPr algn="l" indent="0" marL="0">
                        <a:buNone/>
                      </a:pPr>
                      <a:r>
                        <a:rPr lang="en-US" sz="1300" dirty="0">
                          <a:solidFill>
                            <a:srgbClr val="1B2A3D"/>
                          </a:solidFill>
                          <a:latin typeface="Calibri" pitchFamily="34" charset="0"/>
                          <a:ea typeface="Calibri" pitchFamily="34" charset="-122"/>
                          <a:cs typeface="Calibri" pitchFamily="34" charset="-120"/>
                        </a:rPr>
                        <a:t>Xếp hạng lại bằng các điểm HUI</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300" dirty="0">
                          <a:solidFill>
                            <a:srgbClr val="1B2A3D"/>
                          </a:solidFill>
                          <a:latin typeface="Calibri" pitchFamily="34" charset="0"/>
                          <a:ea typeface="Calibri" pitchFamily="34" charset="-122"/>
                          <a:cs typeface="Calibri" pitchFamily="34" charset="-120"/>
                        </a:rPr>
                        <a:t>7,33</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l" indent="0" marL="0">
                        <a:buNone/>
                      </a:pPr>
                      <a:r>
                        <a:rPr lang="en-US" sz="1300" dirty="0">
                          <a:solidFill>
                            <a:srgbClr val="1B2A3D"/>
                          </a:solidFill>
                          <a:latin typeface="Calibri" pitchFamily="34" charset="0"/>
                          <a:ea typeface="Calibri" pitchFamily="34" charset="-122"/>
                          <a:cs typeface="Calibri" pitchFamily="34" charset="-120"/>
                        </a:rPr>
                        <a:t>cải thiện</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r>
              <a:tr h="438912">
                <a:tc>
                  <a:txBody>
                    <a:bodyPr/>
                    <a:lstStyle/>
                    <a:p>
                      <a:pPr algn="l" indent="0" marL="0">
                        <a:buNone/>
                      </a:pPr>
                      <a:r>
                        <a:rPr lang="en-US" sz="1300" dirty="0">
                          <a:solidFill>
                            <a:srgbClr val="1B2A3D"/>
                          </a:solidFill>
                          <a:latin typeface="Calibri" pitchFamily="34" charset="0"/>
                          <a:ea typeface="Calibri" pitchFamily="34" charset="-122"/>
                          <a:cs typeface="Calibri" pitchFamily="34" charset="-120"/>
                        </a:rPr>
                        <a:t>+ hồ sơ cường độ suy ra từ HUI</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A3D"/>
                          </a:solidFill>
                          <a:latin typeface="Calibri" pitchFamily="34" charset="0"/>
                          <a:ea typeface="Calibri" pitchFamily="34" charset="-122"/>
                          <a:cs typeface="Calibri" pitchFamily="34" charset="-120"/>
                        </a:rPr>
                        <a:t>7,19</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A3D"/>
                          </a:solidFill>
                          <a:latin typeface="Calibri" pitchFamily="34" charset="0"/>
                          <a:ea typeface="Calibri" pitchFamily="34" charset="-122"/>
                          <a:cs typeface="Calibri" pitchFamily="34" charset="-120"/>
                        </a:rPr>
                        <a:t>cải thiện</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r>
              <a:tr h="438912">
                <a:tc>
                  <a:txBody>
                    <a:bodyPr/>
                    <a:lstStyle/>
                    <a:p>
                      <a:pPr algn="l" indent="0" marL="0">
                        <a:buNone/>
                      </a:pPr>
                      <a:r>
                        <a:rPr lang="en-US" sz="1300" dirty="0">
                          <a:solidFill>
                            <a:srgbClr val="1B2A3D"/>
                          </a:solidFill>
                          <a:latin typeface="Calibri" pitchFamily="34" charset="0"/>
                          <a:ea typeface="Calibri" pitchFamily="34" charset="-122"/>
                          <a:cs typeface="Calibri" pitchFamily="34" charset="-120"/>
                        </a:rPr>
                        <a:t>Ứng viên trên cả toà nhà</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300" dirty="0">
                          <a:solidFill>
                            <a:srgbClr val="1B2A3D"/>
                          </a:solidFill>
                          <a:latin typeface="Calibri" pitchFamily="34" charset="0"/>
                          <a:ea typeface="Calibri" pitchFamily="34" charset="-122"/>
                          <a:cs typeface="Calibri" pitchFamily="34" charset="-120"/>
                        </a:rPr>
                        <a:t>7,25</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l" indent="0" marL="0">
                        <a:buNone/>
                      </a:pPr>
                      <a:r>
                        <a:rPr lang="en-US" sz="1300" dirty="0">
                          <a:solidFill>
                            <a:srgbClr val="1B2A3D"/>
                          </a:solidFill>
                          <a:latin typeface="Calibri" pitchFamily="34" charset="0"/>
                          <a:ea typeface="Calibri" pitchFamily="34" charset="-122"/>
                          <a:cs typeface="Calibri" pitchFamily="34" charset="-120"/>
                        </a:rPr>
                        <a:t>không dùng</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r>
              <a:tr h="438912">
                <a:tc>
                  <a:txBody>
                    <a:bodyPr/>
                    <a:lstStyle/>
                    <a:p>
                      <a:pPr algn="l" indent="0" marL="0">
                        <a:buNone/>
                      </a:pPr>
                      <a:r>
                        <a:rPr lang="en-US" sz="1300" dirty="0">
                          <a:solidFill>
                            <a:srgbClr val="1B2A3D"/>
                          </a:solidFill>
                          <a:latin typeface="Calibri" pitchFamily="34" charset="0"/>
                          <a:ea typeface="Calibri" pitchFamily="34" charset="-122"/>
                          <a:cs typeface="Calibri" pitchFamily="34" charset="-120"/>
                        </a:rPr>
                        <a:t>+ đặc trưng so với các ứng viên khác (v5)</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B2A3D"/>
                          </a:solidFill>
                          <a:latin typeface="Calibri" pitchFamily="34" charset="0"/>
                          <a:ea typeface="Calibri" pitchFamily="34" charset="-122"/>
                          <a:cs typeface="Calibri" pitchFamily="34" charset="-120"/>
                        </a:rPr>
                        <a:t>7,08</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B2A3D"/>
                          </a:solidFill>
                          <a:latin typeface="Calibri" pitchFamily="34" charset="0"/>
                          <a:ea typeface="Calibri" pitchFamily="34" charset="-122"/>
                          <a:cs typeface="Calibri" pitchFamily="34" charset="-120"/>
                        </a:rPr>
                        <a:t>cải thiện</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r>
              <a:tr h="438912">
                <a:tc>
                  <a:txBody>
                    <a:bodyPr/>
                    <a:lstStyle/>
                    <a:p>
                      <a:pPr algn="l" indent="0" marL="0">
                        <a:buNone/>
                      </a:pPr>
                      <a:r>
                        <a:rPr lang="en-US" sz="1300" dirty="0">
                          <a:solidFill>
                            <a:srgbClr val="1B2A3D"/>
                          </a:solidFill>
                          <a:latin typeface="Calibri" pitchFamily="34" charset="0"/>
                          <a:ea typeface="Calibri" pitchFamily="34" charset="-122"/>
                          <a:cs typeface="Calibri" pitchFamily="34" charset="-120"/>
                        </a:rPr>
                        <a:t>v5 học khi bỏ ô của chính truy vấn</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300" dirty="0">
                          <a:solidFill>
                            <a:srgbClr val="1B2A3D"/>
                          </a:solidFill>
                          <a:latin typeface="Calibri" pitchFamily="34" charset="0"/>
                          <a:ea typeface="Calibri" pitchFamily="34" charset="-122"/>
                          <a:cs typeface="Calibri" pitchFamily="34" charset="-120"/>
                        </a:rPr>
                        <a:t>7,31</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l" indent="0" marL="0">
                        <a:buNone/>
                      </a:pPr>
                      <a:r>
                        <a:rPr lang="en-US" sz="1300" dirty="0">
                          <a:solidFill>
                            <a:srgbClr val="1B2A3D"/>
                          </a:solidFill>
                          <a:latin typeface="Calibri" pitchFamily="34" charset="0"/>
                          <a:ea typeface="Calibri" pitchFamily="34" charset="-122"/>
                          <a:cs typeface="Calibri" pitchFamily="34" charset="-120"/>
                        </a:rPr>
                        <a:t>không dùng</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r>
              <a:tr h="438912">
                <a:tc>
                  <a:txBody>
                    <a:bodyPr/>
                    <a:lstStyle/>
                    <a:p>
                      <a:pPr algn="l" indent="0" marL="0">
                        <a:buNone/>
                      </a:pPr>
                      <a:r>
                        <a:rPr lang="en-US" sz="1300" b="1" dirty="0">
                          <a:solidFill>
                            <a:srgbClr val="1B2A3D"/>
                          </a:solidFill>
                          <a:latin typeface="Calibri" pitchFamily="34" charset="0"/>
                          <a:ea typeface="Calibri" pitchFamily="34" charset="-122"/>
                          <a:cs typeface="Calibri" pitchFamily="34" charset="-120"/>
                        </a:rPr>
                        <a:t>v5 + mô hình HUI lợi ích abs (v6)</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6E9E2"/>
                    </a:solidFill>
                  </a:tcPr>
                </a:tc>
                <a:tc>
                  <a:txBody>
                    <a:bodyPr/>
                    <a:lstStyle/>
                    <a:p>
                      <a:pPr algn="r" indent="0" marL="0">
                        <a:buNone/>
                      </a:pPr>
                      <a:r>
                        <a:rPr lang="en-US" sz="1300" b="1" dirty="0">
                          <a:solidFill>
                            <a:srgbClr val="1B2A3D"/>
                          </a:solidFill>
                          <a:latin typeface="Calibri" pitchFamily="34" charset="0"/>
                          <a:ea typeface="Calibri" pitchFamily="34" charset="-122"/>
                          <a:cs typeface="Calibri" pitchFamily="34" charset="-120"/>
                        </a:rPr>
                        <a:t>6,83</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6E9E2"/>
                    </a:solidFill>
                  </a:tcPr>
                </a:tc>
                <a:tc>
                  <a:txBody>
                    <a:bodyPr/>
                    <a:lstStyle/>
                    <a:p>
                      <a:pPr algn="l" indent="0" marL="0">
                        <a:buNone/>
                      </a:pPr>
                      <a:r>
                        <a:rPr lang="en-US" sz="1300" b="1" dirty="0">
                          <a:solidFill>
                            <a:srgbClr val="1B2A3D"/>
                          </a:solidFill>
                          <a:latin typeface="Calibri" pitchFamily="34" charset="0"/>
                          <a:ea typeface="Calibri" pitchFamily="34" charset="-122"/>
                          <a:cs typeface="Calibri" pitchFamily="34" charset="-120"/>
                        </a:rPr>
                        <a:t>chọn</a:t>
                      </a:r>
                      <a:endParaRPr lang="en-US" sz="13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6E9E2"/>
                    </a:solidFill>
                  </a:tcPr>
                </a:tc>
              </a:tr>
            </a:tbl>
          </a:graphicData>
        </a:graphic>
      </p:graphicFrame>
      <p:sp>
        <p:nvSpPr>
          <p:cNvPr id="6" name="Text 2"/>
          <p:cNvSpPr txBox="1"/>
          <p:nvPr/>
        </p:nvSpPr>
        <p:spPr>
          <a:xfrm>
            <a:off x="8778240" y="1554480"/>
            <a:ext cx="2864815" cy="731520"/>
          </a:xfrm>
          <a:prstGeom prst="rect">
            <a:avLst/>
          </a:prstGeom>
          <a:noFill/>
          <a:ln/>
        </p:spPr>
        <p:txBody>
          <a:bodyPr wrap="square" lIns="0" tIns="0" rIns="0" bIns="0" rtlCol="0" anchor="ctr"/>
          <a:lstStyle/>
          <a:p>
            <a:pPr indent="0" marL="0">
              <a:buNone/>
            </a:pPr>
            <a:r>
              <a:rPr lang="en-US" sz="4000" b="1" dirty="0">
                <a:solidFill>
                  <a:srgbClr val="7A8C99"/>
                </a:solidFill>
                <a:latin typeface="Cambria" pitchFamily="34" charset="0"/>
                <a:ea typeface="Cambria" pitchFamily="34" charset="-122"/>
                <a:cs typeface="Cambria" pitchFamily="34" charset="-120"/>
              </a:rPr>
              <a:t>7,65 m</a:t>
            </a:r>
            <a:endParaRPr lang="en-US" sz="4000" dirty="0"/>
          </a:p>
        </p:txBody>
      </p:sp>
      <p:sp>
        <p:nvSpPr>
          <p:cNvPr id="7" name="Text 3"/>
          <p:cNvSpPr txBox="1"/>
          <p:nvPr/>
        </p:nvSpPr>
        <p:spPr>
          <a:xfrm>
            <a:off x="8778240" y="2304288"/>
            <a:ext cx="2864815" cy="548640"/>
          </a:xfrm>
          <a:prstGeom prst="rect">
            <a:avLst/>
          </a:prstGeom>
          <a:noFill/>
          <a:ln/>
        </p:spPr>
        <p:txBody>
          <a:bodyPr wrap="square" lIns="0" tIns="0" rIns="0" bIns="0" rtlCol="0" anchor="t"/>
          <a:lstStyle/>
          <a:p>
            <a:pPr indent="0" marL="0">
              <a:buNone/>
            </a:pPr>
            <a:r>
              <a:rPr lang="en-US" sz="1300" dirty="0">
                <a:solidFill>
                  <a:srgbClr val="7A8C99"/>
                </a:solidFill>
                <a:latin typeface="Calibri" pitchFamily="34" charset="0"/>
                <a:ea typeface="Calibri" pitchFamily="34" charset="-122"/>
                <a:cs typeface="Calibri" pitchFamily="34" charset="-120"/>
              </a:rPr>
              <a:t>dev, Bước 1–7 (v4)</a:t>
            </a:r>
            <a:endParaRPr lang="en-US" sz="1300" dirty="0"/>
          </a:p>
        </p:txBody>
      </p:sp>
      <p:sp>
        <p:nvSpPr>
          <p:cNvPr id="8" name="Text 4"/>
          <p:cNvSpPr txBox="1"/>
          <p:nvPr/>
        </p:nvSpPr>
        <p:spPr>
          <a:xfrm>
            <a:off x="8778240" y="2926080"/>
            <a:ext cx="2864815" cy="731520"/>
          </a:xfrm>
          <a:prstGeom prst="rect">
            <a:avLst/>
          </a:prstGeom>
          <a:noFill/>
          <a:ln/>
        </p:spPr>
        <p:txBody>
          <a:bodyPr wrap="square" lIns="0" tIns="0" rIns="0" bIns="0" rtlCol="0" anchor="ctr"/>
          <a:lstStyle/>
          <a:p>
            <a:pPr indent="0" marL="0">
              <a:buNone/>
            </a:pPr>
            <a:r>
              <a:rPr lang="en-US" sz="4000" b="1" dirty="0">
                <a:solidFill>
                  <a:srgbClr val="2E7D8C"/>
                </a:solidFill>
                <a:latin typeface="Cambria" pitchFamily="34" charset="0"/>
                <a:ea typeface="Cambria" pitchFamily="34" charset="-122"/>
                <a:cs typeface="Cambria" pitchFamily="34" charset="-120"/>
              </a:rPr>
              <a:t>6,83 m</a:t>
            </a:r>
            <a:endParaRPr lang="en-US" sz="4000" dirty="0"/>
          </a:p>
        </p:txBody>
      </p:sp>
      <p:sp>
        <p:nvSpPr>
          <p:cNvPr id="9" name="Text 5"/>
          <p:cNvSpPr txBox="1"/>
          <p:nvPr/>
        </p:nvSpPr>
        <p:spPr>
          <a:xfrm>
            <a:off x="8778240" y="3675888"/>
            <a:ext cx="2864815" cy="548640"/>
          </a:xfrm>
          <a:prstGeom prst="rect">
            <a:avLst/>
          </a:prstGeom>
          <a:noFill/>
          <a:ln/>
        </p:spPr>
        <p:txBody>
          <a:bodyPr wrap="square" lIns="0" tIns="0" rIns="0" bIns="0" rtlCol="0" anchor="t"/>
          <a:lstStyle/>
          <a:p>
            <a:pPr indent="0" marL="0">
              <a:buNone/>
            </a:pPr>
            <a:r>
              <a:rPr lang="en-US" sz="1300" dirty="0">
                <a:solidFill>
                  <a:srgbClr val="7A8C99"/>
                </a:solidFill>
                <a:latin typeface="Calibri" pitchFamily="34" charset="0"/>
                <a:ea typeface="Calibri" pitchFamily="34" charset="-122"/>
                <a:cs typeface="Calibri" pitchFamily="34" charset="-120"/>
              </a:rPr>
              <a:t>dev, mô hình cuối (v6)</a:t>
            </a:r>
            <a:endParaRPr lang="en-US" sz="1300" dirty="0"/>
          </a:p>
        </p:txBody>
      </p:sp>
      <p:sp>
        <p:nvSpPr>
          <p:cNvPr id="10" name="Text 6"/>
          <p:cNvSpPr txBox="1"/>
          <p:nvPr/>
        </p:nvSpPr>
        <p:spPr>
          <a:xfrm>
            <a:off x="8778240" y="4297680"/>
            <a:ext cx="2864815" cy="731520"/>
          </a:xfrm>
          <a:prstGeom prst="rect">
            <a:avLst/>
          </a:prstGeom>
          <a:noFill/>
          <a:ln/>
        </p:spPr>
        <p:txBody>
          <a:bodyPr wrap="square" lIns="0" tIns="0" rIns="0" bIns="0" rtlCol="0" anchor="ctr"/>
          <a:lstStyle/>
          <a:p>
            <a:pPr indent="0" marL="0">
              <a:buNone/>
            </a:pPr>
            <a:r>
              <a:rPr lang="en-US" sz="4000" b="1" dirty="0">
                <a:solidFill>
                  <a:srgbClr val="1F3A5F"/>
                </a:solidFill>
                <a:latin typeface="Cambria" pitchFamily="34" charset="0"/>
                <a:ea typeface="Cambria" pitchFamily="34" charset="-122"/>
                <a:cs typeface="Cambria" pitchFamily="34" charset="-120"/>
              </a:rPr>
              <a:t>6,87 m</a:t>
            </a:r>
            <a:endParaRPr lang="en-US" sz="4000" dirty="0"/>
          </a:p>
        </p:txBody>
      </p:sp>
      <p:sp>
        <p:nvSpPr>
          <p:cNvPr id="11" name="Text 7"/>
          <p:cNvSpPr txBox="1"/>
          <p:nvPr/>
        </p:nvSpPr>
        <p:spPr>
          <a:xfrm>
            <a:off x="8778240" y="5047488"/>
            <a:ext cx="2864815" cy="548640"/>
          </a:xfrm>
          <a:prstGeom prst="rect">
            <a:avLst/>
          </a:prstGeom>
          <a:noFill/>
          <a:ln/>
        </p:spPr>
        <p:txBody>
          <a:bodyPr wrap="square" lIns="0" tIns="0" rIns="0" bIns="0" rtlCol="0" anchor="t"/>
          <a:lstStyle/>
          <a:p>
            <a:pPr indent="0" marL="0">
              <a:buNone/>
            </a:pPr>
            <a:r>
              <a:rPr lang="en-US" sz="1300" dirty="0">
                <a:solidFill>
                  <a:srgbClr val="7A8C99"/>
                </a:solidFill>
                <a:latin typeface="Calibri" pitchFamily="34" charset="0"/>
                <a:ea typeface="Calibri" pitchFamily="34" charset="-122"/>
                <a:cs typeface="Calibri" pitchFamily="34" charset="-120"/>
              </a:rPr>
              <a:t>tập kiểm tra, chấm một lần</a:t>
            </a:r>
            <a:endParaRPr lang="en-US" sz="13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74320"/>
            <a:ext cx="8229600" cy="274320"/>
          </a:xfrm>
          <a:prstGeom prst="rect">
            <a:avLst/>
          </a:prstGeom>
          <a:noFill/>
          <a:ln/>
        </p:spPr>
        <p:txBody>
          <a:bodyPr wrap="square" lIns="0" tIns="0" rIns="0" bIns="0" rtlCol="0" anchor="ctr"/>
          <a:lstStyle/>
          <a:p>
            <a:pPr indent="0" marL="0">
              <a:buNone/>
            </a:pPr>
            <a:r>
              <a:rPr lang="en-US" sz="1100" b="1" spc="150" kern="0" dirty="0">
                <a:solidFill>
                  <a:srgbClr val="2E7D8C"/>
                </a:solidFill>
                <a:latin typeface="Calibri" pitchFamily="34" charset="0"/>
                <a:ea typeface="Calibri" pitchFamily="34" charset="-122"/>
                <a:cs typeface="Calibri" pitchFamily="34" charset="-120"/>
              </a:rPr>
              <a:t>04 · SO SÁNH</a:t>
            </a:r>
            <a:endParaRPr lang="en-US" sz="1100" dirty="0"/>
          </a:p>
        </p:txBody>
      </p:sp>
      <p:sp>
        <p:nvSpPr>
          <p:cNvPr id="3" name="Text 2"/>
          <p:cNvSpPr/>
          <p:nvPr>
            <p:ph idx="102" type="title" hasCustomPrompt="1"/>
          </p:nvPr>
        </p:nvSpPr>
        <p:spPr>
          <a:xfrm>
            <a:off x="548640" y="566928"/>
            <a:ext cx="11094415" cy="685800"/>
          </a:xfrm>
          <a:prstGeom prst="rect">
            <a:avLst/>
          </a:prstGeom>
          <a:noFill/>
          <a:ln/>
        </p:spPr>
        <p:txBody>
          <a:bodyPr wrap="square" lIns="0" tIns="0" rIns="0" bIns="0" rtlCol="0" anchor="t"/>
          <a:lstStyle/>
          <a:p>
            <a:pPr algn="l" indent="0" marL="0">
              <a:buNone/>
            </a:pPr>
            <a:r>
              <a:rPr lang="en-US" sz="2600" b="1" dirty="0">
                <a:solidFill>
                  <a:srgbClr val="1F3A5F"/>
                </a:solidFill>
                <a:latin typeface="Cambria" pitchFamily="34" charset="0"/>
                <a:ea typeface="Cambria" pitchFamily="34" charset="-122"/>
                <a:cs typeface="Cambria" pitchFamily="34" charset="-120"/>
              </a:rPr>
              <a:t>Đặt cạnh các hệ thống dùng k-NN</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589520" cy="914400"/>
        </p:xfrm>
        <a:graphic>
          <a:graphicData uri="http://schemas.openxmlformats.org/drawingml/2006/table">
            <a:tbl>
              <a:tblPr/>
              <a:tblGrid>
                <a:gridCol w="1828800"/>
                <a:gridCol w="1325880"/>
                <a:gridCol w="960120"/>
                <a:gridCol w="960120"/>
                <a:gridCol w="1051560"/>
                <a:gridCol w="1463040"/>
              </a:tblGrid>
              <a:tr h="384048">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Bộ dữ liệu</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Tập kiểm tra</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Chỉ HUIM</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k-NN gốc</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k-NN tối ưu</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HUIM chọn AP + k-NN</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1F3A5F"/>
                    </a:solidFill>
                  </a:tcPr>
                </a:tc>
              </a:tr>
              <a:tr h="384048">
                <a:tc>
                  <a:txBody>
                    <a:bodyPr/>
                    <a:lstStyle/>
                    <a:p>
                      <a:pPr algn="l" indent="0" marL="0">
                        <a:buNone/>
                      </a:pPr>
                      <a:r>
                        <a:rPr lang="en-US" sz="1200" b="1" dirty="0">
                          <a:solidFill>
                            <a:srgbClr val="1B2A3D"/>
                          </a:solidFill>
                          <a:latin typeface="Calibri" pitchFamily="34" charset="0"/>
                          <a:ea typeface="Calibri" pitchFamily="34" charset="-122"/>
                          <a:cs typeface="Calibri" pitchFamily="34" charset="-120"/>
                        </a:rPr>
                        <a:t>UJIIndoorLoc</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6E9E2"/>
                    </a:solidFill>
                  </a:tcPr>
                </a:tc>
                <a:tc>
                  <a:txBody>
                    <a:bodyPr/>
                    <a:lstStyle/>
                    <a:p>
                      <a:pPr algn="l" indent="0" marL="0">
                        <a:buNone/>
                      </a:pPr>
                      <a:r>
                        <a:rPr lang="en-US" sz="1200" b="1" dirty="0">
                          <a:solidFill>
                            <a:srgbClr val="1B2A3D"/>
                          </a:solidFill>
                          <a:latin typeface="Calibri" pitchFamily="34" charset="0"/>
                          <a:ea typeface="Calibri" pitchFamily="34" charset="-122"/>
                          <a:cs typeface="Calibri" pitchFamily="34" charset="-120"/>
                        </a:rPr>
                        <a:t>validationData</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6E9E2"/>
                    </a:solidFill>
                  </a:tcPr>
                </a:tc>
                <a:tc>
                  <a:txBody>
                    <a:bodyPr/>
                    <a:lstStyle/>
                    <a:p>
                      <a:pPr algn="r" indent="0" marL="0">
                        <a:buNone/>
                      </a:pPr>
                      <a:r>
                        <a:rPr lang="en-US" sz="1200" b="1" dirty="0">
                          <a:solidFill>
                            <a:srgbClr val="1B2A3D"/>
                          </a:solidFill>
                          <a:latin typeface="Calibri" pitchFamily="34" charset="0"/>
                          <a:ea typeface="Calibri" pitchFamily="34" charset="-122"/>
                          <a:cs typeface="Calibri" pitchFamily="34" charset="-120"/>
                        </a:rPr>
                        <a:t>6,87</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6E9E2"/>
                    </a:solidFill>
                  </a:tcPr>
                </a:tc>
                <a:tc>
                  <a:txBody>
                    <a:bodyPr/>
                    <a:lstStyle/>
                    <a:p>
                      <a:pPr algn="r" indent="0" marL="0">
                        <a:buNone/>
                      </a:pPr>
                      <a:r>
                        <a:rPr lang="en-US" sz="1200" b="1" dirty="0">
                          <a:solidFill>
                            <a:srgbClr val="1B2A3D"/>
                          </a:solidFill>
                          <a:latin typeface="Calibri" pitchFamily="34" charset="0"/>
                          <a:ea typeface="Calibri" pitchFamily="34" charset="-122"/>
                          <a:cs typeface="Calibri" pitchFamily="34" charset="-120"/>
                        </a:rPr>
                        <a:t>9,28</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6E9E2"/>
                    </a:solidFill>
                  </a:tcPr>
                </a:tc>
                <a:tc>
                  <a:txBody>
                    <a:bodyPr/>
                    <a:lstStyle/>
                    <a:p>
                      <a:pPr algn="r" indent="0" marL="0">
                        <a:buNone/>
                      </a:pPr>
                      <a:r>
                        <a:rPr lang="en-US" sz="1200" b="1" dirty="0">
                          <a:solidFill>
                            <a:srgbClr val="1B2A3D"/>
                          </a:solidFill>
                          <a:latin typeface="Calibri" pitchFamily="34" charset="0"/>
                          <a:ea typeface="Calibri" pitchFamily="34" charset="-122"/>
                          <a:cs typeface="Calibri" pitchFamily="34" charset="-120"/>
                        </a:rPr>
                        <a:t>5,36</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6E9E2"/>
                    </a:solidFill>
                  </a:tcPr>
                </a:tc>
                <a:tc>
                  <a:txBody>
                    <a:bodyPr/>
                    <a:lstStyle/>
                    <a:p>
                      <a:pPr algn="r" indent="0" marL="0">
                        <a:buNone/>
                      </a:pPr>
                      <a:r>
                        <a:rPr lang="en-US" sz="1200" b="1" dirty="0">
                          <a:solidFill>
                            <a:srgbClr val="1B2A3D"/>
                          </a:solidFill>
                          <a:latin typeface="Calibri" pitchFamily="34" charset="0"/>
                          <a:ea typeface="Calibri" pitchFamily="34" charset="-122"/>
                          <a:cs typeface="Calibri" pitchFamily="34" charset="-120"/>
                        </a:rPr>
                        <a:t>5,30 (240/520 AP)</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6E9E2"/>
                    </a:solidFill>
                  </a:tcPr>
                </a:tc>
              </a:tr>
              <a:tr h="384048">
                <a:tc>
                  <a:txBody>
                    <a:bodyPr/>
                    <a:lstStyle/>
                    <a:p>
                      <a:pPr algn="l" indent="0" marL="0">
                        <a:buNone/>
                      </a:pPr>
                      <a:r>
                        <a:rPr lang="en-US" sz="1200" dirty="0">
                          <a:solidFill>
                            <a:srgbClr val="1B2A3D"/>
                          </a:solidFill>
                          <a:latin typeface="Calibri" pitchFamily="34" charset="0"/>
                          <a:ea typeface="Calibri" pitchFamily="34" charset="-122"/>
                          <a:cs typeface="Calibri" pitchFamily="34" charset="-120"/>
                        </a:rPr>
                        <a:t>UJI_LIB tầng 3</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l" indent="0" marL="0">
                        <a:buNone/>
                      </a:pPr>
                      <a:r>
                        <a:rPr lang="en-US" sz="1200" dirty="0">
                          <a:solidFill>
                            <a:srgbClr val="1B2A3D"/>
                          </a:solidFill>
                          <a:latin typeface="Calibri" pitchFamily="34" charset="0"/>
                          <a:ea typeface="Calibri" pitchFamily="34" charset="-122"/>
                          <a:cs typeface="Calibri" pitchFamily="34" charset="-120"/>
                        </a:rPr>
                        <a:t>Test-01</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2,57</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1,33</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1,21</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1,20 (90/620 AP)</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r>
              <a:tr h="384048">
                <a:tc>
                  <a:txBody>
                    <a:bodyPr/>
                    <a:lstStyle/>
                    <a:p>
                      <a:pPr algn="l" indent="0" marL="0">
                        <a:buNone/>
                      </a:pPr>
                      <a:r>
                        <a:rPr lang="en-US" sz="1200" dirty="0">
                          <a:solidFill>
                            <a:srgbClr val="1B2A3D"/>
                          </a:solidFill>
                          <a:latin typeface="Calibri" pitchFamily="34" charset="0"/>
                          <a:ea typeface="Calibri" pitchFamily="34" charset="-122"/>
                          <a:cs typeface="Calibri" pitchFamily="34" charset="-120"/>
                        </a:rPr>
                        <a:t>UJI_LIB tầng 3</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A3D"/>
                          </a:solidFill>
                          <a:latin typeface="Calibri" pitchFamily="34" charset="0"/>
                          <a:ea typeface="Calibri" pitchFamily="34" charset="-122"/>
                          <a:cs typeface="Calibri" pitchFamily="34" charset="-120"/>
                        </a:rPr>
                        <a:t>Test-02</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2,68</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1,94</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2,03</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2,02 (90/620 AP)</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2A3D"/>
                          </a:solidFill>
                          <a:latin typeface="Calibri" pitchFamily="34" charset="0"/>
                          <a:ea typeface="Calibri" pitchFamily="34" charset="-122"/>
                          <a:cs typeface="Calibri" pitchFamily="34" charset="-120"/>
                        </a:rPr>
                        <a:t>DLULIB</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l" indent="0" marL="0">
                        <a:buNone/>
                      </a:pPr>
                      <a:r>
                        <a:rPr lang="en-US" sz="1200" dirty="0">
                          <a:solidFill>
                            <a:srgbClr val="1B2A3D"/>
                          </a:solidFill>
                          <a:latin typeface="Calibri" pitchFamily="34" charset="0"/>
                          <a:ea typeface="Calibri" pitchFamily="34" charset="-122"/>
                          <a:cs typeface="Calibri" pitchFamily="34" charset="-120"/>
                        </a:rPr>
                        <a:t>Testing</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6,01</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4,18</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3,43</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3,43 (17/17 AP)</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r>
              <a:tr h="384048">
                <a:tc>
                  <a:txBody>
                    <a:bodyPr/>
                    <a:lstStyle/>
                    <a:p>
                      <a:pPr algn="l" indent="0" marL="0">
                        <a:buNone/>
                      </a:pPr>
                      <a:r>
                        <a:rPr lang="en-US" sz="1200" dirty="0">
                          <a:solidFill>
                            <a:srgbClr val="1B2A3D"/>
                          </a:solidFill>
                          <a:latin typeface="Calibri" pitchFamily="34" charset="0"/>
                          <a:ea typeface="Calibri" pitchFamily="34" charset="-122"/>
                          <a:cs typeface="Calibri" pitchFamily="34" charset="-120"/>
                        </a:rPr>
                        <a:t>HCXY</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A3D"/>
                          </a:solidFill>
                          <a:latin typeface="Calibri" pitchFamily="34" charset="0"/>
                          <a:ea typeface="Calibri" pitchFamily="34" charset="-122"/>
                          <a:cs typeface="Calibri" pitchFamily="34" charset="-120"/>
                        </a:rPr>
                        <a:t>test_HCXY</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2,82</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1,93</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1,55</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1,50 (137/347 AP)</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2A3D"/>
                          </a:solidFill>
                          <a:latin typeface="Calibri" pitchFamily="34" charset="0"/>
                          <a:ea typeface="Calibri" pitchFamily="34" charset="-122"/>
                          <a:cs typeface="Calibri" pitchFamily="34" charset="-120"/>
                        </a:rPr>
                        <a:t>HUS</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l" indent="0" marL="0">
                        <a:buNone/>
                      </a:pPr>
                      <a:r>
                        <a:rPr lang="en-US" sz="1200" dirty="0">
                          <a:solidFill>
                            <a:srgbClr val="1B2A3D"/>
                          </a:solidFill>
                          <a:latin typeface="Calibri" pitchFamily="34" charset="0"/>
                          <a:ea typeface="Calibri" pitchFamily="34" charset="-122"/>
                          <a:cs typeface="Calibri" pitchFamily="34" charset="-120"/>
                        </a:rPr>
                        <a:t>testcase1</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0,05</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0,07</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0,07 (5/5 AP)</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r>
              <a:tr h="384048">
                <a:tc>
                  <a:txBody>
                    <a:bodyPr/>
                    <a:lstStyle/>
                    <a:p>
                      <a:pPr algn="l" indent="0" marL="0">
                        <a:buNone/>
                      </a:pPr>
                      <a:r>
                        <a:rPr lang="en-US" sz="1200" dirty="0">
                          <a:solidFill>
                            <a:srgbClr val="1B2A3D"/>
                          </a:solidFill>
                          <a:latin typeface="Calibri" pitchFamily="34" charset="0"/>
                          <a:ea typeface="Calibri" pitchFamily="34" charset="-122"/>
                          <a:cs typeface="Calibri" pitchFamily="34" charset="-120"/>
                        </a:rPr>
                        <a:t>HUS</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A3D"/>
                          </a:solidFill>
                          <a:latin typeface="Calibri" pitchFamily="34" charset="0"/>
                          <a:ea typeface="Calibri" pitchFamily="34" charset="-122"/>
                          <a:cs typeface="Calibri" pitchFamily="34" charset="-120"/>
                        </a:rPr>
                        <a:t>testcase2</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1,54</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0,03</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0,06</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0,06 (5/5 AP)</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r>
              <a:tr h="384048">
                <a:tc>
                  <a:txBody>
                    <a:bodyPr/>
                    <a:lstStyle/>
                    <a:p>
                      <a:pPr algn="l" indent="0" marL="0">
                        <a:buNone/>
                      </a:pPr>
                      <a:r>
                        <a:rPr lang="en-US" sz="1200" dirty="0">
                          <a:solidFill>
                            <a:srgbClr val="1B2A3D"/>
                          </a:solidFill>
                          <a:latin typeface="Calibri" pitchFamily="34" charset="0"/>
                          <a:ea typeface="Calibri" pitchFamily="34" charset="-122"/>
                          <a:cs typeface="Calibri" pitchFamily="34" charset="-120"/>
                        </a:rPr>
                        <a:t>HUS (khử trùng lặp)</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l" indent="0" marL="0">
                        <a:buNone/>
                      </a:pPr>
                      <a:r>
                        <a:rPr lang="en-US" sz="1200" dirty="0">
                          <a:solidFill>
                            <a:srgbClr val="1B2A3D"/>
                          </a:solidFill>
                          <a:latin typeface="Calibri" pitchFamily="34" charset="0"/>
                          <a:ea typeface="Calibri" pitchFamily="34" charset="-122"/>
                          <a:cs typeface="Calibri" pitchFamily="34" charset="-120"/>
                        </a:rPr>
                        <a:t>testcase1</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1,30</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0,42</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0,39</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0,39 (5/5 AP)</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7F6F2"/>
                    </a:solidFill>
                  </a:tcPr>
                </a:tc>
              </a:tr>
              <a:tr h="384048">
                <a:tc>
                  <a:txBody>
                    <a:bodyPr/>
                    <a:lstStyle/>
                    <a:p>
                      <a:pPr algn="l" indent="0" marL="0">
                        <a:buNone/>
                      </a:pPr>
                      <a:r>
                        <a:rPr lang="en-US" sz="1200" dirty="0">
                          <a:solidFill>
                            <a:srgbClr val="1B2A3D"/>
                          </a:solidFill>
                          <a:latin typeface="Calibri" pitchFamily="34" charset="0"/>
                          <a:ea typeface="Calibri" pitchFamily="34" charset="-122"/>
                          <a:cs typeface="Calibri" pitchFamily="34" charset="-120"/>
                        </a:rPr>
                        <a:t>HUS (khử trùng lặp)</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l" indent="0" marL="0">
                        <a:buNone/>
                      </a:pPr>
                      <a:r>
                        <a:rPr lang="en-US" sz="1200" dirty="0">
                          <a:solidFill>
                            <a:srgbClr val="1B2A3D"/>
                          </a:solidFill>
                          <a:latin typeface="Calibri" pitchFamily="34" charset="0"/>
                          <a:ea typeface="Calibri" pitchFamily="34" charset="-122"/>
                          <a:cs typeface="Calibri" pitchFamily="34" charset="-120"/>
                        </a:rPr>
                        <a:t>testcase2</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1,54</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0,33</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0,25</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c>
                  <a:txBody>
                    <a:bodyPr/>
                    <a:lstStyle/>
                    <a:p>
                      <a:pPr algn="r" indent="0" marL="0">
                        <a:buNone/>
                      </a:pPr>
                      <a:r>
                        <a:rPr lang="en-US" sz="1200" dirty="0">
                          <a:solidFill>
                            <a:srgbClr val="1B2A3D"/>
                          </a:solidFill>
                          <a:latin typeface="Calibri" pitchFamily="34" charset="0"/>
                          <a:ea typeface="Calibri" pitchFamily="34" charset="-122"/>
                          <a:cs typeface="Calibri" pitchFamily="34" charset="-120"/>
                        </a:rPr>
                        <a:t>0,25 (5/5 AP)</a:t>
                      </a:r>
                      <a:endParaRPr lang="en-US" sz="1200" dirty="0">
                        <a:latin typeface="Calibri" charset="0"/>
                        <a:ea typeface="Calibri" charset="0"/>
                        <a:cs typeface="Calibri" charset="0"/>
                      </a:endParaRPr>
                    </a:p>
                  </a:txBody>
                  <a:tcPr marL="76200" marR="76200" marT="25400" marB="25400" anchor="ctr">
                    <a:lnL w="6350" cap="flat" cmpd="sng" algn="ctr">
                      <a:solidFill>
                        <a:srgbClr val="D5D0C4"/>
                      </a:solidFill>
                      <a:prstDash val="solid"/>
                      <a:round/>
                      <a:headEnd type="none" w="med" len="med"/>
                      <a:tailEnd type="none" w="med" len="med"/>
                    </a:lnL>
                    <a:lnR w="6350" cap="flat" cmpd="sng" algn="ctr">
                      <a:solidFill>
                        <a:srgbClr val="D5D0C4"/>
                      </a:solidFill>
                      <a:prstDash val="solid"/>
                      <a:round/>
                      <a:headEnd type="none" w="med" len="med"/>
                      <a:tailEnd type="none" w="med" len="med"/>
                    </a:lnR>
                    <a:lnT w="6350" cap="flat" cmpd="sng" algn="ctr">
                      <a:solidFill>
                        <a:srgbClr val="D5D0C4"/>
                      </a:solidFill>
                      <a:prstDash val="solid"/>
                      <a:round/>
                      <a:headEnd type="none" w="med" len="med"/>
                      <a:tailEnd type="none" w="med" len="med"/>
                    </a:lnT>
                    <a:lnB w="6350" cap="flat" cmpd="sng" algn="ctr">
                      <a:solidFill>
                        <a:srgbClr val="D5D0C4"/>
                      </a:solidFill>
                      <a:prstDash val="solid"/>
                      <a:round/>
                      <a:headEnd type="none" w="med" len="med"/>
                      <a:tailEnd type="none" w="med" len="med"/>
                    </a:lnB>
                    <a:solidFill>
                      <a:srgbClr val="FFFFFF"/>
                    </a:solidFill>
                  </a:tcPr>
                </a:tc>
              </a:tr>
            </a:tbl>
          </a:graphicData>
        </a:graphic>
      </p:graphicFrame>
      <p:sp>
        <p:nvSpPr>
          <p:cNvPr id="6" name="Text 2"/>
          <p:cNvSpPr txBox="1"/>
          <p:nvPr/>
        </p:nvSpPr>
        <p:spPr>
          <a:xfrm>
            <a:off x="8503920" y="1463040"/>
            <a:ext cx="3139135" cy="365760"/>
          </a:xfrm>
          <a:prstGeom prst="rect">
            <a:avLst/>
          </a:prstGeom>
          <a:noFill/>
          <a:ln/>
        </p:spPr>
        <p:txBody>
          <a:bodyPr wrap="square" lIns="0" tIns="0" rIns="0" bIns="0" rtlCol="0" anchor="t"/>
          <a:lstStyle/>
          <a:p>
            <a:pPr indent="0" marL="0">
              <a:buNone/>
            </a:pPr>
            <a:r>
              <a:rPr lang="en-US" sz="1700" b="1" dirty="0">
                <a:solidFill>
                  <a:srgbClr val="1F3A5F"/>
                </a:solidFill>
                <a:latin typeface="Calibri" pitchFamily="34" charset="0"/>
                <a:ea typeface="Calibri" pitchFamily="34" charset="-122"/>
                <a:cs typeface="Calibri" pitchFamily="34" charset="-120"/>
              </a:rPr>
              <a:t>Đọc bảng</a:t>
            </a:r>
            <a:endParaRPr lang="en-US" sz="1700" dirty="0"/>
          </a:p>
        </p:txBody>
      </p:sp>
      <p:sp>
        <p:nvSpPr>
          <p:cNvPr id="7" name="Text 3"/>
          <p:cNvSpPr txBox="1"/>
          <p:nvPr/>
        </p:nvSpPr>
        <p:spPr>
          <a:xfrm>
            <a:off x="8503920" y="1920240"/>
            <a:ext cx="3139135" cy="4297680"/>
          </a:xfrm>
          <a:prstGeom prst="rect">
            <a:avLst/>
          </a:prstGeom>
          <a:noFill/>
          <a:ln/>
        </p:spPr>
        <p:txBody>
          <a:bodyPr wrap="square" lIns="25400" tIns="25400" rIns="25400" bIns="25400" rtlCol="0" anchor="t"/>
          <a:lstStyle/>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Đơn vị: mét, sai số trung bình trên tập kiểm tra</a:t>
            </a:r>
            <a:endParaRPr lang="en-US" sz="1400" dirty="0"/>
          </a:p>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UJIIndoorLoc: chỉ HUIM tốt hơn </a:t>
            </a:r>
            <a:pPr algn="l" marL="228600" indent="-228600">
              <a:spcAft>
                <a:spcPts val="800"/>
              </a:spcAft>
              <a:buSzPct val="100000"/>
              <a:buChar char="•"/>
            </a:pPr>
            <a:r>
              <a:rPr lang="en-US" sz="1400" b="1" dirty="0">
                <a:solidFill>
                  <a:srgbClr val="1B2A3D"/>
                </a:solidFill>
                <a:latin typeface="Calibri" pitchFamily="34" charset="0"/>
                <a:ea typeface="Calibri" pitchFamily="34" charset="-122"/>
                <a:cs typeface="Calibri" pitchFamily="34" charset="-120"/>
              </a:rPr>
              <a:t>k-NN gốc</a:t>
            </a:r>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 kém k-NN đã tối ưu</a:t>
            </a:r>
            <a:endParaRPr lang="en-US" sz="1400" dirty="0"/>
          </a:p>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Bộ một tầng: vị trí kiểm tra trùng hoặc rất gần điểm tham chiếu, lợi thế cho k-NN</a:t>
            </a:r>
            <a:endParaRPr lang="en-US" sz="1400" dirty="0"/>
          </a:p>
          <a:p>
            <a:pPr algn="l" marL="228600" indent="-228600">
              <a:spcAft>
                <a:spcPts val="800"/>
              </a:spcAft>
              <a:buSzPct val="100000"/>
              <a:buChar char="•"/>
            </a:pPr>
            <a:r>
              <a:rPr lang="en-US" sz="1400" dirty="0">
                <a:solidFill>
                  <a:srgbClr val="1B2A3D"/>
                </a:solidFill>
                <a:latin typeface="Calibri" pitchFamily="34" charset="0"/>
                <a:ea typeface="Calibri" pitchFamily="34" charset="-122"/>
                <a:cs typeface="Calibri" pitchFamily="34" charset="-120"/>
              </a:rPr>
              <a:t>Ở hệ thống đề xuất, bỏ HUIM thì không còn mô hình định vị</a:t>
            </a:r>
            <a:endParaRPr lang="en-US" sz="14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74320"/>
            <a:ext cx="8229600" cy="274320"/>
          </a:xfrm>
          <a:prstGeom prst="rect">
            <a:avLst/>
          </a:prstGeom>
          <a:noFill/>
          <a:ln/>
        </p:spPr>
        <p:txBody>
          <a:bodyPr wrap="square" lIns="0" tIns="0" rIns="0" bIns="0" rtlCol="0" anchor="ctr"/>
          <a:lstStyle/>
          <a:p>
            <a:pPr indent="0" marL="0">
              <a:buNone/>
            </a:pPr>
            <a:r>
              <a:rPr lang="en-US" sz="1100" b="1" spc="150" kern="0" dirty="0">
                <a:solidFill>
                  <a:srgbClr val="2E7D8C"/>
                </a:solidFill>
                <a:latin typeface="Calibri" pitchFamily="34" charset="0"/>
                <a:ea typeface="Calibri" pitchFamily="34" charset="-122"/>
                <a:cs typeface="Calibri" pitchFamily="34" charset="-120"/>
              </a:rPr>
              <a:t>04 · KIỂM CHỨNG</a:t>
            </a:r>
            <a:endParaRPr lang="en-US" sz="1100" dirty="0"/>
          </a:p>
        </p:txBody>
      </p:sp>
      <p:sp>
        <p:nvSpPr>
          <p:cNvPr id="3" name="Text 2"/>
          <p:cNvSpPr/>
          <p:nvPr>
            <p:ph idx="102" type="title" hasCustomPrompt="1"/>
          </p:nvPr>
        </p:nvSpPr>
        <p:spPr>
          <a:xfrm>
            <a:off x="548640" y="566928"/>
            <a:ext cx="11094415" cy="685800"/>
          </a:xfrm>
          <a:prstGeom prst="rect">
            <a:avLst/>
          </a:prstGeom>
          <a:noFill/>
          <a:ln/>
        </p:spPr>
        <p:txBody>
          <a:bodyPr wrap="square" lIns="0" tIns="0" rIns="0" bIns="0" rtlCol="0" anchor="t"/>
          <a:lstStyle/>
          <a:p>
            <a:pPr algn="l" indent="0" marL="0">
              <a:buNone/>
            </a:pPr>
            <a:r>
              <a:rPr lang="en-US" sz="2600" b="1" dirty="0">
                <a:solidFill>
                  <a:srgbClr val="1F3A5F"/>
                </a:solidFill>
                <a:latin typeface="Cambria" pitchFamily="34" charset="0"/>
                <a:ea typeface="Cambria" pitchFamily="34" charset="-122"/>
                <a:cs typeface="Cambria" pitchFamily="34" charset="-120"/>
              </a:rPr>
              <a:t>Mọi con số đều tính lại được độc lập</a:t>
            </a:r>
            <a:endParaRPr lang="en-US" sz="2600" dirty="0"/>
          </a:p>
        </p:txBody>
      </p:sp>
      <p:sp>
        <p:nvSpPr>
          <p:cNvPr id="5" name="Shape 2"/>
          <p:cNvSpPr/>
          <p:nvPr/>
        </p:nvSpPr>
        <p:spPr>
          <a:xfrm>
            <a:off x="548640" y="1508760"/>
            <a:ext cx="3515258" cy="3520440"/>
          </a:xfrm>
          <a:prstGeom prst="rect">
            <a:avLst/>
          </a:prstGeom>
          <a:solidFill>
            <a:srgbClr val="E8F1F2"/>
          </a:solidFill>
          <a:ln w="12700">
            <a:solidFill>
              <a:srgbClr val="E8F1F2"/>
            </a:solidFill>
            <a:prstDash val="solid"/>
          </a:ln>
        </p:spPr>
      </p:sp>
      <p:sp>
        <p:nvSpPr>
          <p:cNvPr id="6" name="Text 3"/>
          <p:cNvSpPr txBox="1"/>
          <p:nvPr/>
        </p:nvSpPr>
        <p:spPr>
          <a:xfrm>
            <a:off x="822960" y="1737360"/>
            <a:ext cx="2966618" cy="640080"/>
          </a:xfrm>
          <a:prstGeom prst="rect">
            <a:avLst/>
          </a:prstGeom>
          <a:noFill/>
          <a:ln/>
        </p:spPr>
        <p:txBody>
          <a:bodyPr wrap="square" lIns="0" tIns="0" rIns="0" bIns="0" rtlCol="0" anchor="ctr"/>
          <a:lstStyle/>
          <a:p>
            <a:pPr indent="0" marL="0">
              <a:buNone/>
            </a:pPr>
            <a:r>
              <a:rPr lang="en-US" sz="2600" b="1" dirty="0">
                <a:solidFill>
                  <a:srgbClr val="2E7D8C"/>
                </a:solidFill>
                <a:latin typeface="Cambria" pitchFamily="34" charset="0"/>
                <a:ea typeface="Cambria" pitchFamily="34" charset="-122"/>
                <a:cs typeface="Cambria" pitchFamily="34" charset="-120"/>
              </a:rPr>
              <a:t>50 phép kiểm</a:t>
            </a:r>
            <a:endParaRPr lang="en-US" sz="2600" dirty="0"/>
          </a:p>
        </p:txBody>
      </p:sp>
      <p:sp>
        <p:nvSpPr>
          <p:cNvPr id="7" name="Text 4"/>
          <p:cNvSpPr txBox="1"/>
          <p:nvPr/>
        </p:nvSpPr>
        <p:spPr>
          <a:xfrm>
            <a:off x="822960" y="2377440"/>
            <a:ext cx="2966618" cy="411480"/>
          </a:xfrm>
          <a:prstGeom prst="rect">
            <a:avLst/>
          </a:prstGeom>
          <a:noFill/>
          <a:ln/>
        </p:spPr>
        <p:txBody>
          <a:bodyPr wrap="square" lIns="0" tIns="0" rIns="0" bIns="0" rtlCol="0" anchor="ctr"/>
          <a:lstStyle/>
          <a:p>
            <a:pPr indent="0" marL="0">
              <a:buNone/>
            </a:pPr>
            <a:r>
              <a:rPr lang="en-US" sz="1400" b="1" dirty="0">
                <a:solidFill>
                  <a:srgbClr val="7A8C99"/>
                </a:solidFill>
                <a:latin typeface="Calibri" pitchFamily="34" charset="0"/>
                <a:ea typeface="Calibri" pitchFamily="34" charset="-122"/>
                <a:cs typeface="Calibri" pitchFamily="34" charset="-120"/>
              </a:rPr>
              <a:t>0 thất bại</a:t>
            </a:r>
            <a:endParaRPr lang="en-US" sz="1400" dirty="0"/>
          </a:p>
        </p:txBody>
      </p:sp>
      <p:sp>
        <p:nvSpPr>
          <p:cNvPr id="8" name="Text 5"/>
          <p:cNvSpPr txBox="1"/>
          <p:nvPr/>
        </p:nvSpPr>
        <p:spPr>
          <a:xfrm>
            <a:off x="822960" y="2971800"/>
            <a:ext cx="2966618" cy="1920240"/>
          </a:xfrm>
          <a:prstGeom prst="rect">
            <a:avLst/>
          </a:prstGeom>
          <a:noFill/>
          <a:ln/>
        </p:spPr>
        <p:txBody>
          <a:bodyPr wrap="square" lIns="0" tIns="0" rIns="0" bIns="0" rtlCol="0" anchor="t"/>
          <a:lstStyle/>
          <a:p>
            <a:pPr indent="0" marL="0">
              <a:buNone/>
            </a:pPr>
            <a:r>
              <a:rPr lang="en-US" sz="1500" dirty="0">
                <a:solidFill>
                  <a:srgbClr val="1B2A3D"/>
                </a:solidFill>
                <a:latin typeface="Calibri" pitchFamily="34" charset="0"/>
                <a:ea typeface="Calibri" pitchFamily="34" charset="-122"/>
                <a:cs typeface="Calibri" pitchFamily="34" charset="-120"/>
              </a:rPr>
              <a:t>Chương trình kiểm chứng độc lập: đọc dữ liệu gốc, tính lại lợi ích, kiểm tra HUI vượt ngưỡng, điểm khớp, tầng và toạ độ của mẫu ngẫu nhiên; không gọi EFIM hay bộ định vị.</a:t>
            </a:r>
            <a:endParaRPr lang="en-US" sz="1500" dirty="0"/>
          </a:p>
        </p:txBody>
      </p:sp>
      <p:sp>
        <p:nvSpPr>
          <p:cNvPr id="9" name="Shape 6"/>
          <p:cNvSpPr/>
          <p:nvPr/>
        </p:nvSpPr>
        <p:spPr>
          <a:xfrm>
            <a:off x="4338218" y="1508760"/>
            <a:ext cx="3515258" cy="3520440"/>
          </a:xfrm>
          <a:prstGeom prst="rect">
            <a:avLst/>
          </a:prstGeom>
          <a:solidFill>
            <a:srgbClr val="FBFAF7"/>
          </a:solidFill>
          <a:ln w="12700">
            <a:solidFill>
              <a:srgbClr val="FBFAF7"/>
            </a:solidFill>
            <a:prstDash val="solid"/>
          </a:ln>
        </p:spPr>
      </p:sp>
      <p:sp>
        <p:nvSpPr>
          <p:cNvPr id="10" name="Text 7"/>
          <p:cNvSpPr txBox="1"/>
          <p:nvPr/>
        </p:nvSpPr>
        <p:spPr>
          <a:xfrm>
            <a:off x="4612538" y="1737360"/>
            <a:ext cx="2966618" cy="640080"/>
          </a:xfrm>
          <a:prstGeom prst="rect">
            <a:avLst/>
          </a:prstGeom>
          <a:noFill/>
          <a:ln/>
        </p:spPr>
        <p:txBody>
          <a:bodyPr wrap="square" lIns="0" tIns="0" rIns="0" bIns="0" rtlCol="0" anchor="ctr"/>
          <a:lstStyle/>
          <a:p>
            <a:pPr indent="0" marL="0">
              <a:buNone/>
            </a:pPr>
            <a:r>
              <a:rPr lang="en-US" sz="2600" b="1" dirty="0">
                <a:solidFill>
                  <a:srgbClr val="1F3A5F"/>
                </a:solidFill>
                <a:latin typeface="Cambria" pitchFamily="34" charset="0"/>
                <a:ea typeface="Cambria" pitchFamily="34" charset="-122"/>
                <a:cs typeface="Cambria" pitchFamily="34" charset="-120"/>
              </a:rPr>
              <a:t>Sổ Excel</a:t>
            </a:r>
            <a:endParaRPr lang="en-US" sz="2600" dirty="0"/>
          </a:p>
        </p:txBody>
      </p:sp>
      <p:sp>
        <p:nvSpPr>
          <p:cNvPr id="11" name="Text 8"/>
          <p:cNvSpPr txBox="1"/>
          <p:nvPr/>
        </p:nvSpPr>
        <p:spPr>
          <a:xfrm>
            <a:off x="4612538" y="2377440"/>
            <a:ext cx="2966618" cy="411480"/>
          </a:xfrm>
          <a:prstGeom prst="rect">
            <a:avLst/>
          </a:prstGeom>
          <a:noFill/>
          <a:ln/>
        </p:spPr>
        <p:txBody>
          <a:bodyPr wrap="square" lIns="0" tIns="0" rIns="0" bIns="0" rtlCol="0" anchor="ctr"/>
          <a:lstStyle/>
          <a:p>
            <a:pPr indent="0" marL="0">
              <a:buNone/>
            </a:pPr>
            <a:r>
              <a:rPr lang="en-US" sz="1400" b="1" dirty="0">
                <a:solidFill>
                  <a:srgbClr val="7A8C99"/>
                </a:solidFill>
                <a:latin typeface="Calibri" pitchFamily="34" charset="0"/>
                <a:ea typeface="Calibri" pitchFamily="34" charset="-122"/>
                <a:cs typeface="Calibri" pitchFamily="34" charset="-120"/>
              </a:rPr>
              <a:t>so_lieu/kiem_chung_mean.xlsx</a:t>
            </a:r>
            <a:endParaRPr lang="en-US" sz="1400" dirty="0"/>
          </a:p>
        </p:txBody>
      </p:sp>
      <p:sp>
        <p:nvSpPr>
          <p:cNvPr id="12" name="Text 9"/>
          <p:cNvSpPr txBox="1"/>
          <p:nvPr/>
        </p:nvSpPr>
        <p:spPr>
          <a:xfrm>
            <a:off x="4612538" y="2971800"/>
            <a:ext cx="2966618" cy="1920240"/>
          </a:xfrm>
          <a:prstGeom prst="rect">
            <a:avLst/>
          </a:prstGeom>
          <a:noFill/>
          <a:ln/>
        </p:spPr>
        <p:txBody>
          <a:bodyPr wrap="square" lIns="0" tIns="0" rIns="0" bIns="0" rtlCol="0" anchor="t"/>
          <a:lstStyle/>
          <a:p>
            <a:pPr indent="0" marL="0">
              <a:buNone/>
            </a:pPr>
            <a:r>
              <a:rPr lang="en-US" sz="1500" dirty="0">
                <a:solidFill>
                  <a:srgbClr val="1B2A3D"/>
                </a:solidFill>
                <a:latin typeface="Calibri" pitchFamily="34" charset="0"/>
                <a:ea typeface="Calibri" pitchFamily="34" charset="-122"/>
                <a:cs typeface="Calibri" pitchFamily="34" charset="-120"/>
              </a:rPr>
              <a:t>Mỗi tập kiểm tra một sheet; sai số từng mẫu = SQRT((x̂ − x)² + (ŷ − y)²)·g; AVERAGE so với số báo cáo. Sheet ví dụ dựng lại toạ độ một truy vấn bằng SUMPRODUCT.</a:t>
            </a:r>
            <a:endParaRPr lang="en-US" sz="1500" dirty="0"/>
          </a:p>
        </p:txBody>
      </p:sp>
      <p:sp>
        <p:nvSpPr>
          <p:cNvPr id="13" name="Shape 10"/>
          <p:cNvSpPr/>
          <p:nvPr/>
        </p:nvSpPr>
        <p:spPr>
          <a:xfrm>
            <a:off x="8127797" y="1508760"/>
            <a:ext cx="3515258" cy="3520440"/>
          </a:xfrm>
          <a:prstGeom prst="rect">
            <a:avLst/>
          </a:prstGeom>
          <a:solidFill>
            <a:srgbClr val="FBFAF7"/>
          </a:solidFill>
          <a:ln w="12700">
            <a:solidFill>
              <a:srgbClr val="FBFAF7"/>
            </a:solidFill>
            <a:prstDash val="solid"/>
          </a:ln>
        </p:spPr>
      </p:sp>
      <p:sp>
        <p:nvSpPr>
          <p:cNvPr id="14" name="Text 11"/>
          <p:cNvSpPr txBox="1"/>
          <p:nvPr/>
        </p:nvSpPr>
        <p:spPr>
          <a:xfrm>
            <a:off x="8402117" y="1737360"/>
            <a:ext cx="2966618" cy="640080"/>
          </a:xfrm>
          <a:prstGeom prst="rect">
            <a:avLst/>
          </a:prstGeom>
          <a:noFill/>
          <a:ln/>
        </p:spPr>
        <p:txBody>
          <a:bodyPr wrap="square" lIns="0" tIns="0" rIns="0" bIns="0" rtlCol="0" anchor="ctr"/>
          <a:lstStyle/>
          <a:p>
            <a:pPr indent="0" marL="0">
              <a:buNone/>
            </a:pPr>
            <a:r>
              <a:rPr lang="en-US" sz="2600" b="1" dirty="0">
                <a:solidFill>
                  <a:srgbClr val="1F3A5F"/>
                </a:solidFill>
                <a:latin typeface="Cambria" pitchFamily="34" charset="0"/>
                <a:ea typeface="Cambria" pitchFamily="34" charset="-122"/>
                <a:cs typeface="Cambria" pitchFamily="34" charset="-120"/>
              </a:rPr>
              <a:t>Script Python</a:t>
            </a:r>
            <a:endParaRPr lang="en-US" sz="2600" dirty="0"/>
          </a:p>
        </p:txBody>
      </p:sp>
      <p:sp>
        <p:nvSpPr>
          <p:cNvPr id="15" name="Text 12"/>
          <p:cNvSpPr txBox="1"/>
          <p:nvPr/>
        </p:nvSpPr>
        <p:spPr>
          <a:xfrm>
            <a:off x="8402117" y="2377440"/>
            <a:ext cx="2966618" cy="411480"/>
          </a:xfrm>
          <a:prstGeom prst="rect">
            <a:avLst/>
          </a:prstGeom>
          <a:noFill/>
          <a:ln/>
        </p:spPr>
        <p:txBody>
          <a:bodyPr wrap="square" lIns="0" tIns="0" rIns="0" bIns="0" rtlCol="0" anchor="ctr"/>
          <a:lstStyle/>
          <a:p>
            <a:pPr indent="0" marL="0">
              <a:buNone/>
            </a:pPr>
            <a:r>
              <a:rPr lang="en-US" sz="1400" b="1" dirty="0">
                <a:solidFill>
                  <a:srgbClr val="7A8C99"/>
                </a:solidFill>
                <a:latin typeface="Calibri" pitchFamily="34" charset="0"/>
                <a:ea typeface="Calibri" pitchFamily="34" charset="-122"/>
                <a:cs typeface="Calibri" pitchFamily="34" charset="-120"/>
              </a:rPr>
              <a:t>so_lieu/kiem_tra_mean.py</a:t>
            </a:r>
            <a:endParaRPr lang="en-US" sz="1400" dirty="0"/>
          </a:p>
        </p:txBody>
      </p:sp>
      <p:sp>
        <p:nvSpPr>
          <p:cNvPr id="16" name="Text 13"/>
          <p:cNvSpPr txBox="1"/>
          <p:nvPr/>
        </p:nvSpPr>
        <p:spPr>
          <a:xfrm>
            <a:off x="8402117" y="2971800"/>
            <a:ext cx="2966618" cy="1920240"/>
          </a:xfrm>
          <a:prstGeom prst="rect">
            <a:avLst/>
          </a:prstGeom>
          <a:noFill/>
          <a:ln/>
        </p:spPr>
        <p:txBody>
          <a:bodyPr wrap="square" lIns="0" tIns="0" rIns="0" bIns="0" rtlCol="0" anchor="t"/>
          <a:lstStyle/>
          <a:p>
            <a:pPr indent="0" marL="0">
              <a:buNone/>
            </a:pPr>
            <a:r>
              <a:rPr lang="en-US" sz="1500" dirty="0">
                <a:solidFill>
                  <a:srgbClr val="1B2A3D"/>
                </a:solidFill>
                <a:latin typeface="Calibri" pitchFamily="34" charset="0"/>
                <a:ea typeface="Calibri" pitchFamily="34" charset="-122"/>
                <a:cs typeface="Calibri" pitchFamily="34" charset="-120"/>
              </a:rPr>
              <a:t>Chỉ dùng thư viện chuẩn: đọc du_doan/*.csv, tính lại sai số trung bình, trung vị và tỷ lệ đúng tòa-tầng; in KHỚP hoặc LỆCH cho từng tập kiểm tra.</a:t>
            </a:r>
            <a:endParaRPr lang="en-US" sz="1500" dirty="0"/>
          </a:p>
        </p:txBody>
      </p:sp>
      <p:sp>
        <p:nvSpPr>
          <p:cNvPr id="17" name="Shape 14"/>
          <p:cNvSpPr/>
          <p:nvPr/>
        </p:nvSpPr>
        <p:spPr>
          <a:xfrm>
            <a:off x="548640" y="5303520"/>
            <a:ext cx="11094415" cy="777240"/>
          </a:xfrm>
          <a:prstGeom prst="rect">
            <a:avLst/>
          </a:prstGeom>
          <a:solidFill>
            <a:srgbClr val="1F3A5F"/>
          </a:solidFill>
          <a:ln w="12700">
            <a:solidFill>
              <a:srgbClr val="1F3A5F"/>
            </a:solidFill>
            <a:prstDash val="solid"/>
          </a:ln>
        </p:spPr>
      </p:sp>
      <p:sp>
        <p:nvSpPr>
          <p:cNvPr id="18" name="Text 15"/>
          <p:cNvSpPr txBox="1"/>
          <p:nvPr/>
        </p:nvSpPr>
        <p:spPr>
          <a:xfrm>
            <a:off x="822960" y="5486400"/>
            <a:ext cx="10545775"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Kết quả:</a:t>
            </a:r>
            <a:pPr indent="0" marL="0">
              <a:buNone/>
            </a:pPr>
            <a:r>
              <a:rPr lang="en-US" sz="1600" dirty="0">
                <a:solidFill>
                  <a:srgbClr val="FFFFFF"/>
                </a:solidFill>
                <a:latin typeface="Calibri" pitchFamily="34" charset="0"/>
                <a:ea typeface="Calibri" pitchFamily="34" charset="-122"/>
                <a:cs typeface="Calibri" pitchFamily="34" charset="-120"/>
              </a:rPr>
              <a:t> cả 9/9 tập kiểm tra KHỚP, chênh lệch giữa sai số tính lại và sai số báo cáo dưới 0,00005 m.</a:t>
            </a:r>
            <a:endParaRPr lang="en-US" sz="1600" dirty="0"/>
          </a:p>
        </p:txBody>
      </p:sp>
      <p:sp>
        <p:nvSpPr>
          <p:cNvPr id="25" name="Slide Number Placeholder 0"/>
          <p:cNvSpPr>
            <a:spLocks noGrp="1"/>
          </p:cNvSpPr>
          <p:nvPr>
            <p:ph type="sldNum" sz="quarter" idx="4294967295"/>
          </p:nvPr>
        </p:nvSpPr>
        <p:spPr>
          <a:xfrm>
            <a:off x="10728655" y="6446520"/>
            <a:ext cx="9144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8C99"/>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502920"/>
            <a:ext cx="7315200" cy="365760"/>
          </a:xfrm>
          <a:prstGeom prst="rect">
            <a:avLst/>
          </a:prstGeom>
          <a:noFill/>
          <a:ln/>
        </p:spPr>
        <p:txBody>
          <a:bodyPr wrap="square" lIns="0" tIns="0" rIns="0" bIns="0" rtlCol="0" anchor="ctr"/>
          <a:lstStyle/>
          <a:p>
            <a:pPr indent="0" marL="0">
              <a:buNone/>
            </a:pPr>
            <a:r>
              <a:rPr lang="en-US" sz="1300" b="1" spc="200" kern="0" dirty="0">
                <a:solidFill>
                  <a:srgbClr val="9BB7C4"/>
                </a:solidFill>
                <a:latin typeface="Calibri" pitchFamily="34" charset="0"/>
                <a:ea typeface="Calibri" pitchFamily="34" charset="-122"/>
                <a:cs typeface="Calibri" pitchFamily="34" charset="-120"/>
              </a:rPr>
              <a:t>05 · KẾT LUẬN</a:t>
            </a:r>
            <a:endParaRPr lang="en-US" sz="1300" dirty="0"/>
          </a:p>
        </p:txBody>
      </p:sp>
      <p:sp>
        <p:nvSpPr>
          <p:cNvPr id="3" name="Text 1"/>
          <p:cNvSpPr txBox="1"/>
          <p:nvPr/>
        </p:nvSpPr>
        <p:spPr>
          <a:xfrm>
            <a:off x="548640" y="868680"/>
            <a:ext cx="10058400" cy="731520"/>
          </a:xfrm>
          <a:prstGeom prst="rect">
            <a:avLst/>
          </a:prstGeom>
          <a:noFill/>
          <a:ln/>
        </p:spPr>
        <p:txBody>
          <a:bodyPr wrap="square" lIns="0" tIns="0" rIns="0" bIns="0" rtlCol="0" anchor="ctr"/>
          <a:lstStyle/>
          <a:p>
            <a:pPr indent="0" marL="0">
              <a:buNone/>
            </a:pPr>
            <a:r>
              <a:rPr lang="en-US" sz="3200" b="1" dirty="0">
                <a:solidFill>
                  <a:srgbClr val="FFFFFF"/>
                </a:solidFill>
                <a:latin typeface="Cambria" pitchFamily="34" charset="0"/>
                <a:ea typeface="Cambria" pitchFamily="34" charset="-122"/>
                <a:cs typeface="Cambria" pitchFamily="34" charset="-120"/>
              </a:rPr>
              <a:t>Kết luận và hướng phát triển</a:t>
            </a:r>
            <a:endParaRPr lang="en-US" sz="3200" dirty="0"/>
          </a:p>
        </p:txBody>
      </p:sp>
      <p:sp>
        <p:nvSpPr>
          <p:cNvPr id="4" name="Text 2"/>
          <p:cNvSpPr txBox="1"/>
          <p:nvPr/>
        </p:nvSpPr>
        <p:spPr>
          <a:xfrm>
            <a:off x="548640" y="1874520"/>
            <a:ext cx="5212080" cy="411480"/>
          </a:xfrm>
          <a:prstGeom prst="rect">
            <a:avLst/>
          </a:prstGeom>
          <a:noFill/>
          <a:ln/>
        </p:spPr>
        <p:txBody>
          <a:bodyPr wrap="square" lIns="0" tIns="0" rIns="0" bIns="0" rtlCol="0" anchor="ctr"/>
          <a:lstStyle/>
          <a:p>
            <a:pPr indent="0" marL="0">
              <a:buNone/>
            </a:pPr>
            <a:r>
              <a:rPr lang="en-US" sz="1900" b="1" dirty="0">
                <a:solidFill>
                  <a:srgbClr val="9BB7C4"/>
                </a:solidFill>
                <a:latin typeface="Cambria" pitchFamily="34" charset="0"/>
                <a:ea typeface="Cambria" pitchFamily="34" charset="-122"/>
                <a:cs typeface="Cambria" pitchFamily="34" charset="-120"/>
              </a:rPr>
              <a:t>Kết quả đạt được</a:t>
            </a:r>
            <a:endParaRPr lang="en-US" sz="1900" dirty="0"/>
          </a:p>
        </p:txBody>
      </p:sp>
      <p:sp>
        <p:nvSpPr>
          <p:cNvPr id="5" name="Text 3"/>
          <p:cNvSpPr txBox="1"/>
          <p:nvPr/>
        </p:nvSpPr>
        <p:spPr>
          <a:xfrm>
            <a:off x="548640" y="2377440"/>
            <a:ext cx="5212080" cy="3931920"/>
          </a:xfrm>
          <a:prstGeom prst="rect">
            <a:avLst/>
          </a:prstGeom>
          <a:noFill/>
          <a:ln/>
        </p:spPr>
        <p:txBody>
          <a:bodyPr wrap="square" lIns="25400" tIns="25400" rIns="25400" bIns="25400" rtlCol="0" anchor="t"/>
          <a:lstStyle/>
          <a:p>
            <a:pPr algn="l"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HUIM là thuật toán định vị chính: mô hình là tập HUI của từng ô, tầng và toạ độ đến từ bằng chứng HUI; </a:t>
            </a:r>
            <a:pPr algn="l" marL="228600" indent="-228600">
              <a:spcAft>
                <a:spcPts val="800"/>
              </a:spcAft>
              <a:buSzPct val="100000"/>
              <a:buChar char="•"/>
            </a:pPr>
            <a:r>
              <a:rPr lang="en-US" sz="1500" b="1" dirty="0">
                <a:solidFill>
                  <a:srgbClr val="FFFFFF"/>
                </a:solidFill>
                <a:latin typeface="Calibri" pitchFamily="34" charset="0"/>
                <a:ea typeface="Calibri" pitchFamily="34" charset="-122"/>
                <a:cs typeface="Calibri" pitchFamily="34" charset="-120"/>
              </a:rPr>
              <a:t>không dùng k-NN</a:t>
            </a:r>
            <a:endParaRPr lang="en-US" sz="1500" dirty="0"/>
          </a:p>
          <a:p>
            <a:pPr algn="l" marL="228600" indent="-228600">
              <a:spcAft>
                <a:spcPts val="800"/>
              </a:spcAft>
              <a:buSzPct val="100000"/>
              <a:buChar char="•"/>
            </a:pPr>
            <a:r>
              <a:rPr lang="en-US" sz="1500" b="1" dirty="0">
                <a:solidFill>
                  <a:srgbClr val="FFFFFF"/>
                </a:solidFill>
                <a:latin typeface="Calibri" pitchFamily="34" charset="0"/>
                <a:ea typeface="Calibri" pitchFamily="34" charset="-122"/>
                <a:cs typeface="Calibri" pitchFamily="34" charset="-120"/>
              </a:rPr>
              <a:t>9/9</a:t>
            </a:r>
            <a:pPr algn="l"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 tập kiểm tra của 6 bộ dữ liệu đạt sai số trung bình dưới 7 m</a:t>
            </a:r>
            <a:endParaRPr lang="en-US" sz="1500" dirty="0"/>
          </a:p>
          <a:p>
            <a:pPr algn="l"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UJIIndoorLoc: </a:t>
            </a:r>
            <a:pPr algn="l" marL="228600" indent="-228600">
              <a:spcAft>
                <a:spcPts val="800"/>
              </a:spcAft>
              <a:buSzPct val="100000"/>
              <a:buChar char="•"/>
            </a:pPr>
            <a:r>
              <a:rPr lang="en-US" sz="1500" b="1" dirty="0">
                <a:solidFill>
                  <a:srgbClr val="FFFFFF"/>
                </a:solidFill>
                <a:latin typeface="Calibri" pitchFamily="34" charset="0"/>
                <a:ea typeface="Calibri" pitchFamily="34" charset="-122"/>
                <a:cs typeface="Calibri" pitchFamily="34" charset="-120"/>
              </a:rPr>
              <a:t>6,87 m</a:t>
            </a:r>
            <a:pPr algn="l"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 (v4: 8,06 m) nhờ xếp hạng lại bằng bằng chứng HUI; biên dưới 7 m còn nhỏ</a:t>
            </a:r>
            <a:endParaRPr lang="en-US" sz="1500" dirty="0"/>
          </a:p>
          <a:p>
            <a:pPr algn="l"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Tham số chọn trên dev, mọi con số kiểm chứng được</a:t>
            </a:r>
            <a:endParaRPr lang="en-US" sz="1500" dirty="0"/>
          </a:p>
        </p:txBody>
      </p:sp>
      <p:sp>
        <p:nvSpPr>
          <p:cNvPr id="6" name="Text 4"/>
          <p:cNvSpPr txBox="1"/>
          <p:nvPr/>
        </p:nvSpPr>
        <p:spPr>
          <a:xfrm>
            <a:off x="6309360" y="1874520"/>
            <a:ext cx="5212080" cy="411480"/>
          </a:xfrm>
          <a:prstGeom prst="rect">
            <a:avLst/>
          </a:prstGeom>
          <a:noFill/>
          <a:ln/>
        </p:spPr>
        <p:txBody>
          <a:bodyPr wrap="square" lIns="0" tIns="0" rIns="0" bIns="0" rtlCol="0" anchor="ctr"/>
          <a:lstStyle/>
          <a:p>
            <a:pPr indent="0" marL="0">
              <a:buNone/>
            </a:pPr>
            <a:r>
              <a:rPr lang="en-US" sz="1900" b="1" dirty="0">
                <a:solidFill>
                  <a:srgbClr val="9BB7C4"/>
                </a:solidFill>
                <a:latin typeface="Cambria" pitchFamily="34" charset="0"/>
                <a:ea typeface="Cambria" pitchFamily="34" charset="-122"/>
                <a:cs typeface="Cambria" pitchFamily="34" charset="-120"/>
              </a:rPr>
              <a:t>Hướng phát triển</a:t>
            </a:r>
            <a:endParaRPr lang="en-US" sz="1900" dirty="0"/>
          </a:p>
        </p:txBody>
      </p:sp>
      <p:sp>
        <p:nvSpPr>
          <p:cNvPr id="7" name="Text 5"/>
          <p:cNvSpPr txBox="1"/>
          <p:nvPr/>
        </p:nvSpPr>
        <p:spPr>
          <a:xfrm>
            <a:off x="6309360" y="2377440"/>
            <a:ext cx="5212080" cy="3931920"/>
          </a:xfrm>
          <a:prstGeom prst="rect">
            <a:avLst/>
          </a:prstGeom>
          <a:noFill/>
          <a:ln/>
        </p:spPr>
        <p:txBody>
          <a:bodyPr wrap="square" lIns="25400" tIns="25400" rIns="25400" bIns="25400" rtlCol="0" anchor="t"/>
          <a:lstStyle/>
          <a:p>
            <a:pPr algn="l"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Lợi ích nội bất biến hơn với thiết bị, ví dụ hiệu chỉnh độ lệch theo từng điện thoại</a:t>
            </a:r>
            <a:endParaRPr lang="en-US" sz="1500" dirty="0"/>
          </a:p>
          <a:p>
            <a:pPr algn="l"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Tăng độ phân giải trong tầng bằng ô nhỏ hơn hoặc kết hợp HUI ở nhiều mức không gian</a:t>
            </a:r>
            <a:endParaRPr lang="en-US" sz="1500" dirty="0"/>
          </a:p>
          <a:p>
            <a:pPr algn="l"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Thay bộ hồi quy Bước 8 bằng quy tắc kết hợp tường minh, dễ diễn giải hơn</a:t>
            </a:r>
            <a:endParaRPr lang="en-US" sz="1500" dirty="0"/>
          </a:p>
          <a:p>
            <a:pPr algn="l" marL="228600" indent="-228600">
              <a:spcAft>
                <a:spcPts val="800"/>
              </a:spcAft>
              <a:buSzPct val="100000"/>
              <a:buChar char="•"/>
            </a:pPr>
            <a:r>
              <a:rPr lang="en-US" sz="1500" dirty="0">
                <a:solidFill>
                  <a:srgbClr val="FFFFFF"/>
                </a:solidFill>
                <a:latin typeface="Calibri" pitchFamily="34" charset="0"/>
                <a:ea typeface="Calibri" pitchFamily="34" charset="-122"/>
                <a:cs typeface="Calibri" pitchFamily="34" charset="-120"/>
              </a:rPr>
              <a:t>Dùng HUI đóng hoặc HUI cực đại và cài đặt EFIM biên dịch để giảm số mẫu và thời gian định vị</a:t>
            </a:r>
            <a:endParaRPr lang="en-US" sz="1500" dirty="0"/>
          </a:p>
        </p:txBody>
      </p:sp>
      <p:sp>
        <p:nvSpPr>
          <p:cNvPr id="9" name="Text 0"/>
          <p:cNvSpPr/>
          <p:nvPr>
            <p:ph idx="100" type="title" hasCustomPrompt="1"/>
          </p:nvPr>
        </p:nvSpPr>
        <p:spPr>
          <a:xfrm>
            <a:off x="548640" y="1828800"/>
            <a:ext cx="10607040" cy="1737360"/>
          </a:xfrm>
          <a:prstGeom prst="rect">
            <a:avLst/>
          </a:prstGeom>
          <a:noFill/>
          <a:ln/>
        </p:spPr>
        <p:txBody>
          <a:bodyPr wrap="square" lIns="0" tIns="0" rIns="0" bIns="0" rtlCol="0" anchor="t"/>
          <a:lstStyle/>
          <a:p>
            <a:pPr algn="l" indent="0" marL="0">
              <a:buNone/>
            </a:pPr>
            <a:endParaRPr lang="en-US" sz="36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0"/>
            <a:ext cx="10607040" cy="1737360"/>
          </a:xfrm>
          <a:prstGeom prst="rect">
            <a:avLst/>
          </a:prstGeom>
          <a:noFill/>
          <a:ln/>
        </p:spPr>
        <p:txBody>
          <a:bodyPr wrap="square" lIns="0" tIns="0" rIns="0" bIns="0" rtlCol="0" anchor="t"/>
          <a:lstStyle/>
          <a:p>
            <a:pPr algn="l" indent="0" marL="0">
              <a:buNone/>
            </a:pPr>
            <a:r>
              <a:rPr lang="en-US" sz="3600" b="1" dirty="0">
                <a:solidFill>
                  <a:srgbClr val="FFFFFF"/>
                </a:solidFill>
                <a:latin typeface="Cambria" pitchFamily="34" charset="0"/>
                <a:ea typeface="Cambria" pitchFamily="34" charset="-122"/>
                <a:cs typeface="Cambria" pitchFamily="34" charset="-120"/>
              </a:rPr>
              <a:t>Xin cảm ơn quý thầy cô đã lắng nghe</a:t>
            </a:r>
            <a:endParaRPr lang="en-US" sz="3600" dirty="0"/>
          </a:p>
        </p:txBody>
      </p:sp>
      <p:sp>
        <p:nvSpPr>
          <p:cNvPr id="3" name="Text 1"/>
          <p:cNvSpPr txBox="1"/>
          <p:nvPr/>
        </p:nvSpPr>
        <p:spPr>
          <a:xfrm>
            <a:off x="548640" y="3611880"/>
            <a:ext cx="10058400" cy="457200"/>
          </a:xfrm>
          <a:prstGeom prst="rect">
            <a:avLst/>
          </a:prstGeom>
          <a:noFill/>
          <a:ln/>
        </p:spPr>
        <p:txBody>
          <a:bodyPr wrap="square" lIns="0" tIns="0" rIns="0" bIns="0" rtlCol="0" anchor="ctr"/>
          <a:lstStyle/>
          <a:p>
            <a:pPr indent="0" marL="0">
              <a:buNone/>
            </a:pPr>
            <a:r>
              <a:rPr lang="en-US" sz="2000" i="1" dirty="0">
                <a:solidFill>
                  <a:srgbClr val="DCE6EE"/>
                </a:solidFill>
                <a:latin typeface="Calibri" pitchFamily="34" charset="0"/>
                <a:ea typeface="Calibri" pitchFamily="34" charset="-122"/>
                <a:cs typeface="Calibri" pitchFamily="34" charset="-120"/>
              </a:rPr>
              <a:t>Rất mong nhận được ý kiến đóng góp</a:t>
            </a:r>
            <a:endParaRPr lang="en-US" sz="2000" dirty="0"/>
          </a:p>
        </p:txBody>
      </p:sp>
      <p:sp>
        <p:nvSpPr>
          <p:cNvPr id="4" name="Shape 2"/>
          <p:cNvSpPr/>
          <p:nvPr/>
        </p:nvSpPr>
        <p:spPr>
          <a:xfrm>
            <a:off x="548640" y="4434840"/>
            <a:ext cx="2743200" cy="0"/>
          </a:xfrm>
          <a:prstGeom prst="line">
            <a:avLst/>
          </a:prstGeom>
          <a:noFill/>
          <a:ln w="12700">
            <a:solidFill>
              <a:srgbClr val="9BB7C4"/>
            </a:solidFill>
            <a:prstDash val="solid"/>
          </a:ln>
        </p:spPr>
      </p:sp>
      <p:sp>
        <p:nvSpPr>
          <p:cNvPr id="5" name="Text 3"/>
          <p:cNvSpPr txBox="1"/>
          <p:nvPr/>
        </p:nvSpPr>
        <p:spPr>
          <a:xfrm>
            <a:off x="548640" y="4617720"/>
            <a:ext cx="1005840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Mã nguồn, số liệu và sổ kiểm chứng: thư mục BAOCAO</a:t>
            </a:r>
            <a:endParaRPr lang="en-US" sz="1500" dirty="0"/>
          </a:p>
        </p:txBody>
      </p:sp>
    </p:spTree>
  </p:cSld>
  <p:clrMapOvr>
    <a:masterClrMapping/>
  </p:clrMapOvr>
</p:sld>
</file>

<file path=ppt/theme/theme1.xml><?xml version="1.0" encoding="utf-8"?>
<a:theme xmlns:a="http://schemas.openxmlformats.org/drawingml/2006/main" name="HUIM IPS">
  <a:themeElements>
    <a:clrScheme name="HUIM IPS">
      <a:dk1>
        <a:srgbClr val="1B2A3D"/>
      </a:dk1>
      <a:lt1>
        <a:srgbClr val="FFFFFF"/>
      </a:lt1>
      <a:dk2>
        <a:srgbClr val="1F3A5F"/>
      </a:dk2>
      <a:lt2>
        <a:srgbClr val="F4F1EA"/>
      </a:lt2>
      <a:accent1>
        <a:srgbClr val="2E7D8C"/>
      </a:accent1>
      <a:accent2>
        <a:srgbClr val="B5532A"/>
      </a:accent2>
      <a:accent3>
        <a:srgbClr val="7A8C99"/>
      </a:accent3>
      <a:accent4>
        <a:srgbClr val="D9A441"/>
      </a:accent4>
      <a:accent5>
        <a:srgbClr val="4C6A88"/>
      </a:accent5>
      <a:accent6>
        <a:srgbClr val="9BB7C4"/>
      </a:accent6>
      <a:hlink>
        <a:srgbClr val="2E7D8C"/>
      </a:hlink>
      <a:folHlink>
        <a:srgbClr val="4C6A88"/>
      </a:folHlink>
    </a:clrScheme>
    <a:fontScheme name="HUIM IP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Ứng dụng HUIM trong hệ thống định vị trong nhà</dc:title>
  <dc:subject>Định vị bằng so khớp High Utility Itemset trên UJIIndoorLoc</dc:subject>
  <dc:creator>PptxGenJS</dc:creator>
  <cp:lastModifiedBy>PptxGenJS</cp:lastModifiedBy>
  <cp:revision>1</cp:revision>
  <dcterms:created xsi:type="dcterms:W3CDTF">2026-10-18T06:40:37Z</dcterms:created>
  <dcterms:modified xsi:type="dcterms:W3CDTF">2026-10-18T06:40:37Z</dcterms:modified>
</cp:coreProperties>
</file>