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ới thiệu" id="{090a5bee-7fa0-a8ee-8557-09f86a632e0f}">
          <p14:sldIdLst>
            <p14:sldId id="256"/>
            <p14:sldId id="257"/>
          </p14:sldIdLst>
        </p14:section>
        <p14:section name="Mở đầu" id="{a28f3eb2-3a7c-774e-32a6-cd02f131fed5}">
          <p14:sldIdLst>
            <p14:sldId id="258"/>
            <p14:sldId id="259"/>
            <p14:sldId id="260"/>
            <p14:sldId id="261"/>
          </p14:sldIdLst>
        </p14:section>
        <p14:section name="Cơ sở lý thuyết" id="{1d2f5144-d446-2ee9-aff4-2dda3a6ac4d9}">
          <p14:sldIdLst>
            <p14:sldId id="262"/>
            <p14:sldId id="263"/>
            <p14:sldId id="264"/>
            <p14:sldId id="265"/>
          </p14:sldIdLst>
        </p14:section>
        <p14:section name="Mô hình đề xuất" id="{eb44d1ac-79f2-bbc3-e17c-3318872d4dc6}">
          <p14:sldIdLst>
            <p14:sldId id="266"/>
            <p14:sldId id="267"/>
            <p14:sldId id="268"/>
            <p14:sldId id="269"/>
            <p14:sldId id="270"/>
            <p14:sldId id="271"/>
            <p14:sldId id="272"/>
            <p14:sldId id="273"/>
            <p14:sldId id="274"/>
            <p14:sldId id="275"/>
          </p14:sldIdLst>
        </p14:section>
        <p14:section name="Thực nghiệm" id="{b3887b77-df03-dc17-899c-9c4b598b3450}">
          <p14:sldIdLst>
            <p14:sldId id="276"/>
            <p14:sldId id="277"/>
            <p14:sldId id="278"/>
            <p14:sldId id="279"/>
            <p14:sldId id="280"/>
            <p14:sldId id="281"/>
            <p14:sldId id="282"/>
            <p14:sldId id="283"/>
            <p14:sldId id="284"/>
            <p14:sldId id="285"/>
            <p14:sldId id="286"/>
            <p14:sldId id="287"/>
            <p14:sldId id="288"/>
            <p14:sldId id="289"/>
            <p14:sldId id="290"/>
            <p14:sldId id="291"/>
          </p14:sldIdLst>
        </p14:section>
        <p14:section name="Kết luận" id="{7bc3d884-cefc-5b9b-6d11-451e5006e4b2}">
          <p14:sldIdLst>
            <p14:sldId id="292"/>
            <p14:sldId id="293"/>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3A5F"/>
                </a:solidFill>
                <a:latin typeface="Times New Roman"/>
              </a:defRPr>
            </a:pPr>
            <a:r>
              <a:rPr sz="1400" b="0" i="0" u="none" strike="noStrike">
                <a:solidFill>
                  <a:srgbClr val="1F3A5F"/>
                </a:solidFill>
                <a:latin typeface="Times New Roman"/>
              </a:rPr>
              <a:t>Sai số trung bình trên tập kiểm tra (m) — mục tiêu &lt; 7 m</a:t>
            </a:r>
          </a:p>
        </c:rich>
      </c:tx>
      <c:layout/>
      <c:overlay val="0"/>
    </c:title>
    <c:autoTitleDeleted val="0"/>
    <c:plotArea>
      <c:layout/>
      <c:barChart>
        <c:barDir val="bar"/>
        <c:grouping val="clustered"/>
        <c:varyColors val="0"/>
        <c:ser>
          <c:idx val="0"/>
          <c:order val="0"/>
          <c:tx>
            <c:strRef>
              <c:f>Sheet1!$B$1</c:f>
              <c:strCache>
                <c:ptCount val="1"/>
                <c:pt idx="0">
                  <c:v>Sai số trung bình (m)</c:v>
                </c:pt>
              </c:strCache>
            </c:strRef>
          </c:tx>
          <c:spPr>
            <a:solidFill>
              <a:srgbClr val="1F3A5F"/>
            </a:solidFill>
            <a:effectLst/>
          </c:spPr>
          <c:invertIfNegative val="0"/>
          <c:dLbls>
            <c:numFmt formatCode="0.00" sourceLinked="0"/>
            <c:txPr>
              <a:bodyPr/>
              <a:lstStyle/>
              <a:p>
                <a:pPr>
                  <a:defRPr b="0" i="0" strike="noStrike" sz="1300" u="none">
                    <a:solidFill>
                      <a:srgbClr val="1B2A3D"/>
                    </a:solidFill>
                    <a:latin typeface="Times New Roman"/>
                  </a:defRPr>
                </a:pPr>
              </a:p>
            </c:txPr>
            <c:showLegendKey val="0"/>
            <c:showVal val="1"/>
            <c:showCatName val="0"/>
            <c:showSerName val="0"/>
            <c:showPercent val="0"/>
            <c:showBubbleSize val="0"/>
            <c:showLeaderLines val="0"/>
          </c:dLbls>
          <c:dPt>
            <c:idx val="0"/>
            <c:invertIfNegative val="0"/>
            <c:bubble3D val="0"/>
            <c:spPr>
              <a:solidFill>
                <a:srgbClr val="1F3A5F"/>
              </a:solidFill>
              <a:effectLst/>
            </c:spPr>
          </c:dPt>
          <c:dPt>
            <c:idx val="1"/>
            <c:invertIfNegative val="0"/>
            <c:bubble3D val="0"/>
            <c:spPr>
              <a:solidFill>
                <a:srgbClr val="2A7F8F"/>
              </a:solidFill>
              <a:effectLst/>
            </c:spPr>
          </c:dPt>
          <c:dPt>
            <c:idx val="2"/>
            <c:invertIfNegative val="0"/>
            <c:bubble3D val="0"/>
            <c:spPr>
              <a:solidFill>
                <a:srgbClr val="2A7F8F"/>
              </a:solidFill>
              <a:effectLst/>
            </c:spPr>
          </c:dPt>
          <c:dPt>
            <c:idx val="3"/>
            <c:invertIfNegative val="0"/>
            <c:bubble3D val="0"/>
            <c:spPr>
              <a:solidFill>
                <a:srgbClr val="2A7F8F"/>
              </a:solidFill>
              <a:effectLst/>
            </c:spPr>
          </c:dPt>
          <c:dPt>
            <c:idx val="4"/>
            <c:invertIfNegative val="0"/>
            <c:bubble3D val="0"/>
            <c:spPr>
              <a:solidFill>
                <a:srgbClr val="2A7F8F"/>
              </a:solidFill>
              <a:effectLst/>
            </c:spPr>
          </c:dPt>
          <c:dPt>
            <c:idx val="5"/>
            <c:invertIfNegative val="0"/>
            <c:bubble3D val="0"/>
            <c:spPr>
              <a:solidFill>
                <a:srgbClr val="2A7F8F"/>
              </a:solidFill>
              <a:effectLst/>
            </c:spPr>
          </c:dPt>
          <c:dPt>
            <c:idx val="6"/>
            <c:invertIfNegative val="0"/>
            <c:bubble3D val="0"/>
            <c:spPr>
              <a:solidFill>
                <a:srgbClr val="2A7F8F"/>
              </a:solidFill>
              <a:effectLst/>
            </c:spPr>
          </c:dPt>
          <c:dPt>
            <c:idx val="7"/>
            <c:invertIfNegative val="0"/>
            <c:bubble3D val="0"/>
            <c:spPr>
              <a:solidFill>
                <a:srgbClr val="2A7F8F"/>
              </a:solidFill>
              <a:effectLst/>
            </c:spPr>
          </c:dPt>
          <c:dPt>
            <c:idx val="8"/>
            <c:invertIfNegative val="0"/>
            <c:bubble3D val="0"/>
            <c:spPr>
              <a:solidFill>
                <a:srgbClr val="2A7F8F"/>
              </a:solidFill>
              <a:effectLst/>
            </c:spPr>
          </c:dPt>
          <c:cat>
            <c:multiLvlStrRef>
              <c:f>Sheet1!$A$2:$A$10</c:f>
              <c:multiLvlStrCache>
                <c:ptCount val="9"/>
                <c:lvl>
                  <c:pt idx="0">
                    <c:v>UJIIndoorLoc · validation</c:v>
                  </c:pt>
                  <c:pt idx="1">
                    <c:v>UJI_LIB · Test-01</c:v>
                  </c:pt>
                  <c:pt idx="2">
                    <c:v>UJI_LIB · Test-02</c:v>
                  </c:pt>
                  <c:pt idx="3">
                    <c:v>DLULIB · Testing</c:v>
                  </c:pt>
                  <c:pt idx="4">
                    <c:v>HCXY · test</c:v>
                  </c:pt>
                  <c:pt idx="5">
                    <c:v>HUS · case 1</c:v>
                  </c:pt>
                  <c:pt idx="6">
                    <c:v>HUS · case 2</c:v>
                  </c:pt>
                  <c:pt idx="7">
                    <c:v>HUS khử trùng · case 1</c:v>
                  </c:pt>
                  <c:pt idx="8">
                    <c:v>HUS khử trùng · case 2</c:v>
                  </c:pt>
                </c:lvl>
              </c:multiLvlStrCache>
            </c:multiLvlStrRef>
          </c:cat>
          <c:val>
            <c:numRef>
              <c:f>Sheet1!$B$2:$B$10</c:f>
              <c:numCache>
                <c:formatCode>General</c:formatCode>
                <c:ptCount val="9"/>
                <c:pt idx="0">
                  <c:v>6.87</c:v>
                </c:pt>
                <c:pt idx="1">
                  <c:v>2.57</c:v>
                </c:pt>
                <c:pt idx="2">
                  <c:v>2.68</c:v>
                </c:pt>
                <c:pt idx="3">
                  <c:v>6.01</c:v>
                </c:pt>
                <c:pt idx="4">
                  <c:v>2.82</c:v>
                </c:pt>
                <c:pt idx="5">
                  <c:v>1.3</c:v>
                </c:pt>
                <c:pt idx="6">
                  <c:v>1.54</c:v>
                </c:pt>
                <c:pt idx="7">
                  <c:v>1.3</c:v>
                </c:pt>
                <c:pt idx="8">
                  <c:v>1.54</c:v>
                </c:pt>
              </c:numCache>
            </c:numRef>
          </c:val>
        </c:ser>
        <c:dLbls>
          <c:numFmt formatCode="0.00" sourceLinked="0"/>
          <c:txPr>
            <a:bodyPr/>
            <a:lstStyle/>
            <a:p>
              <a:pPr>
                <a:defRPr b="0" i="0" strike="noStrike" sz="1300" u="none">
                  <a:solidFill>
                    <a:srgbClr val="1B2A3D"/>
                  </a:solidFill>
                  <a:latin typeface="Times New Roman"/>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A3D"/>
                </a:solidFill>
                <a:latin typeface="Times New Roman"/>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E3E0D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8A8A85"/>
                </a:solidFill>
                <a:latin typeface="Times New Roman"/>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hội đồng. Luận văn trình bày cách dùng thuật toán khai thác tập mục lợi ích cao làm thuật toán định vị chính của một hệ thống định vị trong nhà dựa trên vân tay Wi-Fi, không dùng k-NN.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nhà tín hiệu vệ tinh suy giảm; vân tay Wi-Fi dùng hạ tầng AP sẵn có. Hai pha: khảo sát ghi RSSI tại các điểm tham chiếu; định vị so vân tay mới với dữ liệu khảo sát.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các phiên bản trước, HUIM chỉ chọn tập AP rồi k-NN định vị; HUIM chỉ đóng góp khoảng 6% mức giảm sai số. Bỏ HUIM, k-NN vẫn định vị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mục có lợi ích nội trong từng giao dịch và lợi ích ngoài. Lợi ích của tập mục là tổng trên mọi giao dịch chứa nó; lợi ích không đơn điệu giảm nên cần chặn trên TWU.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EFIM duyệt cây liệt kê tập theo chiều sâu, mục sắp theo TWU tăng dần. Hai chặn trên lu và su tính trong một lần quét cơ sở dữ liệu đã chiếu.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Sai số định vị là khoảng cách Euclid theo mét thực địa; UJIIndoorLoc dùng Web Mercator nên nhân 0,766126. Gradient Boosting cộng dồn các cây hồi quy nhỏ, mỗi cây học phần dư.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Huấn luyện: lợi ích nội, cơ sở dữ liệu theo ô, EFIM, mô hình. Định vị: chấm điểm, làm mượt và chọn tầng, ô ứng viên, xếp hạng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dạng lợi ích nội abs, rel, rank. Rank bất biến với mọi biến đổi đơn điệu của thang RSSI, phù hợp với điện thoại lạ, và được chọn trên dev.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Ngưỡng minUtil tương đối theo ô; vượt ngân sách thì θ nhân 1,25 và khai thác lại tới khi hoàn tất. UJIIndoorLoc: 676/933 ô phải nâng 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Mô hình chỉ gồm HUI cùng toạ độ trọng tâm và nhãn tòa-tầng của từng ô. Không lưu vân tay huấn luyện nên không thể so khoảng cách vân tay như k-NN.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ρ: tỷ lệ mục của HUI có trong vân tay; agree: mức phù hợp cường độ; P_c: khối lượng HUI của ô mà vân tay chứa; V_c: phần vân tay được HUI của ô giải thích.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mỗi ô được cộng điểm các ô cùng tầng bằng nhân Gauss σ = 3 m; tầng là tầng có trung bình k_f = 20 điểm lớn nhất cao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ô điểm cao nhất của tầng là ô ứng viên. Ước lượng ban đầu (v4) là trọng tâm của 12 ô tốt nhất. Trong 12 ô đó có ô cách vị trí thật 2,4 m nhưng ô điểm cao nhất cách 8,8 m: cần xếp hạng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ô ứng viên có 33 đặc trưng tính từ HUI: ba mô hình HUI (rank, mục theo mức cường độ, abs), hồ sơ cường độ suy ra từ HUI, độ đồng thuận không gian. Bộ hồi quy Gradient Boosting học trên dev dự đoán khoảng cách ô tới vị trí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Bộ hồi quy không thấy vân tay huấn luyện nào; chỉ cân các bằng chứng do HUI tạo ra. Ô được xét vẫn là ô điểm HUI cao nhất; toạ độ là tổ hợp lồi của tâm các ô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UJIIndoorLoc lớn và khó nhất: ba toà nhà, 13 tòa-tầng, 520 AP. HUS có bản khử trùng lặp.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2 trong 11 điện thoại của tập kiểm tra có trong tập huấn luyện; vân tay kiểm tra thấy ít AP hơn. Đây là lý do giữ lại fold theo điện thoại.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tham số chọn trên 6 fold dev. Sau khi chọn, EFIM chạy lại trên toàn bộ tập huấn luyện, bộ hồi quy học trên đặc trưng ngoài fold, mô hình cuối chấm tập kiểm tra một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Lưới tham số đánh giá trên 6 fold dev; mỗi điểm là cấu hình tốt nhất của các tham số còn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tập kiểm tra đều dưới 7 m. UJIIndoorLoc 6,87 m sau Bước 8 (v4: 8,06 m). Các bộ khác chỉ dùng Bước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Đường CDF của mô hình cuối nằm trên đường v4 ở mọi mức sai số; k-NN tối ưu chỉ để tham chiếu.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Cột là sai số trung bình, phần gạch chéo là trung vị; đường đứt là mức 7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75,9% tổng sai số thuộc các mẫu đã đoán đúng tầng; Bước 8 giảm sai số các mẫu này từ 7,78 m xuống 6,48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 trận nhầm lẫn: lỗi gần đường chéo, giữa các tầng liền kề. Bản đồ: sai số lớn ở đầu hành lang và vùng thưa điểm tham chiếu.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điểm là một vân tay kiểm tra; dưới đường chéo là được cải thiện.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biến thể so bằng sai số dev ngoài fold; tập kiểm tra không được đọc. IDF và mô hình mức cường độ dùng riêng không cải thiện.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v1 có kiểm tra thấp nhất trong Bước 1-7 nhưng dev kém nhất nên không được chọn. v6 có dev thấp nhất nên là mô hình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HUI mỗi ô biến thiên nhiều bậc; ô nhiều AP mạnh phải nâng ngưỡng. Thời gian định vị UJIIndoorLoc lớn nhất do ba mô hình HUI.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đề xuất tốt hơn k-NN gốc nhưng kém k-NN tối ưu trên UJIIndoorLoc.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cách kiểm tra: chương trình kiểm chứng không gọi EFIM hay bộ định vị; sổ Excel bằng công thức; script thư viện chuẩn.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HUIM đã chuyển từ vai trò tiền xử lý sang vai trò thuật toán định vị. Kết quả dưới 7 m trên cả sáu bộ dữ liệu; trên UJIIndoorLoc nhờ Bước 8, với biên nhỏ cần nói rõ.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OI">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OI_DUNG">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1F3A5F"/>
          </a:solidFill>
          <a:ln w="12700">
            <a:solidFill>
              <a:srgbClr val="1F3A5F"/>
            </a:solidFill>
            <a:prstDash val="solid"/>
          </a:ln>
        </p:spPr>
      </p:sp>
      <p:sp>
        <p:nvSpPr>
          <p:cNvPr id="3" name="Shape 1"/>
          <p:cNvSpPr/>
          <p:nvPr/>
        </p:nvSpPr>
        <p:spPr>
          <a:xfrm>
            <a:off x="548640" y="6382512"/>
            <a:ext cx="11094415" cy="0"/>
          </a:xfrm>
          <a:prstGeom prst="line">
            <a:avLst/>
          </a:prstGeom>
          <a:noFill/>
          <a:ln w="9525">
            <a:solidFill>
              <a:srgbClr val="D8D3C8"/>
            </a:solidFill>
            <a:prstDash val="solid"/>
          </a:ln>
        </p:spPr>
      </p:sp>
      <p:sp>
        <p:nvSpPr>
          <p:cNvPr id="4" name="Text 2"/>
          <p:cNvSpPr/>
          <p:nvPr>
            <p:ph idx="102" type="title" hasCustomPrompt="1"/>
          </p:nvPr>
        </p:nvSpPr>
        <p:spPr>
          <a:xfrm>
            <a:off x="548640" y="502920"/>
            <a:ext cx="11094415" cy="685800"/>
          </a:xfrm>
          <a:prstGeom prst="rect">
            <a:avLst/>
          </a:prstGeom>
          <a:noFill/>
          <a:ln/>
        </p:spPr>
        <p:txBody>
          <a:bodyPr wrap="square" rtlCol="0"/>
          <a:lstStyle>
            <a:lvl1pPr algn="l" indent="0" marL="0">
              <a:buNone/>
              <a:defRPr lang="en-US" sz="2700" b="1" dirty="0">
                <a:solidFill>
                  <a:srgbClr val="1F3A5F"/>
                </a:solidFill>
                <a:latin typeface="Times New Roman" pitchFamily="34" charset="0"/>
                <a:ea typeface="Times New Roman" pitchFamily="34" charset="-122"/>
                <a:cs typeface="Times New Roman" pitchFamily="34" charset="-120"/>
              </a:defRPr>
            </a:lvl1pPr>
          </a:lstStyle>
          <a:p>
            <a:pPr algn="l" indent="0" marL="0">
              <a:buNone/>
            </a:pPr>
            <a:endParaRPr lang="en-US" sz="27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3.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3.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3.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3.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3.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3.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7315200" cy="365760"/>
          </a:xfrm>
          <a:prstGeom prst="rect">
            <a:avLst/>
          </a:prstGeom>
          <a:noFill/>
          <a:ln/>
        </p:spPr>
        <p:txBody>
          <a:bodyPr wrap="square" lIns="0" tIns="0" rIns="0" bIns="0" rtlCol="0" anchor="ctr"/>
          <a:lstStyle/>
          <a:p>
            <a:pPr indent="0" marL="0">
              <a:buNone/>
            </a:pPr>
            <a:r>
              <a:rPr lang="en-US" sz="1500" b="1" spc="200" kern="0" dirty="0">
                <a:solidFill>
                  <a:srgbClr val="9BC4CD"/>
                </a:solidFill>
                <a:latin typeface="Times New Roman" pitchFamily="34" charset="0"/>
                <a:ea typeface="Times New Roman" pitchFamily="34" charset="-122"/>
                <a:cs typeface="Times New Roman" pitchFamily="34" charset="-120"/>
              </a:rPr>
              <a:t>LUẬN VĂN THẠC SĨ KHOA HỌC MÁY TÍNH</a:t>
            </a:r>
            <a:endParaRPr lang="en-US" sz="1500" dirty="0"/>
          </a:p>
        </p:txBody>
      </p:sp>
      <p:sp>
        <p:nvSpPr>
          <p:cNvPr id="3" name="Text 1"/>
          <p:cNvSpPr txBox="1"/>
          <p:nvPr/>
        </p:nvSpPr>
        <p:spPr>
          <a:xfrm>
            <a:off x="548640" y="1234440"/>
            <a:ext cx="6766560" cy="2377440"/>
          </a:xfrm>
          <a:prstGeom prst="rect">
            <a:avLst/>
          </a:prstGeom>
          <a:noFill/>
          <a:ln/>
        </p:spPr>
        <p:txBody>
          <a:bodyPr wrap="square" lIns="0" tIns="0" rIns="0" bIns="0" rtlCol="0" anchor="t"/>
          <a:lstStyle/>
          <a:p>
            <a:pPr indent="0" marL="0">
              <a:buNone/>
            </a:pPr>
            <a:r>
              <a:rPr lang="en-US" sz="3800" b="1" dirty="0">
                <a:solidFill>
                  <a:srgbClr val="FFFFFF"/>
                </a:solidFill>
                <a:latin typeface="Times New Roman" pitchFamily="34" charset="0"/>
                <a:ea typeface="Times New Roman" pitchFamily="34" charset="-122"/>
                <a:cs typeface="Times New Roman" pitchFamily="34" charset="-120"/>
              </a:rPr>
              <a:t>Ứng dụng thuật toán khai thác tập mục lợi ích cao (HUIM) trong hệ thống định vị trong nhà</a:t>
            </a:r>
            <a:endParaRPr lang="en-US" sz="3800" dirty="0"/>
          </a:p>
        </p:txBody>
      </p:sp>
      <p:sp>
        <p:nvSpPr>
          <p:cNvPr id="4" name="Shape 2"/>
          <p:cNvSpPr/>
          <p:nvPr/>
        </p:nvSpPr>
        <p:spPr>
          <a:xfrm>
            <a:off x="548640" y="3840480"/>
            <a:ext cx="2377440" cy="0"/>
          </a:xfrm>
          <a:prstGeom prst="line">
            <a:avLst/>
          </a:prstGeom>
          <a:noFill/>
          <a:ln w="31750">
            <a:solidFill>
              <a:srgbClr val="C9A227"/>
            </a:solidFill>
            <a:prstDash val="solid"/>
          </a:ln>
        </p:spPr>
      </p:sp>
      <p:sp>
        <p:nvSpPr>
          <p:cNvPr id="5" name="Text 3"/>
          <p:cNvSpPr txBox="1"/>
          <p:nvPr/>
        </p:nvSpPr>
        <p:spPr>
          <a:xfrm>
            <a:off x="548640" y="3977640"/>
            <a:ext cx="6766560" cy="548640"/>
          </a:xfrm>
          <a:prstGeom prst="rect">
            <a:avLst/>
          </a:prstGeom>
          <a:noFill/>
          <a:ln/>
        </p:spPr>
        <p:txBody>
          <a:bodyPr wrap="square" lIns="0" tIns="0" rIns="0" bIns="0" rtlCol="0" anchor="ctr"/>
          <a:lstStyle/>
          <a:p>
            <a:pPr indent="0" marL="0">
              <a:buNone/>
            </a:pPr>
            <a:r>
              <a:rPr lang="en-US" sz="1900" i="1" dirty="0">
                <a:solidFill>
                  <a:srgbClr val="DCE6EE"/>
                </a:solidFill>
                <a:latin typeface="Times New Roman" pitchFamily="34" charset="0"/>
                <a:ea typeface="Times New Roman" pitchFamily="34" charset="-122"/>
                <a:cs typeface="Times New Roman" pitchFamily="34" charset="-120"/>
              </a:rPr>
              <a:t>Định vị bằng so khớp High Utility Itemset trên vân tay Wi-Fi — không dùng k-NN</a:t>
            </a:r>
            <a:endParaRPr lang="en-US" sz="1900" dirty="0"/>
          </a:p>
        </p:txBody>
      </p:sp>
      <p:sp>
        <p:nvSpPr>
          <p:cNvPr id="6" name="Text 4"/>
          <p:cNvSpPr txBox="1"/>
          <p:nvPr/>
        </p:nvSpPr>
        <p:spPr>
          <a:xfrm>
            <a:off x="548640" y="4800600"/>
            <a:ext cx="6400800" cy="1371600"/>
          </a:xfrm>
          <a:prstGeom prst="rect">
            <a:avLst/>
          </a:prstGeom>
          <a:noFill/>
          <a:ln/>
        </p:spPr>
        <p:txBody>
          <a:bodyPr wrap="square" lIns="0" tIns="0" rIns="0" bIns="0" rtlCol="0" anchor="ctr"/>
          <a:lstStyle/>
          <a:p>
            <a:pPr indent="0" marL="0">
              <a:spcAft>
                <a:spcPts val="600"/>
              </a:spcAft>
              <a:buNone/>
            </a:pPr>
            <a:r>
              <a:rPr lang="en-US" sz="1700" b="1" dirty="0">
                <a:solidFill>
                  <a:srgbClr val="FFFFFF"/>
                </a:solidFill>
                <a:latin typeface="Times New Roman" pitchFamily="34" charset="0"/>
                <a:ea typeface="Times New Roman" pitchFamily="34" charset="-122"/>
                <a:cs typeface="Times New Roman" pitchFamily="34" charset="-120"/>
              </a:rPr>
              <a:t>Học viên: </a:t>
            </a:r>
            <a:pPr indent="0" marL="0">
              <a:spcAft>
                <a:spcPts val="600"/>
              </a:spcAft>
              <a:buNone/>
            </a:pPr>
            <a:r>
              <a:rPr lang="en-US" sz="1700" dirty="0">
                <a:solidFill>
                  <a:srgbClr val="FFFFFF"/>
                </a:solidFill>
                <a:latin typeface="Times New Roman" pitchFamily="34" charset="0"/>
                <a:ea typeface="Times New Roman" pitchFamily="34" charset="-122"/>
                <a:cs typeface="Times New Roman" pitchFamily="34" charset="-120"/>
              </a:rPr>
              <a:t>……………………………</a:t>
            </a:r>
            <a:endParaRPr lang="en-US" sz="1700" dirty="0"/>
          </a:p>
          <a:p>
            <a:pPr indent="0" marL="0">
              <a:spcAft>
                <a:spcPts val="600"/>
              </a:spcAft>
              <a:buNone/>
            </a:pPr>
            <a:r>
              <a:rPr lang="en-US" sz="1700" b="1" dirty="0">
                <a:solidFill>
                  <a:srgbClr val="FFFFFF"/>
                </a:solidFill>
                <a:latin typeface="Times New Roman" pitchFamily="34" charset="0"/>
                <a:ea typeface="Times New Roman" pitchFamily="34" charset="-122"/>
                <a:cs typeface="Times New Roman" pitchFamily="34" charset="-120"/>
              </a:rPr>
              <a:t>Người hướng dẫn khoa học: </a:t>
            </a:r>
            <a:pPr indent="0" marL="0">
              <a:spcAft>
                <a:spcPts val="600"/>
              </a:spcAft>
              <a:buNone/>
            </a:pPr>
            <a:r>
              <a:rPr lang="en-US" sz="1700" dirty="0">
                <a:solidFill>
                  <a:srgbClr val="FFFFFF"/>
                </a:solidFill>
                <a:latin typeface="Times New Roman" pitchFamily="34" charset="0"/>
                <a:ea typeface="Times New Roman" pitchFamily="34" charset="-122"/>
                <a:cs typeface="Times New Roman" pitchFamily="34" charset="-120"/>
              </a:rPr>
              <a:t>……………………………</a:t>
            </a:r>
            <a:endParaRPr lang="en-US" sz="1700" dirty="0"/>
          </a:p>
          <a:p>
            <a:pPr indent="0" marL="0">
              <a:spcAft>
                <a:spcPts val="600"/>
              </a:spcAft>
              <a:buNone/>
            </a:pPr>
            <a:r>
              <a:rPr lang="en-US" sz="1700" dirty="0">
                <a:solidFill>
                  <a:srgbClr val="FFFFFF"/>
                </a:solidFill>
                <a:latin typeface="Times New Roman" pitchFamily="34" charset="0"/>
                <a:ea typeface="Times New Roman" pitchFamily="34" charset="-122"/>
                <a:cs typeface="Times New Roman" pitchFamily="34" charset="-120"/>
              </a:rPr>
              <a:t>Năm 2026</a:t>
            </a:r>
            <a:endParaRPr lang="en-US" sz="1700" dirty="0"/>
          </a:p>
        </p:txBody>
      </p:sp>
      <p:sp>
        <p:nvSpPr>
          <p:cNvPr id="7" name="Text 5"/>
          <p:cNvSpPr txBox="1"/>
          <p:nvPr/>
        </p:nvSpPr>
        <p:spPr>
          <a:xfrm>
            <a:off x="7315200" y="6400800"/>
            <a:ext cx="4572000" cy="274320"/>
          </a:xfrm>
          <a:prstGeom prst="rect">
            <a:avLst/>
          </a:prstGeom>
          <a:noFill/>
          <a:ln/>
        </p:spPr>
        <p:txBody>
          <a:bodyPr wrap="square" lIns="0" tIns="0" rIns="0" bIns="0" rtlCol="0" anchor="ctr"/>
          <a:lstStyle/>
          <a:p>
            <a:pPr algn="r" indent="0" marL="0">
              <a:buNone/>
            </a:pPr>
            <a:r>
              <a:rPr lang="en-US" sz="1000" i="1" dirty="0">
                <a:solidFill>
                  <a:srgbClr val="9BB7C4"/>
                </a:solidFill>
                <a:latin typeface="Times New Roman" pitchFamily="34" charset="0"/>
                <a:ea typeface="Times New Roman" pitchFamily="34" charset="-122"/>
                <a:cs typeface="Times New Roman" pitchFamily="34" charset="-120"/>
              </a:rPr>
              <a:t>Nền: bản đồ điểm khảo sát UJIIndoorLoc; chấm màu là vân tay kiểm tra theo sai số</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NỘI DUNG</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Nội dung trình bày</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E3E0D8"/>
          </a:solidFill>
          <a:ln w="12700">
            <a:solidFill>
              <a:srgbClr val="E3E0D8"/>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sp>
        <p:nvSpPr>
          <p:cNvPr id="14" name="Shape 12"/>
          <p:cNvSpPr/>
          <p:nvPr/>
        </p:nvSpPr>
        <p:spPr>
          <a:xfrm>
            <a:off x="548640" y="1600200"/>
            <a:ext cx="2036003" cy="4206240"/>
          </a:xfrm>
          <a:prstGeom prst="rect">
            <a:avLst/>
          </a:prstGeom>
          <a:solidFill>
            <a:srgbClr val="E6F0F2"/>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15" name="Shape 13"/>
          <p:cNvSpPr/>
          <p:nvPr/>
        </p:nvSpPr>
        <p:spPr>
          <a:xfrm>
            <a:off x="548640" y="1600200"/>
            <a:ext cx="64008" cy="4206240"/>
          </a:xfrm>
          <a:prstGeom prst="rect">
            <a:avLst/>
          </a:prstGeom>
          <a:solidFill>
            <a:srgbClr val="2A7F8F"/>
          </a:solidFill>
          <a:ln w="12700">
            <a:solidFill>
              <a:srgbClr val="2A7F8F"/>
            </a:solidFill>
            <a:prstDash val="solid"/>
          </a:ln>
        </p:spPr>
      </p:sp>
      <p:sp>
        <p:nvSpPr>
          <p:cNvPr id="16" name="Text 14"/>
          <p:cNvSpPr txBox="1"/>
          <p:nvPr/>
        </p:nvSpPr>
        <p:spPr>
          <a:xfrm>
            <a:off x="822960" y="1828800"/>
            <a:ext cx="1578803" cy="914400"/>
          </a:xfrm>
          <a:prstGeom prst="rect">
            <a:avLst/>
          </a:prstGeom>
          <a:noFill/>
          <a:ln/>
        </p:spPr>
        <p:txBody>
          <a:bodyPr wrap="square" lIns="0" tIns="0" rIns="0" bIns="0" rtlCol="0" anchor="ctr"/>
          <a:lstStyle/>
          <a:p>
            <a:pPr indent="0" marL="0">
              <a:buNone/>
            </a:pPr>
            <a:r>
              <a:rPr lang="en-US" sz="4800" b="1" dirty="0">
                <a:solidFill>
                  <a:srgbClr val="2A7F8F"/>
                </a:solidFill>
                <a:latin typeface="Times New Roman" pitchFamily="34" charset="0"/>
                <a:ea typeface="Times New Roman" pitchFamily="34" charset="-122"/>
                <a:cs typeface="Times New Roman" pitchFamily="34" charset="-120"/>
              </a:rPr>
              <a:t>01</a:t>
            </a:r>
            <a:endParaRPr lang="en-US" sz="4800" dirty="0"/>
          </a:p>
        </p:txBody>
      </p:sp>
      <p:sp>
        <p:nvSpPr>
          <p:cNvPr id="17" name="Text 15"/>
          <p:cNvSpPr txBox="1"/>
          <p:nvPr/>
        </p:nvSpPr>
        <p:spPr>
          <a:xfrm>
            <a:off x="822960" y="2880360"/>
            <a:ext cx="1578803" cy="822960"/>
          </a:xfrm>
          <a:prstGeom prst="rect">
            <a:avLst/>
          </a:prstGeom>
          <a:noFill/>
          <a:ln/>
        </p:spPr>
        <p:txBody>
          <a:bodyPr wrap="square" lIns="0" tIns="0" rIns="0" bIns="0" rtlCol="0" anchor="t"/>
          <a:lstStyle/>
          <a:p>
            <a:pPr indent="0" marL="0">
              <a:buNone/>
            </a:pPr>
            <a:r>
              <a:rPr lang="en-US" sz="2100" b="1" dirty="0">
                <a:solidFill>
                  <a:srgbClr val="1F3A5F"/>
                </a:solidFill>
                <a:latin typeface="Times New Roman" pitchFamily="34" charset="0"/>
                <a:ea typeface="Times New Roman" pitchFamily="34" charset="-122"/>
                <a:cs typeface="Times New Roman" pitchFamily="34" charset="-120"/>
              </a:rPr>
              <a:t>Mở đầu</a:t>
            </a:r>
            <a:endParaRPr lang="en-US" sz="2100" dirty="0"/>
          </a:p>
        </p:txBody>
      </p:sp>
      <p:sp>
        <p:nvSpPr>
          <p:cNvPr id="18" name="Text 16"/>
          <p:cNvSpPr txBox="1"/>
          <p:nvPr/>
        </p:nvSpPr>
        <p:spPr>
          <a:xfrm>
            <a:off x="822960" y="3749040"/>
            <a:ext cx="1578803" cy="1920240"/>
          </a:xfrm>
          <a:prstGeom prst="rect">
            <a:avLst/>
          </a:prstGeom>
          <a:noFill/>
          <a:ln/>
        </p:spPr>
        <p:txBody>
          <a:bodyPr wrap="square" lIns="0" tIns="0" rIns="0" bIns="0" rtlCol="0" anchor="t"/>
          <a:lstStyle/>
          <a:p>
            <a:pPr indent="0" marL="0">
              <a:buNone/>
            </a:pPr>
            <a:r>
              <a:rPr lang="en-US" sz="1500" dirty="0">
                <a:solidFill>
                  <a:srgbClr val="1B2A3D"/>
                </a:solidFill>
                <a:latin typeface="Times New Roman" pitchFamily="34" charset="0"/>
                <a:ea typeface="Times New Roman" pitchFamily="34" charset="-122"/>
                <a:cs typeface="Times New Roman" pitchFamily="34" charset="-120"/>
              </a:rPr>
              <a:t>Bối cảnh, vấn đề của các giai đoạn trước, câu hỏi và mục tiêu nghiên cứu</a:t>
            </a:r>
            <a:endParaRPr lang="en-US" sz="1500" dirty="0"/>
          </a:p>
        </p:txBody>
      </p:sp>
      <p:sp>
        <p:nvSpPr>
          <p:cNvPr id="19" name="Shape 17"/>
          <p:cNvSpPr/>
          <p:nvPr/>
        </p:nvSpPr>
        <p:spPr>
          <a:xfrm>
            <a:off x="2813243" y="1600200"/>
            <a:ext cx="2036003" cy="4206240"/>
          </a:xfrm>
          <a:prstGeom prst="rect">
            <a:avLst/>
          </a:prstGeom>
          <a:solidFill>
            <a:srgbClr val="FBFAF7"/>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20" name="Shape 18"/>
          <p:cNvSpPr/>
          <p:nvPr/>
        </p:nvSpPr>
        <p:spPr>
          <a:xfrm>
            <a:off x="2813243" y="1600200"/>
            <a:ext cx="64008" cy="4206240"/>
          </a:xfrm>
          <a:prstGeom prst="rect">
            <a:avLst/>
          </a:prstGeom>
          <a:solidFill>
            <a:srgbClr val="2A7F8F"/>
          </a:solidFill>
          <a:ln w="12700">
            <a:solidFill>
              <a:srgbClr val="2A7F8F"/>
            </a:solidFill>
            <a:prstDash val="solid"/>
          </a:ln>
        </p:spPr>
      </p:sp>
      <p:sp>
        <p:nvSpPr>
          <p:cNvPr id="21" name="Text 19"/>
          <p:cNvSpPr txBox="1"/>
          <p:nvPr/>
        </p:nvSpPr>
        <p:spPr>
          <a:xfrm>
            <a:off x="3087563" y="1828800"/>
            <a:ext cx="1578803" cy="914400"/>
          </a:xfrm>
          <a:prstGeom prst="rect">
            <a:avLst/>
          </a:prstGeom>
          <a:noFill/>
          <a:ln/>
        </p:spPr>
        <p:txBody>
          <a:bodyPr wrap="square" lIns="0" tIns="0" rIns="0" bIns="0" rtlCol="0" anchor="ctr"/>
          <a:lstStyle/>
          <a:p>
            <a:pPr indent="0" marL="0">
              <a:buNone/>
            </a:pPr>
            <a:r>
              <a:rPr lang="en-US" sz="4800" b="1" dirty="0">
                <a:solidFill>
                  <a:srgbClr val="2A7F8F"/>
                </a:solidFill>
                <a:latin typeface="Times New Roman" pitchFamily="34" charset="0"/>
                <a:ea typeface="Times New Roman" pitchFamily="34" charset="-122"/>
                <a:cs typeface="Times New Roman" pitchFamily="34" charset="-120"/>
              </a:rPr>
              <a:t>02</a:t>
            </a:r>
            <a:endParaRPr lang="en-US" sz="4800" dirty="0"/>
          </a:p>
        </p:txBody>
      </p:sp>
      <p:sp>
        <p:nvSpPr>
          <p:cNvPr id="22" name="Text 20"/>
          <p:cNvSpPr txBox="1"/>
          <p:nvPr/>
        </p:nvSpPr>
        <p:spPr>
          <a:xfrm>
            <a:off x="3087563" y="2880360"/>
            <a:ext cx="1578803" cy="822960"/>
          </a:xfrm>
          <a:prstGeom prst="rect">
            <a:avLst/>
          </a:prstGeom>
          <a:noFill/>
          <a:ln/>
        </p:spPr>
        <p:txBody>
          <a:bodyPr wrap="square" lIns="0" tIns="0" rIns="0" bIns="0" rtlCol="0" anchor="t"/>
          <a:lstStyle/>
          <a:p>
            <a:pPr indent="0" marL="0">
              <a:buNone/>
            </a:pPr>
            <a:r>
              <a:rPr lang="en-US" sz="2100" b="1" dirty="0">
                <a:solidFill>
                  <a:srgbClr val="1F3A5F"/>
                </a:solidFill>
                <a:latin typeface="Times New Roman" pitchFamily="34" charset="0"/>
                <a:ea typeface="Times New Roman" pitchFamily="34" charset="-122"/>
                <a:cs typeface="Times New Roman" pitchFamily="34" charset="-120"/>
              </a:rPr>
              <a:t>Cơ sở lý thuyết</a:t>
            </a:r>
            <a:endParaRPr lang="en-US" sz="2100" dirty="0"/>
          </a:p>
        </p:txBody>
      </p:sp>
      <p:sp>
        <p:nvSpPr>
          <p:cNvPr id="23" name="Text 21"/>
          <p:cNvSpPr txBox="1"/>
          <p:nvPr/>
        </p:nvSpPr>
        <p:spPr>
          <a:xfrm>
            <a:off x="3087563" y="3749040"/>
            <a:ext cx="1578803" cy="1920240"/>
          </a:xfrm>
          <a:prstGeom prst="rect">
            <a:avLst/>
          </a:prstGeom>
          <a:noFill/>
          <a:ln/>
        </p:spPr>
        <p:txBody>
          <a:bodyPr wrap="square" lIns="0" tIns="0" rIns="0" bIns="0" rtlCol="0" anchor="t"/>
          <a:lstStyle/>
          <a:p>
            <a:pPr indent="0" marL="0">
              <a:buNone/>
            </a:pPr>
            <a:r>
              <a:rPr lang="en-US" sz="1500" dirty="0">
                <a:solidFill>
                  <a:srgbClr val="1B2A3D"/>
                </a:solidFill>
                <a:latin typeface="Times New Roman" pitchFamily="34" charset="0"/>
                <a:ea typeface="Times New Roman" pitchFamily="34" charset="-122"/>
                <a:cs typeface="Times New Roman" pitchFamily="34" charset="-120"/>
              </a:rPr>
              <a:t>Định vị vân tay, bài toán HUIM, thuật toán EFIM, Gradient Boosting, độ đo</a:t>
            </a:r>
            <a:endParaRPr lang="en-US" sz="1500" dirty="0"/>
          </a:p>
        </p:txBody>
      </p:sp>
      <p:sp>
        <p:nvSpPr>
          <p:cNvPr id="24" name="Shape 22"/>
          <p:cNvSpPr/>
          <p:nvPr/>
        </p:nvSpPr>
        <p:spPr>
          <a:xfrm>
            <a:off x="5077846" y="1600200"/>
            <a:ext cx="2036003" cy="4206240"/>
          </a:xfrm>
          <a:prstGeom prst="rect">
            <a:avLst/>
          </a:prstGeom>
          <a:solidFill>
            <a:srgbClr val="E6F0F2"/>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25" name="Shape 23"/>
          <p:cNvSpPr/>
          <p:nvPr/>
        </p:nvSpPr>
        <p:spPr>
          <a:xfrm>
            <a:off x="5077846" y="1600200"/>
            <a:ext cx="64008" cy="4206240"/>
          </a:xfrm>
          <a:prstGeom prst="rect">
            <a:avLst/>
          </a:prstGeom>
          <a:solidFill>
            <a:srgbClr val="2A7F8F"/>
          </a:solidFill>
          <a:ln w="12700">
            <a:solidFill>
              <a:srgbClr val="2A7F8F"/>
            </a:solidFill>
            <a:prstDash val="solid"/>
          </a:ln>
        </p:spPr>
      </p:sp>
      <p:sp>
        <p:nvSpPr>
          <p:cNvPr id="26" name="Text 24"/>
          <p:cNvSpPr txBox="1"/>
          <p:nvPr/>
        </p:nvSpPr>
        <p:spPr>
          <a:xfrm>
            <a:off x="5352166" y="1828800"/>
            <a:ext cx="1578803" cy="914400"/>
          </a:xfrm>
          <a:prstGeom prst="rect">
            <a:avLst/>
          </a:prstGeom>
          <a:noFill/>
          <a:ln/>
        </p:spPr>
        <p:txBody>
          <a:bodyPr wrap="square" lIns="0" tIns="0" rIns="0" bIns="0" rtlCol="0" anchor="ctr"/>
          <a:lstStyle/>
          <a:p>
            <a:pPr indent="0" marL="0">
              <a:buNone/>
            </a:pPr>
            <a:r>
              <a:rPr lang="en-US" sz="4800" b="1" dirty="0">
                <a:solidFill>
                  <a:srgbClr val="2A7F8F"/>
                </a:solidFill>
                <a:latin typeface="Times New Roman" pitchFamily="34" charset="0"/>
                <a:ea typeface="Times New Roman" pitchFamily="34" charset="-122"/>
                <a:cs typeface="Times New Roman" pitchFamily="34" charset="-120"/>
              </a:rPr>
              <a:t>03</a:t>
            </a:r>
            <a:endParaRPr lang="en-US" sz="4800" dirty="0"/>
          </a:p>
        </p:txBody>
      </p:sp>
      <p:sp>
        <p:nvSpPr>
          <p:cNvPr id="27" name="Text 25"/>
          <p:cNvSpPr txBox="1"/>
          <p:nvPr/>
        </p:nvSpPr>
        <p:spPr>
          <a:xfrm>
            <a:off x="5352166" y="2880360"/>
            <a:ext cx="1578803" cy="822960"/>
          </a:xfrm>
          <a:prstGeom prst="rect">
            <a:avLst/>
          </a:prstGeom>
          <a:noFill/>
          <a:ln/>
        </p:spPr>
        <p:txBody>
          <a:bodyPr wrap="square" lIns="0" tIns="0" rIns="0" bIns="0" rtlCol="0" anchor="t"/>
          <a:lstStyle/>
          <a:p>
            <a:pPr indent="0" marL="0">
              <a:buNone/>
            </a:pPr>
            <a:r>
              <a:rPr lang="en-US" sz="2100" b="1" dirty="0">
                <a:solidFill>
                  <a:srgbClr val="1F3A5F"/>
                </a:solidFill>
                <a:latin typeface="Times New Roman" pitchFamily="34" charset="0"/>
                <a:ea typeface="Times New Roman" pitchFamily="34" charset="-122"/>
                <a:cs typeface="Times New Roman" pitchFamily="34" charset="-120"/>
              </a:rPr>
              <a:t>Mô hình đề xuất</a:t>
            </a:r>
            <a:endParaRPr lang="en-US" sz="2100" dirty="0"/>
          </a:p>
        </p:txBody>
      </p:sp>
      <p:sp>
        <p:nvSpPr>
          <p:cNvPr id="28" name="Text 26"/>
          <p:cNvSpPr txBox="1"/>
          <p:nvPr/>
        </p:nvSpPr>
        <p:spPr>
          <a:xfrm>
            <a:off x="5352166" y="3749040"/>
            <a:ext cx="1578803" cy="1920240"/>
          </a:xfrm>
          <a:prstGeom prst="rect">
            <a:avLst/>
          </a:prstGeom>
          <a:noFill/>
          <a:ln/>
        </p:spPr>
        <p:txBody>
          <a:bodyPr wrap="square" lIns="0" tIns="0" rIns="0" bIns="0" rtlCol="0" anchor="t"/>
          <a:lstStyle/>
          <a:p>
            <a:pPr indent="0" marL="0">
              <a:buNone/>
            </a:pPr>
            <a:r>
              <a:rPr lang="en-US" sz="1500" dirty="0">
                <a:solidFill>
                  <a:srgbClr val="1B2A3D"/>
                </a:solidFill>
                <a:latin typeface="Times New Roman" pitchFamily="34" charset="0"/>
                <a:ea typeface="Times New Roman" pitchFamily="34" charset="-122"/>
                <a:cs typeface="Times New Roman" pitchFamily="34" charset="-120"/>
              </a:rPr>
              <a:t>Tám bước từ vân tay Wi-Fi tới toạ độ, mọi quyết định dựa trên HUI</a:t>
            </a:r>
            <a:endParaRPr lang="en-US" sz="1500" dirty="0"/>
          </a:p>
        </p:txBody>
      </p:sp>
      <p:sp>
        <p:nvSpPr>
          <p:cNvPr id="29" name="Shape 27"/>
          <p:cNvSpPr/>
          <p:nvPr/>
        </p:nvSpPr>
        <p:spPr>
          <a:xfrm>
            <a:off x="7342449" y="1600200"/>
            <a:ext cx="2036003" cy="4206240"/>
          </a:xfrm>
          <a:prstGeom prst="rect">
            <a:avLst/>
          </a:prstGeom>
          <a:solidFill>
            <a:srgbClr val="FBFAF7"/>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30" name="Shape 28"/>
          <p:cNvSpPr/>
          <p:nvPr/>
        </p:nvSpPr>
        <p:spPr>
          <a:xfrm>
            <a:off x="7342449" y="1600200"/>
            <a:ext cx="64008" cy="4206240"/>
          </a:xfrm>
          <a:prstGeom prst="rect">
            <a:avLst/>
          </a:prstGeom>
          <a:solidFill>
            <a:srgbClr val="2A7F8F"/>
          </a:solidFill>
          <a:ln w="12700">
            <a:solidFill>
              <a:srgbClr val="2A7F8F"/>
            </a:solidFill>
            <a:prstDash val="solid"/>
          </a:ln>
        </p:spPr>
      </p:sp>
      <p:sp>
        <p:nvSpPr>
          <p:cNvPr id="31" name="Text 29"/>
          <p:cNvSpPr txBox="1"/>
          <p:nvPr/>
        </p:nvSpPr>
        <p:spPr>
          <a:xfrm>
            <a:off x="7616769" y="1828800"/>
            <a:ext cx="1578803" cy="914400"/>
          </a:xfrm>
          <a:prstGeom prst="rect">
            <a:avLst/>
          </a:prstGeom>
          <a:noFill/>
          <a:ln/>
        </p:spPr>
        <p:txBody>
          <a:bodyPr wrap="square" lIns="0" tIns="0" rIns="0" bIns="0" rtlCol="0" anchor="ctr"/>
          <a:lstStyle/>
          <a:p>
            <a:pPr indent="0" marL="0">
              <a:buNone/>
            </a:pPr>
            <a:r>
              <a:rPr lang="en-US" sz="4800" b="1" dirty="0">
                <a:solidFill>
                  <a:srgbClr val="2A7F8F"/>
                </a:solidFill>
                <a:latin typeface="Times New Roman" pitchFamily="34" charset="0"/>
                <a:ea typeface="Times New Roman" pitchFamily="34" charset="-122"/>
                <a:cs typeface="Times New Roman" pitchFamily="34" charset="-120"/>
              </a:rPr>
              <a:t>04</a:t>
            </a:r>
            <a:endParaRPr lang="en-US" sz="4800" dirty="0"/>
          </a:p>
        </p:txBody>
      </p:sp>
      <p:sp>
        <p:nvSpPr>
          <p:cNvPr id="32" name="Text 30"/>
          <p:cNvSpPr txBox="1"/>
          <p:nvPr/>
        </p:nvSpPr>
        <p:spPr>
          <a:xfrm>
            <a:off x="7616769" y="2880360"/>
            <a:ext cx="1578803" cy="822960"/>
          </a:xfrm>
          <a:prstGeom prst="rect">
            <a:avLst/>
          </a:prstGeom>
          <a:noFill/>
          <a:ln/>
        </p:spPr>
        <p:txBody>
          <a:bodyPr wrap="square" lIns="0" tIns="0" rIns="0" bIns="0" rtlCol="0" anchor="t"/>
          <a:lstStyle/>
          <a:p>
            <a:pPr indent="0" marL="0">
              <a:buNone/>
            </a:pPr>
            <a:r>
              <a:rPr lang="en-US" sz="2100" b="1" dirty="0">
                <a:solidFill>
                  <a:srgbClr val="1F3A5F"/>
                </a:solidFill>
                <a:latin typeface="Times New Roman" pitchFamily="34" charset="0"/>
                <a:ea typeface="Times New Roman" pitchFamily="34" charset="-122"/>
                <a:cs typeface="Times New Roman" pitchFamily="34" charset="-120"/>
              </a:rPr>
              <a:t>Thực nghiệm</a:t>
            </a:r>
            <a:endParaRPr lang="en-US" sz="2100" dirty="0"/>
          </a:p>
        </p:txBody>
      </p:sp>
      <p:sp>
        <p:nvSpPr>
          <p:cNvPr id="33" name="Text 31"/>
          <p:cNvSpPr txBox="1"/>
          <p:nvPr/>
        </p:nvSpPr>
        <p:spPr>
          <a:xfrm>
            <a:off x="7616769" y="3749040"/>
            <a:ext cx="1578803" cy="1920240"/>
          </a:xfrm>
          <a:prstGeom prst="rect">
            <a:avLst/>
          </a:prstGeom>
          <a:noFill/>
          <a:ln/>
        </p:spPr>
        <p:txBody>
          <a:bodyPr wrap="square" lIns="0" tIns="0" rIns="0" bIns="0" rtlCol="0" anchor="t"/>
          <a:lstStyle/>
          <a:p>
            <a:pPr indent="0" marL="0">
              <a:buNone/>
            </a:pPr>
            <a:r>
              <a:rPr lang="en-US" sz="1500" dirty="0">
                <a:solidFill>
                  <a:srgbClr val="1B2A3D"/>
                </a:solidFill>
                <a:latin typeface="Times New Roman" pitchFamily="34" charset="0"/>
                <a:ea typeface="Times New Roman" pitchFamily="34" charset="-122"/>
                <a:cs typeface="Times New Roman" pitchFamily="34" charset="-120"/>
              </a:rPr>
              <a:t>Sáu bộ dữ liệu, giao thức không rò rỉ, kết quả, phân tích và kiểm chứng</a:t>
            </a:r>
            <a:endParaRPr lang="en-US" sz="1500" dirty="0"/>
          </a:p>
        </p:txBody>
      </p:sp>
      <p:sp>
        <p:nvSpPr>
          <p:cNvPr id="34" name="Shape 32"/>
          <p:cNvSpPr/>
          <p:nvPr/>
        </p:nvSpPr>
        <p:spPr>
          <a:xfrm>
            <a:off x="9607052" y="1600200"/>
            <a:ext cx="2036003" cy="4206240"/>
          </a:xfrm>
          <a:prstGeom prst="rect">
            <a:avLst/>
          </a:prstGeom>
          <a:solidFill>
            <a:srgbClr val="E6F0F2"/>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35" name="Shape 33"/>
          <p:cNvSpPr/>
          <p:nvPr/>
        </p:nvSpPr>
        <p:spPr>
          <a:xfrm>
            <a:off x="9607052" y="1600200"/>
            <a:ext cx="64008" cy="4206240"/>
          </a:xfrm>
          <a:prstGeom prst="rect">
            <a:avLst/>
          </a:prstGeom>
          <a:solidFill>
            <a:srgbClr val="2A7F8F"/>
          </a:solidFill>
          <a:ln w="12700">
            <a:solidFill>
              <a:srgbClr val="2A7F8F"/>
            </a:solidFill>
            <a:prstDash val="solid"/>
          </a:ln>
        </p:spPr>
      </p:sp>
      <p:sp>
        <p:nvSpPr>
          <p:cNvPr id="36" name="Text 34"/>
          <p:cNvSpPr txBox="1"/>
          <p:nvPr/>
        </p:nvSpPr>
        <p:spPr>
          <a:xfrm>
            <a:off x="9881372" y="1828800"/>
            <a:ext cx="1578803" cy="914400"/>
          </a:xfrm>
          <a:prstGeom prst="rect">
            <a:avLst/>
          </a:prstGeom>
          <a:noFill/>
          <a:ln/>
        </p:spPr>
        <p:txBody>
          <a:bodyPr wrap="square" lIns="0" tIns="0" rIns="0" bIns="0" rtlCol="0" anchor="ctr"/>
          <a:lstStyle/>
          <a:p>
            <a:pPr indent="0" marL="0">
              <a:buNone/>
            </a:pPr>
            <a:r>
              <a:rPr lang="en-US" sz="4800" b="1" dirty="0">
                <a:solidFill>
                  <a:srgbClr val="2A7F8F"/>
                </a:solidFill>
                <a:latin typeface="Times New Roman" pitchFamily="34" charset="0"/>
                <a:ea typeface="Times New Roman" pitchFamily="34" charset="-122"/>
                <a:cs typeface="Times New Roman" pitchFamily="34" charset="-120"/>
              </a:rPr>
              <a:t>05</a:t>
            </a:r>
            <a:endParaRPr lang="en-US" sz="4800" dirty="0"/>
          </a:p>
        </p:txBody>
      </p:sp>
      <p:sp>
        <p:nvSpPr>
          <p:cNvPr id="37" name="Text 35"/>
          <p:cNvSpPr txBox="1"/>
          <p:nvPr/>
        </p:nvSpPr>
        <p:spPr>
          <a:xfrm>
            <a:off x="9881372" y="2880360"/>
            <a:ext cx="1578803" cy="822960"/>
          </a:xfrm>
          <a:prstGeom prst="rect">
            <a:avLst/>
          </a:prstGeom>
          <a:noFill/>
          <a:ln/>
        </p:spPr>
        <p:txBody>
          <a:bodyPr wrap="square" lIns="0" tIns="0" rIns="0" bIns="0" rtlCol="0" anchor="t"/>
          <a:lstStyle/>
          <a:p>
            <a:pPr indent="0" marL="0">
              <a:buNone/>
            </a:pPr>
            <a:r>
              <a:rPr lang="en-US" sz="2100" b="1" dirty="0">
                <a:solidFill>
                  <a:srgbClr val="1F3A5F"/>
                </a:solidFill>
                <a:latin typeface="Times New Roman" pitchFamily="34" charset="0"/>
                <a:ea typeface="Times New Roman" pitchFamily="34" charset="-122"/>
                <a:cs typeface="Times New Roman" pitchFamily="34" charset="-120"/>
              </a:rPr>
              <a:t>Kết luận</a:t>
            </a:r>
            <a:endParaRPr lang="en-US" sz="2100" dirty="0"/>
          </a:p>
        </p:txBody>
      </p:sp>
      <p:sp>
        <p:nvSpPr>
          <p:cNvPr id="38" name="Text 36"/>
          <p:cNvSpPr txBox="1"/>
          <p:nvPr/>
        </p:nvSpPr>
        <p:spPr>
          <a:xfrm>
            <a:off x="9881372" y="3749040"/>
            <a:ext cx="1578803" cy="1920240"/>
          </a:xfrm>
          <a:prstGeom prst="rect">
            <a:avLst/>
          </a:prstGeom>
          <a:noFill/>
          <a:ln/>
        </p:spPr>
        <p:txBody>
          <a:bodyPr wrap="square" lIns="0" tIns="0" rIns="0" bIns="0" rtlCol="0" anchor="t"/>
          <a:lstStyle/>
          <a:p>
            <a:pPr indent="0" marL="0">
              <a:buNone/>
            </a:pPr>
            <a:r>
              <a:rPr lang="en-US" sz="1500" dirty="0">
                <a:solidFill>
                  <a:srgbClr val="1B2A3D"/>
                </a:solidFill>
                <a:latin typeface="Times New Roman" pitchFamily="34" charset="0"/>
                <a:ea typeface="Times New Roman" pitchFamily="34" charset="-122"/>
                <a:cs typeface="Times New Roman" pitchFamily="34" charset="-120"/>
              </a:rPr>
              <a:t>Kết quả đạt được, hạn chế và hướng phát triển</a:t>
            </a:r>
            <a:endParaRPr lang="en-US" sz="15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1188720"/>
            <a:ext cx="2743200" cy="1463040"/>
          </a:xfrm>
          <a:prstGeom prst="rect">
            <a:avLst/>
          </a:prstGeom>
          <a:noFill/>
          <a:ln/>
        </p:spPr>
        <p:txBody>
          <a:bodyPr wrap="square" lIns="0" tIns="0" rIns="0" bIns="0" rtlCol="0" anchor="ctr"/>
          <a:lstStyle/>
          <a:p>
            <a:pPr indent="0" marL="0">
              <a:buNone/>
            </a:pPr>
            <a:r>
              <a:rPr lang="en-US" sz="11000" b="1" dirty="0">
                <a:solidFill>
                  <a:srgbClr val="7FB3BF"/>
                </a:solidFill>
                <a:latin typeface="Times New Roman" pitchFamily="34" charset="0"/>
                <a:ea typeface="Times New Roman" pitchFamily="34" charset="-122"/>
                <a:cs typeface="Times New Roman" pitchFamily="34" charset="-120"/>
              </a:rPr>
              <a:t>01</a:t>
            </a:r>
            <a:endParaRPr lang="en-US" sz="11000" dirty="0"/>
          </a:p>
        </p:txBody>
      </p:sp>
      <p:sp>
        <p:nvSpPr>
          <p:cNvPr id="3" name="Text 1"/>
          <p:cNvSpPr txBox="1"/>
          <p:nvPr/>
        </p:nvSpPr>
        <p:spPr>
          <a:xfrm>
            <a:off x="548640" y="2743200"/>
            <a:ext cx="7772400" cy="914400"/>
          </a:xfrm>
          <a:prstGeom prst="rect">
            <a:avLst/>
          </a:prstGeom>
          <a:noFill/>
          <a:ln/>
        </p:spPr>
        <p:txBody>
          <a:bodyPr wrap="square" lIns="0" tIns="0" rIns="0" bIns="0" rtlCol="0" anchor="ctr"/>
          <a:lstStyle/>
          <a:p>
            <a:pPr indent="0" marL="0">
              <a:buNone/>
            </a:pPr>
            <a:r>
              <a:rPr lang="en-US" sz="3800" b="1" dirty="0">
                <a:solidFill>
                  <a:srgbClr val="FFFFFF"/>
                </a:solidFill>
                <a:latin typeface="Times New Roman" pitchFamily="34" charset="0"/>
                <a:ea typeface="Times New Roman" pitchFamily="34" charset="-122"/>
                <a:cs typeface="Times New Roman" pitchFamily="34" charset="-120"/>
              </a:rPr>
              <a:t>Mở đầu</a:t>
            </a:r>
            <a:endParaRPr lang="en-US" sz="3800" dirty="0"/>
          </a:p>
        </p:txBody>
      </p:sp>
      <p:sp>
        <p:nvSpPr>
          <p:cNvPr id="4" name="Shape 2"/>
          <p:cNvSpPr/>
          <p:nvPr/>
        </p:nvSpPr>
        <p:spPr>
          <a:xfrm>
            <a:off x="548640" y="3794760"/>
            <a:ext cx="2377440" cy="0"/>
          </a:xfrm>
          <a:prstGeom prst="line">
            <a:avLst/>
          </a:prstGeom>
          <a:noFill/>
          <a:ln w="25400">
            <a:solidFill>
              <a:srgbClr val="C9A227"/>
            </a:solidFill>
            <a:prstDash val="solid"/>
          </a:ln>
        </p:spPr>
      </p:sp>
      <p:sp>
        <p:nvSpPr>
          <p:cNvPr id="5" name="Text 3"/>
          <p:cNvSpPr txBox="1"/>
          <p:nvPr/>
        </p:nvSpPr>
        <p:spPr>
          <a:xfrm>
            <a:off x="548640" y="3977640"/>
            <a:ext cx="7315200" cy="2194560"/>
          </a:xfrm>
          <a:prstGeom prst="rect">
            <a:avLst/>
          </a:prstGeom>
          <a:noFill/>
          <a:ln/>
        </p:spPr>
        <p:txBody>
          <a:bodyPr wrap="square" lIns="0" tIns="0" rIns="0" bIns="0" rtlCol="0" anchor="t"/>
          <a:lstStyle/>
          <a:p>
            <a:pPr indent="0" marL="0">
              <a:spcAft>
                <a:spcPts val="600"/>
              </a:spcAft>
              <a:buNone/>
            </a:pPr>
            <a:r>
              <a:rPr lang="en-US" sz="1800" dirty="0">
                <a:solidFill>
                  <a:srgbClr val="DCE6EE"/>
                </a:solidFill>
                <a:latin typeface="Times New Roman" pitchFamily="34" charset="0"/>
                <a:ea typeface="Times New Roman" pitchFamily="34" charset="-122"/>
                <a:cs typeface="Times New Roman" pitchFamily="34" charset="-120"/>
              </a:rPr>
              <a:t>Bối cảnh định vị trong nhà</a:t>
            </a:r>
            <a:endParaRPr lang="en-US" sz="1800" dirty="0"/>
          </a:p>
          <a:p>
            <a:pPr indent="0" marL="0">
              <a:spcAft>
                <a:spcPts val="600"/>
              </a:spcAft>
              <a:buNone/>
            </a:pPr>
            <a:r>
              <a:rPr lang="en-US" sz="1800" dirty="0">
                <a:solidFill>
                  <a:srgbClr val="DCE6EE"/>
                </a:solidFill>
                <a:latin typeface="Times New Roman" pitchFamily="34" charset="0"/>
                <a:ea typeface="Times New Roman" pitchFamily="34" charset="-122"/>
                <a:cs typeface="Times New Roman" pitchFamily="34" charset="-120"/>
              </a:rPr>
              <a:t>HUIM ở các giai đoạn trước: chỉ là bước lọc AP</a:t>
            </a:r>
            <a:endParaRPr lang="en-US" sz="1800" dirty="0"/>
          </a:p>
          <a:p>
            <a:pPr indent="0" marL="0">
              <a:spcAft>
                <a:spcPts val="600"/>
              </a:spcAft>
              <a:buNone/>
            </a:pPr>
            <a:r>
              <a:rPr lang="en-US" sz="1800" dirty="0">
                <a:solidFill>
                  <a:srgbClr val="DCE6EE"/>
                </a:solidFill>
                <a:latin typeface="Times New Roman" pitchFamily="34" charset="0"/>
                <a:ea typeface="Times New Roman" pitchFamily="34" charset="-122"/>
                <a:cs typeface="Times New Roman" pitchFamily="34" charset="-120"/>
              </a:rPr>
              <a:t>Câu hỏi, mục tiêu và đóng góp</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MỞ ĐẦU · BỐI CẢNH</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Định vị trong nhà bằng vân tay Wi-Fi</a:t>
            </a:r>
            <a:endParaRPr lang="en-US" sz="2700" dirty="0"/>
          </a:p>
        </p:txBody>
      </p:sp>
      <p:sp>
        <p:nvSpPr>
          <p:cNvPr id="4" name="Shape 2"/>
          <p:cNvSpPr/>
          <p:nvPr/>
        </p:nvSpPr>
        <p:spPr>
          <a:xfrm>
            <a:off x="548640" y="6492240"/>
            <a:ext cx="1600200" cy="45720"/>
          </a:xfrm>
          <a:prstGeom prst="rect">
            <a:avLst/>
          </a:prstGeom>
          <a:solidFill>
            <a:srgbClr val="2A7F8F"/>
          </a:solidFill>
          <a:ln w="12700">
            <a:solidFill>
              <a:srgbClr val="2A7F8F"/>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E3E0D8"/>
          </a:solidFill>
          <a:ln w="12700">
            <a:solidFill>
              <a:srgbClr val="E3E0D8"/>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sp>
        <p:nvSpPr>
          <p:cNvPr id="15" name="Shape 12"/>
          <p:cNvSpPr/>
          <p:nvPr/>
        </p:nvSpPr>
        <p:spPr>
          <a:xfrm>
            <a:off x="548640" y="1463040"/>
            <a:ext cx="5394960" cy="2194560"/>
          </a:xfrm>
          <a:prstGeom prst="rect">
            <a:avLst/>
          </a:prstGeom>
          <a:solidFill>
            <a:srgbClr val="E6F0F2"/>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16" name="Shape 13"/>
          <p:cNvSpPr/>
          <p:nvPr/>
        </p:nvSpPr>
        <p:spPr>
          <a:xfrm>
            <a:off x="548640" y="1463040"/>
            <a:ext cx="64008" cy="2194560"/>
          </a:xfrm>
          <a:prstGeom prst="rect">
            <a:avLst/>
          </a:prstGeom>
          <a:solidFill>
            <a:srgbClr val="2A7F8F"/>
          </a:solidFill>
          <a:ln w="12700">
            <a:solidFill>
              <a:srgbClr val="2A7F8F"/>
            </a:solidFill>
            <a:prstDash val="solid"/>
          </a:ln>
        </p:spPr>
      </p:sp>
      <p:sp>
        <p:nvSpPr>
          <p:cNvPr id="17" name="Text 14"/>
          <p:cNvSpPr txBox="1"/>
          <p:nvPr/>
        </p:nvSpPr>
        <p:spPr>
          <a:xfrm>
            <a:off x="777240" y="1600200"/>
            <a:ext cx="4937760" cy="411480"/>
          </a:xfrm>
          <a:prstGeom prst="rect">
            <a:avLst/>
          </a:prstGeom>
          <a:noFill/>
          <a:ln/>
        </p:spPr>
        <p:txBody>
          <a:bodyPr wrap="square" lIns="0" tIns="0" rIns="0" bIns="0" rtlCol="0" anchor="ctr"/>
          <a:lstStyle/>
          <a:p>
            <a:pPr indent="0" marL="0">
              <a:buNone/>
            </a:pPr>
            <a:r>
              <a:rPr lang="en-US" sz="1800" b="1" dirty="0">
                <a:solidFill>
                  <a:srgbClr val="2A7F8F"/>
                </a:solidFill>
                <a:latin typeface="Times New Roman" pitchFamily="34" charset="0"/>
                <a:ea typeface="Times New Roman" pitchFamily="34" charset="-122"/>
                <a:cs typeface="Times New Roman" pitchFamily="34" charset="-120"/>
              </a:rPr>
              <a:t>Pha khảo sát (offline)</a:t>
            </a:r>
            <a:endParaRPr lang="en-US" sz="1800" dirty="0"/>
          </a:p>
        </p:txBody>
      </p:sp>
      <p:sp>
        <p:nvSpPr>
          <p:cNvPr id="18" name="Text 15"/>
          <p:cNvSpPr txBox="1"/>
          <p:nvPr/>
        </p:nvSpPr>
        <p:spPr>
          <a:xfrm>
            <a:off x="822960" y="2011680"/>
            <a:ext cx="4937760" cy="1463040"/>
          </a:xfrm>
          <a:prstGeom prst="rect">
            <a:avLst/>
          </a:prstGeom>
          <a:noFill/>
          <a:ln/>
        </p:spPr>
        <p:txBody>
          <a:bodyPr wrap="square" lIns="0" tIns="0" rIns="0" bIns="0" rtlCol="0" anchor="t"/>
          <a:lstStyle/>
          <a:p>
            <a:pPr indent="0" marL="0">
              <a:buNone/>
            </a:pPr>
            <a:r>
              <a:rPr lang="en-US" sz="1600" dirty="0">
                <a:solidFill>
                  <a:srgbClr val="1B2A3D"/>
                </a:solidFill>
                <a:latin typeface="Times New Roman" pitchFamily="34" charset="0"/>
                <a:ea typeface="Times New Roman" pitchFamily="34" charset="-122"/>
                <a:cs typeface="Times New Roman" pitchFamily="34" charset="-120"/>
              </a:rPr>
              <a:t>Ghi vectơ RSSI của mọi AP tại các </a:t>
            </a:r>
            <a:pPr indent="0" marL="0">
              <a:buNone/>
            </a:pPr>
            <a:r>
              <a:rPr lang="en-US" sz="1600" b="1" dirty="0">
                <a:solidFill>
                  <a:srgbClr val="1B2A3D"/>
                </a:solidFill>
                <a:latin typeface="Times New Roman" pitchFamily="34" charset="0"/>
                <a:ea typeface="Times New Roman" pitchFamily="34" charset="-122"/>
                <a:cs typeface="Times New Roman" pitchFamily="34" charset="-120"/>
              </a:rPr>
              <a:t>điểm tham chiếu</a:t>
            </a:r>
            <a:pPr indent="0" marL="0">
              <a:buNone/>
            </a:pPr>
            <a:r>
              <a:rPr lang="en-US" sz="1600" dirty="0">
                <a:solidFill>
                  <a:srgbClr val="1B2A3D"/>
                </a:solidFill>
                <a:latin typeface="Times New Roman" pitchFamily="34" charset="0"/>
                <a:ea typeface="Times New Roman" pitchFamily="34" charset="-122"/>
                <a:cs typeface="Times New Roman" pitchFamily="34" charset="-120"/>
              </a:rPr>
              <a:t> đã biết toạ độ, tầng, toà nhà.</a:t>
            </a:r>
            <a:endParaRPr lang="en-US" sz="1600" dirty="0"/>
          </a:p>
        </p:txBody>
      </p:sp>
      <p:sp>
        <p:nvSpPr>
          <p:cNvPr id="19" name="Shape 16"/>
          <p:cNvSpPr/>
          <p:nvPr/>
        </p:nvSpPr>
        <p:spPr>
          <a:xfrm>
            <a:off x="6309360" y="1463040"/>
            <a:ext cx="5394960" cy="2194560"/>
          </a:xfrm>
          <a:prstGeom prst="rect">
            <a:avLst/>
          </a:prstGeom>
          <a:solidFill>
            <a:srgbClr val="F7EAE3"/>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20" name="Shape 17"/>
          <p:cNvSpPr/>
          <p:nvPr/>
        </p:nvSpPr>
        <p:spPr>
          <a:xfrm>
            <a:off x="6309360" y="1463040"/>
            <a:ext cx="64008" cy="2194560"/>
          </a:xfrm>
          <a:prstGeom prst="rect">
            <a:avLst/>
          </a:prstGeom>
          <a:solidFill>
            <a:srgbClr val="B5532A"/>
          </a:solidFill>
          <a:ln w="12700">
            <a:solidFill>
              <a:srgbClr val="B5532A"/>
            </a:solidFill>
            <a:prstDash val="solid"/>
          </a:ln>
        </p:spPr>
      </p:sp>
      <p:sp>
        <p:nvSpPr>
          <p:cNvPr id="21" name="Text 18"/>
          <p:cNvSpPr txBox="1"/>
          <p:nvPr/>
        </p:nvSpPr>
        <p:spPr>
          <a:xfrm>
            <a:off x="6537960" y="1600200"/>
            <a:ext cx="4937760" cy="411480"/>
          </a:xfrm>
          <a:prstGeom prst="rect">
            <a:avLst/>
          </a:prstGeom>
          <a:noFill/>
          <a:ln/>
        </p:spPr>
        <p:txBody>
          <a:bodyPr wrap="square" lIns="0" tIns="0" rIns="0" bIns="0" rtlCol="0" anchor="ctr"/>
          <a:lstStyle/>
          <a:p>
            <a:pPr indent="0" marL="0">
              <a:buNone/>
            </a:pPr>
            <a:r>
              <a:rPr lang="en-US" sz="1800" b="1" dirty="0">
                <a:solidFill>
                  <a:srgbClr val="B5532A"/>
                </a:solidFill>
                <a:latin typeface="Times New Roman" pitchFamily="34" charset="0"/>
                <a:ea typeface="Times New Roman" pitchFamily="34" charset="-122"/>
                <a:cs typeface="Times New Roman" pitchFamily="34" charset="-120"/>
              </a:rPr>
              <a:t>Pha định vị (online)</a:t>
            </a:r>
            <a:endParaRPr lang="en-US" sz="1800" dirty="0"/>
          </a:p>
        </p:txBody>
      </p:sp>
      <p:sp>
        <p:nvSpPr>
          <p:cNvPr id="22" name="Text 19"/>
          <p:cNvSpPr txBox="1"/>
          <p:nvPr/>
        </p:nvSpPr>
        <p:spPr>
          <a:xfrm>
            <a:off x="6583680" y="2011680"/>
            <a:ext cx="4937760" cy="1463040"/>
          </a:xfrm>
          <a:prstGeom prst="rect">
            <a:avLst/>
          </a:prstGeom>
          <a:noFill/>
          <a:ln/>
        </p:spPr>
        <p:txBody>
          <a:bodyPr wrap="square" lIns="0" tIns="0" rIns="0" bIns="0" rtlCol="0" anchor="t"/>
          <a:lstStyle/>
          <a:p>
            <a:pPr indent="0" marL="0">
              <a:buNone/>
            </a:pPr>
            <a:r>
              <a:rPr lang="en-US" sz="1600" dirty="0">
                <a:solidFill>
                  <a:srgbClr val="1B2A3D"/>
                </a:solidFill>
                <a:latin typeface="Times New Roman" pitchFamily="34" charset="0"/>
                <a:ea typeface="Times New Roman" pitchFamily="34" charset="-122"/>
                <a:cs typeface="Times New Roman" pitchFamily="34" charset="-120"/>
              </a:rPr>
              <a:t>So </a:t>
            </a:r>
            <a:pPr indent="0" marL="0">
              <a:buNone/>
            </a:pPr>
            <a:r>
              <a:rPr lang="en-US" sz="1600" b="1" dirty="0">
                <a:solidFill>
                  <a:srgbClr val="1B2A3D"/>
                </a:solidFill>
                <a:latin typeface="Times New Roman" pitchFamily="34" charset="0"/>
                <a:ea typeface="Times New Roman" pitchFamily="34" charset="-122"/>
                <a:cs typeface="Times New Roman" pitchFamily="34" charset="-120"/>
              </a:rPr>
              <a:t>vân tay mới</a:t>
            </a:r>
            <a:pPr indent="0" marL="0">
              <a:buNone/>
            </a:pPr>
            <a:r>
              <a:rPr lang="en-US" sz="1600" dirty="0">
                <a:solidFill>
                  <a:srgbClr val="1B2A3D"/>
                </a:solidFill>
                <a:latin typeface="Times New Roman" pitchFamily="34" charset="0"/>
                <a:ea typeface="Times New Roman" pitchFamily="34" charset="-122"/>
                <a:cs typeface="Times New Roman" pitchFamily="34" charset="-120"/>
              </a:rPr>
              <a:t> với mô hình học từ dữ liệu khảo sát để suy ra toạ độ, tầng, toà nhà.</a:t>
            </a:r>
            <a:endParaRPr lang="en-US" sz="1600" dirty="0"/>
          </a:p>
        </p:txBody>
      </p:sp>
      <p:sp>
        <p:nvSpPr>
          <p:cNvPr id="23" name="Text 20"/>
          <p:cNvSpPr txBox="1"/>
          <p:nvPr/>
        </p:nvSpPr>
        <p:spPr>
          <a:xfrm>
            <a:off x="548640" y="3931920"/>
            <a:ext cx="5486400" cy="365760"/>
          </a:xfrm>
          <a:prstGeom prst="rect">
            <a:avLst/>
          </a:prstGeom>
          <a:noFill/>
          <a:ln/>
        </p:spPr>
        <p:txBody>
          <a:bodyPr wrap="square" lIns="0" tIns="0" rIns="0" bIns="0" rtlCol="0" anchor="t"/>
          <a:lstStyle/>
          <a:p>
            <a:pPr indent="0" marL="0">
              <a:buNone/>
            </a:pPr>
            <a:r>
              <a:rPr lang="en-US" sz="1800" b="1" dirty="0">
                <a:solidFill>
                  <a:srgbClr val="1F3A5F"/>
                </a:solidFill>
                <a:latin typeface="Times New Roman" pitchFamily="34" charset="0"/>
                <a:ea typeface="Times New Roman" pitchFamily="34" charset="-122"/>
                <a:cs typeface="Times New Roman" pitchFamily="34" charset="-120"/>
              </a:rPr>
              <a:t>Khó khăn chính</a:t>
            </a:r>
            <a:endParaRPr lang="en-US" sz="1800" dirty="0"/>
          </a:p>
        </p:txBody>
      </p:sp>
      <p:sp>
        <p:nvSpPr>
          <p:cNvPr id="24" name="Text 21"/>
          <p:cNvSpPr txBox="1"/>
          <p:nvPr/>
        </p:nvSpPr>
        <p:spPr>
          <a:xfrm>
            <a:off x="548640" y="4389120"/>
            <a:ext cx="5943600" cy="1920240"/>
          </a:xfrm>
          <a:prstGeom prst="rect">
            <a:avLst/>
          </a:prstGeom>
          <a:noFill/>
          <a:ln/>
        </p:spPr>
        <p:txBody>
          <a:bodyPr wrap="square" lIns="25400" tIns="25400" rIns="25400" bIns="25400" rtlCol="0" anchor="t"/>
          <a:lstStyle/>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Tín hiệu dao động theo thời gian và người dùng</a:t>
            </a:r>
            <a:endParaRPr lang="en-US" sz="1600" dirty="0"/>
          </a:p>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Điện thoại khác nhau đọc RSSI khác nhau</a:t>
            </a:r>
            <a:endParaRPr lang="en-US" sz="1600" dirty="0"/>
          </a:p>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Tín hiệu chồng lấn giữa các tầng liền kề</a:t>
            </a:r>
            <a:endParaRPr lang="en-US" sz="1600" dirty="0"/>
          </a:p>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Vectơ thưa: mỗi vân tay chỉ thấy vài chục trong hàng trăm AP</a:t>
            </a:r>
            <a:endParaRPr lang="en-US" sz="1600" dirty="0"/>
          </a:p>
        </p:txBody>
      </p:sp>
      <p:sp>
        <p:nvSpPr>
          <p:cNvPr id="25" name="Text 22"/>
          <p:cNvSpPr txBox="1"/>
          <p:nvPr/>
        </p:nvSpPr>
        <p:spPr>
          <a:xfrm>
            <a:off x="6949440" y="3931920"/>
            <a:ext cx="2377440" cy="731520"/>
          </a:xfrm>
          <a:prstGeom prst="rect">
            <a:avLst/>
          </a:prstGeom>
          <a:noFill/>
          <a:ln/>
        </p:spPr>
        <p:txBody>
          <a:bodyPr wrap="square" lIns="0" tIns="0" rIns="0" bIns="0" rtlCol="0" anchor="ctr"/>
          <a:lstStyle/>
          <a:p>
            <a:pPr indent="0" marL="0">
              <a:buNone/>
            </a:pPr>
            <a:r>
              <a:rPr lang="en-US" sz="4000" b="1" dirty="0">
                <a:solidFill>
                  <a:srgbClr val="1F3A5F"/>
                </a:solidFill>
                <a:latin typeface="Times New Roman" pitchFamily="34" charset="0"/>
                <a:ea typeface="Times New Roman" pitchFamily="34" charset="-122"/>
                <a:cs typeface="Times New Roman" pitchFamily="34" charset="-120"/>
              </a:rPr>
              <a:t>520</a:t>
            </a:r>
            <a:endParaRPr lang="en-US" sz="4000" dirty="0"/>
          </a:p>
        </p:txBody>
      </p:sp>
      <p:sp>
        <p:nvSpPr>
          <p:cNvPr id="26" name="Text 23"/>
          <p:cNvSpPr txBox="1"/>
          <p:nvPr/>
        </p:nvSpPr>
        <p:spPr>
          <a:xfrm>
            <a:off x="6949440" y="4681728"/>
            <a:ext cx="2377440" cy="548640"/>
          </a:xfrm>
          <a:prstGeom prst="rect">
            <a:avLst/>
          </a:prstGeom>
          <a:noFill/>
          <a:ln/>
        </p:spPr>
        <p:txBody>
          <a:bodyPr wrap="square" lIns="0" tIns="0" rIns="0" bIns="0" rtlCol="0" anchor="t"/>
          <a:lstStyle/>
          <a:p>
            <a:pPr indent="0" marL="0">
              <a:buNone/>
            </a:pPr>
            <a:r>
              <a:rPr lang="en-US" sz="1350" dirty="0">
                <a:solidFill>
                  <a:srgbClr val="8A8A85"/>
                </a:solidFill>
                <a:latin typeface="Times New Roman" pitchFamily="34" charset="0"/>
                <a:ea typeface="Times New Roman" pitchFamily="34" charset="-122"/>
                <a:cs typeface="Times New Roman" pitchFamily="34" charset="-120"/>
              </a:rPr>
              <a:t>AP trong UJIIndoorLoc</a:t>
            </a:r>
            <a:endParaRPr lang="en-US" sz="1350" dirty="0"/>
          </a:p>
        </p:txBody>
      </p:sp>
      <p:sp>
        <p:nvSpPr>
          <p:cNvPr id="27" name="Text 24"/>
          <p:cNvSpPr txBox="1"/>
          <p:nvPr/>
        </p:nvSpPr>
        <p:spPr>
          <a:xfrm>
            <a:off x="9326880" y="3931920"/>
            <a:ext cx="2377440" cy="731520"/>
          </a:xfrm>
          <a:prstGeom prst="rect">
            <a:avLst/>
          </a:prstGeom>
          <a:noFill/>
          <a:ln/>
        </p:spPr>
        <p:txBody>
          <a:bodyPr wrap="square" lIns="0" tIns="0" rIns="0" bIns="0" rtlCol="0" anchor="ctr"/>
          <a:lstStyle/>
          <a:p>
            <a:pPr indent="0" marL="0">
              <a:buNone/>
            </a:pPr>
            <a:r>
              <a:rPr lang="en-US" sz="4000" b="1" dirty="0">
                <a:solidFill>
                  <a:srgbClr val="2A7F8F"/>
                </a:solidFill>
                <a:latin typeface="Times New Roman" pitchFamily="34" charset="0"/>
                <a:ea typeface="Times New Roman" pitchFamily="34" charset="-122"/>
                <a:cs typeface="Times New Roman" pitchFamily="34" charset="-120"/>
              </a:rPr>
              <a:t>13</a:t>
            </a:r>
            <a:endParaRPr lang="en-US" sz="4000" dirty="0"/>
          </a:p>
        </p:txBody>
      </p:sp>
      <p:sp>
        <p:nvSpPr>
          <p:cNvPr id="28" name="Text 25"/>
          <p:cNvSpPr txBox="1"/>
          <p:nvPr/>
        </p:nvSpPr>
        <p:spPr>
          <a:xfrm>
            <a:off x="9326880" y="4681728"/>
            <a:ext cx="2377440" cy="548640"/>
          </a:xfrm>
          <a:prstGeom prst="rect">
            <a:avLst/>
          </a:prstGeom>
          <a:noFill/>
          <a:ln/>
        </p:spPr>
        <p:txBody>
          <a:bodyPr wrap="square" lIns="0" tIns="0" rIns="0" bIns="0" rtlCol="0" anchor="t"/>
          <a:lstStyle/>
          <a:p>
            <a:pPr indent="0" marL="0">
              <a:buNone/>
            </a:pPr>
            <a:r>
              <a:rPr lang="en-US" sz="1350" dirty="0">
                <a:solidFill>
                  <a:srgbClr val="8A8A85"/>
                </a:solidFill>
                <a:latin typeface="Times New Roman" pitchFamily="34" charset="0"/>
                <a:ea typeface="Times New Roman" pitchFamily="34" charset="-122"/>
                <a:cs typeface="Times New Roman" pitchFamily="34" charset="-120"/>
              </a:rPr>
              <a:t>tòa – tầng (3 toà nhà)</a:t>
            </a:r>
            <a:endParaRPr lang="en-US" sz="1350" dirty="0"/>
          </a:p>
        </p:txBody>
      </p:sp>
      <p:sp>
        <p:nvSpPr>
          <p:cNvPr id="29" name="Text 26"/>
          <p:cNvSpPr txBox="1"/>
          <p:nvPr/>
        </p:nvSpPr>
        <p:spPr>
          <a:xfrm>
            <a:off x="6949440" y="5166360"/>
            <a:ext cx="2377440" cy="731520"/>
          </a:xfrm>
          <a:prstGeom prst="rect">
            <a:avLst/>
          </a:prstGeom>
          <a:noFill/>
          <a:ln/>
        </p:spPr>
        <p:txBody>
          <a:bodyPr wrap="square" lIns="0" tIns="0" rIns="0" bIns="0" rtlCol="0" anchor="ctr"/>
          <a:lstStyle/>
          <a:p>
            <a:pPr indent="0" marL="0">
              <a:buNone/>
            </a:pPr>
            <a:r>
              <a:rPr lang="en-US" sz="3400" b="1" dirty="0">
                <a:solidFill>
                  <a:srgbClr val="1F3A5F"/>
                </a:solidFill>
                <a:latin typeface="Times New Roman" pitchFamily="34" charset="0"/>
                <a:ea typeface="Times New Roman" pitchFamily="34" charset="-122"/>
                <a:cs typeface="Times New Roman" pitchFamily="34" charset="-120"/>
              </a:rPr>
              <a:t>19 937</a:t>
            </a:r>
            <a:endParaRPr lang="en-US" sz="3400" dirty="0"/>
          </a:p>
        </p:txBody>
      </p:sp>
      <p:sp>
        <p:nvSpPr>
          <p:cNvPr id="30" name="Text 27"/>
          <p:cNvSpPr txBox="1"/>
          <p:nvPr/>
        </p:nvSpPr>
        <p:spPr>
          <a:xfrm>
            <a:off x="6949440" y="5916168"/>
            <a:ext cx="2377440" cy="548640"/>
          </a:xfrm>
          <a:prstGeom prst="rect">
            <a:avLst/>
          </a:prstGeom>
          <a:noFill/>
          <a:ln/>
        </p:spPr>
        <p:txBody>
          <a:bodyPr wrap="square" lIns="0" tIns="0" rIns="0" bIns="0" rtlCol="0" anchor="t"/>
          <a:lstStyle/>
          <a:p>
            <a:pPr indent="0" marL="0">
              <a:buNone/>
            </a:pPr>
            <a:r>
              <a:rPr lang="en-US" sz="1350" dirty="0">
                <a:solidFill>
                  <a:srgbClr val="8A8A85"/>
                </a:solidFill>
                <a:latin typeface="Times New Roman" pitchFamily="34" charset="0"/>
                <a:ea typeface="Times New Roman" pitchFamily="34" charset="-122"/>
                <a:cs typeface="Times New Roman" pitchFamily="34" charset="-120"/>
              </a:rPr>
              <a:t>vân tay huấn luyện</a:t>
            </a:r>
            <a:endParaRPr lang="en-US" sz="1350" dirty="0"/>
          </a:p>
        </p:txBody>
      </p:sp>
      <p:sp>
        <p:nvSpPr>
          <p:cNvPr id="31" name="Text 28"/>
          <p:cNvSpPr txBox="1"/>
          <p:nvPr/>
        </p:nvSpPr>
        <p:spPr>
          <a:xfrm>
            <a:off x="9326880" y="5166360"/>
            <a:ext cx="2377440" cy="731520"/>
          </a:xfrm>
          <a:prstGeom prst="rect">
            <a:avLst/>
          </a:prstGeom>
          <a:noFill/>
          <a:ln/>
        </p:spPr>
        <p:txBody>
          <a:bodyPr wrap="square" lIns="0" tIns="0" rIns="0" bIns="0" rtlCol="0" anchor="ctr"/>
          <a:lstStyle/>
          <a:p>
            <a:pPr indent="0" marL="0">
              <a:buNone/>
            </a:pPr>
            <a:r>
              <a:rPr lang="en-US" sz="3400" b="1" dirty="0">
                <a:solidFill>
                  <a:srgbClr val="2A7F8F"/>
                </a:solidFill>
                <a:latin typeface="Times New Roman" pitchFamily="34" charset="0"/>
                <a:ea typeface="Times New Roman" pitchFamily="34" charset="-122"/>
                <a:cs typeface="Times New Roman" pitchFamily="34" charset="-120"/>
              </a:rPr>
              <a:t>18,0</a:t>
            </a:r>
            <a:endParaRPr lang="en-US" sz="3400" dirty="0"/>
          </a:p>
        </p:txBody>
      </p:sp>
      <p:sp>
        <p:nvSpPr>
          <p:cNvPr id="32" name="Text 29"/>
          <p:cNvSpPr txBox="1"/>
          <p:nvPr/>
        </p:nvSpPr>
        <p:spPr>
          <a:xfrm>
            <a:off x="9326880" y="5916168"/>
            <a:ext cx="2377440" cy="548640"/>
          </a:xfrm>
          <a:prstGeom prst="rect">
            <a:avLst/>
          </a:prstGeom>
          <a:noFill/>
          <a:ln/>
        </p:spPr>
        <p:txBody>
          <a:bodyPr wrap="square" lIns="0" tIns="0" rIns="0" bIns="0" rtlCol="0" anchor="t"/>
          <a:lstStyle/>
          <a:p>
            <a:pPr indent="0" marL="0">
              <a:buNone/>
            </a:pPr>
            <a:r>
              <a:rPr lang="en-US" sz="1350" dirty="0">
                <a:solidFill>
                  <a:srgbClr val="8A8A85"/>
                </a:solidFill>
                <a:latin typeface="Times New Roman" pitchFamily="34" charset="0"/>
                <a:ea typeface="Times New Roman" pitchFamily="34" charset="-122"/>
                <a:cs typeface="Times New Roman" pitchFamily="34" charset="-120"/>
              </a:rPr>
              <a:t>AP phát hiện mỗi vân tay</a:t>
            </a:r>
            <a:endParaRPr lang="en-US" sz="135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MỞ ĐẦU · VẤN ĐỀ</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HUIM phải là thuật toán định vị, không chỉ là bước lọc AP</a:t>
            </a:r>
            <a:endParaRPr lang="en-US" sz="2700" dirty="0"/>
          </a:p>
        </p:txBody>
      </p:sp>
      <p:sp>
        <p:nvSpPr>
          <p:cNvPr id="4" name="Shape 2"/>
          <p:cNvSpPr/>
          <p:nvPr/>
        </p:nvSpPr>
        <p:spPr>
          <a:xfrm>
            <a:off x="548640" y="6492240"/>
            <a:ext cx="1600200" cy="45720"/>
          </a:xfrm>
          <a:prstGeom prst="rect">
            <a:avLst/>
          </a:prstGeom>
          <a:solidFill>
            <a:srgbClr val="2A7F8F"/>
          </a:solidFill>
          <a:ln w="12700">
            <a:solidFill>
              <a:srgbClr val="2A7F8F"/>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E3E0D8"/>
          </a:solidFill>
          <a:ln w="12700">
            <a:solidFill>
              <a:srgbClr val="E3E0D8"/>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sp>
        <p:nvSpPr>
          <p:cNvPr id="15" name="Shape 12"/>
          <p:cNvSpPr/>
          <p:nvPr/>
        </p:nvSpPr>
        <p:spPr>
          <a:xfrm>
            <a:off x="548640" y="1463040"/>
            <a:ext cx="5349240" cy="3429000"/>
          </a:xfrm>
          <a:prstGeom prst="rect">
            <a:avLst/>
          </a:prstGeom>
          <a:solidFill>
            <a:srgbClr val="F7EAE3"/>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16" name="Shape 13"/>
          <p:cNvSpPr/>
          <p:nvPr/>
        </p:nvSpPr>
        <p:spPr>
          <a:xfrm>
            <a:off x="548640" y="1463040"/>
            <a:ext cx="64008" cy="3429000"/>
          </a:xfrm>
          <a:prstGeom prst="rect">
            <a:avLst/>
          </a:prstGeom>
          <a:solidFill>
            <a:srgbClr val="B5532A"/>
          </a:solidFill>
          <a:ln w="12700">
            <a:solidFill>
              <a:srgbClr val="B5532A"/>
            </a:solidFill>
            <a:prstDash val="solid"/>
          </a:ln>
        </p:spPr>
      </p:sp>
      <p:sp>
        <p:nvSpPr>
          <p:cNvPr id="17" name="Text 14"/>
          <p:cNvSpPr txBox="1"/>
          <p:nvPr/>
        </p:nvSpPr>
        <p:spPr>
          <a:xfrm>
            <a:off x="777240" y="1600200"/>
            <a:ext cx="4892040" cy="411480"/>
          </a:xfrm>
          <a:prstGeom prst="rect">
            <a:avLst/>
          </a:prstGeom>
          <a:noFill/>
          <a:ln/>
        </p:spPr>
        <p:txBody>
          <a:bodyPr wrap="square" lIns="0" tIns="0" rIns="0" bIns="0" rtlCol="0" anchor="ctr"/>
          <a:lstStyle/>
          <a:p>
            <a:pPr indent="0" marL="0">
              <a:buNone/>
            </a:pPr>
            <a:r>
              <a:rPr lang="en-US" sz="1800" b="1" dirty="0">
                <a:solidFill>
                  <a:srgbClr val="B5532A"/>
                </a:solidFill>
                <a:latin typeface="Times New Roman" pitchFamily="34" charset="0"/>
                <a:ea typeface="Times New Roman" pitchFamily="34" charset="-122"/>
                <a:cs typeface="Times New Roman" pitchFamily="34" charset="-120"/>
              </a:rPr>
              <a:t>Trước: HUIM là nhánh tiền xử lý</a:t>
            </a:r>
            <a:endParaRPr lang="en-US" sz="1800" dirty="0"/>
          </a:p>
        </p:txBody>
      </p:sp>
      <p:sp>
        <p:nvSpPr>
          <p:cNvPr id="18" name="Text 15"/>
          <p:cNvSpPr txBox="1"/>
          <p:nvPr/>
        </p:nvSpPr>
        <p:spPr>
          <a:xfrm>
            <a:off x="822960" y="2148840"/>
            <a:ext cx="4892040" cy="2606040"/>
          </a:xfrm>
          <a:prstGeom prst="rect">
            <a:avLst/>
          </a:prstGeom>
          <a:noFill/>
          <a:ln/>
        </p:spPr>
        <p:txBody>
          <a:bodyPr wrap="square" lIns="25400" tIns="25400" rIns="25400" bIns="25400" rtlCol="0" anchor="t"/>
          <a:lstStyle/>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HUIM chọn tập AP; </a:t>
            </a:r>
            <a:pPr algn="l" marL="254000" indent="-254000">
              <a:spcAft>
                <a:spcPts val="900"/>
              </a:spcAft>
              <a:buSzPct val="100000"/>
              <a:buChar char="•"/>
            </a:pPr>
            <a:r>
              <a:rPr lang="en-US" sz="1600" b="1" dirty="0">
                <a:solidFill>
                  <a:srgbClr val="1B2A3D"/>
                </a:solidFill>
                <a:latin typeface="Times New Roman" pitchFamily="34" charset="0"/>
                <a:ea typeface="Times New Roman" pitchFamily="34" charset="-122"/>
                <a:cs typeface="Times New Roman" pitchFamily="34" charset="-120"/>
              </a:rPr>
              <a:t>k-NN</a:t>
            </a:r>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 so khoảng cách vân tay và quyết định vị trí</a:t>
            </a:r>
            <a:endParaRPr lang="en-US" sz="1600" dirty="0"/>
          </a:p>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HUI toàn cục: còn 91/520 AP, sai số 17,49 m</a:t>
            </a:r>
            <a:endParaRPr lang="en-US" sz="1600" dirty="0"/>
          </a:p>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HUI theo tòa–tầng: 240/520 AP, sai số 5,30 m</a:t>
            </a:r>
            <a:endParaRPr lang="en-US" sz="1600" dirty="0"/>
          </a:p>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Phân tích Shapley: HUIM đóng góp khoảng </a:t>
            </a:r>
            <a:pPr algn="l" marL="254000" indent="-254000">
              <a:spcAft>
                <a:spcPts val="900"/>
              </a:spcAft>
              <a:buSzPct val="100000"/>
              <a:buChar char="•"/>
            </a:pPr>
            <a:r>
              <a:rPr lang="en-US" sz="1600" b="1" dirty="0">
                <a:solidFill>
                  <a:srgbClr val="1B2A3D"/>
                </a:solidFill>
                <a:latin typeface="Times New Roman" pitchFamily="34" charset="0"/>
                <a:ea typeface="Times New Roman" pitchFamily="34" charset="-122"/>
                <a:cs typeface="Times New Roman" pitchFamily="34" charset="-120"/>
              </a:rPr>
              <a:t>6%</a:t>
            </a:r>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 mức giảm sai số</a:t>
            </a:r>
            <a:endParaRPr lang="en-US" sz="1600" dirty="0"/>
          </a:p>
        </p:txBody>
      </p:sp>
      <p:sp>
        <p:nvSpPr>
          <p:cNvPr id="19" name="Shape 16"/>
          <p:cNvSpPr/>
          <p:nvPr/>
        </p:nvSpPr>
        <p:spPr>
          <a:xfrm>
            <a:off x="6291072" y="1463040"/>
            <a:ext cx="5349240" cy="3429000"/>
          </a:xfrm>
          <a:prstGeom prst="rect">
            <a:avLst/>
          </a:prstGeom>
          <a:solidFill>
            <a:srgbClr val="E6F0F2"/>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20" name="Shape 17"/>
          <p:cNvSpPr/>
          <p:nvPr/>
        </p:nvSpPr>
        <p:spPr>
          <a:xfrm>
            <a:off x="6291072" y="1463040"/>
            <a:ext cx="64008" cy="3429000"/>
          </a:xfrm>
          <a:prstGeom prst="rect">
            <a:avLst/>
          </a:prstGeom>
          <a:solidFill>
            <a:srgbClr val="2A7F8F"/>
          </a:solidFill>
          <a:ln w="12700">
            <a:solidFill>
              <a:srgbClr val="2A7F8F"/>
            </a:solidFill>
            <a:prstDash val="solid"/>
          </a:ln>
        </p:spPr>
      </p:sp>
      <p:sp>
        <p:nvSpPr>
          <p:cNvPr id="21" name="Text 18"/>
          <p:cNvSpPr txBox="1"/>
          <p:nvPr/>
        </p:nvSpPr>
        <p:spPr>
          <a:xfrm>
            <a:off x="6519672" y="1600200"/>
            <a:ext cx="4892040" cy="411480"/>
          </a:xfrm>
          <a:prstGeom prst="rect">
            <a:avLst/>
          </a:prstGeom>
          <a:noFill/>
          <a:ln/>
        </p:spPr>
        <p:txBody>
          <a:bodyPr wrap="square" lIns="0" tIns="0" rIns="0" bIns="0" rtlCol="0" anchor="ctr"/>
          <a:lstStyle/>
          <a:p>
            <a:pPr indent="0" marL="0">
              <a:buNone/>
            </a:pPr>
            <a:r>
              <a:rPr lang="en-US" sz="1800" b="1" dirty="0">
                <a:solidFill>
                  <a:srgbClr val="2A7F8F"/>
                </a:solidFill>
                <a:latin typeface="Times New Roman" pitchFamily="34" charset="0"/>
                <a:ea typeface="Times New Roman" pitchFamily="34" charset="-122"/>
                <a:cs typeface="Times New Roman" pitchFamily="34" charset="-120"/>
              </a:rPr>
              <a:t>Đề xuất: HUIM là mô hình định vị</a:t>
            </a:r>
            <a:endParaRPr lang="en-US" sz="1800" dirty="0"/>
          </a:p>
        </p:txBody>
      </p:sp>
      <p:sp>
        <p:nvSpPr>
          <p:cNvPr id="22" name="Text 19"/>
          <p:cNvSpPr txBox="1"/>
          <p:nvPr/>
        </p:nvSpPr>
        <p:spPr>
          <a:xfrm>
            <a:off x="6565392" y="2148840"/>
            <a:ext cx="4892040" cy="2606040"/>
          </a:xfrm>
          <a:prstGeom prst="rect">
            <a:avLst/>
          </a:prstGeom>
          <a:noFill/>
          <a:ln/>
        </p:spPr>
        <p:txBody>
          <a:bodyPr wrap="square" lIns="25400" tIns="25400" rIns="25400" bIns="25400" rtlCol="0" anchor="t"/>
          <a:lstStyle/>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Mỗi điểm tham chiếu là một </a:t>
            </a:r>
            <a:pPr algn="l" marL="254000" indent="-254000">
              <a:spcAft>
                <a:spcPts val="900"/>
              </a:spcAft>
              <a:buSzPct val="100000"/>
              <a:buChar char="•"/>
            </a:pPr>
            <a:r>
              <a:rPr lang="en-US" sz="1600" b="1" dirty="0">
                <a:solidFill>
                  <a:srgbClr val="1B2A3D"/>
                </a:solidFill>
                <a:latin typeface="Times New Roman" pitchFamily="34" charset="0"/>
                <a:ea typeface="Times New Roman" pitchFamily="34" charset="-122"/>
                <a:cs typeface="Times New Roman" pitchFamily="34" charset="-120"/>
              </a:rPr>
              <a:t>ô</a:t>
            </a:r>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 vân tay của ô là một cơ sở dữ liệu giao dịch</a:t>
            </a:r>
            <a:endParaRPr lang="en-US" sz="1600" dirty="0"/>
          </a:p>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EFIM khai thác tập HUI của từng ô; </a:t>
            </a:r>
            <a:pPr algn="l" marL="254000" indent="-254000">
              <a:spcAft>
                <a:spcPts val="900"/>
              </a:spcAft>
              <a:buSzPct val="100000"/>
              <a:buChar char="•"/>
            </a:pPr>
            <a:r>
              <a:rPr lang="en-US" sz="1600" b="1" dirty="0">
                <a:solidFill>
                  <a:srgbClr val="1B2A3D"/>
                </a:solidFill>
                <a:latin typeface="Times New Roman" pitchFamily="34" charset="0"/>
                <a:ea typeface="Times New Roman" pitchFamily="34" charset="-122"/>
                <a:cs typeface="Times New Roman" pitchFamily="34" charset="-120"/>
              </a:rPr>
              <a:t>tập HUI chính là mô hình</a:t>
            </a:r>
            <a:endParaRPr lang="en-US" sz="1600" dirty="0"/>
          </a:p>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Tầng, ô ứng viên và toạ độ suy ra từ </a:t>
            </a:r>
            <a:pPr algn="l" marL="254000" indent="-254000">
              <a:spcAft>
                <a:spcPts val="900"/>
              </a:spcAft>
              <a:buSzPct val="100000"/>
              <a:buChar char="•"/>
            </a:pPr>
            <a:r>
              <a:rPr lang="en-US" sz="1600" b="1" dirty="0">
                <a:solidFill>
                  <a:srgbClr val="1B2A3D"/>
                </a:solidFill>
                <a:latin typeface="Times New Roman" pitchFamily="34" charset="0"/>
                <a:ea typeface="Times New Roman" pitchFamily="34" charset="-122"/>
                <a:cs typeface="Times New Roman" pitchFamily="34" charset="-120"/>
              </a:rPr>
              <a:t>bằng chứng HUI</a:t>
            </a:r>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 không k-NN, không lưu vân tay</a:t>
            </a:r>
            <a:endParaRPr lang="en-US" sz="1600" dirty="0"/>
          </a:p>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Bỏ HUIM thì hệ thống không còn mô hình để định vị</a:t>
            </a:r>
            <a:endParaRPr lang="en-US" sz="1600" dirty="0"/>
          </a:p>
        </p:txBody>
      </p:sp>
      <p:sp>
        <p:nvSpPr>
          <p:cNvPr id="23" name="Shape 20"/>
          <p:cNvSpPr/>
          <p:nvPr/>
        </p:nvSpPr>
        <p:spPr>
          <a:xfrm>
            <a:off x="548640" y="5120640"/>
            <a:ext cx="11094415" cy="1051560"/>
          </a:xfrm>
          <a:prstGeom prst="rect">
            <a:avLst/>
          </a:prstGeom>
          <a:solidFill>
            <a:srgbClr val="1F3A5F"/>
          </a:solidFill>
          <a:ln w="12700">
            <a:solidFill>
              <a:srgbClr val="1F3A5F"/>
            </a:solidFill>
            <a:prstDash val="solid"/>
          </a:ln>
        </p:spPr>
      </p:sp>
      <p:sp>
        <p:nvSpPr>
          <p:cNvPr id="24" name="Text 21"/>
          <p:cNvSpPr txBox="1"/>
          <p:nvPr/>
        </p:nvSpPr>
        <p:spPr>
          <a:xfrm>
            <a:off x="822960" y="5257800"/>
            <a:ext cx="10545775" cy="822960"/>
          </a:xfrm>
          <a:prstGeom prst="rect">
            <a:avLst/>
          </a:prstGeom>
          <a:noFill/>
          <a:ln/>
        </p:spPr>
        <p:txBody>
          <a:bodyPr wrap="square" lIns="0" tIns="0" rIns="0" bIns="0" rtlCol="0" anchor="ctr"/>
          <a:lstStyle/>
          <a:p>
            <a:pPr indent="0" marL="0">
              <a:buNone/>
            </a:pPr>
            <a:r>
              <a:rPr lang="en-US" sz="1700" b="1" dirty="0">
                <a:solidFill>
                  <a:srgbClr val="FFFFFF"/>
                </a:solidFill>
                <a:latin typeface="Times New Roman" pitchFamily="34" charset="0"/>
                <a:ea typeface="Times New Roman" pitchFamily="34" charset="-122"/>
                <a:cs typeface="Times New Roman" pitchFamily="34" charset="-120"/>
              </a:rPr>
              <a:t>Câu hỏi nghiên cứu:</a:t>
            </a:r>
            <a:pPr indent="0" marL="0">
              <a:buNone/>
            </a:pPr>
            <a:r>
              <a:rPr lang="en-US" sz="1700" dirty="0">
                <a:solidFill>
                  <a:srgbClr val="FFFFFF"/>
                </a:solidFill>
                <a:latin typeface="Times New Roman" pitchFamily="34" charset="0"/>
                <a:ea typeface="Times New Roman" pitchFamily="34" charset="-122"/>
                <a:cs typeface="Times New Roman" pitchFamily="34" charset="-120"/>
              </a:rPr>
              <a:t> có thể xây dựng hệ thống định vị trong đó HUIM là thuật toán định vị chính, không dùng k-NN, mà vẫn đạt sai số trung bình </a:t>
            </a:r>
            <a:pPr indent="0" marL="0">
              <a:buNone/>
            </a:pPr>
            <a:r>
              <a:rPr lang="en-US" sz="1700" b="1" dirty="0">
                <a:solidFill>
                  <a:srgbClr val="FFFFFF"/>
                </a:solidFill>
                <a:latin typeface="Times New Roman" pitchFamily="34" charset="0"/>
                <a:ea typeface="Times New Roman" pitchFamily="34" charset="-122"/>
                <a:cs typeface="Times New Roman" pitchFamily="34" charset="-120"/>
              </a:rPr>
              <a:t>dưới 7 m</a:t>
            </a:r>
            <a:pPr indent="0" marL="0">
              <a:buNone/>
            </a:pPr>
            <a:r>
              <a:rPr lang="en-US" sz="1700" dirty="0">
                <a:solidFill>
                  <a:srgbClr val="FFFFFF"/>
                </a:solidFill>
                <a:latin typeface="Times New Roman" pitchFamily="34" charset="0"/>
                <a:ea typeface="Times New Roman" pitchFamily="34" charset="-122"/>
                <a:cs typeface="Times New Roman" pitchFamily="34" charset="-120"/>
              </a:rPr>
              <a:t> hay không?</a:t>
            </a:r>
            <a:endParaRPr lang="en-US" sz="17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MỞ ĐẦU · MỤC TIÊU</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Mục tiêu và đóng góp của luận văn</a:t>
            </a:r>
            <a:endParaRPr lang="en-US" sz="2700" dirty="0"/>
          </a:p>
        </p:txBody>
      </p:sp>
      <p:sp>
        <p:nvSpPr>
          <p:cNvPr id="4" name="Shape 2"/>
          <p:cNvSpPr/>
          <p:nvPr/>
        </p:nvSpPr>
        <p:spPr>
          <a:xfrm>
            <a:off x="548640" y="6492240"/>
            <a:ext cx="1600200" cy="45720"/>
          </a:xfrm>
          <a:prstGeom prst="rect">
            <a:avLst/>
          </a:prstGeom>
          <a:solidFill>
            <a:srgbClr val="2A7F8F"/>
          </a:solidFill>
          <a:ln w="12700">
            <a:solidFill>
              <a:srgbClr val="2A7F8F"/>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E3E0D8"/>
          </a:solidFill>
          <a:ln w="12700">
            <a:solidFill>
              <a:srgbClr val="E3E0D8"/>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sp>
        <p:nvSpPr>
          <p:cNvPr id="14" name="Shape 12"/>
          <p:cNvSpPr/>
          <p:nvPr/>
        </p:nvSpPr>
        <p:spPr>
          <a:xfrm>
            <a:off x="548640" y="1554480"/>
            <a:ext cx="457200" cy="457200"/>
          </a:xfrm>
          <a:prstGeom prst="ellipse">
            <a:avLst/>
          </a:prstGeom>
          <a:solidFill>
            <a:srgbClr val="2A7F8F"/>
          </a:solidFill>
          <a:ln w="12700">
            <a:solidFill>
              <a:srgbClr val="2A7F8F"/>
            </a:solidFill>
            <a:prstDash val="solid"/>
          </a:ln>
        </p:spPr>
      </p:sp>
      <p:sp>
        <p:nvSpPr>
          <p:cNvPr id="15" name="Text 13"/>
          <p:cNvSpPr txBox="1"/>
          <p:nvPr/>
        </p:nvSpPr>
        <p:spPr>
          <a:xfrm>
            <a:off x="548640"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Times New Roman" pitchFamily="34" charset="0"/>
                <a:ea typeface="Times New Roman" pitchFamily="34" charset="-122"/>
                <a:cs typeface="Times New Roman" pitchFamily="34" charset="-120"/>
              </a:rPr>
              <a:t>1</a:t>
            </a:r>
            <a:endParaRPr lang="en-US" sz="1600" dirty="0"/>
          </a:p>
        </p:txBody>
      </p:sp>
      <p:sp>
        <p:nvSpPr>
          <p:cNvPr id="16" name="Text 14"/>
          <p:cNvSpPr txBox="1"/>
          <p:nvPr/>
        </p:nvSpPr>
        <p:spPr>
          <a:xfrm>
            <a:off x="1188720" y="1600200"/>
            <a:ext cx="5120640" cy="777240"/>
          </a:xfrm>
          <a:prstGeom prst="rect">
            <a:avLst/>
          </a:prstGeom>
          <a:noFill/>
          <a:ln/>
        </p:spPr>
        <p:txBody>
          <a:bodyPr wrap="square" lIns="0" tIns="0" rIns="0" bIns="0" rtlCol="0" anchor="t"/>
          <a:lstStyle/>
          <a:p>
            <a:pPr indent="0" marL="0">
              <a:buNone/>
            </a:pPr>
            <a:r>
              <a:rPr lang="en-US" sz="1600" dirty="0">
                <a:solidFill>
                  <a:srgbClr val="1B2A3D"/>
                </a:solidFill>
                <a:latin typeface="Times New Roman" pitchFamily="34" charset="0"/>
                <a:ea typeface="Times New Roman" pitchFamily="34" charset="-122"/>
                <a:cs typeface="Times New Roman" pitchFamily="34" charset="-120"/>
              </a:rPr>
              <a:t>Mô hình hoá vân tay Wi-Fi thành các cơ sở dữ liệu giao dịch có lợi ích theo từng điểm tham chiếu</a:t>
            </a:r>
            <a:endParaRPr lang="en-US" sz="1600" dirty="0"/>
          </a:p>
        </p:txBody>
      </p:sp>
      <p:sp>
        <p:nvSpPr>
          <p:cNvPr id="17" name="Shape 15"/>
          <p:cNvSpPr/>
          <p:nvPr/>
        </p:nvSpPr>
        <p:spPr>
          <a:xfrm>
            <a:off x="548640" y="2423160"/>
            <a:ext cx="457200" cy="457200"/>
          </a:xfrm>
          <a:prstGeom prst="ellipse">
            <a:avLst/>
          </a:prstGeom>
          <a:solidFill>
            <a:srgbClr val="2A7F8F"/>
          </a:solidFill>
          <a:ln w="12700">
            <a:solidFill>
              <a:srgbClr val="2A7F8F"/>
            </a:solidFill>
            <a:prstDash val="solid"/>
          </a:ln>
        </p:spPr>
      </p:sp>
      <p:sp>
        <p:nvSpPr>
          <p:cNvPr id="18" name="Text 16"/>
          <p:cNvSpPr txBox="1"/>
          <p:nvPr/>
        </p:nvSpPr>
        <p:spPr>
          <a:xfrm>
            <a:off x="548640" y="2423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Times New Roman" pitchFamily="34" charset="0"/>
                <a:ea typeface="Times New Roman" pitchFamily="34" charset="-122"/>
                <a:cs typeface="Times New Roman" pitchFamily="34" charset="-120"/>
              </a:rPr>
              <a:t>2</a:t>
            </a:r>
            <a:endParaRPr lang="en-US" sz="1600" dirty="0"/>
          </a:p>
        </p:txBody>
      </p:sp>
      <p:sp>
        <p:nvSpPr>
          <p:cNvPr id="19" name="Text 17"/>
          <p:cNvSpPr txBox="1"/>
          <p:nvPr/>
        </p:nvSpPr>
        <p:spPr>
          <a:xfrm>
            <a:off x="1188720" y="2468880"/>
            <a:ext cx="5120640" cy="777240"/>
          </a:xfrm>
          <a:prstGeom prst="rect">
            <a:avLst/>
          </a:prstGeom>
          <a:noFill/>
          <a:ln/>
        </p:spPr>
        <p:txBody>
          <a:bodyPr wrap="square" lIns="0" tIns="0" rIns="0" bIns="0" rtlCol="0" anchor="t"/>
          <a:lstStyle/>
          <a:p>
            <a:pPr indent="0" marL="0">
              <a:buNone/>
            </a:pPr>
            <a:r>
              <a:rPr lang="en-US" sz="1600" dirty="0">
                <a:solidFill>
                  <a:srgbClr val="1B2A3D"/>
                </a:solidFill>
                <a:latin typeface="Times New Roman" pitchFamily="34" charset="0"/>
                <a:ea typeface="Times New Roman" pitchFamily="34" charset="-122"/>
                <a:cs typeface="Times New Roman" pitchFamily="34" charset="-120"/>
              </a:rPr>
              <a:t>Mô hình định vị mà mô hình là tập HUI; mọi quyết định dựa trên bằng chứng HUI</a:t>
            </a:r>
            <a:endParaRPr lang="en-US" sz="1600" dirty="0"/>
          </a:p>
        </p:txBody>
      </p:sp>
      <p:sp>
        <p:nvSpPr>
          <p:cNvPr id="20" name="Shape 18"/>
          <p:cNvSpPr/>
          <p:nvPr/>
        </p:nvSpPr>
        <p:spPr>
          <a:xfrm>
            <a:off x="548640" y="3291840"/>
            <a:ext cx="457200" cy="457200"/>
          </a:xfrm>
          <a:prstGeom prst="ellipse">
            <a:avLst/>
          </a:prstGeom>
          <a:solidFill>
            <a:srgbClr val="2A7F8F"/>
          </a:solidFill>
          <a:ln w="12700">
            <a:solidFill>
              <a:srgbClr val="2A7F8F"/>
            </a:solidFill>
            <a:prstDash val="solid"/>
          </a:ln>
        </p:spPr>
      </p:sp>
      <p:sp>
        <p:nvSpPr>
          <p:cNvPr id="21" name="Text 19"/>
          <p:cNvSpPr txBox="1"/>
          <p:nvPr/>
        </p:nvSpPr>
        <p:spPr>
          <a:xfrm>
            <a:off x="548640" y="32918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Times New Roman" pitchFamily="34" charset="0"/>
                <a:ea typeface="Times New Roman" pitchFamily="34" charset="-122"/>
                <a:cs typeface="Times New Roman" pitchFamily="34" charset="-120"/>
              </a:rPr>
              <a:t>3</a:t>
            </a:r>
            <a:endParaRPr lang="en-US" sz="1600" dirty="0"/>
          </a:p>
        </p:txBody>
      </p:sp>
      <p:sp>
        <p:nvSpPr>
          <p:cNvPr id="22" name="Text 20"/>
          <p:cNvSpPr txBox="1"/>
          <p:nvPr/>
        </p:nvSpPr>
        <p:spPr>
          <a:xfrm>
            <a:off x="1188720" y="3337560"/>
            <a:ext cx="5120640" cy="777240"/>
          </a:xfrm>
          <a:prstGeom prst="rect">
            <a:avLst/>
          </a:prstGeom>
          <a:noFill/>
          <a:ln/>
        </p:spPr>
        <p:txBody>
          <a:bodyPr wrap="square" lIns="0" tIns="0" rIns="0" bIns="0" rtlCol="0" anchor="t"/>
          <a:lstStyle/>
          <a:p>
            <a:pPr indent="0" marL="0">
              <a:buNone/>
            </a:pPr>
            <a:r>
              <a:rPr lang="en-US" sz="1600" dirty="0">
                <a:solidFill>
                  <a:srgbClr val="1B2A3D"/>
                </a:solidFill>
                <a:latin typeface="Times New Roman" pitchFamily="34" charset="0"/>
                <a:ea typeface="Times New Roman" pitchFamily="34" charset="-122"/>
                <a:cs typeface="Times New Roman" pitchFamily="34" charset="-120"/>
              </a:rPr>
              <a:t>Sai số trung bình dưới 7 m trên tập kiểm tra, giao thức không rò rỉ dữ liệu</a:t>
            </a:r>
            <a:endParaRPr lang="en-US" sz="1600" dirty="0"/>
          </a:p>
        </p:txBody>
      </p:sp>
      <p:sp>
        <p:nvSpPr>
          <p:cNvPr id="23" name="Shape 21"/>
          <p:cNvSpPr/>
          <p:nvPr/>
        </p:nvSpPr>
        <p:spPr>
          <a:xfrm>
            <a:off x="548640" y="4160520"/>
            <a:ext cx="457200" cy="457200"/>
          </a:xfrm>
          <a:prstGeom prst="ellipse">
            <a:avLst/>
          </a:prstGeom>
          <a:solidFill>
            <a:srgbClr val="2A7F8F"/>
          </a:solidFill>
          <a:ln w="12700">
            <a:solidFill>
              <a:srgbClr val="2A7F8F"/>
            </a:solidFill>
            <a:prstDash val="solid"/>
          </a:ln>
        </p:spPr>
      </p:sp>
      <p:sp>
        <p:nvSpPr>
          <p:cNvPr id="24" name="Text 22"/>
          <p:cNvSpPr txBox="1"/>
          <p:nvPr/>
        </p:nvSpPr>
        <p:spPr>
          <a:xfrm>
            <a:off x="548640" y="41605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Times New Roman" pitchFamily="34" charset="0"/>
                <a:ea typeface="Times New Roman" pitchFamily="34" charset="-122"/>
                <a:cs typeface="Times New Roman" pitchFamily="34" charset="-120"/>
              </a:rPr>
              <a:t>4</a:t>
            </a:r>
            <a:endParaRPr lang="en-US" sz="1600" dirty="0"/>
          </a:p>
        </p:txBody>
      </p:sp>
      <p:sp>
        <p:nvSpPr>
          <p:cNvPr id="25" name="Text 23"/>
          <p:cNvSpPr txBox="1"/>
          <p:nvPr/>
        </p:nvSpPr>
        <p:spPr>
          <a:xfrm>
            <a:off x="1188720" y="4206240"/>
            <a:ext cx="5120640" cy="777240"/>
          </a:xfrm>
          <a:prstGeom prst="rect">
            <a:avLst/>
          </a:prstGeom>
          <a:noFill/>
          <a:ln/>
        </p:spPr>
        <p:txBody>
          <a:bodyPr wrap="square" lIns="0" tIns="0" rIns="0" bIns="0" rtlCol="0" anchor="t"/>
          <a:lstStyle/>
          <a:p>
            <a:pPr indent="0" marL="0">
              <a:buNone/>
            </a:pPr>
            <a:r>
              <a:rPr lang="en-US" sz="1600" dirty="0">
                <a:solidFill>
                  <a:srgbClr val="1B2A3D"/>
                </a:solidFill>
                <a:latin typeface="Times New Roman" pitchFamily="34" charset="0"/>
                <a:ea typeface="Times New Roman" pitchFamily="34" charset="-122"/>
                <a:cs typeface="Times New Roman" pitchFamily="34" charset="-120"/>
              </a:rPr>
              <a:t>Kiểm chứng độc lập mọi con số; mã nguồn và số liệu để tái lập</a:t>
            </a:r>
            <a:endParaRPr lang="en-US" sz="1600" dirty="0"/>
          </a:p>
        </p:txBody>
      </p:sp>
      <p:sp>
        <p:nvSpPr>
          <p:cNvPr id="26" name="Shape 24"/>
          <p:cNvSpPr/>
          <p:nvPr/>
        </p:nvSpPr>
        <p:spPr>
          <a:xfrm>
            <a:off x="6583680" y="1463040"/>
            <a:ext cx="5059375" cy="4709160"/>
          </a:xfrm>
          <a:prstGeom prst="rect">
            <a:avLst/>
          </a:prstGeom>
          <a:solidFill>
            <a:srgbClr val="FBFAF7"/>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27" name="Shape 25"/>
          <p:cNvSpPr/>
          <p:nvPr/>
        </p:nvSpPr>
        <p:spPr>
          <a:xfrm>
            <a:off x="6583680" y="1463040"/>
            <a:ext cx="64008" cy="4709160"/>
          </a:xfrm>
          <a:prstGeom prst="rect">
            <a:avLst/>
          </a:prstGeom>
          <a:solidFill>
            <a:srgbClr val="C9A227"/>
          </a:solidFill>
          <a:ln w="12700">
            <a:solidFill>
              <a:srgbClr val="C9A227"/>
            </a:solidFill>
            <a:prstDash val="solid"/>
          </a:ln>
        </p:spPr>
      </p:sp>
      <p:sp>
        <p:nvSpPr>
          <p:cNvPr id="28" name="Text 26"/>
          <p:cNvSpPr txBox="1"/>
          <p:nvPr/>
        </p:nvSpPr>
        <p:spPr>
          <a:xfrm>
            <a:off x="6812280" y="1600200"/>
            <a:ext cx="4602175" cy="411480"/>
          </a:xfrm>
          <a:prstGeom prst="rect">
            <a:avLst/>
          </a:prstGeom>
          <a:noFill/>
          <a:ln/>
        </p:spPr>
        <p:txBody>
          <a:bodyPr wrap="square" lIns="0" tIns="0" rIns="0" bIns="0" rtlCol="0" anchor="ctr"/>
          <a:lstStyle/>
          <a:p>
            <a:pPr indent="0" marL="0">
              <a:buNone/>
            </a:pPr>
            <a:r>
              <a:rPr lang="en-US" sz="1800" b="1" dirty="0">
                <a:solidFill>
                  <a:srgbClr val="1F3A5F"/>
                </a:solidFill>
                <a:latin typeface="Times New Roman" pitchFamily="34" charset="0"/>
                <a:ea typeface="Times New Roman" pitchFamily="34" charset="-122"/>
                <a:cs typeface="Times New Roman" pitchFamily="34" charset="-120"/>
              </a:rPr>
              <a:t>Đóng góp</a:t>
            </a:r>
            <a:endParaRPr lang="en-US" sz="1800" dirty="0"/>
          </a:p>
        </p:txBody>
      </p:sp>
      <p:sp>
        <p:nvSpPr>
          <p:cNvPr id="29" name="Text 27"/>
          <p:cNvSpPr txBox="1"/>
          <p:nvPr/>
        </p:nvSpPr>
        <p:spPr>
          <a:xfrm>
            <a:off x="6858000" y="2057400"/>
            <a:ext cx="4510735" cy="4023360"/>
          </a:xfrm>
          <a:prstGeom prst="rect">
            <a:avLst/>
          </a:prstGeom>
          <a:noFill/>
          <a:ln/>
        </p:spPr>
        <p:txBody>
          <a:bodyPr wrap="square" lIns="25400" tIns="25400" rIns="25400" bIns="25400" rtlCol="0" anchor="t"/>
          <a:lstStyle/>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Ba định nghĩa lợi ích nội (abs, rel, rank) và ngưỡng tương đối theo ô có </a:t>
            </a:r>
            <a:pPr algn="l" marL="254000" indent="-254000">
              <a:spcAft>
                <a:spcPts val="900"/>
              </a:spcAft>
              <a:buSzPct val="100000"/>
              <a:buChar char="•"/>
            </a:pPr>
            <a:r>
              <a:rPr lang="en-US" sz="1600" b="1" dirty="0">
                <a:solidFill>
                  <a:srgbClr val="1B2A3D"/>
                </a:solidFill>
                <a:latin typeface="Times New Roman" pitchFamily="34" charset="0"/>
                <a:ea typeface="Times New Roman" pitchFamily="34" charset="-122"/>
                <a:cs typeface="Times New Roman" pitchFamily="34" charset="-120"/>
              </a:rPr>
              <a:t>tự nâng ngưỡng</a:t>
            </a:r>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 bảo đảm tập HUI đầy đủ</a:t>
            </a:r>
            <a:endParaRPr lang="en-US" sz="1600" dirty="0"/>
          </a:p>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Thuật toán định vị </a:t>
            </a:r>
            <a:pPr algn="l" marL="254000" indent="-254000">
              <a:spcAft>
                <a:spcPts val="900"/>
              </a:spcAft>
              <a:buSzPct val="100000"/>
              <a:buChar char="•"/>
            </a:pPr>
            <a:r>
              <a:rPr lang="en-US" sz="1600" b="1" dirty="0">
                <a:solidFill>
                  <a:srgbClr val="1B2A3D"/>
                </a:solidFill>
                <a:latin typeface="Times New Roman" pitchFamily="34" charset="0"/>
                <a:ea typeface="Times New Roman" pitchFamily="34" charset="-122"/>
                <a:cs typeface="Times New Roman" pitchFamily="34" charset="-120"/>
              </a:rPr>
              <a:t>tám bước</a:t>
            </a:r>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 chỉ dựa trên HUI, kể cả hồ sơ cường độ và độ phủ ngược suy ra từ HUI</a:t>
            </a:r>
            <a:endParaRPr lang="en-US" sz="1600" dirty="0"/>
          </a:p>
          <a:p>
            <a:pPr algn="l" marL="254000" indent="-254000">
              <a:spcAft>
                <a:spcPts val="900"/>
              </a:spcAft>
              <a:buSzPct val="100000"/>
              <a:buChar char="•"/>
            </a:pPr>
            <a:r>
              <a:rPr lang="en-US" sz="1600" b="1" dirty="0">
                <a:solidFill>
                  <a:srgbClr val="1B2A3D"/>
                </a:solidFill>
                <a:latin typeface="Times New Roman" pitchFamily="34" charset="0"/>
                <a:ea typeface="Times New Roman" pitchFamily="34" charset="-122"/>
                <a:cs typeface="Times New Roman" pitchFamily="34" charset="-120"/>
              </a:rPr>
              <a:t>9/9</a:t>
            </a:r>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 tập kiểm tra của 6 bộ dữ liệu dưới 7 m; phân tích định lượng nguồn sai số</a:t>
            </a:r>
            <a:endParaRPr lang="en-US" sz="1600" dirty="0"/>
          </a:p>
          <a:p>
            <a:pPr algn="l" marL="254000" indent="-254000">
              <a:spcAft>
                <a:spcPts val="900"/>
              </a:spcAft>
              <a:buSzPct val="100000"/>
              <a:buChar char="•"/>
            </a:pPr>
            <a:r>
              <a:rPr lang="en-US" sz="1600" b="1" dirty="0">
                <a:solidFill>
                  <a:srgbClr val="1B2A3D"/>
                </a:solidFill>
                <a:latin typeface="Times New Roman" pitchFamily="34" charset="0"/>
                <a:ea typeface="Times New Roman" pitchFamily="34" charset="-122"/>
                <a:cs typeface="Times New Roman" pitchFamily="34" charset="-120"/>
              </a:rPr>
              <a:t>50</a:t>
            </a:r>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 phép kiểm chứng độc lập, 0 thất bại</a:t>
            </a:r>
            <a:endParaRPr lang="en-US" sz="16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1188720"/>
            <a:ext cx="2743200" cy="1463040"/>
          </a:xfrm>
          <a:prstGeom prst="rect">
            <a:avLst/>
          </a:prstGeom>
          <a:noFill/>
          <a:ln/>
        </p:spPr>
        <p:txBody>
          <a:bodyPr wrap="square" lIns="0" tIns="0" rIns="0" bIns="0" rtlCol="0" anchor="ctr"/>
          <a:lstStyle/>
          <a:p>
            <a:pPr indent="0" marL="0">
              <a:buNone/>
            </a:pPr>
            <a:r>
              <a:rPr lang="en-US" sz="11000" b="1" dirty="0">
                <a:solidFill>
                  <a:srgbClr val="7FB3BF"/>
                </a:solidFill>
                <a:latin typeface="Times New Roman" pitchFamily="34" charset="0"/>
                <a:ea typeface="Times New Roman" pitchFamily="34" charset="-122"/>
                <a:cs typeface="Times New Roman" pitchFamily="34" charset="-120"/>
              </a:rPr>
              <a:t>02</a:t>
            </a:r>
            <a:endParaRPr lang="en-US" sz="11000" dirty="0"/>
          </a:p>
        </p:txBody>
      </p:sp>
      <p:sp>
        <p:nvSpPr>
          <p:cNvPr id="3" name="Text 1"/>
          <p:cNvSpPr txBox="1"/>
          <p:nvPr/>
        </p:nvSpPr>
        <p:spPr>
          <a:xfrm>
            <a:off x="548640" y="2743200"/>
            <a:ext cx="7772400" cy="914400"/>
          </a:xfrm>
          <a:prstGeom prst="rect">
            <a:avLst/>
          </a:prstGeom>
          <a:noFill/>
          <a:ln/>
        </p:spPr>
        <p:txBody>
          <a:bodyPr wrap="square" lIns="0" tIns="0" rIns="0" bIns="0" rtlCol="0" anchor="ctr"/>
          <a:lstStyle/>
          <a:p>
            <a:pPr indent="0" marL="0">
              <a:buNone/>
            </a:pPr>
            <a:r>
              <a:rPr lang="en-US" sz="3800" b="1" dirty="0">
                <a:solidFill>
                  <a:srgbClr val="FFFFFF"/>
                </a:solidFill>
                <a:latin typeface="Times New Roman" pitchFamily="34" charset="0"/>
                <a:ea typeface="Times New Roman" pitchFamily="34" charset="-122"/>
                <a:cs typeface="Times New Roman" pitchFamily="34" charset="-120"/>
              </a:rPr>
              <a:t>Cơ sở lý thuyết</a:t>
            </a:r>
            <a:endParaRPr lang="en-US" sz="3800" dirty="0"/>
          </a:p>
        </p:txBody>
      </p:sp>
      <p:sp>
        <p:nvSpPr>
          <p:cNvPr id="4" name="Shape 2"/>
          <p:cNvSpPr/>
          <p:nvPr/>
        </p:nvSpPr>
        <p:spPr>
          <a:xfrm>
            <a:off x="548640" y="3794760"/>
            <a:ext cx="2377440" cy="0"/>
          </a:xfrm>
          <a:prstGeom prst="line">
            <a:avLst/>
          </a:prstGeom>
          <a:noFill/>
          <a:ln w="25400">
            <a:solidFill>
              <a:srgbClr val="C9A227"/>
            </a:solidFill>
            <a:prstDash val="solid"/>
          </a:ln>
        </p:spPr>
      </p:sp>
      <p:sp>
        <p:nvSpPr>
          <p:cNvPr id="5" name="Text 3"/>
          <p:cNvSpPr txBox="1"/>
          <p:nvPr/>
        </p:nvSpPr>
        <p:spPr>
          <a:xfrm>
            <a:off x="548640" y="3977640"/>
            <a:ext cx="7315200" cy="2194560"/>
          </a:xfrm>
          <a:prstGeom prst="rect">
            <a:avLst/>
          </a:prstGeom>
          <a:noFill/>
          <a:ln/>
        </p:spPr>
        <p:txBody>
          <a:bodyPr wrap="square" lIns="0" tIns="0" rIns="0" bIns="0" rtlCol="0" anchor="t"/>
          <a:lstStyle/>
          <a:p>
            <a:pPr indent="0" marL="0">
              <a:spcAft>
                <a:spcPts val="600"/>
              </a:spcAft>
              <a:buNone/>
            </a:pPr>
            <a:r>
              <a:rPr lang="en-US" sz="1800" dirty="0">
                <a:solidFill>
                  <a:srgbClr val="DCE6EE"/>
                </a:solidFill>
                <a:latin typeface="Times New Roman" pitchFamily="34" charset="0"/>
                <a:ea typeface="Times New Roman" pitchFamily="34" charset="-122"/>
                <a:cs typeface="Times New Roman" pitchFamily="34" charset="-120"/>
              </a:rPr>
              <a:t>Bài toán khai thác tập mục lợi ích cao</a:t>
            </a:r>
            <a:endParaRPr lang="en-US" sz="1800" dirty="0"/>
          </a:p>
          <a:p>
            <a:pPr indent="0" marL="0">
              <a:spcAft>
                <a:spcPts val="600"/>
              </a:spcAft>
              <a:buNone/>
            </a:pPr>
            <a:r>
              <a:rPr lang="en-US" sz="1800" dirty="0">
                <a:solidFill>
                  <a:srgbClr val="DCE6EE"/>
                </a:solidFill>
                <a:latin typeface="Times New Roman" pitchFamily="34" charset="0"/>
                <a:ea typeface="Times New Roman" pitchFamily="34" charset="-122"/>
                <a:cs typeface="Times New Roman" pitchFamily="34" charset="-120"/>
              </a:rPr>
              <a:t>Thuật toán EFIM và các chặn trên</a:t>
            </a:r>
            <a:endParaRPr lang="en-US" sz="1800" dirty="0"/>
          </a:p>
          <a:p>
            <a:pPr indent="0" marL="0">
              <a:spcAft>
                <a:spcPts val="600"/>
              </a:spcAft>
              <a:buNone/>
            </a:pPr>
            <a:r>
              <a:rPr lang="en-US" sz="1800" dirty="0">
                <a:solidFill>
                  <a:srgbClr val="DCE6EE"/>
                </a:solidFill>
                <a:latin typeface="Times New Roman" pitchFamily="34" charset="0"/>
                <a:ea typeface="Times New Roman" pitchFamily="34" charset="-122"/>
                <a:cs typeface="Times New Roman" pitchFamily="34" charset="-120"/>
              </a:rPr>
              <a:t>Gradient Boosting và độ đo đánh giá</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CƠ SỞ LÝ THUYẾT · HUIM</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Bài toán khai thác tập mục lợi ích cao</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2A7F8F"/>
          </a:solidFill>
          <a:ln w="12700">
            <a:solidFill>
              <a:srgbClr val="2A7F8F"/>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E3E0D8"/>
          </a:solidFill>
          <a:ln w="12700">
            <a:solidFill>
              <a:srgbClr val="E3E0D8"/>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sp>
        <p:nvSpPr>
          <p:cNvPr id="15" name="Shape 12"/>
          <p:cNvSpPr/>
          <p:nvPr/>
        </p:nvSpPr>
        <p:spPr>
          <a:xfrm>
            <a:off x="548640" y="1417320"/>
            <a:ext cx="5394960" cy="3566160"/>
          </a:xfrm>
          <a:prstGeom prst="rect">
            <a:avLst/>
          </a:prstGeom>
          <a:solidFill>
            <a:srgbClr val="FBFAF7"/>
          </a:solidFill>
          <a:ln w="9525">
            <a:solidFill>
              <a:srgbClr val="D8D3C8"/>
            </a:solidFill>
            <a:prstDash val="solid"/>
          </a:ln>
          <a:effectLst>
            <a:outerShdw sx="100000" sy="100000" kx="0" ky="0" algn="bl" rotWithShape="0" blurRad="50800" dist="19050" dir="5400000">
              <a:srgbClr val="000000">
                <a:alpha val="12000"/>
              </a:srgbClr>
            </a:outerShdw>
          </a:effectLst>
        </p:spPr>
      </p:sp>
      <p:pic>
        <p:nvPicPr>
          <p:cNvPr id="16" name="Image 0" descr="Định nghĩa lợi ích">    </p:cNvPr>
          <p:cNvPicPr>
            <a:picLocks noChangeAspect="1"/>
          </p:cNvPicPr>
          <p:nvPr/>
        </p:nvPicPr>
        <p:blipFill>
          <a:blip r:embed="rId1"/>
          <a:stretch>
            <a:fillRect/>
          </a:stretch>
        </p:blipFill>
        <p:spPr>
          <a:xfrm>
            <a:off x="868680" y="1645920"/>
            <a:ext cx="4625983" cy="3108960"/>
          </a:xfrm>
          <a:prstGeom prst="rect">
            <a:avLst/>
          </a:prstGeom>
        </p:spPr>
      </p:pic>
      <p:sp>
        <p:nvSpPr>
          <p:cNvPr id="17" name="Text 13"/>
          <p:cNvSpPr txBox="1"/>
          <p:nvPr/>
        </p:nvSpPr>
        <p:spPr>
          <a:xfrm>
            <a:off x="6400800" y="1463040"/>
            <a:ext cx="5394960" cy="365760"/>
          </a:xfrm>
          <a:prstGeom prst="rect">
            <a:avLst/>
          </a:prstGeom>
          <a:noFill/>
          <a:ln/>
        </p:spPr>
        <p:txBody>
          <a:bodyPr wrap="square" lIns="0" tIns="0" rIns="0" bIns="0" rtlCol="0" anchor="t"/>
          <a:lstStyle/>
          <a:p>
            <a:pPr indent="0" marL="0">
              <a:buNone/>
            </a:pPr>
            <a:r>
              <a:rPr lang="en-US" sz="1800" b="1" dirty="0">
                <a:solidFill>
                  <a:srgbClr val="1F3A5F"/>
                </a:solidFill>
                <a:latin typeface="Times New Roman" pitchFamily="34" charset="0"/>
                <a:ea typeface="Times New Roman" pitchFamily="34" charset="-122"/>
                <a:cs typeface="Times New Roman" pitchFamily="34" charset="-120"/>
              </a:rPr>
              <a:t>Ánh xạ sang định vị Wi-Fi</a:t>
            </a:r>
            <a:endParaRPr lang="en-US" sz="1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0" y="1920240"/>
          <a:ext cx="5394960" cy="914400"/>
        </p:xfrm>
        <a:graphic>
          <a:graphicData uri="http://schemas.openxmlformats.org/drawingml/2006/table">
            <a:tbl>
              <a:tblPr/>
              <a:tblGrid>
                <a:gridCol w="2194560"/>
                <a:gridCol w="3200400"/>
              </a:tblGrid>
              <a:tr h="411480">
                <a:tc>
                  <a:txBody>
                    <a:bodyPr/>
                    <a:lstStyle/>
                    <a:p>
                      <a:pPr algn="ctr" indent="0" marL="0">
                        <a:buNone/>
                      </a:pPr>
                      <a:r>
                        <a:rPr lang="en-US" sz="1500" b="1" dirty="0">
                          <a:solidFill>
                            <a:srgbClr val="FFFFFF"/>
                          </a:solidFill>
                          <a:latin typeface="Times New Roman" pitchFamily="34" charset="0"/>
                          <a:ea typeface="Times New Roman" pitchFamily="34" charset="-122"/>
                          <a:cs typeface="Times New Roman" pitchFamily="34" charset="-120"/>
                        </a:rPr>
                        <a:t>HUIM</a:t>
                      </a:r>
                      <a:endParaRPr lang="en-US" sz="15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1F3A5F"/>
                    </a:solidFill>
                  </a:tcPr>
                </a:tc>
                <a:tc>
                  <a:txBody>
                    <a:bodyPr/>
                    <a:lstStyle/>
                    <a:p>
                      <a:pPr algn="ctr" indent="0" marL="0">
                        <a:buNone/>
                      </a:pPr>
                      <a:r>
                        <a:rPr lang="en-US" sz="1500" b="1" dirty="0">
                          <a:solidFill>
                            <a:srgbClr val="FFFFFF"/>
                          </a:solidFill>
                          <a:latin typeface="Times New Roman" pitchFamily="34" charset="0"/>
                          <a:ea typeface="Times New Roman" pitchFamily="34" charset="-122"/>
                          <a:cs typeface="Times New Roman" pitchFamily="34" charset="-120"/>
                        </a:rPr>
                        <a:t>Định vị vân tay</a:t>
                      </a:r>
                      <a:endParaRPr lang="en-US" sz="15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1F3A5F"/>
                    </a:solidFill>
                  </a:tcPr>
                </a:tc>
              </a:tr>
              <a:tr h="411480">
                <a:tc>
                  <a:txBody>
                    <a:bodyPr/>
                    <a:lstStyle/>
                    <a:p>
                      <a:pPr algn="l" indent="0" marL="0">
                        <a:buNone/>
                      </a:pPr>
                      <a:r>
                        <a:rPr lang="en-US" sz="1500" dirty="0">
                          <a:solidFill>
                            <a:srgbClr val="1B2A3D"/>
                          </a:solidFill>
                          <a:latin typeface="Times New Roman" pitchFamily="34" charset="0"/>
                          <a:ea typeface="Times New Roman" pitchFamily="34" charset="-122"/>
                          <a:cs typeface="Times New Roman" pitchFamily="34" charset="-120"/>
                        </a:rPr>
                        <a:t>mục i</a:t>
                      </a:r>
                      <a:endParaRPr lang="en-US" sz="15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A3D"/>
                          </a:solidFill>
                          <a:latin typeface="Times New Roman" pitchFamily="34" charset="0"/>
                          <a:ea typeface="Times New Roman" pitchFamily="34" charset="-122"/>
                          <a:cs typeface="Times New Roman" pitchFamily="34" charset="-120"/>
                        </a:rPr>
                        <a:t>một AP</a:t>
                      </a:r>
                      <a:endParaRPr lang="en-US" sz="15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r>
              <a:tr h="411480">
                <a:tc>
                  <a:txBody>
                    <a:bodyPr/>
                    <a:lstStyle/>
                    <a:p>
                      <a:pPr algn="l" indent="0" marL="0">
                        <a:buNone/>
                      </a:pPr>
                      <a:r>
                        <a:rPr lang="en-US" sz="1500" dirty="0">
                          <a:solidFill>
                            <a:srgbClr val="1B2A3D"/>
                          </a:solidFill>
                          <a:latin typeface="Times New Roman" pitchFamily="34" charset="0"/>
                          <a:ea typeface="Times New Roman" pitchFamily="34" charset="-122"/>
                          <a:cs typeface="Times New Roman" pitchFamily="34" charset="-120"/>
                        </a:rPr>
                        <a:t>giao dịch T</a:t>
                      </a:r>
                      <a:endParaRPr lang="en-US" sz="15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c>
                  <a:txBody>
                    <a:bodyPr/>
                    <a:lstStyle/>
                    <a:p>
                      <a:pPr algn="l" indent="0" marL="0">
                        <a:buNone/>
                      </a:pPr>
                      <a:r>
                        <a:rPr lang="en-US" sz="1500" dirty="0">
                          <a:solidFill>
                            <a:srgbClr val="1B2A3D"/>
                          </a:solidFill>
                          <a:latin typeface="Times New Roman" pitchFamily="34" charset="0"/>
                          <a:ea typeface="Times New Roman" pitchFamily="34" charset="-122"/>
                          <a:cs typeface="Times New Roman" pitchFamily="34" charset="-120"/>
                        </a:rPr>
                        <a:t>một vân tay (một lần quét)</a:t>
                      </a:r>
                      <a:endParaRPr lang="en-US" sz="15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r>
              <a:tr h="411480">
                <a:tc>
                  <a:txBody>
                    <a:bodyPr/>
                    <a:lstStyle/>
                    <a:p>
                      <a:pPr algn="l" indent="0" marL="0">
                        <a:buNone/>
                      </a:pPr>
                      <a:r>
                        <a:rPr lang="en-US" sz="1500" dirty="0">
                          <a:solidFill>
                            <a:srgbClr val="1B2A3D"/>
                          </a:solidFill>
                          <a:latin typeface="Times New Roman" pitchFamily="34" charset="0"/>
                          <a:ea typeface="Times New Roman" pitchFamily="34" charset="-122"/>
                          <a:cs typeface="Times New Roman" pitchFamily="34" charset="-120"/>
                        </a:rPr>
                        <a:t>lợi ích nội q(i,T)</a:t>
                      </a:r>
                      <a:endParaRPr lang="en-US" sz="15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A3D"/>
                          </a:solidFill>
                          <a:latin typeface="Times New Roman" pitchFamily="34" charset="0"/>
                          <a:ea typeface="Times New Roman" pitchFamily="34" charset="-122"/>
                          <a:cs typeface="Times New Roman" pitchFamily="34" charset="-120"/>
                        </a:rPr>
                        <a:t>cường độ RSSI đã chuẩn hoá</a:t>
                      </a:r>
                      <a:endParaRPr lang="en-US" sz="15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r>
              <a:tr h="411480">
                <a:tc>
                  <a:txBody>
                    <a:bodyPr/>
                    <a:lstStyle/>
                    <a:p>
                      <a:pPr algn="l" indent="0" marL="0">
                        <a:buNone/>
                      </a:pPr>
                      <a:r>
                        <a:rPr lang="en-US" sz="1500" dirty="0">
                          <a:solidFill>
                            <a:srgbClr val="1B2A3D"/>
                          </a:solidFill>
                          <a:latin typeface="Times New Roman" pitchFamily="34" charset="0"/>
                          <a:ea typeface="Times New Roman" pitchFamily="34" charset="-122"/>
                          <a:cs typeface="Times New Roman" pitchFamily="34" charset="-120"/>
                        </a:rPr>
                        <a:t>lợi ích ngoài p(i)</a:t>
                      </a:r>
                      <a:endParaRPr lang="en-US" sz="15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c>
                  <a:txBody>
                    <a:bodyPr/>
                    <a:lstStyle/>
                    <a:p>
                      <a:pPr algn="l" indent="0" marL="0">
                        <a:buNone/>
                      </a:pPr>
                      <a:r>
                        <a:rPr lang="en-US" sz="1500" dirty="0">
                          <a:solidFill>
                            <a:srgbClr val="1B2A3D"/>
                          </a:solidFill>
                          <a:latin typeface="Times New Roman" pitchFamily="34" charset="0"/>
                          <a:ea typeface="Times New Roman" pitchFamily="34" charset="-122"/>
                          <a:cs typeface="Times New Roman" pitchFamily="34" charset="-120"/>
                        </a:rPr>
                        <a:t>đặt bằng 1</a:t>
                      </a:r>
                      <a:endParaRPr lang="en-US" sz="15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r>
              <a:tr h="411480">
                <a:tc>
                  <a:txBody>
                    <a:bodyPr/>
                    <a:lstStyle/>
                    <a:p>
                      <a:pPr algn="l" indent="0" marL="0">
                        <a:buNone/>
                      </a:pPr>
                      <a:r>
                        <a:rPr lang="en-US" sz="1500" dirty="0">
                          <a:solidFill>
                            <a:srgbClr val="1B2A3D"/>
                          </a:solidFill>
                          <a:latin typeface="Times New Roman" pitchFamily="34" charset="0"/>
                          <a:ea typeface="Times New Roman" pitchFamily="34" charset="-122"/>
                          <a:cs typeface="Times New Roman" pitchFamily="34" charset="-120"/>
                        </a:rPr>
                        <a:t>cơ sở dữ liệu D</a:t>
                      </a:r>
                      <a:endParaRPr lang="en-US" sz="15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A3D"/>
                          </a:solidFill>
                          <a:latin typeface="Times New Roman" pitchFamily="34" charset="0"/>
                          <a:ea typeface="Times New Roman" pitchFamily="34" charset="-122"/>
                          <a:cs typeface="Times New Roman" pitchFamily="34" charset="-120"/>
                        </a:rPr>
                        <a:t>các vân tay của một điểm tham chiếu</a:t>
                      </a:r>
                      <a:endParaRPr lang="en-US" sz="15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r>
            </a:tbl>
          </a:graphicData>
        </a:graphic>
      </p:graphicFrame>
      <p:sp>
        <p:nvSpPr>
          <p:cNvPr id="19" name="Shape 14"/>
          <p:cNvSpPr/>
          <p:nvPr/>
        </p:nvSpPr>
        <p:spPr>
          <a:xfrm>
            <a:off x="548640" y="5166360"/>
            <a:ext cx="11094415" cy="1005840"/>
          </a:xfrm>
          <a:prstGeom prst="rect">
            <a:avLst/>
          </a:prstGeom>
          <a:solidFill>
            <a:srgbClr val="E6F0F2"/>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20" name="Shape 15"/>
          <p:cNvSpPr/>
          <p:nvPr/>
        </p:nvSpPr>
        <p:spPr>
          <a:xfrm>
            <a:off x="548640" y="5166360"/>
            <a:ext cx="64008" cy="1005840"/>
          </a:xfrm>
          <a:prstGeom prst="rect">
            <a:avLst/>
          </a:prstGeom>
          <a:solidFill>
            <a:srgbClr val="2A7F8F"/>
          </a:solidFill>
          <a:ln w="12700">
            <a:solidFill>
              <a:srgbClr val="2A7F8F"/>
            </a:solidFill>
            <a:prstDash val="solid"/>
          </a:ln>
        </p:spPr>
      </p:sp>
      <p:sp>
        <p:nvSpPr>
          <p:cNvPr id="21" name="Text 16"/>
          <p:cNvSpPr txBox="1"/>
          <p:nvPr/>
        </p:nvSpPr>
        <p:spPr>
          <a:xfrm>
            <a:off x="868680" y="5303520"/>
            <a:ext cx="10454335" cy="777240"/>
          </a:xfrm>
          <a:prstGeom prst="rect">
            <a:avLst/>
          </a:prstGeom>
          <a:noFill/>
          <a:ln/>
        </p:spPr>
        <p:txBody>
          <a:bodyPr wrap="square" lIns="0" tIns="0" rIns="0" bIns="0" rtlCol="0" anchor="ctr"/>
          <a:lstStyle/>
          <a:p>
            <a:pPr indent="0" marL="0">
              <a:buNone/>
            </a:pPr>
            <a:r>
              <a:rPr lang="en-US" sz="1600" b="1" dirty="0">
                <a:solidFill>
                  <a:srgbClr val="1B2A3D"/>
                </a:solidFill>
                <a:latin typeface="Times New Roman" pitchFamily="34" charset="0"/>
                <a:ea typeface="Times New Roman" pitchFamily="34" charset="-122"/>
                <a:cs typeface="Times New Roman" pitchFamily="34" charset="-120"/>
              </a:rPr>
              <a:t>Không đơn điệu:</a:t>
            </a:r>
            <a:pPr indent="0" marL="0">
              <a:buNone/>
            </a:pPr>
            <a:r>
              <a:rPr lang="en-US" sz="1600" dirty="0">
                <a:solidFill>
                  <a:srgbClr val="1B2A3D"/>
                </a:solidFill>
                <a:latin typeface="Times New Roman" pitchFamily="34" charset="0"/>
                <a:ea typeface="Times New Roman" pitchFamily="34" charset="-122"/>
                <a:cs typeface="Times New Roman" pitchFamily="34" charset="-120"/>
              </a:rPr>
              <a:t> thêm một mục có thể làm u(X) tăng hoặc giảm → cắt tỉa bằng chặn trên </a:t>
            </a:r>
            <a:pPr indent="0" marL="0">
              <a:buNone/>
            </a:pPr>
            <a:r>
              <a:rPr lang="en-US" sz="1600" b="1" dirty="0">
                <a:solidFill>
                  <a:srgbClr val="1B2A3D"/>
                </a:solidFill>
                <a:latin typeface="Times New Roman" pitchFamily="34" charset="0"/>
                <a:ea typeface="Times New Roman" pitchFamily="34" charset="-122"/>
                <a:cs typeface="Times New Roman" pitchFamily="34" charset="-120"/>
              </a:rPr>
              <a:t>TWU</a:t>
            </a:r>
            <a:pPr indent="0" marL="0">
              <a:buNone/>
            </a:pPr>
            <a:r>
              <a:rPr lang="en-US" sz="1600" dirty="0">
                <a:solidFill>
                  <a:srgbClr val="1B2A3D"/>
                </a:solidFill>
                <a:latin typeface="Times New Roman" pitchFamily="34" charset="0"/>
                <a:ea typeface="Times New Roman" pitchFamily="34" charset="-122"/>
                <a:cs typeface="Times New Roman" pitchFamily="34" charset="-120"/>
              </a:rPr>
              <a:t> (đóng xuống: X ⊆ Y ⇒ TWU(Y) ≤ TWU(X)).</a:t>
            </a:r>
            <a:endParaRPr lang="en-US" sz="16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CƠ SỞ LÝ THUYẾT · EFIM</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Thuật toán EFIM (Zida và cộng sự, 2017)</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2A7F8F"/>
          </a:solidFill>
          <a:ln w="12700">
            <a:solidFill>
              <a:srgbClr val="2A7F8F"/>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E3E0D8"/>
          </a:solidFill>
          <a:ln w="12700">
            <a:solidFill>
              <a:srgbClr val="E3E0D8"/>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sp>
        <p:nvSpPr>
          <p:cNvPr id="15" name="Shape 12"/>
          <p:cNvSpPr/>
          <p:nvPr/>
        </p:nvSpPr>
        <p:spPr>
          <a:xfrm>
            <a:off x="548640" y="1417320"/>
            <a:ext cx="6675120" cy="3063240"/>
          </a:xfrm>
          <a:prstGeom prst="rect">
            <a:avLst/>
          </a:prstGeom>
          <a:solidFill>
            <a:srgbClr val="FBFAF7"/>
          </a:solidFill>
          <a:ln w="9525">
            <a:solidFill>
              <a:srgbClr val="D8D3C8"/>
            </a:solidFill>
            <a:prstDash val="solid"/>
          </a:ln>
          <a:effectLst>
            <a:outerShdw sx="100000" sy="100000" kx="0" ky="0" algn="bl" rotWithShape="0" blurRad="50800" dist="19050" dir="5400000">
              <a:srgbClr val="000000">
                <a:alpha val="12000"/>
              </a:srgbClr>
            </a:outerShdw>
          </a:effectLst>
        </p:spPr>
      </p:sp>
      <p:pic>
        <p:nvPicPr>
          <p:cNvPr id="16" name="Image 0" descr="Chặn trên của EFIM">    </p:cNvPr>
          <p:cNvPicPr>
            <a:picLocks noChangeAspect="1"/>
          </p:cNvPicPr>
          <p:nvPr/>
        </p:nvPicPr>
        <p:blipFill>
          <a:blip r:embed="rId1"/>
          <a:stretch>
            <a:fillRect/>
          </a:stretch>
        </p:blipFill>
        <p:spPr>
          <a:xfrm>
            <a:off x="822960" y="1645920"/>
            <a:ext cx="6126480" cy="2085909"/>
          </a:xfrm>
          <a:prstGeom prst="rect">
            <a:avLst/>
          </a:prstGeom>
        </p:spPr>
      </p:pic>
      <p:sp>
        <p:nvSpPr>
          <p:cNvPr id="17" name="Shape 13"/>
          <p:cNvSpPr/>
          <p:nvPr/>
        </p:nvSpPr>
        <p:spPr>
          <a:xfrm>
            <a:off x="7589520" y="1463040"/>
            <a:ext cx="457200" cy="457200"/>
          </a:xfrm>
          <a:prstGeom prst="ellipse">
            <a:avLst/>
          </a:prstGeom>
          <a:solidFill>
            <a:srgbClr val="2A7F8F"/>
          </a:solidFill>
          <a:ln w="12700">
            <a:solidFill>
              <a:srgbClr val="2A7F8F"/>
            </a:solidFill>
            <a:prstDash val="solid"/>
          </a:ln>
        </p:spPr>
      </p:sp>
      <p:sp>
        <p:nvSpPr>
          <p:cNvPr id="18" name="Text 14"/>
          <p:cNvSpPr txBox="1"/>
          <p:nvPr/>
        </p:nvSpPr>
        <p:spPr>
          <a:xfrm>
            <a:off x="7589520"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Times New Roman" pitchFamily="34" charset="0"/>
                <a:ea typeface="Times New Roman" pitchFamily="34" charset="-122"/>
                <a:cs typeface="Times New Roman" pitchFamily="34" charset="-120"/>
              </a:rPr>
              <a:t>1</a:t>
            </a:r>
            <a:endParaRPr lang="en-US" sz="1600" dirty="0"/>
          </a:p>
        </p:txBody>
      </p:sp>
      <p:sp>
        <p:nvSpPr>
          <p:cNvPr id="19" name="Text 15"/>
          <p:cNvSpPr txBox="1"/>
          <p:nvPr/>
        </p:nvSpPr>
        <p:spPr>
          <a:xfrm>
            <a:off x="8183880" y="1517904"/>
            <a:ext cx="3931920" cy="548640"/>
          </a:xfrm>
          <a:prstGeom prst="rect">
            <a:avLst/>
          </a:prstGeom>
          <a:noFill/>
          <a:ln/>
        </p:spPr>
        <p:txBody>
          <a:bodyPr wrap="square" lIns="0" tIns="0" rIns="0" bIns="0" rtlCol="0" anchor="t"/>
          <a:lstStyle/>
          <a:p>
            <a:pPr indent="0" marL="0">
              <a:buNone/>
            </a:pPr>
            <a:r>
              <a:rPr lang="en-US" sz="1550" dirty="0">
                <a:solidFill>
                  <a:srgbClr val="1B2A3D"/>
                </a:solidFill>
                <a:latin typeface="Times New Roman" pitchFamily="34" charset="0"/>
                <a:ea typeface="Times New Roman" pitchFamily="34" charset="-122"/>
                <a:cs typeface="Times New Roman" pitchFamily="34" charset="-120"/>
              </a:rPr>
              <a:t>Tính TWU, loại mục TWU &lt; minUtil, sắp mục</a:t>
            </a:r>
            <a:endParaRPr lang="en-US" sz="1550" dirty="0"/>
          </a:p>
        </p:txBody>
      </p:sp>
      <p:sp>
        <p:nvSpPr>
          <p:cNvPr id="20" name="Shape 16"/>
          <p:cNvSpPr/>
          <p:nvPr/>
        </p:nvSpPr>
        <p:spPr>
          <a:xfrm>
            <a:off x="7589520" y="2084832"/>
            <a:ext cx="457200" cy="457200"/>
          </a:xfrm>
          <a:prstGeom prst="ellipse">
            <a:avLst/>
          </a:prstGeom>
          <a:solidFill>
            <a:srgbClr val="2A7F8F"/>
          </a:solidFill>
          <a:ln w="12700">
            <a:solidFill>
              <a:srgbClr val="2A7F8F"/>
            </a:solidFill>
            <a:prstDash val="solid"/>
          </a:ln>
        </p:spPr>
      </p:sp>
      <p:sp>
        <p:nvSpPr>
          <p:cNvPr id="21" name="Text 17"/>
          <p:cNvSpPr txBox="1"/>
          <p:nvPr/>
        </p:nvSpPr>
        <p:spPr>
          <a:xfrm>
            <a:off x="7589520" y="208483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Times New Roman" pitchFamily="34" charset="0"/>
                <a:ea typeface="Times New Roman" pitchFamily="34" charset="-122"/>
                <a:cs typeface="Times New Roman" pitchFamily="34" charset="-120"/>
              </a:rPr>
              <a:t>2</a:t>
            </a:r>
            <a:endParaRPr lang="en-US" sz="1600" dirty="0"/>
          </a:p>
        </p:txBody>
      </p:sp>
      <p:sp>
        <p:nvSpPr>
          <p:cNvPr id="22" name="Text 18"/>
          <p:cNvSpPr txBox="1"/>
          <p:nvPr/>
        </p:nvSpPr>
        <p:spPr>
          <a:xfrm>
            <a:off x="8183880" y="2139696"/>
            <a:ext cx="3931920" cy="548640"/>
          </a:xfrm>
          <a:prstGeom prst="rect">
            <a:avLst/>
          </a:prstGeom>
          <a:noFill/>
          <a:ln/>
        </p:spPr>
        <p:txBody>
          <a:bodyPr wrap="square" lIns="0" tIns="0" rIns="0" bIns="0" rtlCol="0" anchor="t"/>
          <a:lstStyle/>
          <a:p>
            <a:pPr indent="0" marL="0">
              <a:buNone/>
            </a:pPr>
            <a:r>
              <a:rPr lang="en-US" sz="1550" dirty="0">
                <a:solidFill>
                  <a:srgbClr val="1B2A3D"/>
                </a:solidFill>
                <a:latin typeface="Times New Roman" pitchFamily="34" charset="0"/>
                <a:ea typeface="Times New Roman" pitchFamily="34" charset="-122"/>
                <a:cs typeface="Times New Roman" pitchFamily="34" charset="-120"/>
              </a:rPr>
              <a:t>Chiếu và gộp giao dịch giống nhau</a:t>
            </a:r>
            <a:endParaRPr lang="en-US" sz="1550" dirty="0"/>
          </a:p>
        </p:txBody>
      </p:sp>
      <p:sp>
        <p:nvSpPr>
          <p:cNvPr id="23" name="Shape 19"/>
          <p:cNvSpPr/>
          <p:nvPr/>
        </p:nvSpPr>
        <p:spPr>
          <a:xfrm>
            <a:off x="7589520" y="2706624"/>
            <a:ext cx="457200" cy="457200"/>
          </a:xfrm>
          <a:prstGeom prst="ellipse">
            <a:avLst/>
          </a:prstGeom>
          <a:solidFill>
            <a:srgbClr val="1F3A5F"/>
          </a:solidFill>
          <a:ln w="12700">
            <a:solidFill>
              <a:srgbClr val="1F3A5F"/>
            </a:solidFill>
            <a:prstDash val="solid"/>
          </a:ln>
        </p:spPr>
      </p:sp>
      <p:sp>
        <p:nvSpPr>
          <p:cNvPr id="24" name="Text 20"/>
          <p:cNvSpPr txBox="1"/>
          <p:nvPr/>
        </p:nvSpPr>
        <p:spPr>
          <a:xfrm>
            <a:off x="7589520" y="270662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Times New Roman" pitchFamily="34" charset="0"/>
                <a:ea typeface="Times New Roman" pitchFamily="34" charset="-122"/>
                <a:cs typeface="Times New Roman" pitchFamily="34" charset="-120"/>
              </a:rPr>
              <a:t>3</a:t>
            </a:r>
            <a:endParaRPr lang="en-US" sz="1600" dirty="0"/>
          </a:p>
        </p:txBody>
      </p:sp>
      <p:sp>
        <p:nvSpPr>
          <p:cNvPr id="25" name="Text 21"/>
          <p:cNvSpPr txBox="1"/>
          <p:nvPr/>
        </p:nvSpPr>
        <p:spPr>
          <a:xfrm>
            <a:off x="8183880" y="2761488"/>
            <a:ext cx="3931920" cy="548640"/>
          </a:xfrm>
          <a:prstGeom prst="rect">
            <a:avLst/>
          </a:prstGeom>
          <a:noFill/>
          <a:ln/>
        </p:spPr>
        <p:txBody>
          <a:bodyPr wrap="square" lIns="0" tIns="0" rIns="0" bIns="0" rtlCol="0" anchor="t"/>
          <a:lstStyle/>
          <a:p>
            <a:pPr indent="0" marL="0">
              <a:buNone/>
            </a:pPr>
            <a:r>
              <a:rPr lang="en-US" sz="1550" dirty="0">
                <a:solidFill>
                  <a:srgbClr val="1B2A3D"/>
                </a:solidFill>
                <a:latin typeface="Times New Roman" pitchFamily="34" charset="0"/>
                <a:ea typeface="Times New Roman" pitchFamily="34" charset="-122"/>
                <a:cs typeface="Times New Roman" pitchFamily="34" charset="-120"/>
              </a:rPr>
              <a:t>Duyệt sâu: lu &lt; minUtil → loại mục khỏi cây con</a:t>
            </a:r>
            <a:endParaRPr lang="en-US" sz="1550" dirty="0"/>
          </a:p>
        </p:txBody>
      </p:sp>
      <p:sp>
        <p:nvSpPr>
          <p:cNvPr id="26" name="Shape 22"/>
          <p:cNvSpPr/>
          <p:nvPr/>
        </p:nvSpPr>
        <p:spPr>
          <a:xfrm>
            <a:off x="7589520" y="3328416"/>
            <a:ext cx="457200" cy="457200"/>
          </a:xfrm>
          <a:prstGeom prst="ellipse">
            <a:avLst/>
          </a:prstGeom>
          <a:solidFill>
            <a:srgbClr val="1F3A5F"/>
          </a:solidFill>
          <a:ln w="12700">
            <a:solidFill>
              <a:srgbClr val="1F3A5F"/>
            </a:solidFill>
            <a:prstDash val="solid"/>
          </a:ln>
        </p:spPr>
      </p:sp>
      <p:sp>
        <p:nvSpPr>
          <p:cNvPr id="27" name="Text 23"/>
          <p:cNvSpPr txBox="1"/>
          <p:nvPr/>
        </p:nvSpPr>
        <p:spPr>
          <a:xfrm>
            <a:off x="7589520" y="332841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Times New Roman" pitchFamily="34" charset="0"/>
                <a:ea typeface="Times New Roman" pitchFamily="34" charset="-122"/>
                <a:cs typeface="Times New Roman" pitchFamily="34" charset="-120"/>
              </a:rPr>
              <a:t>4</a:t>
            </a:r>
            <a:endParaRPr lang="en-US" sz="1600" dirty="0"/>
          </a:p>
        </p:txBody>
      </p:sp>
      <p:sp>
        <p:nvSpPr>
          <p:cNvPr id="28" name="Text 24"/>
          <p:cNvSpPr txBox="1"/>
          <p:nvPr/>
        </p:nvSpPr>
        <p:spPr>
          <a:xfrm>
            <a:off x="8183880" y="3383280"/>
            <a:ext cx="3931920" cy="548640"/>
          </a:xfrm>
          <a:prstGeom prst="rect">
            <a:avLst/>
          </a:prstGeom>
          <a:noFill/>
          <a:ln/>
        </p:spPr>
        <p:txBody>
          <a:bodyPr wrap="square" lIns="0" tIns="0" rIns="0" bIns="0" rtlCol="0" anchor="t"/>
          <a:lstStyle/>
          <a:p>
            <a:pPr indent="0" marL="0">
              <a:buNone/>
            </a:pPr>
            <a:r>
              <a:rPr lang="en-US" sz="1550" dirty="0">
                <a:solidFill>
                  <a:srgbClr val="1B2A3D"/>
                </a:solidFill>
                <a:latin typeface="Times New Roman" pitchFamily="34" charset="0"/>
                <a:ea typeface="Times New Roman" pitchFamily="34" charset="-122"/>
                <a:cs typeface="Times New Roman" pitchFamily="34" charset="-120"/>
              </a:rPr>
              <a:t>su &lt; minUtil → không duyệt nhánh</a:t>
            </a:r>
            <a:endParaRPr lang="en-US" sz="1550" dirty="0"/>
          </a:p>
        </p:txBody>
      </p:sp>
      <p:sp>
        <p:nvSpPr>
          <p:cNvPr id="29" name="Shape 25"/>
          <p:cNvSpPr/>
          <p:nvPr/>
        </p:nvSpPr>
        <p:spPr>
          <a:xfrm>
            <a:off x="7589520" y="3950208"/>
            <a:ext cx="457200" cy="457200"/>
          </a:xfrm>
          <a:prstGeom prst="ellipse">
            <a:avLst/>
          </a:prstGeom>
          <a:solidFill>
            <a:srgbClr val="1F3A5F"/>
          </a:solidFill>
          <a:ln w="12700">
            <a:solidFill>
              <a:srgbClr val="1F3A5F"/>
            </a:solidFill>
            <a:prstDash val="solid"/>
          </a:ln>
        </p:spPr>
      </p:sp>
      <p:sp>
        <p:nvSpPr>
          <p:cNvPr id="30" name="Text 26"/>
          <p:cNvSpPr txBox="1"/>
          <p:nvPr/>
        </p:nvSpPr>
        <p:spPr>
          <a:xfrm>
            <a:off x="7589520" y="39502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Times New Roman" pitchFamily="34" charset="0"/>
                <a:ea typeface="Times New Roman" pitchFamily="34" charset="-122"/>
                <a:cs typeface="Times New Roman" pitchFamily="34" charset="-120"/>
              </a:rPr>
              <a:t>5</a:t>
            </a:r>
            <a:endParaRPr lang="en-US" sz="1600" dirty="0"/>
          </a:p>
        </p:txBody>
      </p:sp>
      <p:sp>
        <p:nvSpPr>
          <p:cNvPr id="31" name="Text 27"/>
          <p:cNvSpPr txBox="1"/>
          <p:nvPr/>
        </p:nvSpPr>
        <p:spPr>
          <a:xfrm>
            <a:off x="8183880" y="4005072"/>
            <a:ext cx="3931920" cy="548640"/>
          </a:xfrm>
          <a:prstGeom prst="rect">
            <a:avLst/>
          </a:prstGeom>
          <a:noFill/>
          <a:ln/>
        </p:spPr>
        <p:txBody>
          <a:bodyPr wrap="square" lIns="0" tIns="0" rIns="0" bIns="0" rtlCol="0" anchor="t"/>
          <a:lstStyle/>
          <a:p>
            <a:pPr indent="0" marL="0">
              <a:buNone/>
            </a:pPr>
            <a:r>
              <a:rPr lang="en-US" sz="1550" dirty="0">
                <a:solidFill>
                  <a:srgbClr val="1B2A3D"/>
                </a:solidFill>
                <a:latin typeface="Times New Roman" pitchFamily="34" charset="0"/>
                <a:ea typeface="Times New Roman" pitchFamily="34" charset="-122"/>
                <a:cs typeface="Times New Roman" pitchFamily="34" charset="-120"/>
              </a:rPr>
              <a:t>Xuất mọi X có u(X) ≥ minUtil</a:t>
            </a:r>
            <a:endParaRPr lang="en-US" sz="1550" dirty="0"/>
          </a:p>
        </p:txBody>
      </p:sp>
      <p:sp>
        <p:nvSpPr>
          <p:cNvPr id="32" name="Shape 28"/>
          <p:cNvSpPr/>
          <p:nvPr/>
        </p:nvSpPr>
        <p:spPr>
          <a:xfrm>
            <a:off x="548640" y="4709160"/>
            <a:ext cx="11094415" cy="1463040"/>
          </a:xfrm>
          <a:prstGeom prst="rect">
            <a:avLst/>
          </a:prstGeom>
          <a:solidFill>
            <a:srgbClr val="E6F0F2"/>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33" name="Shape 29"/>
          <p:cNvSpPr/>
          <p:nvPr/>
        </p:nvSpPr>
        <p:spPr>
          <a:xfrm>
            <a:off x="548640" y="4709160"/>
            <a:ext cx="64008" cy="1463040"/>
          </a:xfrm>
          <a:prstGeom prst="rect">
            <a:avLst/>
          </a:prstGeom>
          <a:solidFill>
            <a:srgbClr val="2A7F8F"/>
          </a:solidFill>
          <a:ln w="12700">
            <a:solidFill>
              <a:srgbClr val="2A7F8F"/>
            </a:solidFill>
            <a:prstDash val="solid"/>
          </a:ln>
        </p:spPr>
      </p:sp>
      <p:sp>
        <p:nvSpPr>
          <p:cNvPr id="34" name="Text 30"/>
          <p:cNvSpPr txBox="1"/>
          <p:nvPr/>
        </p:nvSpPr>
        <p:spPr>
          <a:xfrm>
            <a:off x="868680" y="4846320"/>
            <a:ext cx="10454335" cy="1188720"/>
          </a:xfrm>
          <a:prstGeom prst="rect">
            <a:avLst/>
          </a:prstGeom>
          <a:noFill/>
          <a:ln/>
        </p:spPr>
        <p:txBody>
          <a:bodyPr wrap="square" lIns="0" tIns="0" rIns="0" bIns="0" rtlCol="0" anchor="ctr"/>
          <a:lstStyle/>
          <a:p>
            <a:pPr indent="0" marL="0">
              <a:buNone/>
            </a:pPr>
            <a:r>
              <a:rPr lang="en-US" sz="1600" b="1" dirty="0">
                <a:solidFill>
                  <a:srgbClr val="1B2A3D"/>
                </a:solidFill>
                <a:latin typeface="Times New Roman" pitchFamily="34" charset="0"/>
                <a:ea typeface="Times New Roman" pitchFamily="34" charset="-122"/>
                <a:cs typeface="Times New Roman" pitchFamily="34" charset="-120"/>
              </a:rPr>
              <a:t>Trong luận văn:</a:t>
            </a:r>
            <a:pPr indent="0" marL="0">
              <a:buNone/>
            </a:pPr>
            <a:r>
              <a:rPr lang="en-US" sz="1600" dirty="0">
                <a:solidFill>
                  <a:srgbClr val="1B2A3D"/>
                </a:solidFill>
                <a:latin typeface="Times New Roman" pitchFamily="34" charset="0"/>
                <a:ea typeface="Times New Roman" pitchFamily="34" charset="-122"/>
                <a:cs typeface="Times New Roman" pitchFamily="34" charset="-120"/>
              </a:rPr>
              <a:t> EFIM cài đặt lại trong ma_nguon/src/huim/efim.py, kiểm thử khớp hoàn toàn với thuật toán vét cạn; thêm ngân sách thời gian và số HUI để dùng cho cơ chế </a:t>
            </a:r>
            <a:pPr indent="0" marL="0">
              <a:buNone/>
            </a:pPr>
            <a:r>
              <a:rPr lang="en-US" sz="1600" b="1" dirty="0">
                <a:solidFill>
                  <a:srgbClr val="1B2A3D"/>
                </a:solidFill>
                <a:latin typeface="Times New Roman" pitchFamily="34" charset="0"/>
                <a:ea typeface="Times New Roman" pitchFamily="34" charset="-122"/>
                <a:cs typeface="Times New Roman" pitchFamily="34" charset="-120"/>
              </a:rPr>
              <a:t>tự nâng ngưỡng</a:t>
            </a:r>
            <a:pPr indent="0" marL="0">
              <a:buNone/>
            </a:pPr>
            <a:r>
              <a:rPr lang="en-US" sz="1600" dirty="0">
                <a:solidFill>
                  <a:srgbClr val="1B2A3D"/>
                </a:solidFill>
                <a:latin typeface="Times New Roman" pitchFamily="34" charset="0"/>
                <a:ea typeface="Times New Roman" pitchFamily="34" charset="-122"/>
                <a:cs typeface="Times New Roman" pitchFamily="34" charset="-120"/>
              </a:rPr>
              <a:t> theo từng ô.</a:t>
            </a:r>
            <a:endParaRPr lang="en-US" sz="16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CƠ SỞ LÝ THUYẾT · ĐỘ ĐO</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Độ đo đánh giá và Gradient Boosting</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2A7F8F"/>
          </a:solidFill>
          <a:ln w="12700">
            <a:solidFill>
              <a:srgbClr val="2A7F8F"/>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E3E0D8"/>
          </a:solidFill>
          <a:ln w="12700">
            <a:solidFill>
              <a:srgbClr val="E3E0D8"/>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sp>
        <p:nvSpPr>
          <p:cNvPr id="15" name="Shape 12"/>
          <p:cNvSpPr/>
          <p:nvPr/>
        </p:nvSpPr>
        <p:spPr>
          <a:xfrm>
            <a:off x="548640" y="1417320"/>
            <a:ext cx="5577840" cy="2194560"/>
          </a:xfrm>
          <a:prstGeom prst="rect">
            <a:avLst/>
          </a:prstGeom>
          <a:solidFill>
            <a:srgbClr val="FBFAF7"/>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16" name="Shape 13"/>
          <p:cNvSpPr/>
          <p:nvPr/>
        </p:nvSpPr>
        <p:spPr>
          <a:xfrm>
            <a:off x="548640" y="1417320"/>
            <a:ext cx="64008" cy="2194560"/>
          </a:xfrm>
          <a:prstGeom prst="rect">
            <a:avLst/>
          </a:prstGeom>
          <a:solidFill>
            <a:srgbClr val="2A7F8F"/>
          </a:solidFill>
          <a:ln w="12700">
            <a:solidFill>
              <a:srgbClr val="2A7F8F"/>
            </a:solidFill>
            <a:prstDash val="solid"/>
          </a:ln>
        </p:spPr>
      </p:sp>
      <p:sp>
        <p:nvSpPr>
          <p:cNvPr id="17" name="Text 14"/>
          <p:cNvSpPr txBox="1"/>
          <p:nvPr/>
        </p:nvSpPr>
        <p:spPr>
          <a:xfrm>
            <a:off x="777240" y="1554480"/>
            <a:ext cx="5120640" cy="411480"/>
          </a:xfrm>
          <a:prstGeom prst="rect">
            <a:avLst/>
          </a:prstGeom>
          <a:noFill/>
          <a:ln/>
        </p:spPr>
        <p:txBody>
          <a:bodyPr wrap="square" lIns="0" tIns="0" rIns="0" bIns="0" rtlCol="0" anchor="ctr"/>
          <a:lstStyle/>
          <a:p>
            <a:pPr indent="0" marL="0">
              <a:buNone/>
            </a:pPr>
            <a:r>
              <a:rPr lang="en-US" sz="1800" b="1" dirty="0">
                <a:solidFill>
                  <a:srgbClr val="1F3A5F"/>
                </a:solidFill>
                <a:latin typeface="Times New Roman" pitchFamily="34" charset="0"/>
                <a:ea typeface="Times New Roman" pitchFamily="34" charset="-122"/>
                <a:cs typeface="Times New Roman" pitchFamily="34" charset="-120"/>
              </a:rPr>
              <a:t>Sai số định vị</a:t>
            </a:r>
            <a:endParaRPr lang="en-US" sz="1800" dirty="0"/>
          </a:p>
        </p:txBody>
      </p:sp>
      <p:pic>
        <p:nvPicPr>
          <p:cNvPr id="18" name="Image 0" descr="Sai số">    </p:cNvPr>
          <p:cNvPicPr>
            <a:picLocks noChangeAspect="1"/>
          </p:cNvPicPr>
          <p:nvPr/>
        </p:nvPicPr>
        <p:blipFill>
          <a:blip r:embed="rId1"/>
          <a:stretch>
            <a:fillRect/>
          </a:stretch>
        </p:blipFill>
        <p:spPr>
          <a:xfrm>
            <a:off x="822960" y="2057400"/>
            <a:ext cx="5029200" cy="646842"/>
          </a:xfrm>
          <a:prstGeom prst="rect">
            <a:avLst/>
          </a:prstGeom>
        </p:spPr>
      </p:pic>
      <p:sp>
        <p:nvSpPr>
          <p:cNvPr id="19" name="Text 15"/>
          <p:cNvSpPr txBox="1"/>
          <p:nvPr/>
        </p:nvSpPr>
        <p:spPr>
          <a:xfrm>
            <a:off x="822960" y="3017520"/>
            <a:ext cx="5029200" cy="548640"/>
          </a:xfrm>
          <a:prstGeom prst="rect">
            <a:avLst/>
          </a:prstGeom>
          <a:noFill/>
          <a:ln/>
        </p:spPr>
        <p:txBody>
          <a:bodyPr wrap="square" lIns="0" tIns="0" rIns="0" bIns="0" rtlCol="0" anchor="t"/>
          <a:lstStyle/>
          <a:p>
            <a:pPr indent="0" marL="0">
              <a:buNone/>
            </a:pPr>
            <a:r>
              <a:rPr lang="en-US" sz="1350" dirty="0">
                <a:solidFill>
                  <a:srgbClr val="8A8A85"/>
                </a:solidFill>
                <a:latin typeface="Times New Roman" pitchFamily="34" charset="0"/>
                <a:ea typeface="Times New Roman" pitchFamily="34" charset="-122"/>
                <a:cs typeface="Times New Roman" pitchFamily="34" charset="-120"/>
              </a:rPr>
              <a:t>g = 0,766126 (UJIIndoorLoc, Web Mercator); g = 1 cho các bộ khác. Báo cáo thêm trung vị, p75, p90 và độ chính xác tòa–tầng.</a:t>
            </a:r>
            <a:endParaRPr lang="en-US" sz="1350" dirty="0"/>
          </a:p>
        </p:txBody>
      </p:sp>
      <p:sp>
        <p:nvSpPr>
          <p:cNvPr id="20" name="Shape 16"/>
          <p:cNvSpPr/>
          <p:nvPr/>
        </p:nvSpPr>
        <p:spPr>
          <a:xfrm>
            <a:off x="6400800" y="1417320"/>
            <a:ext cx="5242255" cy="2194560"/>
          </a:xfrm>
          <a:prstGeom prst="rect">
            <a:avLst/>
          </a:prstGeom>
          <a:solidFill>
            <a:srgbClr val="FBFAF7"/>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21" name="Shape 17"/>
          <p:cNvSpPr/>
          <p:nvPr/>
        </p:nvSpPr>
        <p:spPr>
          <a:xfrm>
            <a:off x="6400800" y="1417320"/>
            <a:ext cx="64008" cy="2194560"/>
          </a:xfrm>
          <a:prstGeom prst="rect">
            <a:avLst/>
          </a:prstGeom>
          <a:solidFill>
            <a:srgbClr val="B5532A"/>
          </a:solidFill>
          <a:ln w="12700">
            <a:solidFill>
              <a:srgbClr val="B5532A"/>
            </a:solidFill>
            <a:prstDash val="solid"/>
          </a:ln>
        </p:spPr>
      </p:sp>
      <p:sp>
        <p:nvSpPr>
          <p:cNvPr id="22" name="Text 18"/>
          <p:cNvSpPr txBox="1"/>
          <p:nvPr/>
        </p:nvSpPr>
        <p:spPr>
          <a:xfrm>
            <a:off x="6629400" y="1554480"/>
            <a:ext cx="4785055" cy="411480"/>
          </a:xfrm>
          <a:prstGeom prst="rect">
            <a:avLst/>
          </a:prstGeom>
          <a:noFill/>
          <a:ln/>
        </p:spPr>
        <p:txBody>
          <a:bodyPr wrap="square" lIns="0" tIns="0" rIns="0" bIns="0" rtlCol="0" anchor="ctr"/>
          <a:lstStyle/>
          <a:p>
            <a:pPr indent="0" marL="0">
              <a:buNone/>
            </a:pPr>
            <a:r>
              <a:rPr lang="en-US" sz="1800" b="1" dirty="0">
                <a:solidFill>
                  <a:srgbClr val="1F3A5F"/>
                </a:solidFill>
                <a:latin typeface="Times New Roman" pitchFamily="34" charset="0"/>
                <a:ea typeface="Times New Roman" pitchFamily="34" charset="-122"/>
                <a:cs typeface="Times New Roman" pitchFamily="34" charset="-120"/>
              </a:rPr>
              <a:t>Gradient Boosting [Friedman 2001]</a:t>
            </a:r>
            <a:endParaRPr lang="en-US" sz="1800" dirty="0"/>
          </a:p>
        </p:txBody>
      </p:sp>
      <p:sp>
        <p:nvSpPr>
          <p:cNvPr id="23" name="Text 19"/>
          <p:cNvSpPr txBox="1"/>
          <p:nvPr/>
        </p:nvSpPr>
        <p:spPr>
          <a:xfrm>
            <a:off x="6675120" y="2011680"/>
            <a:ext cx="4693615" cy="1554480"/>
          </a:xfrm>
          <a:prstGeom prst="rect">
            <a:avLst/>
          </a:prstGeom>
          <a:noFill/>
          <a:ln/>
        </p:spPr>
        <p:txBody>
          <a:bodyPr wrap="square" lIns="25400" tIns="25400" rIns="25400" bIns="25400" rtlCol="0" anchor="t"/>
          <a:lstStyle/>
          <a:p>
            <a:pPr algn="l" marL="254000" indent="-254000">
              <a:spcAft>
                <a:spcPts val="900"/>
              </a:spcAft>
              <a:buSzPct val="100000"/>
              <a:buChar char="•"/>
            </a:pPr>
            <a:r>
              <a:rPr lang="en-US" sz="1500" dirty="0">
                <a:solidFill>
                  <a:srgbClr val="1B2A3D"/>
                </a:solidFill>
                <a:latin typeface="Times New Roman" pitchFamily="34" charset="0"/>
                <a:ea typeface="Times New Roman" pitchFamily="34" charset="-122"/>
                <a:cs typeface="Times New Roman" pitchFamily="34" charset="-120"/>
              </a:rPr>
              <a:t>Mô hình là tổng của nhiều cây hồi quy nhỏ, mỗi cây học phần dư của các cây trước</a:t>
            </a:r>
            <a:endParaRPr lang="en-US" sz="1500" dirty="0"/>
          </a:p>
          <a:p>
            <a:pPr algn="l" marL="254000" indent="-254000">
              <a:spcAft>
                <a:spcPts val="900"/>
              </a:spcAft>
              <a:buSzPct val="100000"/>
              <a:buChar char="•"/>
            </a:pPr>
            <a:r>
              <a:rPr lang="en-US" sz="1500" dirty="0">
                <a:solidFill>
                  <a:srgbClr val="1B2A3D"/>
                </a:solidFill>
                <a:latin typeface="Times New Roman" pitchFamily="34" charset="0"/>
                <a:ea typeface="Times New Roman" pitchFamily="34" charset="-122"/>
                <a:cs typeface="Times New Roman" pitchFamily="34" charset="-120"/>
              </a:rPr>
              <a:t>Biến thể histogram (LightGBM, scikit-learn) học nhanh trên hàng trăm nghìn mẫu</a:t>
            </a:r>
            <a:endParaRPr lang="en-US" sz="1500" dirty="0"/>
          </a:p>
          <a:p>
            <a:pPr algn="l" marL="254000" indent="-254000">
              <a:spcAft>
                <a:spcPts val="900"/>
              </a:spcAft>
              <a:buSzPct val="100000"/>
              <a:buChar char="•"/>
            </a:pPr>
            <a:r>
              <a:rPr lang="en-US" sz="1500" dirty="0">
                <a:solidFill>
                  <a:srgbClr val="1B2A3D"/>
                </a:solidFill>
                <a:latin typeface="Times New Roman" pitchFamily="34" charset="0"/>
                <a:ea typeface="Times New Roman" pitchFamily="34" charset="-122"/>
                <a:cs typeface="Times New Roman" pitchFamily="34" charset="-120"/>
              </a:rPr>
              <a:t>Chỉ dùng ở </a:t>
            </a:r>
            <a:pPr algn="l" marL="254000" indent="-254000">
              <a:spcAft>
                <a:spcPts val="900"/>
              </a:spcAft>
              <a:buSzPct val="100000"/>
              <a:buChar char="•"/>
            </a:pPr>
            <a:r>
              <a:rPr lang="en-US" sz="1500" b="1" dirty="0">
                <a:solidFill>
                  <a:srgbClr val="1B2A3D"/>
                </a:solidFill>
                <a:latin typeface="Times New Roman" pitchFamily="34" charset="0"/>
                <a:ea typeface="Times New Roman" pitchFamily="34" charset="-122"/>
                <a:cs typeface="Times New Roman" pitchFamily="34" charset="-120"/>
              </a:rPr>
              <a:t>Bước 8</a:t>
            </a:r>
            <a:pPr algn="l" marL="254000" indent="-254000">
              <a:spcAft>
                <a:spcPts val="900"/>
              </a:spcAft>
              <a:buSzPct val="100000"/>
              <a:buChar char="•"/>
            </a:pPr>
            <a:r>
              <a:rPr lang="en-US" sz="1500" dirty="0">
                <a:solidFill>
                  <a:srgbClr val="1B2A3D"/>
                </a:solidFill>
                <a:latin typeface="Times New Roman" pitchFamily="34" charset="0"/>
                <a:ea typeface="Times New Roman" pitchFamily="34" charset="-122"/>
                <a:cs typeface="Times New Roman" pitchFamily="34" charset="-120"/>
              </a:rPr>
              <a:t> để cân các bằng chứng rút ra từ HUI</a:t>
            </a:r>
            <a:endParaRPr lang="en-US" sz="1500" dirty="0"/>
          </a:p>
        </p:txBody>
      </p:sp>
      <p:sp>
        <p:nvSpPr>
          <p:cNvPr id="24" name="Shape 20"/>
          <p:cNvSpPr/>
          <p:nvPr/>
        </p:nvSpPr>
        <p:spPr>
          <a:xfrm>
            <a:off x="548640" y="3840480"/>
            <a:ext cx="11094415" cy="2331720"/>
          </a:xfrm>
          <a:prstGeom prst="rect">
            <a:avLst/>
          </a:prstGeom>
          <a:solidFill>
            <a:srgbClr val="E6F0F2"/>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25" name="Shape 21"/>
          <p:cNvSpPr/>
          <p:nvPr/>
        </p:nvSpPr>
        <p:spPr>
          <a:xfrm>
            <a:off x="548640" y="3840480"/>
            <a:ext cx="64008" cy="2331720"/>
          </a:xfrm>
          <a:prstGeom prst="rect">
            <a:avLst/>
          </a:prstGeom>
          <a:solidFill>
            <a:srgbClr val="2A7F8F"/>
          </a:solidFill>
          <a:ln w="12700">
            <a:solidFill>
              <a:srgbClr val="2A7F8F"/>
            </a:solidFill>
            <a:prstDash val="solid"/>
          </a:ln>
        </p:spPr>
      </p:sp>
      <p:sp>
        <p:nvSpPr>
          <p:cNvPr id="26" name="Text 22"/>
          <p:cNvSpPr txBox="1"/>
          <p:nvPr/>
        </p:nvSpPr>
        <p:spPr>
          <a:xfrm>
            <a:off x="777240" y="3977640"/>
            <a:ext cx="10637215" cy="411480"/>
          </a:xfrm>
          <a:prstGeom prst="rect">
            <a:avLst/>
          </a:prstGeom>
          <a:noFill/>
          <a:ln/>
        </p:spPr>
        <p:txBody>
          <a:bodyPr wrap="square" lIns="0" tIns="0" rIns="0" bIns="0" rtlCol="0" anchor="ctr"/>
          <a:lstStyle/>
          <a:p>
            <a:pPr indent="0" marL="0">
              <a:buNone/>
            </a:pPr>
            <a:r>
              <a:rPr lang="en-US" sz="1800" b="1" dirty="0">
                <a:solidFill>
                  <a:srgbClr val="2A7F8F"/>
                </a:solidFill>
                <a:latin typeface="Times New Roman" pitchFamily="34" charset="0"/>
                <a:ea typeface="Times New Roman" pitchFamily="34" charset="-122"/>
                <a:cs typeface="Times New Roman" pitchFamily="34" charset="-120"/>
              </a:rPr>
              <a:t>Giao thức chọn mô hình</a:t>
            </a:r>
            <a:endParaRPr lang="en-US" sz="1800" dirty="0"/>
          </a:p>
        </p:txBody>
      </p:sp>
      <p:sp>
        <p:nvSpPr>
          <p:cNvPr id="27" name="Text 23"/>
          <p:cNvSpPr txBox="1"/>
          <p:nvPr/>
        </p:nvSpPr>
        <p:spPr>
          <a:xfrm>
            <a:off x="822960" y="4389120"/>
            <a:ext cx="10545775" cy="1737360"/>
          </a:xfrm>
          <a:prstGeom prst="rect">
            <a:avLst/>
          </a:prstGeom>
          <a:noFill/>
          <a:ln/>
        </p:spPr>
        <p:txBody>
          <a:bodyPr wrap="square" lIns="25400" tIns="25400" rIns="25400" bIns="25400" rtlCol="0" anchor="t"/>
          <a:lstStyle/>
          <a:p>
            <a:pPr algn="l" marL="254000" indent="-254000">
              <a:spcAft>
                <a:spcPts val="900"/>
              </a:spcAft>
              <a:buSzPct val="100000"/>
              <a:buChar char="•"/>
            </a:pPr>
            <a:r>
              <a:rPr lang="en-US" sz="1550" dirty="0">
                <a:solidFill>
                  <a:srgbClr val="1B2A3D"/>
                </a:solidFill>
                <a:latin typeface="Times New Roman" pitchFamily="34" charset="0"/>
                <a:ea typeface="Times New Roman" pitchFamily="34" charset="-122"/>
                <a:cs typeface="Times New Roman" pitchFamily="34" charset="-120"/>
              </a:rPr>
              <a:t>Mọi tham số chọn trên </a:t>
            </a:r>
            <a:pPr algn="l" marL="254000" indent="-254000">
              <a:spcAft>
                <a:spcPts val="900"/>
              </a:spcAft>
              <a:buSzPct val="100000"/>
              <a:buChar char="•"/>
            </a:pPr>
            <a:r>
              <a:rPr lang="en-US" sz="1550" b="1" dirty="0">
                <a:solidFill>
                  <a:srgbClr val="1B2A3D"/>
                </a:solidFill>
                <a:latin typeface="Times New Roman" pitchFamily="34" charset="0"/>
                <a:ea typeface="Times New Roman" pitchFamily="34" charset="-122"/>
                <a:cs typeface="Times New Roman" pitchFamily="34" charset="-120"/>
              </a:rPr>
              <a:t>6 fold kiểm định (dev)</a:t>
            </a:r>
            <a:pPr algn="l" marL="254000" indent="-254000">
              <a:spcAft>
                <a:spcPts val="900"/>
              </a:spcAft>
              <a:buSzPct val="100000"/>
              <a:buChar char="•"/>
            </a:pPr>
            <a:r>
              <a:rPr lang="en-US" sz="1550" dirty="0">
                <a:solidFill>
                  <a:srgbClr val="1B2A3D"/>
                </a:solidFill>
                <a:latin typeface="Times New Roman" pitchFamily="34" charset="0"/>
                <a:ea typeface="Times New Roman" pitchFamily="34" charset="-122"/>
                <a:cs typeface="Times New Roman" pitchFamily="34" charset="-120"/>
              </a:rPr>
              <a:t> tách từ tập huấn luyện; UJIIndoorLoc giữ lại theo </a:t>
            </a:r>
            <a:pPr algn="l" marL="254000" indent="-254000">
              <a:spcAft>
                <a:spcPts val="900"/>
              </a:spcAft>
              <a:buSzPct val="100000"/>
              <a:buChar char="•"/>
            </a:pPr>
            <a:r>
              <a:rPr lang="en-US" sz="1550" b="1" dirty="0">
                <a:solidFill>
                  <a:srgbClr val="1B2A3D"/>
                </a:solidFill>
                <a:latin typeface="Times New Roman" pitchFamily="34" charset="0"/>
                <a:ea typeface="Times New Roman" pitchFamily="34" charset="-122"/>
                <a:cs typeface="Times New Roman" pitchFamily="34" charset="-120"/>
              </a:rPr>
              <a:t>điện thoại</a:t>
            </a:r>
            <a:pPr algn="l" marL="254000" indent="-254000">
              <a:spcAft>
                <a:spcPts val="900"/>
              </a:spcAft>
              <a:buSzPct val="100000"/>
              <a:buChar char="•"/>
            </a:pPr>
            <a:r>
              <a:rPr lang="en-US" sz="1550" dirty="0">
                <a:solidFill>
                  <a:srgbClr val="1B2A3D"/>
                </a:solidFill>
                <a:latin typeface="Times New Roman" pitchFamily="34" charset="0"/>
                <a:ea typeface="Times New Roman" pitchFamily="34" charset="-122"/>
                <a:cs typeface="Times New Roman" pitchFamily="34" charset="-120"/>
              </a:rPr>
              <a:t> (9/11 điện thoại kiểm tra là thiết bị lạ)</a:t>
            </a:r>
            <a:endParaRPr lang="en-US" sz="1550" dirty="0"/>
          </a:p>
          <a:p>
            <a:pPr algn="l" marL="254000" indent="-254000">
              <a:spcAft>
                <a:spcPts val="900"/>
              </a:spcAft>
              <a:buSzPct val="100000"/>
              <a:buChar char="•"/>
            </a:pPr>
            <a:r>
              <a:rPr lang="en-US" sz="1550" dirty="0">
                <a:solidFill>
                  <a:srgbClr val="1B2A3D"/>
                </a:solidFill>
                <a:latin typeface="Times New Roman" pitchFamily="34" charset="0"/>
                <a:ea typeface="Times New Roman" pitchFamily="34" charset="-122"/>
                <a:cs typeface="Times New Roman" pitchFamily="34" charset="-120"/>
              </a:rPr>
              <a:t>Tập kiểm tra chỉ chấm </a:t>
            </a:r>
            <a:pPr algn="l" marL="254000" indent="-254000">
              <a:spcAft>
                <a:spcPts val="900"/>
              </a:spcAft>
              <a:buSzPct val="100000"/>
              <a:buChar char="•"/>
            </a:pPr>
            <a:r>
              <a:rPr lang="en-US" sz="1550" b="1" dirty="0">
                <a:solidFill>
                  <a:srgbClr val="1B2A3D"/>
                </a:solidFill>
                <a:latin typeface="Times New Roman" pitchFamily="34" charset="0"/>
                <a:ea typeface="Times New Roman" pitchFamily="34" charset="-122"/>
                <a:cs typeface="Times New Roman" pitchFamily="34" charset="-120"/>
              </a:rPr>
              <a:t>một lần</a:t>
            </a:r>
            <a:pPr algn="l" marL="254000" indent="-254000">
              <a:spcAft>
                <a:spcPts val="900"/>
              </a:spcAft>
              <a:buSzPct val="100000"/>
              <a:buChar char="•"/>
            </a:pPr>
            <a:r>
              <a:rPr lang="en-US" sz="1550" dirty="0">
                <a:solidFill>
                  <a:srgbClr val="1B2A3D"/>
                </a:solidFill>
                <a:latin typeface="Times New Roman" pitchFamily="34" charset="0"/>
                <a:ea typeface="Times New Roman" pitchFamily="34" charset="-122"/>
                <a:cs typeface="Times New Roman" pitchFamily="34" charset="-120"/>
              </a:rPr>
              <a:t> cho mỗi phiên bản; mọi phiên bản đều được ghi lại</a:t>
            </a:r>
            <a:endParaRPr lang="en-US" sz="1550" dirty="0"/>
          </a:p>
          <a:p>
            <a:pPr algn="l" marL="254000" indent="-254000">
              <a:spcAft>
                <a:spcPts val="900"/>
              </a:spcAft>
              <a:buSzPct val="100000"/>
              <a:buChar char="•"/>
            </a:pPr>
            <a:r>
              <a:rPr lang="en-US" sz="1550" dirty="0">
                <a:solidFill>
                  <a:srgbClr val="1B2A3D"/>
                </a:solidFill>
                <a:latin typeface="Times New Roman" pitchFamily="34" charset="0"/>
                <a:ea typeface="Times New Roman" pitchFamily="34" charset="-122"/>
                <a:cs typeface="Times New Roman" pitchFamily="34" charset="-120"/>
              </a:rPr>
              <a:t>Kiểm chứng độc lập bằng chương trình không gọi EFIM hay bộ định vị, sổ Excel và script thư viện chuẩn</a:t>
            </a:r>
            <a:endParaRPr lang="en-US" sz="155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1188720"/>
            <a:ext cx="2743200" cy="1463040"/>
          </a:xfrm>
          <a:prstGeom prst="rect">
            <a:avLst/>
          </a:prstGeom>
          <a:noFill/>
          <a:ln/>
        </p:spPr>
        <p:txBody>
          <a:bodyPr wrap="square" lIns="0" tIns="0" rIns="0" bIns="0" rtlCol="0" anchor="ctr"/>
          <a:lstStyle/>
          <a:p>
            <a:pPr indent="0" marL="0">
              <a:buNone/>
            </a:pPr>
            <a:r>
              <a:rPr lang="en-US" sz="11000" b="1" dirty="0">
                <a:solidFill>
                  <a:srgbClr val="7FB3BF"/>
                </a:solidFill>
                <a:latin typeface="Times New Roman" pitchFamily="34" charset="0"/>
                <a:ea typeface="Times New Roman" pitchFamily="34" charset="-122"/>
                <a:cs typeface="Times New Roman" pitchFamily="34" charset="-120"/>
              </a:rPr>
              <a:t>03</a:t>
            </a:r>
            <a:endParaRPr lang="en-US" sz="11000" dirty="0"/>
          </a:p>
        </p:txBody>
      </p:sp>
      <p:sp>
        <p:nvSpPr>
          <p:cNvPr id="3" name="Text 1"/>
          <p:cNvSpPr txBox="1"/>
          <p:nvPr/>
        </p:nvSpPr>
        <p:spPr>
          <a:xfrm>
            <a:off x="548640" y="2743200"/>
            <a:ext cx="7772400" cy="914400"/>
          </a:xfrm>
          <a:prstGeom prst="rect">
            <a:avLst/>
          </a:prstGeom>
          <a:noFill/>
          <a:ln/>
        </p:spPr>
        <p:txBody>
          <a:bodyPr wrap="square" lIns="0" tIns="0" rIns="0" bIns="0" rtlCol="0" anchor="ctr"/>
          <a:lstStyle/>
          <a:p>
            <a:pPr indent="0" marL="0">
              <a:buNone/>
            </a:pPr>
            <a:r>
              <a:rPr lang="en-US" sz="3800" b="1" dirty="0">
                <a:solidFill>
                  <a:srgbClr val="FFFFFF"/>
                </a:solidFill>
                <a:latin typeface="Times New Roman" pitchFamily="34" charset="0"/>
                <a:ea typeface="Times New Roman" pitchFamily="34" charset="-122"/>
                <a:cs typeface="Times New Roman" pitchFamily="34" charset="-120"/>
              </a:rPr>
              <a:t>Mô hình đề xuất</a:t>
            </a:r>
            <a:endParaRPr lang="en-US" sz="3800" dirty="0"/>
          </a:p>
        </p:txBody>
      </p:sp>
      <p:sp>
        <p:nvSpPr>
          <p:cNvPr id="4" name="Shape 2"/>
          <p:cNvSpPr/>
          <p:nvPr/>
        </p:nvSpPr>
        <p:spPr>
          <a:xfrm>
            <a:off x="548640" y="3794760"/>
            <a:ext cx="2377440" cy="0"/>
          </a:xfrm>
          <a:prstGeom prst="line">
            <a:avLst/>
          </a:prstGeom>
          <a:noFill/>
          <a:ln w="25400">
            <a:solidFill>
              <a:srgbClr val="C9A227"/>
            </a:solidFill>
            <a:prstDash val="solid"/>
          </a:ln>
        </p:spPr>
      </p:sp>
      <p:sp>
        <p:nvSpPr>
          <p:cNvPr id="5" name="Text 3"/>
          <p:cNvSpPr txBox="1"/>
          <p:nvPr/>
        </p:nvSpPr>
        <p:spPr>
          <a:xfrm>
            <a:off x="548640" y="3977640"/>
            <a:ext cx="7315200" cy="2194560"/>
          </a:xfrm>
          <a:prstGeom prst="rect">
            <a:avLst/>
          </a:prstGeom>
          <a:noFill/>
          <a:ln/>
        </p:spPr>
        <p:txBody>
          <a:bodyPr wrap="square" lIns="0" tIns="0" rIns="0" bIns="0" rtlCol="0" anchor="t"/>
          <a:lstStyle/>
          <a:p>
            <a:pPr indent="0" marL="0">
              <a:spcAft>
                <a:spcPts val="600"/>
              </a:spcAft>
              <a:buNone/>
            </a:pPr>
            <a:r>
              <a:rPr lang="en-US" sz="1800" dirty="0">
                <a:solidFill>
                  <a:srgbClr val="DCE6EE"/>
                </a:solidFill>
                <a:latin typeface="Times New Roman" pitchFamily="34" charset="0"/>
                <a:ea typeface="Times New Roman" pitchFamily="34" charset="-122"/>
                <a:cs typeface="Times New Roman" pitchFamily="34" charset="-120"/>
              </a:rPr>
              <a:t>Tám bước từ vân tay Wi-Fi tới toạ độ</a:t>
            </a:r>
            <a:endParaRPr lang="en-US" sz="1800" dirty="0"/>
          </a:p>
          <a:p>
            <a:pPr indent="0" marL="0">
              <a:spcAft>
                <a:spcPts val="600"/>
              </a:spcAft>
              <a:buNone/>
            </a:pPr>
            <a:r>
              <a:rPr lang="en-US" sz="1800" dirty="0">
                <a:solidFill>
                  <a:srgbClr val="DCE6EE"/>
                </a:solidFill>
                <a:latin typeface="Times New Roman" pitchFamily="34" charset="0"/>
                <a:ea typeface="Times New Roman" pitchFamily="34" charset="-122"/>
                <a:cs typeface="Times New Roman" pitchFamily="34" charset="-120"/>
              </a:rPr>
              <a:t>Mô hình chỉ gồm tập HUI của các ô</a:t>
            </a:r>
            <a:endParaRPr lang="en-US" sz="1800" dirty="0"/>
          </a:p>
          <a:p>
            <a:pPr indent="0" marL="0">
              <a:spcAft>
                <a:spcPts val="600"/>
              </a:spcAft>
              <a:buNone/>
            </a:pPr>
            <a:r>
              <a:rPr lang="en-US" sz="1800" dirty="0">
                <a:solidFill>
                  <a:srgbClr val="DCE6EE"/>
                </a:solidFill>
                <a:latin typeface="Times New Roman" pitchFamily="34" charset="0"/>
                <a:ea typeface="Times New Roman" pitchFamily="34" charset="-122"/>
                <a:cs typeface="Times New Roman" pitchFamily="34" charset="-120"/>
              </a:rPr>
              <a:t>Bước 8: xếp hạng lại bằng bằng chứng HUI</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MÔ HÌNH ĐỀ XUẤT · TỔNG QUAN</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Hệ thống định vị dựa trên HUIM: hai pha, tám bước</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2A7F8F"/>
          </a:solidFill>
          <a:ln w="12700">
            <a:solidFill>
              <a:srgbClr val="2A7F8F"/>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E3E0D8"/>
          </a:solidFill>
          <a:ln w="12700">
            <a:solidFill>
              <a:srgbClr val="E3E0D8"/>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pic>
        <p:nvPicPr>
          <p:cNvPr id="15" name="Image 0" descr="Sơ đồ tổng quát">    </p:cNvPr>
          <p:cNvPicPr>
            <a:picLocks noChangeAspect="1"/>
          </p:cNvPicPr>
          <p:nvPr/>
        </p:nvPicPr>
        <p:blipFill>
          <a:blip r:embed="rId1"/>
          <a:stretch>
            <a:fillRect/>
          </a:stretch>
        </p:blipFill>
        <p:spPr>
          <a:xfrm>
            <a:off x="1793867" y="1325880"/>
            <a:ext cx="8603961" cy="4937760"/>
          </a:xfrm>
          <a:prstGeom prst="rect">
            <a:avLst/>
          </a:prstGeom>
        </p:spPr>
      </p:pic>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MÔ HÌNH ĐỀ XUẤT · BƯỚC 1</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Từ cường độ tín hiệu tới lợi ích nội</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2A7F8F"/>
          </a:solidFill>
          <a:ln w="12700">
            <a:solidFill>
              <a:srgbClr val="2A7F8F"/>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E3E0D8"/>
          </a:solidFill>
          <a:ln w="12700">
            <a:solidFill>
              <a:srgbClr val="E3E0D8"/>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pic>
        <p:nvPicPr>
          <p:cNvPr id="15" name="Image 0" descr="Bước 1">    </p:cNvPr>
          <p:cNvPicPr>
            <a:picLocks noChangeAspect="1"/>
          </p:cNvPicPr>
          <p:nvPr/>
        </p:nvPicPr>
        <p:blipFill>
          <a:blip r:embed="rId1"/>
          <a:stretch>
            <a:fillRect/>
          </a:stretch>
        </p:blipFill>
        <p:spPr>
          <a:xfrm>
            <a:off x="548640" y="1325880"/>
            <a:ext cx="7040880" cy="3685513"/>
          </a:xfrm>
          <a:prstGeom prst="rect">
            <a:avLst/>
          </a:prstGeom>
        </p:spPr>
      </p:pic>
      <p:sp>
        <p:nvSpPr>
          <p:cNvPr id="16" name="Shape 12"/>
          <p:cNvSpPr/>
          <p:nvPr/>
        </p:nvSpPr>
        <p:spPr>
          <a:xfrm>
            <a:off x="7909560" y="1417320"/>
            <a:ext cx="3733495" cy="1234440"/>
          </a:xfrm>
          <a:prstGeom prst="rect">
            <a:avLst/>
          </a:prstGeom>
          <a:solidFill>
            <a:srgbClr val="FBFAF7"/>
          </a:solidFill>
          <a:ln w="9525">
            <a:solidFill>
              <a:srgbClr val="D8D3C8"/>
            </a:solidFill>
            <a:prstDash val="solid"/>
          </a:ln>
          <a:effectLst>
            <a:outerShdw sx="100000" sy="100000" kx="0" ky="0" algn="bl" rotWithShape="0" blurRad="50800" dist="19050" dir="5400000">
              <a:srgbClr val="000000">
                <a:alpha val="12000"/>
              </a:srgbClr>
            </a:outerShdw>
          </a:effectLst>
        </p:spPr>
      </p:sp>
      <p:pic>
        <p:nvPicPr>
          <p:cNvPr id="17" name="Image 1" descr="Lợi ích rank">    </p:cNvPr>
          <p:cNvPicPr>
            <a:picLocks noChangeAspect="1"/>
          </p:cNvPicPr>
          <p:nvPr/>
        </p:nvPicPr>
        <p:blipFill>
          <a:blip r:embed="rId2"/>
          <a:stretch>
            <a:fillRect/>
          </a:stretch>
        </p:blipFill>
        <p:spPr>
          <a:xfrm>
            <a:off x="8046720" y="1554480"/>
            <a:ext cx="3459175" cy="561234"/>
          </a:xfrm>
          <a:prstGeom prst="rect">
            <a:avLst/>
          </a:prstGeom>
        </p:spPr>
      </p:pic>
      <p:sp>
        <p:nvSpPr>
          <p:cNvPr id="18" name="Text 13"/>
          <p:cNvSpPr txBox="1"/>
          <p:nvPr/>
        </p:nvSpPr>
        <p:spPr>
          <a:xfrm>
            <a:off x="7909560" y="2880360"/>
            <a:ext cx="3733495" cy="3291840"/>
          </a:xfrm>
          <a:prstGeom prst="rect">
            <a:avLst/>
          </a:prstGeom>
          <a:noFill/>
          <a:ln/>
        </p:spPr>
        <p:txBody>
          <a:bodyPr wrap="square" lIns="25400" tIns="25400" rIns="25400" bIns="25400" rtlCol="0" anchor="t"/>
          <a:lstStyle/>
          <a:p>
            <a:pPr algn="l" marL="254000" indent="-254000">
              <a:spcAft>
                <a:spcPts val="900"/>
              </a:spcAft>
              <a:buSzPct val="100000"/>
              <a:buChar char="•"/>
            </a:pPr>
            <a:r>
              <a:rPr lang="en-US" sz="1550" dirty="0">
                <a:solidFill>
                  <a:srgbClr val="1B2A3D"/>
                </a:solidFill>
                <a:latin typeface="Times New Roman" pitchFamily="34" charset="0"/>
                <a:ea typeface="Times New Roman" pitchFamily="34" charset="-122"/>
                <a:cs typeface="Times New Roman" pitchFamily="34" charset="-120"/>
              </a:rPr>
              <a:t>n</a:t>
            </a:r>
            <a:pPr algn="l" marL="254000" indent="-254000">
              <a:spcAft>
                <a:spcPts val="900"/>
              </a:spcAft>
              <a:buSzPct val="100000"/>
              <a:buChar char="•"/>
            </a:pPr>
            <a:r>
              <a:rPr lang="en-US" sz="1550" baseline="-40000" dirty="0">
                <a:solidFill>
                  <a:srgbClr val="1B2A3D"/>
                </a:solidFill>
                <a:latin typeface="Times New Roman" pitchFamily="34" charset="0"/>
                <a:ea typeface="Times New Roman" pitchFamily="34" charset="-122"/>
                <a:cs typeface="Times New Roman" pitchFamily="34" charset="-120"/>
              </a:rPr>
              <a:t>T</a:t>
            </a:r>
            <a:pPr algn="l" marL="254000" indent="-254000">
              <a:spcAft>
                <a:spcPts val="900"/>
              </a:spcAft>
              <a:buSzPct val="100000"/>
              <a:buChar char="•"/>
            </a:pPr>
            <a:r>
              <a:rPr lang="en-US" sz="1550" dirty="0">
                <a:solidFill>
                  <a:srgbClr val="1B2A3D"/>
                </a:solidFill>
                <a:latin typeface="Times New Roman" pitchFamily="34" charset="0"/>
                <a:ea typeface="Times New Roman" pitchFamily="34" charset="-122"/>
                <a:cs typeface="Times New Roman" pitchFamily="34" charset="-120"/>
              </a:rPr>
              <a:t>: số AP thấy được; r</a:t>
            </a:r>
            <a:pPr algn="l" marL="254000" indent="-254000">
              <a:spcAft>
                <a:spcPts val="900"/>
              </a:spcAft>
              <a:buSzPct val="100000"/>
              <a:buChar char="•"/>
            </a:pPr>
            <a:r>
              <a:rPr lang="en-US" sz="1550" baseline="-40000" dirty="0">
                <a:solidFill>
                  <a:srgbClr val="1B2A3D"/>
                </a:solidFill>
                <a:latin typeface="Times New Roman" pitchFamily="34" charset="0"/>
                <a:ea typeface="Times New Roman" pitchFamily="34" charset="-122"/>
                <a:cs typeface="Times New Roman" pitchFamily="34" charset="-120"/>
              </a:rPr>
              <a:t>T</a:t>
            </a:r>
            <a:pPr algn="l" marL="254000" indent="-254000">
              <a:spcAft>
                <a:spcPts val="900"/>
              </a:spcAft>
              <a:buSzPct val="100000"/>
              <a:buChar char="•"/>
            </a:pPr>
            <a:r>
              <a:rPr lang="en-US" sz="1550" dirty="0">
                <a:solidFill>
                  <a:srgbClr val="1B2A3D"/>
                </a:solidFill>
                <a:latin typeface="Times New Roman" pitchFamily="34" charset="0"/>
                <a:ea typeface="Times New Roman" pitchFamily="34" charset="-122"/>
                <a:cs typeface="Times New Roman" pitchFamily="34" charset="-120"/>
              </a:rPr>
              <a:t>(i): thứ hạng cường độ của AP i</a:t>
            </a:r>
            <a:endParaRPr lang="en-US" sz="1550" dirty="0"/>
          </a:p>
          <a:p>
            <a:pPr algn="l" marL="254000" indent="-254000">
              <a:spcAft>
                <a:spcPts val="900"/>
              </a:spcAft>
              <a:buSzPct val="100000"/>
              <a:buChar char="•"/>
            </a:pPr>
            <a:r>
              <a:rPr lang="en-US" sz="1550" dirty="0">
                <a:solidFill>
                  <a:srgbClr val="1B2A3D"/>
                </a:solidFill>
                <a:latin typeface="Times New Roman" pitchFamily="34" charset="0"/>
                <a:ea typeface="Times New Roman" pitchFamily="34" charset="-122"/>
                <a:cs typeface="Times New Roman" pitchFamily="34" charset="-120"/>
              </a:rPr>
              <a:t>Dev: </a:t>
            </a:r>
            <a:pPr algn="l" marL="254000" indent="-254000">
              <a:spcAft>
                <a:spcPts val="900"/>
              </a:spcAft>
              <a:buSzPct val="100000"/>
              <a:buChar char="•"/>
            </a:pPr>
            <a:r>
              <a:rPr lang="en-US" sz="1550" b="1" dirty="0">
                <a:solidFill>
                  <a:srgbClr val="1B2A3D"/>
                </a:solidFill>
                <a:latin typeface="Times New Roman" pitchFamily="34" charset="0"/>
                <a:ea typeface="Times New Roman" pitchFamily="34" charset="-122"/>
                <a:cs typeface="Times New Roman" pitchFamily="34" charset="-120"/>
              </a:rPr>
              <a:t>rank 7,67 m</a:t>
            </a:r>
            <a:pPr algn="l" marL="254000" indent="-254000">
              <a:spcAft>
                <a:spcPts val="900"/>
              </a:spcAft>
              <a:buSzPct val="100000"/>
              <a:buChar char="•"/>
            </a:pPr>
            <a:r>
              <a:rPr lang="en-US" sz="1550" dirty="0">
                <a:solidFill>
                  <a:srgbClr val="1B2A3D"/>
                </a:solidFill>
                <a:latin typeface="Times New Roman" pitchFamily="34" charset="0"/>
                <a:ea typeface="Times New Roman" pitchFamily="34" charset="-122"/>
                <a:cs typeface="Times New Roman" pitchFamily="34" charset="-120"/>
              </a:rPr>
              <a:t>, abs 7,68 m, rel 8,36 m</a:t>
            </a:r>
            <a:endParaRPr lang="en-US" sz="1550" dirty="0"/>
          </a:p>
          <a:p>
            <a:pPr algn="l" marL="254000" indent="-254000">
              <a:spcAft>
                <a:spcPts val="900"/>
              </a:spcAft>
              <a:buSzPct val="100000"/>
              <a:buChar char="•"/>
            </a:pPr>
            <a:r>
              <a:rPr lang="en-US" sz="1550" dirty="0">
                <a:solidFill>
                  <a:srgbClr val="1B2A3D"/>
                </a:solidFill>
                <a:latin typeface="Times New Roman" pitchFamily="34" charset="0"/>
                <a:ea typeface="Times New Roman" pitchFamily="34" charset="-122"/>
                <a:cs typeface="Times New Roman" pitchFamily="34" charset="-120"/>
              </a:rPr>
              <a:t>Bền với khác biệt giữa các điện thoại</a:t>
            </a:r>
            <a:endParaRPr lang="en-US" sz="155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MÔ HÌNH ĐỀ XUẤT · BƯỚC 2 VÀ 3</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Mỗi ô là một cơ sở dữ liệu giao dịch; EFIM khai thác HUI của ô</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2A7F8F"/>
          </a:solidFill>
          <a:ln w="12700">
            <a:solidFill>
              <a:srgbClr val="2A7F8F"/>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E3E0D8"/>
          </a:solidFill>
          <a:ln w="12700">
            <a:solidFill>
              <a:srgbClr val="E3E0D8"/>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sp>
        <p:nvSpPr>
          <p:cNvPr id="15" name="Shape 12"/>
          <p:cNvSpPr/>
          <p:nvPr/>
        </p:nvSpPr>
        <p:spPr>
          <a:xfrm>
            <a:off x="548640" y="1325880"/>
            <a:ext cx="11094415" cy="685800"/>
          </a:xfrm>
          <a:prstGeom prst="rect">
            <a:avLst/>
          </a:prstGeom>
          <a:solidFill>
            <a:srgbClr val="FBFAF7"/>
          </a:solidFill>
          <a:ln w="9525">
            <a:solidFill>
              <a:srgbClr val="D8D3C8"/>
            </a:solidFill>
            <a:prstDash val="solid"/>
          </a:ln>
          <a:effectLst>
            <a:outerShdw sx="100000" sy="100000" kx="0" ky="0" algn="bl" rotWithShape="0" blurRad="50800" dist="19050" dir="5400000">
              <a:srgbClr val="000000">
                <a:alpha val="12000"/>
              </a:srgbClr>
            </a:outerShdw>
          </a:effectLst>
        </p:spPr>
      </p:sp>
      <p:pic>
        <p:nvPicPr>
          <p:cNvPr id="16" name="Image 0" descr="Ngưỡng theo ô">    </p:cNvPr>
          <p:cNvPicPr>
            <a:picLocks noChangeAspect="1"/>
          </p:cNvPicPr>
          <p:nvPr/>
        </p:nvPicPr>
        <p:blipFill>
          <a:blip r:embed="rId1"/>
          <a:stretch>
            <a:fillRect/>
          </a:stretch>
        </p:blipFill>
        <p:spPr>
          <a:xfrm>
            <a:off x="822960" y="1417320"/>
            <a:ext cx="8229600" cy="460188"/>
          </a:xfrm>
          <a:prstGeom prst="rect">
            <a:avLst/>
          </a:prstGeom>
        </p:spPr>
      </p:pic>
      <p:pic>
        <p:nvPicPr>
          <p:cNvPr id="17" name="Image 1" descr="Bước 2">    </p:cNvPr>
          <p:cNvPicPr>
            <a:picLocks noChangeAspect="1"/>
          </p:cNvPicPr>
          <p:nvPr/>
        </p:nvPicPr>
        <p:blipFill>
          <a:blip r:embed="rId2"/>
          <a:stretch>
            <a:fillRect/>
          </a:stretch>
        </p:blipFill>
        <p:spPr>
          <a:xfrm>
            <a:off x="548640" y="2148840"/>
            <a:ext cx="5410048" cy="2919873"/>
          </a:xfrm>
          <a:prstGeom prst="rect">
            <a:avLst/>
          </a:prstGeom>
        </p:spPr>
      </p:pic>
      <p:pic>
        <p:nvPicPr>
          <p:cNvPr id="18" name="Image 2" descr="Bước 3">    </p:cNvPr>
          <p:cNvPicPr>
            <a:picLocks noChangeAspect="1"/>
          </p:cNvPicPr>
          <p:nvPr/>
        </p:nvPicPr>
        <p:blipFill>
          <a:blip r:embed="rId3"/>
          <a:stretch>
            <a:fillRect/>
          </a:stretch>
        </p:blipFill>
        <p:spPr>
          <a:xfrm>
            <a:off x="6233008" y="2148840"/>
            <a:ext cx="5410048" cy="2919873"/>
          </a:xfrm>
          <a:prstGeom prst="rect">
            <a:avLst/>
          </a:prstGeom>
        </p:spPr>
      </p:pic>
      <p:sp>
        <p:nvSpPr>
          <p:cNvPr id="19" name="Text 13"/>
          <p:cNvSpPr txBox="1"/>
          <p:nvPr/>
        </p:nvSpPr>
        <p:spPr>
          <a:xfrm>
            <a:off x="548640" y="5715000"/>
            <a:ext cx="11094415" cy="548640"/>
          </a:xfrm>
          <a:prstGeom prst="rect">
            <a:avLst/>
          </a:prstGeom>
          <a:noFill/>
          <a:ln/>
        </p:spPr>
        <p:txBody>
          <a:bodyPr wrap="square" lIns="0" tIns="0" rIns="0" bIns="0" rtlCol="0" anchor="t"/>
          <a:lstStyle/>
          <a:p>
            <a:pPr algn="ctr" indent="0" marL="0">
              <a:buNone/>
            </a:pPr>
            <a:r>
              <a:rPr lang="en-US" sz="1550" b="1" dirty="0">
                <a:solidFill>
                  <a:srgbClr val="1B2A3D"/>
                </a:solidFill>
                <a:latin typeface="Times New Roman" pitchFamily="34" charset="0"/>
                <a:ea typeface="Times New Roman" pitchFamily="34" charset="-122"/>
                <a:cs typeface="Times New Roman" pitchFamily="34" charset="-120"/>
              </a:rPr>
              <a:t>933 ô</a:t>
            </a:r>
            <a:pPr algn="ctr" indent="0" marL="0">
              <a:buNone/>
            </a:pPr>
            <a:r>
              <a:rPr lang="en-US" sz="1550" dirty="0">
                <a:solidFill>
                  <a:srgbClr val="1B2A3D"/>
                </a:solidFill>
                <a:latin typeface="Times New Roman" pitchFamily="34" charset="0"/>
                <a:ea typeface="Times New Roman" pitchFamily="34" charset="-122"/>
                <a:cs typeface="Times New Roman" pitchFamily="34" charset="-120"/>
              </a:rPr>
              <a:t>, trung bình 21,3 giao dịch/ô · θ = 20% · ngân sách 10 s hoặc 10 000 HUI · θ trung vị thực dùng 31,25%</a:t>
            </a:r>
            <a:endParaRPr lang="en-US" sz="155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MÔ HÌNH ĐỀ XUẤT · BƯỚC 4</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Mô hình định vị là tập HUI của mọi ô — không lưu vân tay</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2A7F8F"/>
          </a:solidFill>
          <a:ln w="12700">
            <a:solidFill>
              <a:srgbClr val="2A7F8F"/>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E3E0D8"/>
          </a:solidFill>
          <a:ln w="12700">
            <a:solidFill>
              <a:srgbClr val="E3E0D8"/>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pic>
        <p:nvPicPr>
          <p:cNvPr id="15" name="Image 0" descr="Bước 4">    </p:cNvPr>
          <p:cNvPicPr>
            <a:picLocks noChangeAspect="1"/>
          </p:cNvPicPr>
          <p:nvPr/>
        </p:nvPicPr>
        <p:blipFill>
          <a:blip r:embed="rId1"/>
          <a:stretch>
            <a:fillRect/>
          </a:stretch>
        </p:blipFill>
        <p:spPr>
          <a:xfrm>
            <a:off x="548640" y="1325880"/>
            <a:ext cx="7498080" cy="3802854"/>
          </a:xfrm>
          <a:prstGeom prst="rect">
            <a:avLst/>
          </a:prstGeom>
        </p:spPr>
      </p:pic>
      <p:sp>
        <p:nvSpPr>
          <p:cNvPr id="16" name="Text 12"/>
          <p:cNvSpPr txBox="1"/>
          <p:nvPr/>
        </p:nvSpPr>
        <p:spPr>
          <a:xfrm>
            <a:off x="8458200" y="1508760"/>
            <a:ext cx="3184855" cy="731520"/>
          </a:xfrm>
          <a:prstGeom prst="rect">
            <a:avLst/>
          </a:prstGeom>
          <a:noFill/>
          <a:ln/>
        </p:spPr>
        <p:txBody>
          <a:bodyPr wrap="square" lIns="0" tIns="0" rIns="0" bIns="0" rtlCol="0" anchor="ctr"/>
          <a:lstStyle/>
          <a:p>
            <a:pPr indent="0" marL="0">
              <a:buNone/>
            </a:pPr>
            <a:r>
              <a:rPr lang="en-US" sz="3600" b="1" dirty="0">
                <a:solidFill>
                  <a:srgbClr val="1F3A5F"/>
                </a:solidFill>
                <a:latin typeface="Times New Roman" pitchFamily="34" charset="0"/>
                <a:ea typeface="Times New Roman" pitchFamily="34" charset="-122"/>
                <a:cs typeface="Times New Roman" pitchFamily="34" charset="-120"/>
              </a:rPr>
              <a:t>3 238 416</a:t>
            </a:r>
            <a:endParaRPr lang="en-US" sz="3600" dirty="0"/>
          </a:p>
        </p:txBody>
      </p:sp>
      <p:sp>
        <p:nvSpPr>
          <p:cNvPr id="17" name="Text 13"/>
          <p:cNvSpPr txBox="1"/>
          <p:nvPr/>
        </p:nvSpPr>
        <p:spPr>
          <a:xfrm>
            <a:off x="8458200" y="2258568"/>
            <a:ext cx="3184855" cy="548640"/>
          </a:xfrm>
          <a:prstGeom prst="rect">
            <a:avLst/>
          </a:prstGeom>
          <a:noFill/>
          <a:ln/>
        </p:spPr>
        <p:txBody>
          <a:bodyPr wrap="square" lIns="0" tIns="0" rIns="0" bIns="0" rtlCol="0" anchor="t"/>
          <a:lstStyle/>
          <a:p>
            <a:pPr indent="0" marL="0">
              <a:buNone/>
            </a:pPr>
            <a:r>
              <a:rPr lang="en-US" sz="1350" dirty="0">
                <a:solidFill>
                  <a:srgbClr val="8A8A85"/>
                </a:solidFill>
                <a:latin typeface="Times New Roman" pitchFamily="34" charset="0"/>
                <a:ea typeface="Times New Roman" pitchFamily="34" charset="-122"/>
                <a:cs typeface="Times New Roman" pitchFamily="34" charset="-120"/>
              </a:rPr>
              <a:t>HUI trong mô hình chính</a:t>
            </a:r>
            <a:endParaRPr lang="en-US" sz="1350" dirty="0"/>
          </a:p>
        </p:txBody>
      </p:sp>
      <p:sp>
        <p:nvSpPr>
          <p:cNvPr id="18" name="Text 14"/>
          <p:cNvSpPr txBox="1"/>
          <p:nvPr/>
        </p:nvSpPr>
        <p:spPr>
          <a:xfrm>
            <a:off x="8458200" y="2880360"/>
            <a:ext cx="3184855" cy="731520"/>
          </a:xfrm>
          <a:prstGeom prst="rect">
            <a:avLst/>
          </a:prstGeom>
          <a:noFill/>
          <a:ln/>
        </p:spPr>
        <p:txBody>
          <a:bodyPr wrap="square" lIns="0" tIns="0" rIns="0" bIns="0" rtlCol="0" anchor="ctr"/>
          <a:lstStyle/>
          <a:p>
            <a:pPr indent="0" marL="0">
              <a:buNone/>
            </a:pPr>
            <a:r>
              <a:rPr lang="en-US" sz="3600" b="1" dirty="0">
                <a:solidFill>
                  <a:srgbClr val="2A7F8F"/>
                </a:solidFill>
                <a:latin typeface="Times New Roman" pitchFamily="34" charset="0"/>
                <a:ea typeface="Times New Roman" pitchFamily="34" charset="-122"/>
                <a:cs typeface="Times New Roman" pitchFamily="34" charset="-120"/>
              </a:rPr>
              <a:t>7 332 956</a:t>
            </a:r>
            <a:endParaRPr lang="en-US" sz="3600" dirty="0"/>
          </a:p>
        </p:txBody>
      </p:sp>
      <p:sp>
        <p:nvSpPr>
          <p:cNvPr id="19" name="Text 15"/>
          <p:cNvSpPr txBox="1"/>
          <p:nvPr/>
        </p:nvSpPr>
        <p:spPr>
          <a:xfrm>
            <a:off x="8458200" y="3630168"/>
            <a:ext cx="3184855" cy="548640"/>
          </a:xfrm>
          <a:prstGeom prst="rect">
            <a:avLst/>
          </a:prstGeom>
          <a:noFill/>
          <a:ln/>
        </p:spPr>
        <p:txBody>
          <a:bodyPr wrap="square" lIns="0" tIns="0" rIns="0" bIns="0" rtlCol="0" anchor="t"/>
          <a:lstStyle/>
          <a:p>
            <a:pPr indent="0" marL="0">
              <a:buNone/>
            </a:pPr>
            <a:r>
              <a:rPr lang="en-US" sz="1350" dirty="0">
                <a:solidFill>
                  <a:srgbClr val="8A8A85"/>
                </a:solidFill>
                <a:latin typeface="Times New Roman" pitchFamily="34" charset="0"/>
                <a:ea typeface="Times New Roman" pitchFamily="34" charset="-122"/>
                <a:cs typeface="Times New Roman" pitchFamily="34" charset="-120"/>
              </a:rPr>
              <a:t>HUI của cả ba mô hình (Bước 8)</a:t>
            </a:r>
            <a:endParaRPr lang="en-US" sz="1350" dirty="0"/>
          </a:p>
        </p:txBody>
      </p:sp>
      <p:sp>
        <p:nvSpPr>
          <p:cNvPr id="20" name="Text 16"/>
          <p:cNvSpPr txBox="1"/>
          <p:nvPr/>
        </p:nvSpPr>
        <p:spPr>
          <a:xfrm>
            <a:off x="8458200" y="4251960"/>
            <a:ext cx="3184855" cy="731520"/>
          </a:xfrm>
          <a:prstGeom prst="rect">
            <a:avLst/>
          </a:prstGeom>
          <a:noFill/>
          <a:ln/>
        </p:spPr>
        <p:txBody>
          <a:bodyPr wrap="square" lIns="0" tIns="0" rIns="0" bIns="0" rtlCol="0" anchor="ctr"/>
          <a:lstStyle/>
          <a:p>
            <a:pPr indent="0" marL="0">
              <a:buNone/>
            </a:pPr>
            <a:r>
              <a:rPr lang="en-US" sz="4400" b="1" dirty="0">
                <a:solidFill>
                  <a:srgbClr val="B5532A"/>
                </a:solidFill>
                <a:latin typeface="Times New Roman" pitchFamily="34" charset="0"/>
                <a:ea typeface="Times New Roman" pitchFamily="34" charset="-122"/>
                <a:cs typeface="Times New Roman" pitchFamily="34" charset="-120"/>
              </a:rPr>
              <a:t>0</a:t>
            </a:r>
            <a:endParaRPr lang="en-US" sz="4400" dirty="0"/>
          </a:p>
        </p:txBody>
      </p:sp>
      <p:sp>
        <p:nvSpPr>
          <p:cNvPr id="21" name="Text 17"/>
          <p:cNvSpPr txBox="1"/>
          <p:nvPr/>
        </p:nvSpPr>
        <p:spPr>
          <a:xfrm>
            <a:off x="8458200" y="5001768"/>
            <a:ext cx="3184855" cy="548640"/>
          </a:xfrm>
          <a:prstGeom prst="rect">
            <a:avLst/>
          </a:prstGeom>
          <a:noFill/>
          <a:ln/>
        </p:spPr>
        <p:txBody>
          <a:bodyPr wrap="square" lIns="0" tIns="0" rIns="0" bIns="0" rtlCol="0" anchor="t"/>
          <a:lstStyle/>
          <a:p>
            <a:pPr indent="0" marL="0">
              <a:buNone/>
            </a:pPr>
            <a:r>
              <a:rPr lang="en-US" sz="1350" dirty="0">
                <a:solidFill>
                  <a:srgbClr val="8A8A85"/>
                </a:solidFill>
                <a:latin typeface="Times New Roman" pitchFamily="34" charset="0"/>
                <a:ea typeface="Times New Roman" pitchFamily="34" charset="-122"/>
                <a:cs typeface="Times New Roman" pitchFamily="34" charset="-120"/>
              </a:rPr>
              <a:t>vân tay huấn luyện được lưu</a:t>
            </a:r>
            <a:endParaRPr lang="en-US" sz="135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MÔ HÌNH ĐỀ XUẤT · BƯỚC 5</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Chấm điểm khớp giữa vân tay và HUI của ô</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2A7F8F"/>
          </a:solidFill>
          <a:ln w="12700">
            <a:solidFill>
              <a:srgbClr val="2A7F8F"/>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E3E0D8"/>
          </a:solidFill>
          <a:ln w="12700">
            <a:solidFill>
              <a:srgbClr val="E3E0D8"/>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sp>
        <p:nvSpPr>
          <p:cNvPr id="15" name="Shape 12"/>
          <p:cNvSpPr/>
          <p:nvPr/>
        </p:nvSpPr>
        <p:spPr>
          <a:xfrm>
            <a:off x="548640" y="1325880"/>
            <a:ext cx="5852160" cy="3154680"/>
          </a:xfrm>
          <a:prstGeom prst="rect">
            <a:avLst/>
          </a:prstGeom>
          <a:solidFill>
            <a:srgbClr val="FBFAF7"/>
          </a:solidFill>
          <a:ln w="9525">
            <a:solidFill>
              <a:srgbClr val="D8D3C8"/>
            </a:solidFill>
            <a:prstDash val="solid"/>
          </a:ln>
          <a:effectLst>
            <a:outerShdw sx="100000" sy="100000" kx="0" ky="0" algn="bl" rotWithShape="0" blurRad="50800" dist="19050" dir="5400000">
              <a:srgbClr val="000000">
                <a:alpha val="12000"/>
              </a:srgbClr>
            </a:outerShdw>
          </a:effectLst>
        </p:spPr>
      </p:sp>
      <p:pic>
        <p:nvPicPr>
          <p:cNvPr id="16" name="Image 0" descr="Điểm khớp">    </p:cNvPr>
          <p:cNvPicPr>
            <a:picLocks noChangeAspect="1"/>
          </p:cNvPicPr>
          <p:nvPr/>
        </p:nvPicPr>
        <p:blipFill>
          <a:blip r:embed="rId1"/>
          <a:stretch>
            <a:fillRect/>
          </a:stretch>
        </p:blipFill>
        <p:spPr>
          <a:xfrm>
            <a:off x="777240" y="1508760"/>
            <a:ext cx="5394960" cy="2477204"/>
          </a:xfrm>
          <a:prstGeom prst="rect">
            <a:avLst/>
          </a:prstGeom>
        </p:spPr>
      </p:pic>
      <p:sp>
        <p:nvSpPr>
          <p:cNvPr id="17" name="Text 13"/>
          <p:cNvSpPr txBox="1"/>
          <p:nvPr/>
        </p:nvSpPr>
        <p:spPr>
          <a:xfrm>
            <a:off x="548640" y="4663440"/>
            <a:ext cx="5852160" cy="1645920"/>
          </a:xfrm>
          <a:prstGeom prst="rect">
            <a:avLst/>
          </a:prstGeom>
          <a:noFill/>
          <a:ln/>
        </p:spPr>
        <p:txBody>
          <a:bodyPr wrap="square" lIns="25400" tIns="25400" rIns="25400" bIns="25400" rtlCol="0" anchor="t"/>
          <a:lstStyle/>
          <a:p>
            <a:pPr algn="l" marL="254000" indent="-254000">
              <a:spcAft>
                <a:spcPts val="900"/>
              </a:spcAft>
              <a:buSzPct val="100000"/>
              <a:buChar char="•"/>
            </a:pPr>
            <a:r>
              <a:rPr lang="en-US" sz="1500" dirty="0">
                <a:solidFill>
                  <a:srgbClr val="1B2A3D"/>
                </a:solidFill>
                <a:latin typeface="Times New Roman" pitchFamily="34" charset="0"/>
                <a:ea typeface="Times New Roman" pitchFamily="34" charset="-122"/>
                <a:cs typeface="Times New Roman" pitchFamily="34" charset="-120"/>
              </a:rPr>
              <a:t>ρ: khớp mềm, chịu được AP bị bỏ sót</a:t>
            </a:r>
            <a:endParaRPr lang="en-US" sz="1500" dirty="0"/>
          </a:p>
          <a:p>
            <a:pPr algn="l" marL="254000" indent="-254000">
              <a:spcAft>
                <a:spcPts val="900"/>
              </a:spcAft>
              <a:buSzPct val="100000"/>
              <a:buChar char="•"/>
            </a:pPr>
            <a:r>
              <a:rPr lang="en-US" sz="1500" dirty="0">
                <a:solidFill>
                  <a:srgbClr val="1B2A3D"/>
                </a:solidFill>
                <a:latin typeface="Times New Roman" pitchFamily="34" charset="0"/>
                <a:ea typeface="Times New Roman" pitchFamily="34" charset="-122"/>
                <a:cs typeface="Times New Roman" pitchFamily="34" charset="-120"/>
              </a:rPr>
              <a:t>agree: phạt chênh lệch cường độ, thang τ</a:t>
            </a:r>
            <a:endParaRPr lang="en-US" sz="1500" dirty="0"/>
          </a:p>
          <a:p>
            <a:pPr algn="l" marL="254000" indent="-254000">
              <a:spcAft>
                <a:spcPts val="900"/>
              </a:spcAft>
              <a:buSzPct val="100000"/>
              <a:buChar char="•"/>
            </a:pPr>
            <a:r>
              <a:rPr lang="en-US" sz="1500" dirty="0">
                <a:solidFill>
                  <a:srgbClr val="1B2A3D"/>
                </a:solidFill>
                <a:latin typeface="Times New Roman" pitchFamily="34" charset="0"/>
                <a:ea typeface="Times New Roman" pitchFamily="34" charset="-122"/>
                <a:cs typeface="Times New Roman" pitchFamily="34" charset="-120"/>
              </a:rPr>
              <a:t>P</a:t>
            </a:r>
            <a:pPr algn="l" marL="254000" indent="-254000">
              <a:spcAft>
                <a:spcPts val="900"/>
              </a:spcAft>
              <a:buSzPct val="100000"/>
              <a:buChar char="•"/>
            </a:pPr>
            <a:r>
              <a:rPr lang="en-US" sz="1500" baseline="-40000" dirty="0">
                <a:solidFill>
                  <a:srgbClr val="1B2A3D"/>
                </a:solidFill>
                <a:latin typeface="Times New Roman" pitchFamily="34" charset="0"/>
                <a:ea typeface="Times New Roman" pitchFamily="34" charset="-122"/>
                <a:cs typeface="Times New Roman" pitchFamily="34" charset="-120"/>
              </a:rPr>
              <a:t>c</a:t>
            </a:r>
            <a:pPr algn="l" marL="254000" indent="-254000">
              <a:spcAft>
                <a:spcPts val="900"/>
              </a:spcAft>
              <a:buSzPct val="100000"/>
              <a:buChar char="•"/>
            </a:pPr>
            <a:r>
              <a:rPr lang="en-US" sz="1500" dirty="0">
                <a:solidFill>
                  <a:srgbClr val="1B2A3D"/>
                </a:solidFill>
                <a:latin typeface="Times New Roman" pitchFamily="34" charset="0"/>
                <a:ea typeface="Times New Roman" pitchFamily="34" charset="-122"/>
                <a:cs typeface="Times New Roman" pitchFamily="34" charset="-120"/>
              </a:rPr>
              <a:t>: khối lượng HUI của ô có trong vân tay</a:t>
            </a:r>
            <a:endParaRPr lang="en-US" sz="1500" dirty="0"/>
          </a:p>
          <a:p>
            <a:pPr algn="l" marL="254000" indent="-254000">
              <a:spcAft>
                <a:spcPts val="900"/>
              </a:spcAft>
              <a:buSzPct val="100000"/>
              <a:buChar char="•"/>
            </a:pPr>
            <a:r>
              <a:rPr lang="en-US" sz="1500" dirty="0">
                <a:solidFill>
                  <a:srgbClr val="1B2A3D"/>
                </a:solidFill>
                <a:latin typeface="Times New Roman" pitchFamily="34" charset="0"/>
                <a:ea typeface="Times New Roman" pitchFamily="34" charset="-122"/>
                <a:cs typeface="Times New Roman" pitchFamily="34" charset="-120"/>
              </a:rPr>
              <a:t>V</a:t>
            </a:r>
            <a:pPr algn="l" marL="254000" indent="-254000">
              <a:spcAft>
                <a:spcPts val="900"/>
              </a:spcAft>
              <a:buSzPct val="100000"/>
              <a:buChar char="•"/>
            </a:pPr>
            <a:r>
              <a:rPr lang="en-US" sz="1500" baseline="-40000" dirty="0">
                <a:solidFill>
                  <a:srgbClr val="1B2A3D"/>
                </a:solidFill>
                <a:latin typeface="Times New Roman" pitchFamily="34" charset="0"/>
                <a:ea typeface="Times New Roman" pitchFamily="34" charset="-122"/>
                <a:cs typeface="Times New Roman" pitchFamily="34" charset="-120"/>
              </a:rPr>
              <a:t>c</a:t>
            </a:r>
            <a:pPr algn="l" marL="254000" indent="-254000">
              <a:spcAft>
                <a:spcPts val="900"/>
              </a:spcAft>
              <a:buSzPct val="100000"/>
              <a:buChar char="•"/>
            </a:pPr>
            <a:r>
              <a:rPr lang="en-US" sz="1500" dirty="0">
                <a:solidFill>
                  <a:srgbClr val="1B2A3D"/>
                </a:solidFill>
                <a:latin typeface="Times New Roman" pitchFamily="34" charset="0"/>
                <a:ea typeface="Times New Roman" pitchFamily="34" charset="-122"/>
                <a:cs typeface="Times New Roman" pitchFamily="34" charset="-120"/>
              </a:rPr>
              <a:t>: phần vân tay được HUI của ô giải thích</a:t>
            </a:r>
            <a:endParaRPr lang="en-US" sz="1500" dirty="0"/>
          </a:p>
        </p:txBody>
      </p:sp>
      <p:pic>
        <p:nvPicPr>
          <p:cNvPr id="18" name="Image 1" descr="Bước 5">    </p:cNvPr>
          <p:cNvPicPr>
            <a:picLocks noChangeAspect="1"/>
          </p:cNvPicPr>
          <p:nvPr/>
        </p:nvPicPr>
        <p:blipFill>
          <a:blip r:embed="rId2"/>
          <a:stretch>
            <a:fillRect/>
          </a:stretch>
        </p:blipFill>
        <p:spPr>
          <a:xfrm>
            <a:off x="6675120" y="1325880"/>
            <a:ext cx="4967935" cy="2884829"/>
          </a:xfrm>
          <a:prstGeom prst="rect">
            <a:avLst/>
          </a:prstGeom>
        </p:spPr>
      </p:pic>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MÔ HÌNH ĐỀ XUẤT · BƯỚC 6</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Làm mượt không gian và chọn tầng</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2A7F8F"/>
          </a:solidFill>
          <a:ln w="12700">
            <a:solidFill>
              <a:srgbClr val="2A7F8F"/>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E3E0D8"/>
          </a:solidFill>
          <a:ln w="12700">
            <a:solidFill>
              <a:srgbClr val="E3E0D8"/>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sp>
        <p:nvSpPr>
          <p:cNvPr id="15" name="Shape 12"/>
          <p:cNvSpPr/>
          <p:nvPr/>
        </p:nvSpPr>
        <p:spPr>
          <a:xfrm>
            <a:off x="548640" y="1325880"/>
            <a:ext cx="11094415" cy="1600200"/>
          </a:xfrm>
          <a:prstGeom prst="rect">
            <a:avLst/>
          </a:prstGeom>
          <a:solidFill>
            <a:srgbClr val="FBFAF7"/>
          </a:solidFill>
          <a:ln w="9525">
            <a:solidFill>
              <a:srgbClr val="D8D3C8"/>
            </a:solidFill>
            <a:prstDash val="solid"/>
          </a:ln>
          <a:effectLst>
            <a:outerShdw sx="100000" sy="100000" kx="0" ky="0" algn="bl" rotWithShape="0" blurRad="50800" dist="19050" dir="5400000">
              <a:srgbClr val="000000">
                <a:alpha val="12000"/>
              </a:srgbClr>
            </a:outerShdw>
          </a:effectLst>
        </p:spPr>
      </p:sp>
      <p:pic>
        <p:nvPicPr>
          <p:cNvPr id="16" name="Image 0" descr="Làm mượt">    </p:cNvPr>
          <p:cNvPicPr>
            <a:picLocks noChangeAspect="1"/>
          </p:cNvPicPr>
          <p:nvPr/>
        </p:nvPicPr>
        <p:blipFill>
          <a:blip r:embed="rId1"/>
          <a:stretch>
            <a:fillRect/>
          </a:stretch>
        </p:blipFill>
        <p:spPr>
          <a:xfrm>
            <a:off x="822960" y="1444752"/>
            <a:ext cx="5281047" cy="1371600"/>
          </a:xfrm>
          <a:prstGeom prst="rect">
            <a:avLst/>
          </a:prstGeom>
        </p:spPr>
      </p:pic>
      <p:sp>
        <p:nvSpPr>
          <p:cNvPr id="17" name="Text 13"/>
          <p:cNvSpPr txBox="1"/>
          <p:nvPr/>
        </p:nvSpPr>
        <p:spPr>
          <a:xfrm>
            <a:off x="9052560" y="1600200"/>
            <a:ext cx="2651760" cy="457200"/>
          </a:xfrm>
          <a:prstGeom prst="rect">
            <a:avLst/>
          </a:prstGeom>
          <a:noFill/>
          <a:ln/>
        </p:spPr>
        <p:txBody>
          <a:bodyPr wrap="square" lIns="0" tIns="0" rIns="0" bIns="0" rtlCol="0" anchor="t"/>
          <a:lstStyle/>
          <a:p>
            <a:pPr indent="0" marL="0">
              <a:buNone/>
            </a:pPr>
            <a:r>
              <a:rPr lang="en-US" sz="1900" b="1" dirty="0">
                <a:solidFill>
                  <a:srgbClr val="2A7F8F"/>
                </a:solidFill>
                <a:latin typeface="Times New Roman" pitchFamily="34" charset="0"/>
                <a:ea typeface="Times New Roman" pitchFamily="34" charset="-122"/>
                <a:cs typeface="Times New Roman" pitchFamily="34" charset="-120"/>
              </a:rPr>
              <a:t>σ = 3 m,  k</a:t>
            </a:r>
            <a:pPr indent="0" marL="0">
              <a:buNone/>
            </a:pPr>
            <a:r>
              <a:rPr lang="en-US" sz="1900" b="1" baseline="-40000" dirty="0">
                <a:solidFill>
                  <a:srgbClr val="2A7F8F"/>
                </a:solidFill>
                <a:latin typeface="Times New Roman" pitchFamily="34" charset="0"/>
                <a:ea typeface="Times New Roman" pitchFamily="34" charset="-122"/>
                <a:cs typeface="Times New Roman" pitchFamily="34" charset="-120"/>
              </a:rPr>
              <a:t>f</a:t>
            </a:r>
            <a:pPr indent="0" marL="0">
              <a:buNone/>
            </a:pPr>
            <a:r>
              <a:rPr lang="en-US" sz="1900" b="1" dirty="0">
                <a:solidFill>
                  <a:srgbClr val="2A7F8F"/>
                </a:solidFill>
                <a:latin typeface="Times New Roman" pitchFamily="34" charset="0"/>
                <a:ea typeface="Times New Roman" pitchFamily="34" charset="-122"/>
                <a:cs typeface="Times New Roman" pitchFamily="34" charset="-120"/>
              </a:rPr>
              <a:t> = 20</a:t>
            </a:r>
            <a:endParaRPr lang="en-US" sz="1900" dirty="0"/>
          </a:p>
        </p:txBody>
      </p:sp>
      <p:sp>
        <p:nvSpPr>
          <p:cNvPr id="18" name="Text 14"/>
          <p:cNvSpPr txBox="1"/>
          <p:nvPr/>
        </p:nvSpPr>
        <p:spPr>
          <a:xfrm>
            <a:off x="9052560" y="2103120"/>
            <a:ext cx="2651760" cy="365760"/>
          </a:xfrm>
          <a:prstGeom prst="rect">
            <a:avLst/>
          </a:prstGeom>
          <a:noFill/>
          <a:ln/>
        </p:spPr>
        <p:txBody>
          <a:bodyPr wrap="square" lIns="0" tIns="0" rIns="0" bIns="0" rtlCol="0" anchor="t"/>
          <a:lstStyle/>
          <a:p>
            <a:pPr indent="0" marL="0">
              <a:buNone/>
            </a:pPr>
            <a:r>
              <a:rPr lang="en-US" sz="1500" dirty="0">
                <a:solidFill>
                  <a:srgbClr val="8A8A85"/>
                </a:solidFill>
                <a:latin typeface="Times New Roman" pitchFamily="34" charset="0"/>
                <a:ea typeface="Times New Roman" pitchFamily="34" charset="-122"/>
                <a:cs typeface="Times New Roman" pitchFamily="34" charset="-120"/>
              </a:rPr>
              <a:t>chọn trên dev</a:t>
            </a:r>
            <a:endParaRPr lang="en-US" sz="1500" dirty="0"/>
          </a:p>
        </p:txBody>
      </p:sp>
      <p:pic>
        <p:nvPicPr>
          <p:cNvPr id="19" name="Image 1" descr="Bước 6">    </p:cNvPr>
          <p:cNvPicPr>
            <a:picLocks noChangeAspect="1"/>
          </p:cNvPicPr>
          <p:nvPr/>
        </p:nvPicPr>
        <p:blipFill>
          <a:blip r:embed="rId2"/>
          <a:stretch>
            <a:fillRect/>
          </a:stretch>
        </p:blipFill>
        <p:spPr>
          <a:xfrm>
            <a:off x="2501436" y="3063240"/>
            <a:ext cx="7188823" cy="3200400"/>
          </a:xfrm>
          <a:prstGeom prst="rect">
            <a:avLst/>
          </a:prstGeom>
        </p:spPr>
      </p:pic>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MÔ HÌNH ĐỀ XUẤT · BƯỚC 7</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Ô ứng viên và ước lượng ban đầu</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2A7F8F"/>
          </a:solidFill>
          <a:ln w="12700">
            <a:solidFill>
              <a:srgbClr val="2A7F8F"/>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E3E0D8"/>
          </a:solidFill>
          <a:ln w="12700">
            <a:solidFill>
              <a:srgbClr val="E3E0D8"/>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pic>
        <p:nvPicPr>
          <p:cNvPr id="15" name="Image 0" descr="Bước 7">    </p:cNvPr>
          <p:cNvPicPr>
            <a:picLocks noChangeAspect="1"/>
          </p:cNvPicPr>
          <p:nvPr/>
        </p:nvPicPr>
        <p:blipFill>
          <a:blip r:embed="rId1"/>
          <a:stretch>
            <a:fillRect/>
          </a:stretch>
        </p:blipFill>
        <p:spPr>
          <a:xfrm>
            <a:off x="548640" y="1325880"/>
            <a:ext cx="6583680" cy="4706421"/>
          </a:xfrm>
          <a:prstGeom prst="rect">
            <a:avLst/>
          </a:prstGeom>
        </p:spPr>
      </p:pic>
      <p:sp>
        <p:nvSpPr>
          <p:cNvPr id="16" name="Shape 12"/>
          <p:cNvSpPr/>
          <p:nvPr/>
        </p:nvSpPr>
        <p:spPr>
          <a:xfrm>
            <a:off x="7498080" y="1417320"/>
            <a:ext cx="4144975" cy="1280160"/>
          </a:xfrm>
          <a:prstGeom prst="rect">
            <a:avLst/>
          </a:prstGeom>
          <a:solidFill>
            <a:srgbClr val="FBFAF7"/>
          </a:solidFill>
          <a:ln w="9525">
            <a:solidFill>
              <a:srgbClr val="D8D3C8"/>
            </a:solidFill>
            <a:prstDash val="solid"/>
          </a:ln>
          <a:effectLst>
            <a:outerShdw sx="100000" sy="100000" kx="0" ky="0" algn="bl" rotWithShape="0" blurRad="50800" dist="19050" dir="5400000">
              <a:srgbClr val="000000">
                <a:alpha val="12000"/>
              </a:srgbClr>
            </a:outerShdw>
          </a:effectLst>
        </p:spPr>
      </p:sp>
      <p:pic>
        <p:nvPicPr>
          <p:cNvPr id="17" name="Image 1" descr="Trọng tâm">    </p:cNvPr>
          <p:cNvPicPr>
            <a:picLocks noChangeAspect="1"/>
          </p:cNvPicPr>
          <p:nvPr/>
        </p:nvPicPr>
        <p:blipFill>
          <a:blip r:embed="rId2"/>
          <a:stretch>
            <a:fillRect/>
          </a:stretch>
        </p:blipFill>
        <p:spPr>
          <a:xfrm>
            <a:off x="7635240" y="1554480"/>
            <a:ext cx="3870655" cy="833967"/>
          </a:xfrm>
          <a:prstGeom prst="rect">
            <a:avLst/>
          </a:prstGeom>
        </p:spPr>
      </p:pic>
      <p:sp>
        <p:nvSpPr>
          <p:cNvPr id="18" name="Text 13"/>
          <p:cNvSpPr txBox="1"/>
          <p:nvPr/>
        </p:nvSpPr>
        <p:spPr>
          <a:xfrm>
            <a:off x="7498080" y="2971800"/>
            <a:ext cx="1981048" cy="731520"/>
          </a:xfrm>
          <a:prstGeom prst="rect">
            <a:avLst/>
          </a:prstGeom>
          <a:noFill/>
          <a:ln/>
        </p:spPr>
        <p:txBody>
          <a:bodyPr wrap="square" lIns="0" tIns="0" rIns="0" bIns="0" rtlCol="0" anchor="ctr"/>
          <a:lstStyle/>
          <a:p>
            <a:pPr indent="0" marL="0">
              <a:buNone/>
            </a:pPr>
            <a:r>
              <a:rPr lang="en-US" sz="3400" b="1" dirty="0">
                <a:solidFill>
                  <a:srgbClr val="2A7F8F"/>
                </a:solidFill>
                <a:latin typeface="Times New Roman" pitchFamily="34" charset="0"/>
                <a:ea typeface="Times New Roman" pitchFamily="34" charset="-122"/>
                <a:cs typeface="Times New Roman" pitchFamily="34" charset="-120"/>
              </a:rPr>
              <a:t>2,4 m</a:t>
            </a:r>
            <a:endParaRPr lang="en-US" sz="3400" dirty="0"/>
          </a:p>
        </p:txBody>
      </p:sp>
      <p:sp>
        <p:nvSpPr>
          <p:cNvPr id="19" name="Text 14"/>
          <p:cNvSpPr txBox="1"/>
          <p:nvPr/>
        </p:nvSpPr>
        <p:spPr>
          <a:xfrm>
            <a:off x="7498080" y="3721608"/>
            <a:ext cx="1981048" cy="548640"/>
          </a:xfrm>
          <a:prstGeom prst="rect">
            <a:avLst/>
          </a:prstGeom>
          <a:noFill/>
          <a:ln/>
        </p:spPr>
        <p:txBody>
          <a:bodyPr wrap="square" lIns="0" tIns="0" rIns="0" bIns="0" rtlCol="0" anchor="t"/>
          <a:lstStyle/>
          <a:p>
            <a:pPr indent="0" marL="0">
              <a:buNone/>
            </a:pPr>
            <a:r>
              <a:rPr lang="en-US" sz="1350" dirty="0">
                <a:solidFill>
                  <a:srgbClr val="8A8A85"/>
                </a:solidFill>
                <a:latin typeface="Times New Roman" pitchFamily="34" charset="0"/>
                <a:ea typeface="Times New Roman" pitchFamily="34" charset="-122"/>
                <a:cs typeface="Times New Roman" pitchFamily="34" charset="-120"/>
              </a:rPr>
              <a:t>ô gần nhất trong 12 ô</a:t>
            </a:r>
            <a:endParaRPr lang="en-US" sz="1350" dirty="0"/>
          </a:p>
        </p:txBody>
      </p:sp>
      <p:sp>
        <p:nvSpPr>
          <p:cNvPr id="20" name="Text 15"/>
          <p:cNvSpPr txBox="1"/>
          <p:nvPr/>
        </p:nvSpPr>
        <p:spPr>
          <a:xfrm>
            <a:off x="9570568" y="2971800"/>
            <a:ext cx="2072488" cy="731520"/>
          </a:xfrm>
          <a:prstGeom prst="rect">
            <a:avLst/>
          </a:prstGeom>
          <a:noFill/>
          <a:ln/>
        </p:spPr>
        <p:txBody>
          <a:bodyPr wrap="square" lIns="0" tIns="0" rIns="0" bIns="0" rtlCol="0" anchor="ctr"/>
          <a:lstStyle/>
          <a:p>
            <a:pPr indent="0" marL="0">
              <a:buNone/>
            </a:pPr>
            <a:r>
              <a:rPr lang="en-US" sz="3400" b="1" dirty="0">
                <a:solidFill>
                  <a:srgbClr val="B5532A"/>
                </a:solidFill>
                <a:latin typeface="Times New Roman" pitchFamily="34" charset="0"/>
                <a:ea typeface="Times New Roman" pitchFamily="34" charset="-122"/>
                <a:cs typeface="Times New Roman" pitchFamily="34" charset="-120"/>
              </a:rPr>
              <a:t>8,8 m</a:t>
            </a:r>
            <a:endParaRPr lang="en-US" sz="3400" dirty="0"/>
          </a:p>
        </p:txBody>
      </p:sp>
      <p:sp>
        <p:nvSpPr>
          <p:cNvPr id="21" name="Text 16"/>
          <p:cNvSpPr txBox="1"/>
          <p:nvPr/>
        </p:nvSpPr>
        <p:spPr>
          <a:xfrm>
            <a:off x="9570568" y="3721608"/>
            <a:ext cx="2072488" cy="548640"/>
          </a:xfrm>
          <a:prstGeom prst="rect">
            <a:avLst/>
          </a:prstGeom>
          <a:noFill/>
          <a:ln/>
        </p:spPr>
        <p:txBody>
          <a:bodyPr wrap="square" lIns="0" tIns="0" rIns="0" bIns="0" rtlCol="0" anchor="t"/>
          <a:lstStyle/>
          <a:p>
            <a:pPr indent="0" marL="0">
              <a:buNone/>
            </a:pPr>
            <a:r>
              <a:rPr lang="en-US" sz="1350" dirty="0">
                <a:solidFill>
                  <a:srgbClr val="8A8A85"/>
                </a:solidFill>
                <a:latin typeface="Times New Roman" pitchFamily="34" charset="0"/>
                <a:ea typeface="Times New Roman" pitchFamily="34" charset="-122"/>
                <a:cs typeface="Times New Roman" pitchFamily="34" charset="-120"/>
              </a:rPr>
              <a:t>ô điểm cao nhất</a:t>
            </a:r>
            <a:endParaRPr lang="en-US" sz="1350" dirty="0"/>
          </a:p>
        </p:txBody>
      </p:sp>
      <p:sp>
        <p:nvSpPr>
          <p:cNvPr id="22" name="Text 17"/>
          <p:cNvSpPr txBox="1"/>
          <p:nvPr/>
        </p:nvSpPr>
        <p:spPr>
          <a:xfrm>
            <a:off x="7498080" y="4343400"/>
            <a:ext cx="4144975" cy="1645920"/>
          </a:xfrm>
          <a:prstGeom prst="rect">
            <a:avLst/>
          </a:prstGeom>
          <a:noFill/>
          <a:ln/>
        </p:spPr>
        <p:txBody>
          <a:bodyPr wrap="square" lIns="0" tIns="0" rIns="0" bIns="0" rtlCol="0" anchor="t"/>
          <a:lstStyle/>
          <a:p>
            <a:pPr indent="0" marL="0">
              <a:buNone/>
            </a:pPr>
            <a:r>
              <a:rPr lang="en-US" sz="1600" dirty="0">
                <a:solidFill>
                  <a:srgbClr val="1B2A3D"/>
                </a:solidFill>
                <a:latin typeface="Times New Roman" pitchFamily="34" charset="0"/>
                <a:ea typeface="Times New Roman" pitchFamily="34" charset="-122"/>
                <a:cs typeface="Times New Roman" pitchFamily="34" charset="-120"/>
              </a:rPr>
              <a:t>Tập ứng viên </a:t>
            </a:r>
            <a:pPr indent="0" marL="0">
              <a:buNone/>
            </a:pPr>
            <a:r>
              <a:rPr lang="en-US" sz="1600" b="1" dirty="0">
                <a:solidFill>
                  <a:srgbClr val="1B2A3D"/>
                </a:solidFill>
                <a:latin typeface="Times New Roman" pitchFamily="34" charset="0"/>
                <a:ea typeface="Times New Roman" pitchFamily="34" charset="-122"/>
                <a:cs typeface="Times New Roman" pitchFamily="34" charset="-120"/>
              </a:rPr>
              <a:t>đúng vùng</a:t>
            </a:r>
            <a:pPr indent="0" marL="0">
              <a:buNone/>
            </a:pPr>
            <a:r>
              <a:rPr lang="en-US" sz="1600" dirty="0">
                <a:solidFill>
                  <a:srgbClr val="1B2A3D"/>
                </a:solidFill>
                <a:latin typeface="Times New Roman" pitchFamily="34" charset="0"/>
                <a:ea typeface="Times New Roman" pitchFamily="34" charset="-122"/>
                <a:cs typeface="Times New Roman" pitchFamily="34" charset="-120"/>
              </a:rPr>
              <a:t>, nhưng một điểm khớp duy nhất </a:t>
            </a:r>
            <a:pPr indent="0" marL="0">
              <a:buNone/>
            </a:pPr>
            <a:r>
              <a:rPr lang="en-US" sz="1600" b="1" dirty="0">
                <a:solidFill>
                  <a:srgbClr val="1B2A3D"/>
                </a:solidFill>
                <a:latin typeface="Times New Roman" pitchFamily="34" charset="0"/>
                <a:ea typeface="Times New Roman" pitchFamily="34" charset="-122"/>
                <a:cs typeface="Times New Roman" pitchFamily="34" charset="-120"/>
              </a:rPr>
              <a:t>không sắp đúng thứ tự</a:t>
            </a:r>
            <a:pPr indent="0" marL="0">
              <a:buNone/>
            </a:pPr>
            <a:r>
              <a:rPr lang="en-US" sz="1600" dirty="0">
                <a:solidFill>
                  <a:srgbClr val="1B2A3D"/>
                </a:solidFill>
                <a:latin typeface="Times New Roman" pitchFamily="34" charset="0"/>
                <a:ea typeface="Times New Roman" pitchFamily="34" charset="-122"/>
                <a:cs typeface="Times New Roman" pitchFamily="34" charset="-120"/>
              </a:rPr>
              <a:t> các ô lân cận → Bước 8.</a:t>
            </a:r>
            <a:endParaRPr lang="en-US" sz="16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MÔ HÌNH ĐỀ XUẤT · BƯỚC 8</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Xếp hạng lại ô ứng viên bằng bằng chứng HUI</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2A7F8F"/>
          </a:solidFill>
          <a:ln w="12700">
            <a:solidFill>
              <a:srgbClr val="2A7F8F"/>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E3E0D8"/>
          </a:solidFill>
          <a:ln w="12700">
            <a:solidFill>
              <a:srgbClr val="E3E0D8"/>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pic>
        <p:nvPicPr>
          <p:cNvPr id="15" name="Image 0" descr="Bước 8">    </p:cNvPr>
          <p:cNvPicPr>
            <a:picLocks noChangeAspect="1"/>
          </p:cNvPicPr>
          <p:nvPr/>
        </p:nvPicPr>
        <p:blipFill>
          <a:blip r:embed="rId1"/>
          <a:stretch>
            <a:fillRect/>
          </a:stretch>
        </p:blipFill>
        <p:spPr>
          <a:xfrm>
            <a:off x="548640" y="1280160"/>
            <a:ext cx="6253484" cy="3017520"/>
          </a:xfrm>
          <a:prstGeom prst="rect">
            <a:avLst/>
          </a:prstGeom>
        </p:spPr>
      </p:pic>
      <p:sp>
        <p:nvSpPr>
          <p:cNvPr id="16" name="Shape 12"/>
          <p:cNvSpPr/>
          <p:nvPr/>
        </p:nvSpPr>
        <p:spPr>
          <a:xfrm>
            <a:off x="548640" y="4389120"/>
            <a:ext cx="7589520" cy="1874520"/>
          </a:xfrm>
          <a:prstGeom prst="rect">
            <a:avLst/>
          </a:prstGeom>
          <a:solidFill>
            <a:srgbClr val="FBFAF7"/>
          </a:solidFill>
          <a:ln w="9525">
            <a:solidFill>
              <a:srgbClr val="D8D3C8"/>
            </a:solidFill>
            <a:prstDash val="solid"/>
          </a:ln>
          <a:effectLst>
            <a:outerShdw sx="100000" sy="100000" kx="0" ky="0" algn="bl" rotWithShape="0" blurRad="50800" dist="19050" dir="5400000">
              <a:srgbClr val="000000">
                <a:alpha val="12000"/>
              </a:srgbClr>
            </a:outerShdw>
          </a:effectLst>
        </p:spPr>
      </p:sp>
      <p:pic>
        <p:nvPicPr>
          <p:cNvPr id="17" name="Image 1" descr="Công thức Bước 8">    </p:cNvPr>
          <p:cNvPicPr>
            <a:picLocks noChangeAspect="1"/>
          </p:cNvPicPr>
          <p:nvPr/>
        </p:nvPicPr>
        <p:blipFill>
          <a:blip r:embed="rId2"/>
          <a:stretch>
            <a:fillRect/>
          </a:stretch>
        </p:blipFill>
        <p:spPr>
          <a:xfrm>
            <a:off x="731520" y="4480560"/>
            <a:ext cx="3532579" cy="1645920"/>
          </a:xfrm>
          <a:prstGeom prst="rect">
            <a:avLst/>
          </a:prstGeom>
        </p:spPr>
      </p:pic>
      <p:sp>
        <p:nvSpPr>
          <p:cNvPr id="18" name="Text 13"/>
          <p:cNvSpPr txBox="1"/>
          <p:nvPr/>
        </p:nvSpPr>
        <p:spPr>
          <a:xfrm>
            <a:off x="8458200" y="1371600"/>
            <a:ext cx="3184855" cy="4846320"/>
          </a:xfrm>
          <a:prstGeom prst="rect">
            <a:avLst/>
          </a:prstGeom>
          <a:noFill/>
          <a:ln/>
        </p:spPr>
        <p:txBody>
          <a:bodyPr wrap="square" lIns="25400" tIns="25400" rIns="25400" bIns="25400" rtlCol="0" anchor="t"/>
          <a:lstStyle/>
          <a:p>
            <a:pPr algn="l" marL="254000" indent="-254000">
              <a:spcAft>
                <a:spcPts val="900"/>
              </a:spcAft>
              <a:buSzPct val="100000"/>
              <a:buChar char="•"/>
            </a:pPr>
            <a:r>
              <a:rPr lang="en-US" sz="1500" dirty="0">
                <a:solidFill>
                  <a:srgbClr val="1B2A3D"/>
                </a:solidFill>
                <a:latin typeface="Times New Roman" pitchFamily="34" charset="0"/>
                <a:ea typeface="Times New Roman" pitchFamily="34" charset="-122"/>
                <a:cs typeface="Times New Roman" pitchFamily="34" charset="-120"/>
              </a:rPr>
              <a:t>Ba mô hình HUI: rank, mức cường độ (L = 3), abs — tổng </a:t>
            </a:r>
            <a:pPr algn="l" marL="254000" indent="-254000">
              <a:spcAft>
                <a:spcPts val="900"/>
              </a:spcAft>
              <a:buSzPct val="100000"/>
              <a:buChar char="•"/>
            </a:pPr>
            <a:r>
              <a:rPr lang="en-US" sz="1500" b="1" dirty="0">
                <a:solidFill>
                  <a:srgbClr val="1B2A3D"/>
                </a:solidFill>
                <a:latin typeface="Times New Roman" pitchFamily="34" charset="0"/>
                <a:ea typeface="Times New Roman" pitchFamily="34" charset="-122"/>
                <a:cs typeface="Times New Roman" pitchFamily="34" charset="-120"/>
              </a:rPr>
              <a:t>7,33 triệu HUI</a:t>
            </a:r>
            <a:endParaRPr lang="en-US" sz="1500" dirty="0"/>
          </a:p>
          <a:p>
            <a:pPr algn="l" marL="254000" indent="-254000">
              <a:spcAft>
                <a:spcPts val="900"/>
              </a:spcAft>
              <a:buSzPct val="100000"/>
              <a:buChar char="•"/>
            </a:pPr>
            <a:r>
              <a:rPr lang="en-US" sz="1500" dirty="0">
                <a:solidFill>
                  <a:srgbClr val="1B2A3D"/>
                </a:solidFill>
                <a:latin typeface="Times New Roman" pitchFamily="34" charset="0"/>
                <a:ea typeface="Times New Roman" pitchFamily="34" charset="-122"/>
                <a:cs typeface="Times New Roman" pitchFamily="34" charset="-120"/>
              </a:rPr>
              <a:t>Hồ sơ cường độ q̂</a:t>
            </a:r>
            <a:pPr algn="l" marL="254000" indent="-254000">
              <a:spcAft>
                <a:spcPts val="900"/>
              </a:spcAft>
              <a:buSzPct val="100000"/>
              <a:buChar char="•"/>
            </a:pPr>
            <a:r>
              <a:rPr lang="en-US" sz="1500" baseline="-40000" dirty="0">
                <a:solidFill>
                  <a:srgbClr val="1B2A3D"/>
                </a:solidFill>
                <a:latin typeface="Times New Roman" pitchFamily="34" charset="0"/>
                <a:ea typeface="Times New Roman" pitchFamily="34" charset="-122"/>
                <a:cs typeface="Times New Roman" pitchFamily="34" charset="-120"/>
              </a:rPr>
              <a:t>c</a:t>
            </a:r>
            <a:pPr algn="l" marL="254000" indent="-254000">
              <a:spcAft>
                <a:spcPts val="900"/>
              </a:spcAft>
              <a:buSzPct val="100000"/>
              <a:buChar char="•"/>
            </a:pPr>
            <a:r>
              <a:rPr lang="en-US" sz="1500" dirty="0">
                <a:solidFill>
                  <a:srgbClr val="1B2A3D"/>
                </a:solidFill>
                <a:latin typeface="Times New Roman" pitchFamily="34" charset="0"/>
                <a:ea typeface="Times New Roman" pitchFamily="34" charset="-122"/>
                <a:cs typeface="Times New Roman" pitchFamily="34" charset="-120"/>
              </a:rPr>
              <a:t>(i) suy ra </a:t>
            </a:r>
            <a:pPr algn="l" marL="254000" indent="-254000">
              <a:spcAft>
                <a:spcPts val="900"/>
              </a:spcAft>
              <a:buSzPct val="100000"/>
              <a:buChar char="•"/>
            </a:pPr>
            <a:r>
              <a:rPr lang="en-US" sz="1500" b="1" dirty="0">
                <a:solidFill>
                  <a:srgbClr val="1B2A3D"/>
                </a:solidFill>
                <a:latin typeface="Times New Roman" pitchFamily="34" charset="0"/>
                <a:ea typeface="Times New Roman" pitchFamily="34" charset="-122"/>
                <a:cs typeface="Times New Roman" pitchFamily="34" charset="-120"/>
              </a:rPr>
              <a:t>từ HUI của ô</a:t>
            </a:r>
            <a:endParaRPr lang="en-US" sz="1500" dirty="0"/>
          </a:p>
          <a:p>
            <a:pPr algn="l" marL="254000" indent="-254000">
              <a:spcAft>
                <a:spcPts val="900"/>
              </a:spcAft>
              <a:buSzPct val="100000"/>
              <a:buChar char="•"/>
            </a:pPr>
            <a:r>
              <a:rPr lang="en-US" sz="1500" dirty="0">
                <a:solidFill>
                  <a:srgbClr val="1B2A3D"/>
                </a:solidFill>
                <a:latin typeface="Times New Roman" pitchFamily="34" charset="0"/>
                <a:ea typeface="Times New Roman" pitchFamily="34" charset="-122"/>
                <a:cs typeface="Times New Roman" pitchFamily="34" charset="-120"/>
              </a:rPr>
              <a:t>Bộ hồi quy học </a:t>
            </a:r>
            <a:pPr algn="l" marL="254000" indent="-254000">
              <a:spcAft>
                <a:spcPts val="900"/>
              </a:spcAft>
              <a:buSzPct val="100000"/>
              <a:buChar char="•"/>
            </a:pPr>
            <a:r>
              <a:rPr lang="en-US" sz="1500" b="1" dirty="0">
                <a:solidFill>
                  <a:srgbClr val="1B2A3D"/>
                </a:solidFill>
                <a:latin typeface="Times New Roman" pitchFamily="34" charset="0"/>
                <a:ea typeface="Times New Roman" pitchFamily="34" charset="-122"/>
                <a:cs typeface="Times New Roman" pitchFamily="34" charset="-120"/>
              </a:rPr>
              <a:t>chỉ trên fold dev</a:t>
            </a:r>
            <a:pPr algn="l" marL="254000" indent="-254000">
              <a:spcAft>
                <a:spcPts val="900"/>
              </a:spcAft>
              <a:buSzPct val="100000"/>
              <a:buChar char="•"/>
            </a:pPr>
            <a:r>
              <a:rPr lang="en-US" sz="1500" dirty="0">
                <a:solidFill>
                  <a:srgbClr val="1B2A3D"/>
                </a:solidFill>
                <a:latin typeface="Times New Roman" pitchFamily="34" charset="0"/>
                <a:ea typeface="Times New Roman" pitchFamily="34" charset="-122"/>
                <a:cs typeface="Times New Roman" pitchFamily="34" charset="-120"/>
              </a:rPr>
              <a:t>, nhãn = khoảng cách ô – vị trí thật</a:t>
            </a:r>
            <a:endParaRPr lang="en-US" sz="1500" dirty="0"/>
          </a:p>
          <a:p>
            <a:pPr algn="l" marL="254000" indent="-254000">
              <a:spcAft>
                <a:spcPts val="900"/>
              </a:spcAft>
              <a:buSzPct val="100000"/>
              <a:buChar char="•"/>
            </a:pPr>
            <a:r>
              <a:rPr lang="en-US" sz="1500" dirty="0">
                <a:solidFill>
                  <a:srgbClr val="1B2A3D"/>
                </a:solidFill>
                <a:latin typeface="Times New Roman" pitchFamily="34" charset="0"/>
                <a:ea typeface="Times New Roman" pitchFamily="34" charset="-122"/>
                <a:cs typeface="Times New Roman" pitchFamily="34" charset="-120"/>
              </a:rPr>
              <a:t>Toạ độ: trọng tâm 20 ô dự đoán gần nhất, λ = 2 m</a:t>
            </a:r>
            <a:endParaRPr lang="en-US" sz="1500" dirty="0"/>
          </a:p>
          <a:p>
            <a:pPr algn="l" marL="254000" indent="-254000">
              <a:spcAft>
                <a:spcPts val="900"/>
              </a:spcAft>
              <a:buSzPct val="100000"/>
              <a:buChar char="•"/>
            </a:pPr>
            <a:r>
              <a:rPr lang="en-US" sz="1500" dirty="0">
                <a:solidFill>
                  <a:srgbClr val="1B2A3D"/>
                </a:solidFill>
                <a:latin typeface="Times New Roman" pitchFamily="34" charset="0"/>
                <a:ea typeface="Times New Roman" pitchFamily="34" charset="-122"/>
                <a:cs typeface="Times New Roman" pitchFamily="34" charset="-120"/>
              </a:rPr>
              <a:t>Dev: </a:t>
            </a:r>
            <a:pPr algn="l" marL="254000" indent="-254000">
              <a:spcAft>
                <a:spcPts val="900"/>
              </a:spcAft>
              <a:buSzPct val="100000"/>
              <a:buChar char="•"/>
            </a:pPr>
            <a:r>
              <a:rPr lang="en-US" sz="1500" b="1" dirty="0">
                <a:solidFill>
                  <a:srgbClr val="1B2A3D"/>
                </a:solidFill>
                <a:latin typeface="Times New Roman" pitchFamily="34" charset="0"/>
                <a:ea typeface="Times New Roman" pitchFamily="34" charset="-122"/>
                <a:cs typeface="Times New Roman" pitchFamily="34" charset="-120"/>
              </a:rPr>
              <a:t>7,65 → 6,83 m</a:t>
            </a:r>
            <a:endParaRPr lang="en-US" sz="15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MÔ HÌNH ĐỀ XUẤT · BƯỚC 8</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Năm nhóm bằng chứng HUI và vai trò của bộ hồi quy</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2A7F8F"/>
          </a:solidFill>
          <a:ln w="12700">
            <a:solidFill>
              <a:srgbClr val="2A7F8F"/>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E3E0D8"/>
          </a:solidFill>
          <a:ln w="12700">
            <a:solidFill>
              <a:srgbClr val="E3E0D8"/>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43200"/>
                <a:gridCol w="6858000"/>
                <a:gridCol w="1463040"/>
              </a:tblGrid>
              <a:tr h="457200">
                <a:tc>
                  <a:txBody>
                    <a:bodyP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Nhóm bằng chứng</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1F3A5F"/>
                    </a:solidFill>
                  </a:tcPr>
                </a:tc>
                <a:tc>
                  <a:txBody>
                    <a:bodyP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Đặc trưng</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1F3A5F"/>
                    </a:solidFill>
                  </a:tcPr>
                </a:tc>
                <a:tc>
                  <a:txBody>
                    <a:bodyP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Số</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B2A3D"/>
                          </a:solidFill>
                          <a:latin typeface="Times New Roman" pitchFamily="34" charset="0"/>
                          <a:ea typeface="Times New Roman" pitchFamily="34" charset="-122"/>
                          <a:cs typeface="Times New Roman" pitchFamily="34" charset="-120"/>
                        </a:rPr>
                        <a:t>Điểm khớp HUI (rank)</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A3D"/>
                          </a:solidFill>
                          <a:latin typeface="Times New Roman" pitchFamily="34" charset="0"/>
                          <a:ea typeface="Times New Roman" pitchFamily="34" charset="-122"/>
                          <a:cs typeface="Times New Roman" pitchFamily="34" charset="-120"/>
                        </a:rPr>
                        <a:t>S, P (γ = 1, 2), V, R, P với IDF của HUI, thứ hạng</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A3D"/>
                          </a:solidFill>
                          <a:latin typeface="Times New Roman" pitchFamily="34" charset="0"/>
                          <a:ea typeface="Times New Roman" pitchFamily="34" charset="-122"/>
                          <a:cs typeface="Times New Roman" pitchFamily="34" charset="-120"/>
                        </a:rPr>
                        <a:t>10</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1B2A3D"/>
                          </a:solidFill>
                          <a:latin typeface="Times New Roman" pitchFamily="34" charset="0"/>
                          <a:ea typeface="Times New Roman" pitchFamily="34" charset="-122"/>
                          <a:cs typeface="Times New Roman" pitchFamily="34" charset="-120"/>
                        </a:rPr>
                        <a:t>Đồng thuận không gian</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c>
                  <a:txBody>
                    <a:bodyPr/>
                    <a:lstStyle/>
                    <a:p>
                      <a:pPr algn="l" indent="0" marL="0">
                        <a:buNone/>
                      </a:pPr>
                      <a:r>
                        <a:rPr lang="en-US" sz="1300" dirty="0">
                          <a:solidFill>
                            <a:srgbClr val="1B2A3D"/>
                          </a:solidFill>
                          <a:latin typeface="Times New Roman" pitchFamily="34" charset="0"/>
                          <a:ea typeface="Times New Roman" pitchFamily="34" charset="-122"/>
                          <a:cs typeface="Times New Roman" pitchFamily="34" charset="-120"/>
                        </a:rPr>
                        <a:t>khoảng cách tới ước lượng ban đầu, tới ô đầu, mật độ ứng viên</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c>
                  <a:txBody>
                    <a:bodyPr/>
                    <a:lstStyle/>
                    <a:p>
                      <a:pPr algn="ctr" indent="0" marL="0">
                        <a:buNone/>
                      </a:pPr>
                      <a:r>
                        <a:rPr lang="en-US" sz="1300" dirty="0">
                          <a:solidFill>
                            <a:srgbClr val="1B2A3D"/>
                          </a:solidFill>
                          <a:latin typeface="Times New Roman" pitchFamily="34" charset="0"/>
                          <a:ea typeface="Times New Roman" pitchFamily="34" charset="-122"/>
                          <a:cs typeface="Times New Roman" pitchFamily="34" charset="-120"/>
                        </a:rPr>
                        <a:t>4</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r>
              <a:tr h="457200">
                <a:tc>
                  <a:txBody>
                    <a:bodyPr/>
                    <a:lstStyle/>
                    <a:p>
                      <a:pPr algn="l" indent="0" marL="0">
                        <a:buNone/>
                      </a:pPr>
                      <a:r>
                        <a:rPr lang="en-US" sz="1300" dirty="0">
                          <a:solidFill>
                            <a:srgbClr val="1B2A3D"/>
                          </a:solidFill>
                          <a:latin typeface="Times New Roman" pitchFamily="34" charset="0"/>
                          <a:ea typeface="Times New Roman" pitchFamily="34" charset="-122"/>
                          <a:cs typeface="Times New Roman" pitchFamily="34" charset="-120"/>
                        </a:rPr>
                        <a:t>Mô hình mức cường độ</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A3D"/>
                          </a:solidFill>
                          <a:latin typeface="Times New Roman" pitchFamily="34" charset="0"/>
                          <a:ea typeface="Times New Roman" pitchFamily="34" charset="-122"/>
                          <a:cs typeface="Times New Roman" pitchFamily="34" charset="-120"/>
                        </a:rPr>
                        <a:t>P, V, điểm, thứ hạng, MAE và cosin hồ sơ</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A3D"/>
                          </a:solidFill>
                          <a:latin typeface="Times New Roman" pitchFamily="34" charset="0"/>
                          <a:ea typeface="Times New Roman" pitchFamily="34" charset="-122"/>
                          <a:cs typeface="Times New Roman" pitchFamily="34" charset="-120"/>
                        </a:rPr>
                        <a:t>6</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1B2A3D"/>
                          </a:solidFill>
                          <a:latin typeface="Times New Roman" pitchFamily="34" charset="0"/>
                          <a:ea typeface="Times New Roman" pitchFamily="34" charset="-122"/>
                          <a:cs typeface="Times New Roman" pitchFamily="34" charset="-120"/>
                        </a:rPr>
                        <a:t>Hồ sơ cường độ (rank)</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c>
                  <a:txBody>
                    <a:bodyPr/>
                    <a:lstStyle/>
                    <a:p>
                      <a:pPr algn="l" indent="0" marL="0">
                        <a:buNone/>
                      </a:pPr>
                      <a:r>
                        <a:rPr lang="en-US" sz="1300" dirty="0">
                          <a:solidFill>
                            <a:srgbClr val="1B2A3D"/>
                          </a:solidFill>
                          <a:latin typeface="Times New Roman" pitchFamily="34" charset="0"/>
                          <a:ea typeface="Times New Roman" pitchFamily="34" charset="-122"/>
                          <a:cs typeface="Times New Roman" pitchFamily="34" charset="-120"/>
                        </a:rPr>
                        <a:t>MAE, tương quan, cosin, khối lượng AP mạnh nhất, số AP chung</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c>
                  <a:txBody>
                    <a:bodyPr/>
                    <a:lstStyle/>
                    <a:p>
                      <a:pPr algn="ctr" indent="0" marL="0">
                        <a:buNone/>
                      </a:pPr>
                      <a:r>
                        <a:rPr lang="en-US" sz="1300" dirty="0">
                          <a:solidFill>
                            <a:srgbClr val="1B2A3D"/>
                          </a:solidFill>
                          <a:latin typeface="Times New Roman" pitchFamily="34" charset="0"/>
                          <a:ea typeface="Times New Roman" pitchFamily="34" charset="-122"/>
                          <a:cs typeface="Times New Roman" pitchFamily="34" charset="-120"/>
                        </a:rPr>
                        <a:t>5</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r>
              <a:tr h="457200">
                <a:tc>
                  <a:txBody>
                    <a:bodyPr/>
                    <a:lstStyle/>
                    <a:p>
                      <a:pPr algn="l" indent="0" marL="0">
                        <a:buNone/>
                      </a:pPr>
                      <a:r>
                        <a:rPr lang="en-US" sz="1300" dirty="0">
                          <a:solidFill>
                            <a:srgbClr val="1B2A3D"/>
                          </a:solidFill>
                          <a:latin typeface="Times New Roman" pitchFamily="34" charset="0"/>
                          <a:ea typeface="Times New Roman" pitchFamily="34" charset="-122"/>
                          <a:cs typeface="Times New Roman" pitchFamily="34" charset="-120"/>
                        </a:rPr>
                        <a:t>Mô hình lợi ích abs</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A3D"/>
                          </a:solidFill>
                          <a:latin typeface="Times New Roman" pitchFamily="34" charset="0"/>
                          <a:ea typeface="Times New Roman" pitchFamily="34" charset="-122"/>
                          <a:cs typeface="Times New Roman" pitchFamily="34" charset="-120"/>
                        </a:rPr>
                        <a:t>P, V, R, điểm, thứ hạng, MAE, tương quan, cosin</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A3D"/>
                          </a:solidFill>
                          <a:latin typeface="Times New Roman" pitchFamily="34" charset="0"/>
                          <a:ea typeface="Times New Roman" pitchFamily="34" charset="-122"/>
                          <a:cs typeface="Times New Roman" pitchFamily="34" charset="-120"/>
                        </a:rPr>
                        <a:t>8</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r>
            </a:tbl>
          </a:graphicData>
        </a:graphic>
      </p:graphicFrame>
      <p:sp>
        <p:nvSpPr>
          <p:cNvPr id="16" name="Shape 12"/>
          <p:cNvSpPr/>
          <p:nvPr/>
        </p:nvSpPr>
        <p:spPr>
          <a:xfrm>
            <a:off x="548640" y="4526280"/>
            <a:ext cx="11094415" cy="1645920"/>
          </a:xfrm>
          <a:prstGeom prst="rect">
            <a:avLst/>
          </a:prstGeom>
          <a:solidFill>
            <a:srgbClr val="F7EAE3"/>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17" name="Shape 13"/>
          <p:cNvSpPr/>
          <p:nvPr/>
        </p:nvSpPr>
        <p:spPr>
          <a:xfrm>
            <a:off x="548640" y="4526280"/>
            <a:ext cx="64008" cy="1645920"/>
          </a:xfrm>
          <a:prstGeom prst="rect">
            <a:avLst/>
          </a:prstGeom>
          <a:solidFill>
            <a:srgbClr val="B5532A"/>
          </a:solidFill>
          <a:ln w="12700">
            <a:solidFill>
              <a:srgbClr val="B5532A"/>
            </a:solidFill>
            <a:prstDash val="solid"/>
          </a:ln>
        </p:spPr>
      </p:sp>
      <p:sp>
        <p:nvSpPr>
          <p:cNvPr id="18" name="Text 14"/>
          <p:cNvSpPr txBox="1"/>
          <p:nvPr/>
        </p:nvSpPr>
        <p:spPr>
          <a:xfrm>
            <a:off x="868680" y="4663440"/>
            <a:ext cx="10454335" cy="1417320"/>
          </a:xfrm>
          <a:prstGeom prst="rect">
            <a:avLst/>
          </a:prstGeom>
          <a:noFill/>
          <a:ln/>
        </p:spPr>
        <p:txBody>
          <a:bodyPr wrap="square" lIns="0" tIns="0" rIns="0" bIns="0" rtlCol="0" anchor="ctr"/>
          <a:lstStyle/>
          <a:p>
            <a:pPr indent="0" marL="0">
              <a:buNone/>
            </a:pPr>
            <a:r>
              <a:rPr lang="en-US" sz="1600" b="1" dirty="0">
                <a:solidFill>
                  <a:srgbClr val="1B2A3D"/>
                </a:solidFill>
                <a:latin typeface="Times New Roman" pitchFamily="34" charset="0"/>
                <a:ea typeface="Times New Roman" pitchFamily="34" charset="-122"/>
                <a:cs typeface="Times New Roman" pitchFamily="34" charset="-120"/>
              </a:rPr>
              <a:t>Nói rõ với hội đồng:</a:t>
            </a:r>
            <a:pPr indent="0" marL="0">
              <a:buNone/>
            </a:pPr>
            <a:r>
              <a:rPr lang="en-US" sz="1600" dirty="0">
                <a:solidFill>
                  <a:srgbClr val="1B2A3D"/>
                </a:solidFill>
                <a:latin typeface="Times New Roman" pitchFamily="34" charset="0"/>
                <a:ea typeface="Times New Roman" pitchFamily="34" charset="-122"/>
                <a:cs typeface="Times New Roman" pitchFamily="34" charset="-120"/>
              </a:rPr>
              <a:t> bộ hồi quy chỉ nhận bằng chứng do HUI tạo ra và chỉ chọn giữa các ô có điểm HUI cao nhất; bỏ HUIM thì không còn ứng viên lẫn đặc trưng. Nhưng việc </a:t>
            </a:r>
            <a:pPr indent="0" marL="0">
              <a:buNone/>
            </a:pPr>
            <a:r>
              <a:rPr lang="en-US" sz="1600" b="1" dirty="0">
                <a:solidFill>
                  <a:srgbClr val="1B2A3D"/>
                </a:solidFill>
                <a:latin typeface="Times New Roman" pitchFamily="34" charset="0"/>
                <a:ea typeface="Times New Roman" pitchFamily="34" charset="-122"/>
                <a:cs typeface="Times New Roman" pitchFamily="34" charset="-120"/>
              </a:rPr>
              <a:t>cân</a:t>
            </a:r>
            <a:pPr indent="0" marL="0">
              <a:buNone/>
            </a:pPr>
            <a:r>
              <a:rPr lang="en-US" sz="1600" dirty="0">
                <a:solidFill>
                  <a:srgbClr val="1B2A3D"/>
                </a:solidFill>
                <a:latin typeface="Times New Roman" pitchFamily="34" charset="0"/>
                <a:ea typeface="Times New Roman" pitchFamily="34" charset="-122"/>
                <a:cs typeface="Times New Roman" pitchFamily="34" charset="-120"/>
              </a:rPr>
              <a:t> các bằng chứng là do học máy; phiên bản không dùng bộ hồi quy (Bước 1–7) đạt </a:t>
            </a:r>
            <a:pPr indent="0" marL="0">
              <a:buNone/>
            </a:pPr>
            <a:r>
              <a:rPr lang="en-US" sz="1600" b="1" dirty="0">
                <a:solidFill>
                  <a:srgbClr val="1B2A3D"/>
                </a:solidFill>
                <a:latin typeface="Times New Roman" pitchFamily="34" charset="0"/>
                <a:ea typeface="Times New Roman" pitchFamily="34" charset="-122"/>
                <a:cs typeface="Times New Roman" pitchFamily="34" charset="-120"/>
              </a:rPr>
              <a:t>8,06 m</a:t>
            </a:r>
            <a:pPr indent="0" marL="0">
              <a:buNone/>
            </a:pPr>
            <a:r>
              <a:rPr lang="en-US" sz="1600" dirty="0">
                <a:solidFill>
                  <a:srgbClr val="1B2A3D"/>
                </a:solidFill>
                <a:latin typeface="Times New Roman" pitchFamily="34" charset="0"/>
                <a:ea typeface="Times New Roman" pitchFamily="34" charset="-122"/>
                <a:cs typeface="Times New Roman" pitchFamily="34" charset="-120"/>
              </a:rPr>
              <a:t> trên UJIIndoorLoc.</a:t>
            </a:r>
            <a:endParaRPr lang="en-US" sz="16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1188720"/>
            <a:ext cx="2743200" cy="1463040"/>
          </a:xfrm>
          <a:prstGeom prst="rect">
            <a:avLst/>
          </a:prstGeom>
          <a:noFill/>
          <a:ln/>
        </p:spPr>
        <p:txBody>
          <a:bodyPr wrap="square" lIns="0" tIns="0" rIns="0" bIns="0" rtlCol="0" anchor="ctr"/>
          <a:lstStyle/>
          <a:p>
            <a:pPr indent="0" marL="0">
              <a:buNone/>
            </a:pPr>
            <a:r>
              <a:rPr lang="en-US" sz="11000" b="1" dirty="0">
                <a:solidFill>
                  <a:srgbClr val="7FB3BF"/>
                </a:solidFill>
                <a:latin typeface="Times New Roman" pitchFamily="34" charset="0"/>
                <a:ea typeface="Times New Roman" pitchFamily="34" charset="-122"/>
                <a:cs typeface="Times New Roman" pitchFamily="34" charset="-120"/>
              </a:rPr>
              <a:t>04</a:t>
            </a:r>
            <a:endParaRPr lang="en-US" sz="11000" dirty="0"/>
          </a:p>
        </p:txBody>
      </p:sp>
      <p:sp>
        <p:nvSpPr>
          <p:cNvPr id="3" name="Text 1"/>
          <p:cNvSpPr txBox="1"/>
          <p:nvPr/>
        </p:nvSpPr>
        <p:spPr>
          <a:xfrm>
            <a:off x="548640" y="2743200"/>
            <a:ext cx="7772400" cy="914400"/>
          </a:xfrm>
          <a:prstGeom prst="rect">
            <a:avLst/>
          </a:prstGeom>
          <a:noFill/>
          <a:ln/>
        </p:spPr>
        <p:txBody>
          <a:bodyPr wrap="square" lIns="0" tIns="0" rIns="0" bIns="0" rtlCol="0" anchor="ctr"/>
          <a:lstStyle/>
          <a:p>
            <a:pPr indent="0" marL="0">
              <a:buNone/>
            </a:pPr>
            <a:r>
              <a:rPr lang="en-US" sz="3800" b="1" dirty="0">
                <a:solidFill>
                  <a:srgbClr val="FFFFFF"/>
                </a:solidFill>
                <a:latin typeface="Times New Roman" pitchFamily="34" charset="0"/>
                <a:ea typeface="Times New Roman" pitchFamily="34" charset="-122"/>
                <a:cs typeface="Times New Roman" pitchFamily="34" charset="-120"/>
              </a:rPr>
              <a:t>Thực nghiệm và đánh giá</a:t>
            </a:r>
            <a:endParaRPr lang="en-US" sz="3800" dirty="0"/>
          </a:p>
        </p:txBody>
      </p:sp>
      <p:sp>
        <p:nvSpPr>
          <p:cNvPr id="4" name="Shape 2"/>
          <p:cNvSpPr/>
          <p:nvPr/>
        </p:nvSpPr>
        <p:spPr>
          <a:xfrm>
            <a:off x="548640" y="3794760"/>
            <a:ext cx="2377440" cy="0"/>
          </a:xfrm>
          <a:prstGeom prst="line">
            <a:avLst/>
          </a:prstGeom>
          <a:noFill/>
          <a:ln w="25400">
            <a:solidFill>
              <a:srgbClr val="C9A227"/>
            </a:solidFill>
            <a:prstDash val="solid"/>
          </a:ln>
        </p:spPr>
      </p:sp>
      <p:sp>
        <p:nvSpPr>
          <p:cNvPr id="5" name="Text 3"/>
          <p:cNvSpPr txBox="1"/>
          <p:nvPr/>
        </p:nvSpPr>
        <p:spPr>
          <a:xfrm>
            <a:off x="548640" y="3977640"/>
            <a:ext cx="7315200" cy="2194560"/>
          </a:xfrm>
          <a:prstGeom prst="rect">
            <a:avLst/>
          </a:prstGeom>
          <a:noFill/>
          <a:ln/>
        </p:spPr>
        <p:txBody>
          <a:bodyPr wrap="square" lIns="0" tIns="0" rIns="0" bIns="0" rtlCol="0" anchor="t"/>
          <a:lstStyle/>
          <a:p>
            <a:pPr indent="0" marL="0">
              <a:spcAft>
                <a:spcPts val="600"/>
              </a:spcAft>
              <a:buNone/>
            </a:pPr>
            <a:r>
              <a:rPr lang="en-US" sz="1800" dirty="0">
                <a:solidFill>
                  <a:srgbClr val="DCE6EE"/>
                </a:solidFill>
                <a:latin typeface="Times New Roman" pitchFamily="34" charset="0"/>
                <a:ea typeface="Times New Roman" pitchFamily="34" charset="-122"/>
                <a:cs typeface="Times New Roman" pitchFamily="34" charset="-120"/>
              </a:rPr>
              <a:t>Sáu bộ dữ liệu, giao thức không rò rỉ</a:t>
            </a:r>
            <a:endParaRPr lang="en-US" sz="1800" dirty="0"/>
          </a:p>
          <a:p>
            <a:pPr indent="0" marL="0">
              <a:spcAft>
                <a:spcPts val="600"/>
              </a:spcAft>
              <a:buNone/>
            </a:pPr>
            <a:r>
              <a:rPr lang="en-US" sz="1800" dirty="0">
                <a:solidFill>
                  <a:srgbClr val="DCE6EE"/>
                </a:solidFill>
                <a:latin typeface="Times New Roman" pitchFamily="34" charset="0"/>
                <a:ea typeface="Times New Roman" pitchFamily="34" charset="-122"/>
                <a:cs typeface="Times New Roman" pitchFamily="34" charset="-120"/>
              </a:rPr>
              <a:t>9/9 tập kiểm tra dưới 7 m</a:t>
            </a:r>
            <a:endParaRPr lang="en-US" sz="1800" dirty="0"/>
          </a:p>
          <a:p>
            <a:pPr indent="0" marL="0">
              <a:spcAft>
                <a:spcPts val="600"/>
              </a:spcAft>
              <a:buNone/>
            </a:pPr>
            <a:r>
              <a:rPr lang="en-US" sz="1800" dirty="0">
                <a:solidFill>
                  <a:srgbClr val="DCE6EE"/>
                </a:solidFill>
                <a:latin typeface="Times New Roman" pitchFamily="34" charset="0"/>
                <a:ea typeface="Times New Roman" pitchFamily="34" charset="-122"/>
                <a:cs typeface="Times New Roman" pitchFamily="34" charset="-120"/>
              </a:rPr>
              <a:t>Phân tích, so sánh và kiểm chứng</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THỰC NGHIỆM · DỮ LIỆU</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Sáu bộ dữ liệu thực nghiệm</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2A7F8F"/>
          </a:solidFill>
          <a:ln w="12700">
            <a:solidFill>
              <a:srgbClr val="2A7F8F"/>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pic>
        <p:nvPicPr>
          <p:cNvPr id="15" name="Image 0" descr="Sáu bộ dữ liệu thực nghiệm">    </p:cNvPr>
          <p:cNvPicPr>
            <a:picLocks noChangeAspect="1"/>
          </p:cNvPicPr>
          <p:nvPr/>
        </p:nvPicPr>
        <p:blipFill>
          <a:blip r:embed="rId1"/>
          <a:stretch>
            <a:fillRect/>
          </a:stretch>
        </p:blipFill>
        <p:spPr>
          <a:xfrm>
            <a:off x="548640" y="1371600"/>
            <a:ext cx="11094415" cy="3408719"/>
          </a:xfrm>
          <a:prstGeom prst="rect">
            <a:avLst/>
          </a:prstGeom>
        </p:spPr>
      </p:pic>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THỰC NGHIỆM · DỮ LIỆU</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UJIIndoorLoc: tập kiểm tra dùng điện thoại lạ</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2A7F8F"/>
          </a:solidFill>
          <a:ln w="12700">
            <a:solidFill>
              <a:srgbClr val="2A7F8F"/>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pic>
        <p:nvPicPr>
          <p:cNvPr id="15" name="Image 0" descr="Điện thoại">    </p:cNvPr>
          <p:cNvPicPr>
            <a:picLocks noChangeAspect="1"/>
          </p:cNvPicPr>
          <p:nvPr/>
        </p:nvPicPr>
        <p:blipFill>
          <a:blip r:embed="rId1"/>
          <a:stretch>
            <a:fillRect/>
          </a:stretch>
        </p:blipFill>
        <p:spPr>
          <a:xfrm>
            <a:off x="1294175" y="1325880"/>
            <a:ext cx="9603346" cy="3291840"/>
          </a:xfrm>
          <a:prstGeom prst="rect">
            <a:avLst/>
          </a:prstGeom>
        </p:spPr>
      </p:pic>
      <p:pic>
        <p:nvPicPr>
          <p:cNvPr id="16" name="Image 1" descr="Số AP">    </p:cNvPr>
          <p:cNvPicPr>
            <a:picLocks noChangeAspect="1"/>
          </p:cNvPicPr>
          <p:nvPr/>
        </p:nvPicPr>
        <p:blipFill>
          <a:blip r:embed="rId2"/>
          <a:stretch>
            <a:fillRect/>
          </a:stretch>
        </p:blipFill>
        <p:spPr>
          <a:xfrm>
            <a:off x="548640" y="4663440"/>
            <a:ext cx="3078480" cy="1645920"/>
          </a:xfrm>
          <a:prstGeom prst="rect">
            <a:avLst/>
          </a:prstGeom>
        </p:spPr>
      </p:pic>
      <p:sp>
        <p:nvSpPr>
          <p:cNvPr id="17" name="Text 12"/>
          <p:cNvSpPr txBox="1"/>
          <p:nvPr/>
        </p:nvSpPr>
        <p:spPr>
          <a:xfrm>
            <a:off x="6035040" y="4846320"/>
            <a:ext cx="5608015" cy="1371600"/>
          </a:xfrm>
          <a:prstGeom prst="rect">
            <a:avLst/>
          </a:prstGeom>
          <a:noFill/>
          <a:ln/>
        </p:spPr>
        <p:txBody>
          <a:bodyPr wrap="square" lIns="0" tIns="0" rIns="0" bIns="0" rtlCol="0" anchor="t"/>
          <a:lstStyle/>
          <a:p>
            <a:pPr indent="0" marL="0">
              <a:buNone/>
            </a:pPr>
            <a:r>
              <a:rPr lang="en-US" sz="1600" b="1" dirty="0">
                <a:solidFill>
                  <a:srgbClr val="1B2A3D"/>
                </a:solidFill>
                <a:latin typeface="Times New Roman" pitchFamily="34" charset="0"/>
                <a:ea typeface="Times New Roman" pitchFamily="34" charset="-122"/>
                <a:cs typeface="Times New Roman" pitchFamily="34" charset="-120"/>
              </a:rPr>
              <a:t>9/11 điện thoại</a:t>
            </a:r>
            <a:pPr indent="0" marL="0">
              <a:buNone/>
            </a:pPr>
            <a:r>
              <a:rPr lang="en-US" sz="1600" dirty="0">
                <a:solidFill>
                  <a:srgbClr val="1B2A3D"/>
                </a:solidFill>
                <a:latin typeface="Times New Roman" pitchFamily="34" charset="0"/>
                <a:ea typeface="Times New Roman" pitchFamily="34" charset="-122"/>
                <a:cs typeface="Times New Roman" pitchFamily="34" charset="-120"/>
              </a:rPr>
              <a:t> của tập kiểm tra không có trong tập huấn luyện → fold dev </a:t>
            </a:r>
            <a:pPr indent="0" marL="0">
              <a:buNone/>
            </a:pPr>
            <a:r>
              <a:rPr lang="en-US" sz="1600" b="1" dirty="0">
                <a:solidFill>
                  <a:srgbClr val="1B2A3D"/>
                </a:solidFill>
                <a:latin typeface="Times New Roman" pitchFamily="34" charset="0"/>
                <a:ea typeface="Times New Roman" pitchFamily="34" charset="-122"/>
                <a:cs typeface="Times New Roman" pitchFamily="34" charset="-120"/>
              </a:rPr>
              <a:t>giữ lại theo điện thoại</a:t>
            </a:r>
            <a:pPr indent="0" marL="0">
              <a:buNone/>
            </a:pPr>
            <a:r>
              <a:rPr lang="en-US" sz="1600" dirty="0">
                <a:solidFill>
                  <a:srgbClr val="1B2A3D"/>
                </a:solidFill>
                <a:latin typeface="Times New Roman" pitchFamily="34" charset="0"/>
                <a:ea typeface="Times New Roman" pitchFamily="34" charset="-122"/>
                <a:cs typeface="Times New Roman" pitchFamily="34" charset="-120"/>
              </a:rPr>
              <a:t> (GroupKFold trên PHONEID) để mô phỏng đúng tình huống gặp thiết bị lạ.</a:t>
            </a:r>
            <a:endParaRPr lang="en-US" sz="16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THỰC NGHIỆM · GIAO THỨC</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Chọn trên dev, chấm tập kiểm tra đúng một lần</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2A7F8F"/>
          </a:solidFill>
          <a:ln w="12700">
            <a:solidFill>
              <a:srgbClr val="2A7F8F"/>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pic>
        <p:nvPicPr>
          <p:cNvPr id="15" name="Image 0" descr="Giao thức">    </p:cNvPr>
          <p:cNvPicPr>
            <a:picLocks noChangeAspect="1"/>
          </p:cNvPicPr>
          <p:nvPr/>
        </p:nvPicPr>
        <p:blipFill>
          <a:blip r:embed="rId1"/>
          <a:stretch>
            <a:fillRect/>
          </a:stretch>
        </p:blipFill>
        <p:spPr>
          <a:xfrm>
            <a:off x="548640" y="1325880"/>
            <a:ext cx="7589520" cy="3902222"/>
          </a:xfrm>
          <a:prstGeom prst="rect">
            <a:avLst/>
          </a:prstGeom>
        </p:spPr>
      </p:pic>
      <p:pic>
        <p:nvPicPr>
          <p:cNvPr id="16" name="Image 1" descr="Sai số">    </p:cNvPr>
          <p:cNvPicPr>
            <a:picLocks noChangeAspect="1"/>
          </p:cNvPicPr>
          <p:nvPr/>
        </p:nvPicPr>
        <p:blipFill>
          <a:blip r:embed="rId2"/>
          <a:stretch>
            <a:fillRect/>
          </a:stretch>
        </p:blipFill>
        <p:spPr>
          <a:xfrm>
            <a:off x="731520" y="5410982"/>
            <a:ext cx="6043041" cy="777240"/>
          </a:xfrm>
          <a:prstGeom prst="rect">
            <a:avLst/>
          </a:prstGeom>
        </p:spPr>
      </p:pic>
      <p:sp>
        <p:nvSpPr>
          <p:cNvPr id="17" name="Text 12"/>
          <p:cNvSpPr txBox="1"/>
          <p:nvPr/>
        </p:nvSpPr>
        <p:spPr>
          <a:xfrm>
            <a:off x="8503920" y="1463040"/>
            <a:ext cx="3139135" cy="4754880"/>
          </a:xfrm>
          <a:prstGeom prst="rect">
            <a:avLst/>
          </a:prstGeom>
          <a:noFill/>
          <a:ln/>
        </p:spPr>
        <p:txBody>
          <a:bodyPr wrap="square" lIns="25400" tIns="25400" rIns="25400" bIns="25400" rtlCol="0" anchor="t"/>
          <a:lstStyle/>
          <a:p>
            <a:pPr algn="l" marL="254000" indent="-254000">
              <a:spcAft>
                <a:spcPts val="900"/>
              </a:spcAft>
              <a:buSzPct val="100000"/>
              <a:buChar char="•"/>
            </a:pPr>
            <a:r>
              <a:rPr lang="en-US" sz="1550" dirty="0">
                <a:solidFill>
                  <a:srgbClr val="1B2A3D"/>
                </a:solidFill>
                <a:latin typeface="Times New Roman" pitchFamily="34" charset="0"/>
                <a:ea typeface="Times New Roman" pitchFamily="34" charset="-122"/>
                <a:cs typeface="Times New Roman" pitchFamily="34" charset="-120"/>
              </a:rPr>
              <a:t>6 fold dev, </a:t>
            </a:r>
            <a:pPr algn="l" marL="254000" indent="-254000">
              <a:spcAft>
                <a:spcPts val="900"/>
              </a:spcAft>
              <a:buSzPct val="100000"/>
              <a:buChar char="•"/>
            </a:pPr>
            <a:r>
              <a:rPr lang="en-US" sz="1550" b="1" dirty="0">
                <a:solidFill>
                  <a:srgbClr val="1B2A3D"/>
                </a:solidFill>
                <a:latin typeface="Times New Roman" pitchFamily="34" charset="0"/>
                <a:ea typeface="Times New Roman" pitchFamily="34" charset="-122"/>
                <a:cs typeface="Times New Roman" pitchFamily="34" charset="-120"/>
              </a:rPr>
              <a:t>GroupKFold theo PHONEID</a:t>
            </a:r>
            <a:endParaRPr lang="en-US" sz="1550" dirty="0"/>
          </a:p>
          <a:p>
            <a:pPr algn="l" marL="254000" indent="-254000">
              <a:spcAft>
                <a:spcPts val="900"/>
              </a:spcAft>
              <a:buSzPct val="100000"/>
              <a:buChar char="•"/>
            </a:pPr>
            <a:r>
              <a:rPr lang="en-US" sz="1550" dirty="0">
                <a:solidFill>
                  <a:srgbClr val="1B2A3D"/>
                </a:solidFill>
                <a:latin typeface="Times New Roman" pitchFamily="34" charset="0"/>
                <a:ea typeface="Times New Roman" pitchFamily="34" charset="-122"/>
                <a:cs typeface="Times New Roman" pitchFamily="34" charset="-120"/>
              </a:rPr>
              <a:t>2 880 cấu hình Bước 1–7 so trên dev</a:t>
            </a:r>
            <a:endParaRPr lang="en-US" sz="1550" dirty="0"/>
          </a:p>
          <a:p>
            <a:pPr algn="l" marL="254000" indent="-254000">
              <a:spcAft>
                <a:spcPts val="900"/>
              </a:spcAft>
              <a:buSzPct val="100000"/>
              <a:buChar char="•"/>
            </a:pPr>
            <a:r>
              <a:rPr lang="en-US" sz="1550" dirty="0">
                <a:solidFill>
                  <a:srgbClr val="1B2A3D"/>
                </a:solidFill>
                <a:latin typeface="Times New Roman" pitchFamily="34" charset="0"/>
                <a:ea typeface="Times New Roman" pitchFamily="34" charset="-122"/>
                <a:cs typeface="Times New Roman" pitchFamily="34" charset="-120"/>
              </a:rPr>
              <a:t>Bước 8: đặc trưng ngoài fold, chọn K, m, λ trên dev</a:t>
            </a:r>
            <a:endParaRPr lang="en-US" sz="1550" dirty="0"/>
          </a:p>
          <a:p>
            <a:pPr algn="l" marL="254000" indent="-254000">
              <a:spcAft>
                <a:spcPts val="900"/>
              </a:spcAft>
              <a:buSzPct val="100000"/>
              <a:buChar char="•"/>
            </a:pPr>
            <a:r>
              <a:rPr lang="en-US" sz="1550" dirty="0">
                <a:solidFill>
                  <a:srgbClr val="1B2A3D"/>
                </a:solidFill>
                <a:latin typeface="Times New Roman" pitchFamily="34" charset="0"/>
                <a:ea typeface="Times New Roman" pitchFamily="34" charset="-122"/>
                <a:cs typeface="Times New Roman" pitchFamily="34" charset="-120"/>
              </a:rPr>
              <a:t>Tập kiểm tra không tham gia lựa chọn nào</a:t>
            </a:r>
            <a:endParaRPr lang="en-US" sz="1550" dirty="0"/>
          </a:p>
          <a:p>
            <a:pPr algn="l" marL="254000" indent="-254000">
              <a:spcAft>
                <a:spcPts val="900"/>
              </a:spcAft>
              <a:buSzPct val="100000"/>
              <a:buChar char="•"/>
            </a:pPr>
            <a:r>
              <a:rPr lang="en-US" sz="1550" dirty="0">
                <a:solidFill>
                  <a:srgbClr val="1B2A3D"/>
                </a:solidFill>
                <a:latin typeface="Times New Roman" pitchFamily="34" charset="0"/>
                <a:ea typeface="Times New Roman" pitchFamily="34" charset="-122"/>
                <a:cs typeface="Times New Roman" pitchFamily="34" charset="-120"/>
              </a:rPr>
              <a:t>50 phép kiểm chứng độc lập</a:t>
            </a:r>
            <a:endParaRPr lang="en-US" sz="155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THỰC NGHIỆM · CHỌN THAM SỐ</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Lựa chọn tham số Bước 1–7 trên dev</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2A7F8F"/>
          </a:solidFill>
          <a:ln w="12700">
            <a:solidFill>
              <a:srgbClr val="2A7F8F"/>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pic>
        <p:nvPicPr>
          <p:cNvPr id="15" name="Image 0" descr="Lựa chọn tham số Bước 1–7 trên dev">    </p:cNvPr>
          <p:cNvPicPr>
            <a:picLocks noChangeAspect="1"/>
          </p:cNvPicPr>
          <p:nvPr/>
        </p:nvPicPr>
        <p:blipFill>
          <a:blip r:embed="rId1"/>
          <a:stretch>
            <a:fillRect/>
          </a:stretch>
        </p:blipFill>
        <p:spPr>
          <a:xfrm>
            <a:off x="548640" y="1371600"/>
            <a:ext cx="6949440" cy="3855070"/>
          </a:xfrm>
          <a:prstGeom prst="rect">
            <a:avLst/>
          </a:prstGeom>
        </p:spPr>
      </p:pic>
      <p:sp>
        <p:nvSpPr>
          <p:cNvPr id="16" name="Text 12"/>
          <p:cNvSpPr txBox="1"/>
          <p:nvPr/>
        </p:nvSpPr>
        <p:spPr>
          <a:xfrm>
            <a:off x="7818120" y="1463040"/>
            <a:ext cx="3824935" cy="4754880"/>
          </a:xfrm>
          <a:prstGeom prst="rect">
            <a:avLst/>
          </a:prstGeom>
          <a:noFill/>
          <a:ln/>
        </p:spPr>
        <p:txBody>
          <a:bodyPr wrap="square" lIns="25400" tIns="25400" rIns="25400" bIns="25400" rtlCol="0" anchor="t"/>
          <a:lstStyle/>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UJIIndoorLoc: lợi ích </a:t>
            </a:r>
            <a:pPr algn="l" marL="254000" indent="-254000">
              <a:spcAft>
                <a:spcPts val="900"/>
              </a:spcAft>
              <a:buSzPct val="100000"/>
              <a:buChar char="•"/>
            </a:pPr>
            <a:r>
              <a:rPr lang="en-US" sz="1600" b="1" dirty="0">
                <a:solidFill>
                  <a:srgbClr val="1B2A3D"/>
                </a:solidFill>
                <a:latin typeface="Times New Roman" pitchFamily="34" charset="0"/>
                <a:ea typeface="Times New Roman" pitchFamily="34" charset="-122"/>
                <a:cs typeface="Times New Roman" pitchFamily="34" charset="-120"/>
              </a:rPr>
              <a:t>rank</a:t>
            </a:r>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 θ = 20%</a:t>
            </a:r>
            <a:endParaRPr lang="en-US" sz="1600" dirty="0"/>
          </a:p>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γ = 2, τ = 20, β = 3</a:t>
            </a:r>
            <a:endParaRPr lang="en-US" sz="1600" dirty="0"/>
          </a:p>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σ = 3 m, k</a:t>
            </a:r>
            <a:pPr algn="l" marL="254000" indent="-254000">
              <a:spcAft>
                <a:spcPts val="900"/>
              </a:spcAft>
              <a:buSzPct val="100000"/>
              <a:buChar char="•"/>
            </a:pPr>
            <a:r>
              <a:rPr lang="en-US" sz="1600" baseline="-40000" dirty="0">
                <a:solidFill>
                  <a:srgbClr val="1B2A3D"/>
                </a:solidFill>
                <a:latin typeface="Times New Roman" pitchFamily="34" charset="0"/>
                <a:ea typeface="Times New Roman" pitchFamily="34" charset="-122"/>
                <a:cs typeface="Times New Roman" pitchFamily="34" charset="-120"/>
              </a:rPr>
              <a:t>f</a:t>
            </a:r>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 = 20, m = 12, p = 8</a:t>
            </a:r>
            <a:endParaRPr lang="en-US" sz="1600" dirty="0"/>
          </a:p>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σ = 3 m có lợi; σ = 10 m làm mờ chữ ký ô</a:t>
            </a:r>
            <a:endParaRPr lang="en-US" sz="1600" dirty="0"/>
          </a:p>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Dev Bước 1–7: </a:t>
            </a:r>
            <a:pPr algn="l" marL="254000" indent="-254000">
              <a:spcAft>
                <a:spcPts val="900"/>
              </a:spcAft>
              <a:buSzPct val="100000"/>
              <a:buChar char="•"/>
            </a:pPr>
            <a:r>
              <a:rPr lang="en-US" sz="1600" b="1" dirty="0">
                <a:solidFill>
                  <a:srgbClr val="1B2A3D"/>
                </a:solidFill>
                <a:latin typeface="Times New Roman" pitchFamily="34" charset="0"/>
                <a:ea typeface="Times New Roman" pitchFamily="34" charset="-122"/>
                <a:cs typeface="Times New Roman" pitchFamily="34" charset="-120"/>
              </a:rPr>
              <a:t>7,65 m</a:t>
            </a:r>
            <a:endParaRPr lang="en-US" sz="16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THỰC NGHIỆM · KẾT QUẢ</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9/9 tập kiểm tra đạt sai số trung bình dưới 7 m</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2A7F8F"/>
          </a:solidFill>
          <a:ln w="12700">
            <a:solidFill>
              <a:srgbClr val="2A7F8F"/>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graphicFrame>
        <p:nvGraphicFramePr>
          <p:cNvPr id="15" name="Chart 0" descr=""/>
          <p:cNvGraphicFramePr/>
          <p:nvPr/>
        </p:nvGraphicFramePr>
        <p:xfrm>
          <a:off x="548640" y="1325880"/>
          <a:ext cx="7680960" cy="4937760"/>
        </p:xfrm>
        <a:graphic xmlns:a="http://schemas.openxmlformats.org/drawingml/2006/main">
          <a:graphicData uri="http://schemas.openxmlformats.org/drawingml/2006/chart">
            <c:chart xmlns:c="http://schemas.openxmlformats.org/drawingml/2006/chart" r:id="rId1"/>
          </a:graphicData>
        </a:graphic>
      </p:graphicFrame>
      <p:sp>
        <p:nvSpPr>
          <p:cNvPr id="16" name="Text 12"/>
          <p:cNvSpPr txBox="1"/>
          <p:nvPr/>
        </p:nvSpPr>
        <p:spPr>
          <a:xfrm>
            <a:off x="8595360" y="1463040"/>
            <a:ext cx="3047695" cy="731520"/>
          </a:xfrm>
          <a:prstGeom prst="rect">
            <a:avLst/>
          </a:prstGeom>
          <a:noFill/>
          <a:ln/>
        </p:spPr>
        <p:txBody>
          <a:bodyPr wrap="square" lIns="0" tIns="0" rIns="0" bIns="0" rtlCol="0" anchor="ctr"/>
          <a:lstStyle/>
          <a:p>
            <a:pPr indent="0" marL="0">
              <a:buNone/>
            </a:pPr>
            <a:r>
              <a:rPr lang="en-US" sz="4400" b="1" dirty="0">
                <a:solidFill>
                  <a:srgbClr val="2A7F8F"/>
                </a:solidFill>
                <a:latin typeface="Times New Roman" pitchFamily="34" charset="0"/>
                <a:ea typeface="Times New Roman" pitchFamily="34" charset="-122"/>
                <a:cs typeface="Times New Roman" pitchFamily="34" charset="-120"/>
              </a:rPr>
              <a:t>9/9</a:t>
            </a:r>
            <a:endParaRPr lang="en-US" sz="4400" dirty="0"/>
          </a:p>
        </p:txBody>
      </p:sp>
      <p:sp>
        <p:nvSpPr>
          <p:cNvPr id="17" name="Text 13"/>
          <p:cNvSpPr txBox="1"/>
          <p:nvPr/>
        </p:nvSpPr>
        <p:spPr>
          <a:xfrm>
            <a:off x="8595360" y="2212848"/>
            <a:ext cx="3047695" cy="548640"/>
          </a:xfrm>
          <a:prstGeom prst="rect">
            <a:avLst/>
          </a:prstGeom>
          <a:noFill/>
          <a:ln/>
        </p:spPr>
        <p:txBody>
          <a:bodyPr wrap="square" lIns="0" tIns="0" rIns="0" bIns="0" rtlCol="0" anchor="t"/>
          <a:lstStyle/>
          <a:p>
            <a:pPr indent="0" marL="0">
              <a:buNone/>
            </a:pPr>
            <a:r>
              <a:rPr lang="en-US" sz="1350" dirty="0">
                <a:solidFill>
                  <a:srgbClr val="8A8A85"/>
                </a:solidFill>
                <a:latin typeface="Times New Roman" pitchFamily="34" charset="0"/>
                <a:ea typeface="Times New Roman" pitchFamily="34" charset="-122"/>
                <a:cs typeface="Times New Roman" pitchFamily="34" charset="-120"/>
              </a:rPr>
              <a:t>tập kiểm tra dưới 7 m</a:t>
            </a:r>
            <a:endParaRPr lang="en-US" sz="1350" dirty="0"/>
          </a:p>
        </p:txBody>
      </p:sp>
      <p:sp>
        <p:nvSpPr>
          <p:cNvPr id="18" name="Text 14"/>
          <p:cNvSpPr txBox="1"/>
          <p:nvPr/>
        </p:nvSpPr>
        <p:spPr>
          <a:xfrm>
            <a:off x="8595360" y="2880360"/>
            <a:ext cx="3047695" cy="731520"/>
          </a:xfrm>
          <a:prstGeom prst="rect">
            <a:avLst/>
          </a:prstGeom>
          <a:noFill/>
          <a:ln/>
        </p:spPr>
        <p:txBody>
          <a:bodyPr wrap="square" lIns="0" tIns="0" rIns="0" bIns="0" rtlCol="0" anchor="ctr"/>
          <a:lstStyle/>
          <a:p>
            <a:pPr indent="0" marL="0">
              <a:buNone/>
            </a:pPr>
            <a:r>
              <a:rPr lang="en-US" sz="4400" b="1" dirty="0">
                <a:solidFill>
                  <a:srgbClr val="1F3A5F"/>
                </a:solidFill>
                <a:latin typeface="Times New Roman" pitchFamily="34" charset="0"/>
                <a:ea typeface="Times New Roman" pitchFamily="34" charset="-122"/>
                <a:cs typeface="Times New Roman" pitchFamily="34" charset="-120"/>
              </a:rPr>
              <a:t>6,87 m</a:t>
            </a:r>
            <a:endParaRPr lang="en-US" sz="4400" dirty="0"/>
          </a:p>
        </p:txBody>
      </p:sp>
      <p:sp>
        <p:nvSpPr>
          <p:cNvPr id="19" name="Text 15"/>
          <p:cNvSpPr txBox="1"/>
          <p:nvPr/>
        </p:nvSpPr>
        <p:spPr>
          <a:xfrm>
            <a:off x="8595360" y="3630168"/>
            <a:ext cx="3047695" cy="548640"/>
          </a:xfrm>
          <a:prstGeom prst="rect">
            <a:avLst/>
          </a:prstGeom>
          <a:noFill/>
          <a:ln/>
        </p:spPr>
        <p:txBody>
          <a:bodyPr wrap="square" lIns="0" tIns="0" rIns="0" bIns="0" rtlCol="0" anchor="t"/>
          <a:lstStyle/>
          <a:p>
            <a:pPr indent="0" marL="0">
              <a:buNone/>
            </a:pPr>
            <a:r>
              <a:rPr lang="en-US" sz="1350" dirty="0">
                <a:solidFill>
                  <a:srgbClr val="8A8A85"/>
                </a:solidFill>
                <a:latin typeface="Times New Roman" pitchFamily="34" charset="0"/>
                <a:ea typeface="Times New Roman" pitchFamily="34" charset="-122"/>
                <a:cs typeface="Times New Roman" pitchFamily="34" charset="-120"/>
              </a:rPr>
              <a:t>UJIIndoorLoc, trung vị 5,14 m</a:t>
            </a:r>
            <a:endParaRPr lang="en-US" sz="1350" dirty="0"/>
          </a:p>
        </p:txBody>
      </p:sp>
      <p:sp>
        <p:nvSpPr>
          <p:cNvPr id="20" name="Text 16"/>
          <p:cNvSpPr txBox="1"/>
          <p:nvPr/>
        </p:nvSpPr>
        <p:spPr>
          <a:xfrm>
            <a:off x="8595360" y="4297680"/>
            <a:ext cx="3047695" cy="731520"/>
          </a:xfrm>
          <a:prstGeom prst="rect">
            <a:avLst/>
          </a:prstGeom>
          <a:noFill/>
          <a:ln/>
        </p:spPr>
        <p:txBody>
          <a:bodyPr wrap="square" lIns="0" tIns="0" rIns="0" bIns="0" rtlCol="0" anchor="ctr"/>
          <a:lstStyle/>
          <a:p>
            <a:pPr indent="0" marL="0">
              <a:buNone/>
            </a:pPr>
            <a:r>
              <a:rPr lang="en-US" sz="3400" b="1" dirty="0">
                <a:solidFill>
                  <a:srgbClr val="1F3A5F"/>
                </a:solidFill>
                <a:latin typeface="Times New Roman" pitchFamily="34" charset="0"/>
                <a:ea typeface="Times New Roman" pitchFamily="34" charset="-122"/>
                <a:cs typeface="Times New Roman" pitchFamily="34" charset="-120"/>
              </a:rPr>
              <a:t>1,30–6,01 m</a:t>
            </a:r>
            <a:endParaRPr lang="en-US" sz="3400" dirty="0"/>
          </a:p>
        </p:txBody>
      </p:sp>
      <p:sp>
        <p:nvSpPr>
          <p:cNvPr id="21" name="Text 17"/>
          <p:cNvSpPr txBox="1"/>
          <p:nvPr/>
        </p:nvSpPr>
        <p:spPr>
          <a:xfrm>
            <a:off x="8595360" y="5047488"/>
            <a:ext cx="3047695" cy="548640"/>
          </a:xfrm>
          <a:prstGeom prst="rect">
            <a:avLst/>
          </a:prstGeom>
          <a:noFill/>
          <a:ln/>
        </p:spPr>
        <p:txBody>
          <a:bodyPr wrap="square" lIns="0" tIns="0" rIns="0" bIns="0" rtlCol="0" anchor="t"/>
          <a:lstStyle/>
          <a:p>
            <a:pPr indent="0" marL="0">
              <a:buNone/>
            </a:pPr>
            <a:r>
              <a:rPr lang="en-US" sz="1350" dirty="0">
                <a:solidFill>
                  <a:srgbClr val="8A8A85"/>
                </a:solidFill>
                <a:latin typeface="Times New Roman" pitchFamily="34" charset="0"/>
                <a:ea typeface="Times New Roman" pitchFamily="34" charset="-122"/>
                <a:cs typeface="Times New Roman" pitchFamily="34" charset="-120"/>
              </a:rPr>
              <a:t>năm bộ dữ liệu còn lại (Bước 1–7)</a:t>
            </a:r>
            <a:endParaRPr lang="en-US" sz="135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THỰC NGHIỆM · KẾT QUẢ</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Phân bố sai số trên tập kiểm tra</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2A7F8F"/>
          </a:solidFill>
          <a:ln w="12700">
            <a:solidFill>
              <a:srgbClr val="2A7F8F"/>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pic>
        <p:nvPicPr>
          <p:cNvPr id="15" name="Image 0" descr="CDF UJIIndoorLoc">    </p:cNvPr>
          <p:cNvPicPr>
            <a:picLocks noChangeAspect="1"/>
          </p:cNvPicPr>
          <p:nvPr/>
        </p:nvPicPr>
        <p:blipFill>
          <a:blip r:embed="rId1"/>
          <a:stretch>
            <a:fillRect/>
          </a:stretch>
        </p:blipFill>
        <p:spPr>
          <a:xfrm>
            <a:off x="548640" y="1325880"/>
            <a:ext cx="5669280" cy="3485299"/>
          </a:xfrm>
          <a:prstGeom prst="rect">
            <a:avLst/>
          </a:prstGeom>
        </p:spPr>
      </p:pic>
      <p:pic>
        <p:nvPicPr>
          <p:cNvPr id="16" name="Image 1" descr="CDF các bộ khác">    </p:cNvPr>
          <p:cNvPicPr>
            <a:picLocks noChangeAspect="1"/>
          </p:cNvPicPr>
          <p:nvPr/>
        </p:nvPicPr>
        <p:blipFill>
          <a:blip r:embed="rId2"/>
          <a:stretch>
            <a:fillRect/>
          </a:stretch>
        </p:blipFill>
        <p:spPr>
          <a:xfrm>
            <a:off x="6355080" y="1325880"/>
            <a:ext cx="5287975" cy="2885084"/>
          </a:xfrm>
          <a:prstGeom prst="rect">
            <a:avLst/>
          </a:prstGeom>
        </p:spPr>
      </p:pic>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THỰC NGHIỆM · KẾT QUẢ</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Sai số trung bình và trung vị của mọi tập kiểm tra</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2A7F8F"/>
          </a:solidFill>
          <a:ln w="12700">
            <a:solidFill>
              <a:srgbClr val="2A7F8F"/>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pic>
        <p:nvPicPr>
          <p:cNvPr id="15" name="Image 0" descr="Sai số trung bình và trung vị của mọi tập kiểm tra">    </p:cNvPr>
          <p:cNvPicPr>
            <a:picLocks noChangeAspect="1"/>
          </p:cNvPicPr>
          <p:nvPr/>
        </p:nvPicPr>
        <p:blipFill>
          <a:blip r:embed="rId1"/>
          <a:stretch>
            <a:fillRect/>
          </a:stretch>
        </p:blipFill>
        <p:spPr>
          <a:xfrm>
            <a:off x="548640" y="1371600"/>
            <a:ext cx="10598346" cy="4846320"/>
          </a:xfrm>
          <a:prstGeom prst="rect">
            <a:avLst/>
          </a:prstGeom>
        </p:spPr>
      </p:pic>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THỰC NGHIỆM · PHÂN TÍCH UJIINDOORLOC</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Sai số còn lại nằm chủ yếu trong tầng</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2A7F8F"/>
          </a:solidFill>
          <a:ln w="12700">
            <a:solidFill>
              <a:srgbClr val="2A7F8F"/>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sp>
        <p:nvSpPr>
          <p:cNvPr id="15" name="Text 12"/>
          <p:cNvSpPr txBox="1"/>
          <p:nvPr/>
        </p:nvSpPr>
        <p:spPr>
          <a:xfrm>
            <a:off x="548640" y="1371600"/>
            <a:ext cx="2697480" cy="731520"/>
          </a:xfrm>
          <a:prstGeom prst="rect">
            <a:avLst/>
          </a:prstGeom>
          <a:noFill/>
          <a:ln/>
        </p:spPr>
        <p:txBody>
          <a:bodyPr wrap="square" lIns="0" tIns="0" rIns="0" bIns="0" rtlCol="0" anchor="ctr"/>
          <a:lstStyle/>
          <a:p>
            <a:pPr indent="0" marL="0">
              <a:buNone/>
            </a:pPr>
            <a:r>
              <a:rPr lang="en-US" sz="3800" b="1" dirty="0">
                <a:solidFill>
                  <a:srgbClr val="1F3A5F"/>
                </a:solidFill>
                <a:latin typeface="Times New Roman" pitchFamily="34" charset="0"/>
                <a:ea typeface="Times New Roman" pitchFamily="34" charset="-122"/>
                <a:cs typeface="Times New Roman" pitchFamily="34" charset="-120"/>
              </a:rPr>
              <a:t>6,87 m</a:t>
            </a:r>
            <a:endParaRPr lang="en-US" sz="3800" dirty="0"/>
          </a:p>
        </p:txBody>
      </p:sp>
      <p:sp>
        <p:nvSpPr>
          <p:cNvPr id="16" name="Text 13"/>
          <p:cNvSpPr txBox="1"/>
          <p:nvPr/>
        </p:nvSpPr>
        <p:spPr>
          <a:xfrm>
            <a:off x="548640" y="2121408"/>
            <a:ext cx="2697480" cy="548640"/>
          </a:xfrm>
          <a:prstGeom prst="rect">
            <a:avLst/>
          </a:prstGeom>
          <a:noFill/>
          <a:ln/>
        </p:spPr>
        <p:txBody>
          <a:bodyPr wrap="square" lIns="0" tIns="0" rIns="0" bIns="0" rtlCol="0" anchor="t"/>
          <a:lstStyle/>
          <a:p>
            <a:pPr indent="0" marL="0">
              <a:buNone/>
            </a:pPr>
            <a:r>
              <a:rPr lang="en-US" sz="1350" dirty="0">
                <a:solidFill>
                  <a:srgbClr val="8A8A85"/>
                </a:solidFill>
                <a:latin typeface="Times New Roman" pitchFamily="34" charset="0"/>
                <a:ea typeface="Times New Roman" pitchFamily="34" charset="-122"/>
                <a:cs typeface="Times New Roman" pitchFamily="34" charset="-120"/>
              </a:rPr>
              <a:t>sai số trung bình</a:t>
            </a:r>
            <a:endParaRPr lang="en-US" sz="1350" dirty="0"/>
          </a:p>
        </p:txBody>
      </p:sp>
      <p:sp>
        <p:nvSpPr>
          <p:cNvPr id="17" name="Text 14"/>
          <p:cNvSpPr txBox="1"/>
          <p:nvPr/>
        </p:nvSpPr>
        <p:spPr>
          <a:xfrm>
            <a:off x="3337560" y="1371600"/>
            <a:ext cx="2697480" cy="731520"/>
          </a:xfrm>
          <a:prstGeom prst="rect">
            <a:avLst/>
          </a:prstGeom>
          <a:noFill/>
          <a:ln/>
        </p:spPr>
        <p:txBody>
          <a:bodyPr wrap="square" lIns="0" tIns="0" rIns="0" bIns="0" rtlCol="0" anchor="ctr"/>
          <a:lstStyle/>
          <a:p>
            <a:pPr indent="0" marL="0">
              <a:buNone/>
            </a:pPr>
            <a:r>
              <a:rPr lang="en-US" sz="3800" b="1" dirty="0">
                <a:solidFill>
                  <a:srgbClr val="2A7F8F"/>
                </a:solidFill>
                <a:latin typeface="Times New Roman" pitchFamily="34" charset="0"/>
                <a:ea typeface="Times New Roman" pitchFamily="34" charset="-122"/>
                <a:cs typeface="Times New Roman" pitchFamily="34" charset="-120"/>
              </a:rPr>
              <a:t>5,14 m</a:t>
            </a:r>
            <a:endParaRPr lang="en-US" sz="3800" dirty="0"/>
          </a:p>
        </p:txBody>
      </p:sp>
      <p:sp>
        <p:nvSpPr>
          <p:cNvPr id="18" name="Text 15"/>
          <p:cNvSpPr txBox="1"/>
          <p:nvPr/>
        </p:nvSpPr>
        <p:spPr>
          <a:xfrm>
            <a:off x="3337560" y="2121408"/>
            <a:ext cx="2697480" cy="548640"/>
          </a:xfrm>
          <a:prstGeom prst="rect">
            <a:avLst/>
          </a:prstGeom>
          <a:noFill/>
          <a:ln/>
        </p:spPr>
        <p:txBody>
          <a:bodyPr wrap="square" lIns="0" tIns="0" rIns="0" bIns="0" rtlCol="0" anchor="t"/>
          <a:lstStyle/>
          <a:p>
            <a:pPr indent="0" marL="0">
              <a:buNone/>
            </a:pPr>
            <a:r>
              <a:rPr lang="en-US" sz="1350" dirty="0">
                <a:solidFill>
                  <a:srgbClr val="8A8A85"/>
                </a:solidFill>
                <a:latin typeface="Times New Roman" pitchFamily="34" charset="0"/>
                <a:ea typeface="Times New Roman" pitchFamily="34" charset="-122"/>
                <a:cs typeface="Times New Roman" pitchFamily="34" charset="-120"/>
              </a:rPr>
              <a:t>trung vị</a:t>
            </a:r>
            <a:endParaRPr lang="en-US" sz="1350" dirty="0"/>
          </a:p>
        </p:txBody>
      </p:sp>
      <p:sp>
        <p:nvSpPr>
          <p:cNvPr id="19" name="Text 16"/>
          <p:cNvSpPr txBox="1"/>
          <p:nvPr/>
        </p:nvSpPr>
        <p:spPr>
          <a:xfrm>
            <a:off x="6126480" y="1371600"/>
            <a:ext cx="2697480" cy="731520"/>
          </a:xfrm>
          <a:prstGeom prst="rect">
            <a:avLst/>
          </a:prstGeom>
          <a:noFill/>
          <a:ln/>
        </p:spPr>
        <p:txBody>
          <a:bodyPr wrap="square" lIns="0" tIns="0" rIns="0" bIns="0" rtlCol="0" anchor="ctr"/>
          <a:lstStyle/>
          <a:p>
            <a:pPr indent="0" marL="0">
              <a:buNone/>
            </a:pPr>
            <a:r>
              <a:rPr lang="en-US" sz="3800" b="1" dirty="0">
                <a:solidFill>
                  <a:srgbClr val="1F3A5F"/>
                </a:solidFill>
                <a:latin typeface="Times New Roman" pitchFamily="34" charset="0"/>
                <a:ea typeface="Times New Roman" pitchFamily="34" charset="-122"/>
                <a:cs typeface="Times New Roman" pitchFamily="34" charset="-120"/>
              </a:rPr>
              <a:t>99,9%</a:t>
            </a:r>
            <a:endParaRPr lang="en-US" sz="3800" dirty="0"/>
          </a:p>
        </p:txBody>
      </p:sp>
      <p:sp>
        <p:nvSpPr>
          <p:cNvPr id="20" name="Text 17"/>
          <p:cNvSpPr txBox="1"/>
          <p:nvPr/>
        </p:nvSpPr>
        <p:spPr>
          <a:xfrm>
            <a:off x="6126480" y="2121408"/>
            <a:ext cx="2697480" cy="548640"/>
          </a:xfrm>
          <a:prstGeom prst="rect">
            <a:avLst/>
          </a:prstGeom>
          <a:noFill/>
          <a:ln/>
        </p:spPr>
        <p:txBody>
          <a:bodyPr wrap="square" lIns="0" tIns="0" rIns="0" bIns="0" rtlCol="0" anchor="t"/>
          <a:lstStyle/>
          <a:p>
            <a:pPr indent="0" marL="0">
              <a:buNone/>
            </a:pPr>
            <a:r>
              <a:rPr lang="en-US" sz="1350" dirty="0">
                <a:solidFill>
                  <a:srgbClr val="8A8A85"/>
                </a:solidFill>
                <a:latin typeface="Times New Roman" pitchFamily="34" charset="0"/>
                <a:ea typeface="Times New Roman" pitchFamily="34" charset="-122"/>
                <a:cs typeface="Times New Roman" pitchFamily="34" charset="-120"/>
              </a:rPr>
              <a:t>đúng tòa nhà</a:t>
            </a:r>
            <a:endParaRPr lang="en-US" sz="1350" dirty="0"/>
          </a:p>
        </p:txBody>
      </p:sp>
      <p:sp>
        <p:nvSpPr>
          <p:cNvPr id="21" name="Text 18"/>
          <p:cNvSpPr txBox="1"/>
          <p:nvPr/>
        </p:nvSpPr>
        <p:spPr>
          <a:xfrm>
            <a:off x="8915400" y="1371600"/>
            <a:ext cx="2697480" cy="731520"/>
          </a:xfrm>
          <a:prstGeom prst="rect">
            <a:avLst/>
          </a:prstGeom>
          <a:noFill/>
          <a:ln/>
        </p:spPr>
        <p:txBody>
          <a:bodyPr wrap="square" lIns="0" tIns="0" rIns="0" bIns="0" rtlCol="0" anchor="ctr"/>
          <a:lstStyle/>
          <a:p>
            <a:pPr indent="0" marL="0">
              <a:buNone/>
            </a:pPr>
            <a:r>
              <a:rPr lang="en-US" sz="3800" b="1" dirty="0">
                <a:solidFill>
                  <a:srgbClr val="2A7F8F"/>
                </a:solidFill>
                <a:latin typeface="Times New Roman" pitchFamily="34" charset="0"/>
                <a:ea typeface="Times New Roman" pitchFamily="34" charset="-122"/>
                <a:cs typeface="Times New Roman" pitchFamily="34" charset="-120"/>
              </a:rPr>
              <a:t>80,4%</a:t>
            </a:r>
            <a:endParaRPr lang="en-US" sz="3800" dirty="0"/>
          </a:p>
        </p:txBody>
      </p:sp>
      <p:sp>
        <p:nvSpPr>
          <p:cNvPr id="22" name="Text 19"/>
          <p:cNvSpPr txBox="1"/>
          <p:nvPr/>
        </p:nvSpPr>
        <p:spPr>
          <a:xfrm>
            <a:off x="8915400" y="2121408"/>
            <a:ext cx="2697480" cy="548640"/>
          </a:xfrm>
          <a:prstGeom prst="rect">
            <a:avLst/>
          </a:prstGeom>
          <a:noFill/>
          <a:ln/>
        </p:spPr>
        <p:txBody>
          <a:bodyPr wrap="square" lIns="0" tIns="0" rIns="0" bIns="0" rtlCol="0" anchor="t"/>
          <a:lstStyle/>
          <a:p>
            <a:pPr indent="0" marL="0">
              <a:buNone/>
            </a:pPr>
            <a:r>
              <a:rPr lang="en-US" sz="1350" dirty="0">
                <a:solidFill>
                  <a:srgbClr val="8A8A85"/>
                </a:solidFill>
                <a:latin typeface="Times New Roman" pitchFamily="34" charset="0"/>
                <a:ea typeface="Times New Roman" pitchFamily="34" charset="-122"/>
                <a:cs typeface="Times New Roman" pitchFamily="34" charset="-120"/>
              </a:rPr>
              <a:t>đúng tòa và tầng</a:t>
            </a:r>
            <a:endParaRPr lang="en-US" sz="1350" dirty="0"/>
          </a:p>
        </p:txBody>
      </p:sp>
      <p:pic>
        <p:nvPicPr>
          <p:cNvPr id="23" name="Image 0" descr="Theo tòa tầng">    </p:cNvPr>
          <p:cNvPicPr>
            <a:picLocks noChangeAspect="1"/>
          </p:cNvPicPr>
          <p:nvPr/>
        </p:nvPicPr>
        <p:blipFill>
          <a:blip r:embed="rId1"/>
          <a:stretch>
            <a:fillRect/>
          </a:stretch>
        </p:blipFill>
        <p:spPr>
          <a:xfrm>
            <a:off x="548640" y="2788920"/>
            <a:ext cx="6949440" cy="3206109"/>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772400" y="2880360"/>
          <a:ext cx="3870655" cy="914400"/>
        </p:xfrm>
        <a:graphic>
          <a:graphicData uri="http://schemas.openxmlformats.org/drawingml/2006/table">
            <a:tbl>
              <a:tblPr/>
              <a:tblGrid>
                <a:gridCol w="1737360"/>
                <a:gridCol w="777240"/>
                <a:gridCol w="777240"/>
                <a:gridCol w="1005840"/>
              </a:tblGrid>
              <a:tr h="438912">
                <a:tc>
                  <a:txBody>
                    <a:bodyP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Nhóm mẫu</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1F3A5F"/>
                    </a:solidFill>
                  </a:tcPr>
                </a:tc>
                <a:tc>
                  <a:txBody>
                    <a:bodyP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Số mẫu</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1F3A5F"/>
                    </a:solidFill>
                  </a:tcPr>
                </a:tc>
                <a:tc>
                  <a:txBody>
                    <a:bodyP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TB (m)</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1F3A5F"/>
                    </a:solidFill>
                  </a:tcPr>
                </a:tc>
                <a:tc>
                  <a:txBody>
                    <a:bodyP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Phần sai số</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1F3A5F"/>
                    </a:solidFill>
                  </a:tcPr>
                </a:tc>
              </a:tr>
              <a:tr h="438912">
                <a:tc>
                  <a:txBody>
                    <a:bodyPr/>
                    <a:lstStyle/>
                    <a:p>
                      <a:pPr algn="l" indent="0" marL="0">
                        <a:buNone/>
                      </a:pPr>
                      <a:r>
                        <a:rPr lang="en-US" sz="1300" dirty="0">
                          <a:solidFill>
                            <a:srgbClr val="1B2A3D"/>
                          </a:solidFill>
                          <a:latin typeface="Times New Roman" pitchFamily="34" charset="0"/>
                          <a:ea typeface="Times New Roman" pitchFamily="34" charset="-122"/>
                          <a:cs typeface="Times New Roman" pitchFamily="34" charset="-120"/>
                        </a:rPr>
                        <a:t>Đoán đúng tòa và tầng</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A3D"/>
                          </a:solidFill>
                          <a:latin typeface="Times New Roman" pitchFamily="34" charset="0"/>
                          <a:ea typeface="Times New Roman" pitchFamily="34" charset="-122"/>
                          <a:cs typeface="Times New Roman" pitchFamily="34" charset="-120"/>
                        </a:rPr>
                        <a:t>893</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A3D"/>
                          </a:solidFill>
                          <a:latin typeface="Times New Roman" pitchFamily="34" charset="0"/>
                          <a:ea typeface="Times New Roman" pitchFamily="34" charset="-122"/>
                          <a:cs typeface="Times New Roman" pitchFamily="34" charset="-120"/>
                        </a:rPr>
                        <a:t>6,48</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A3D"/>
                          </a:solidFill>
                          <a:latin typeface="Times New Roman" pitchFamily="34" charset="0"/>
                          <a:ea typeface="Times New Roman" pitchFamily="34" charset="-122"/>
                          <a:cs typeface="Times New Roman" pitchFamily="34" charset="-120"/>
                        </a:rPr>
                        <a:t>75,9%</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r>
              <a:tr h="438912">
                <a:tc>
                  <a:txBody>
                    <a:bodyPr/>
                    <a:lstStyle/>
                    <a:p>
                      <a:pPr algn="l" indent="0" marL="0">
                        <a:buNone/>
                      </a:pPr>
                      <a:r>
                        <a:rPr lang="en-US" sz="1300" dirty="0">
                          <a:solidFill>
                            <a:srgbClr val="1B2A3D"/>
                          </a:solidFill>
                          <a:latin typeface="Times New Roman" pitchFamily="34" charset="0"/>
                          <a:ea typeface="Times New Roman" pitchFamily="34" charset="-122"/>
                          <a:cs typeface="Times New Roman" pitchFamily="34" charset="-120"/>
                        </a:rPr>
                        <a:t>Đoán sai tầng</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c>
                  <a:txBody>
                    <a:bodyPr/>
                    <a:lstStyle/>
                    <a:p>
                      <a:pPr algn="r" indent="0" marL="0">
                        <a:buNone/>
                      </a:pPr>
                      <a:r>
                        <a:rPr lang="en-US" sz="1300" dirty="0">
                          <a:solidFill>
                            <a:srgbClr val="1B2A3D"/>
                          </a:solidFill>
                          <a:latin typeface="Times New Roman" pitchFamily="34" charset="0"/>
                          <a:ea typeface="Times New Roman" pitchFamily="34" charset="-122"/>
                          <a:cs typeface="Times New Roman" pitchFamily="34" charset="-120"/>
                        </a:rPr>
                        <a:t>218</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c>
                  <a:txBody>
                    <a:bodyPr/>
                    <a:lstStyle/>
                    <a:p>
                      <a:pPr algn="r" indent="0" marL="0">
                        <a:buNone/>
                      </a:pPr>
                      <a:r>
                        <a:rPr lang="en-US" sz="1300" dirty="0">
                          <a:solidFill>
                            <a:srgbClr val="1B2A3D"/>
                          </a:solidFill>
                          <a:latin typeface="Times New Roman" pitchFamily="34" charset="0"/>
                          <a:ea typeface="Times New Roman" pitchFamily="34" charset="-122"/>
                          <a:cs typeface="Times New Roman" pitchFamily="34" charset="-120"/>
                        </a:rPr>
                        <a:t>8,44</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c>
                  <a:txBody>
                    <a:bodyPr/>
                    <a:lstStyle/>
                    <a:p>
                      <a:pPr algn="r" indent="0" marL="0">
                        <a:buNone/>
                      </a:pPr>
                      <a:r>
                        <a:rPr lang="en-US" sz="1300" dirty="0">
                          <a:solidFill>
                            <a:srgbClr val="1B2A3D"/>
                          </a:solidFill>
                          <a:latin typeface="Times New Roman" pitchFamily="34" charset="0"/>
                          <a:ea typeface="Times New Roman" pitchFamily="34" charset="-122"/>
                          <a:cs typeface="Times New Roman" pitchFamily="34" charset="-120"/>
                        </a:rPr>
                        <a:t>24,1%</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r>
            </a:tbl>
          </a:graphicData>
        </a:graphic>
      </p:graphicFrame>
      <p:sp>
        <p:nvSpPr>
          <p:cNvPr id="25" name="Text 20"/>
          <p:cNvSpPr txBox="1"/>
          <p:nvPr/>
        </p:nvSpPr>
        <p:spPr>
          <a:xfrm>
            <a:off x="7772400" y="4434840"/>
            <a:ext cx="3870655" cy="1463040"/>
          </a:xfrm>
          <a:prstGeom prst="rect">
            <a:avLst/>
          </a:prstGeom>
          <a:noFill/>
          <a:ln/>
        </p:spPr>
        <p:txBody>
          <a:bodyPr wrap="square" lIns="0" tIns="0" rIns="0" bIns="0" rtlCol="0" anchor="t"/>
          <a:lstStyle/>
          <a:p>
            <a:pPr indent="0" marL="0">
              <a:buNone/>
            </a:pPr>
            <a:r>
              <a:rPr lang="en-US" sz="1550" dirty="0">
                <a:solidFill>
                  <a:srgbClr val="1B2A3D"/>
                </a:solidFill>
                <a:latin typeface="Times New Roman" pitchFamily="34" charset="0"/>
                <a:ea typeface="Times New Roman" pitchFamily="34" charset="-122"/>
                <a:cs typeface="Times New Roman" pitchFamily="34" charset="-120"/>
              </a:rPr>
              <a:t>Lỗi tầng hầu như chỉ giữa hai </a:t>
            </a:r>
            <a:pPr indent="0" marL="0">
              <a:buNone/>
            </a:pPr>
            <a:r>
              <a:rPr lang="en-US" sz="1550" b="1" dirty="0">
                <a:solidFill>
                  <a:srgbClr val="1B2A3D"/>
                </a:solidFill>
                <a:latin typeface="Times New Roman" pitchFamily="34" charset="0"/>
                <a:ea typeface="Times New Roman" pitchFamily="34" charset="-122"/>
                <a:cs typeface="Times New Roman" pitchFamily="34" charset="-120"/>
              </a:rPr>
              <a:t>tầng liền kề</a:t>
            </a:r>
            <a:pPr indent="0" marL="0">
              <a:buNone/>
            </a:pPr>
            <a:r>
              <a:rPr lang="en-US" sz="1550" dirty="0">
                <a:solidFill>
                  <a:srgbClr val="1B2A3D"/>
                </a:solidFill>
                <a:latin typeface="Times New Roman" pitchFamily="34" charset="0"/>
                <a:ea typeface="Times New Roman" pitchFamily="34" charset="-122"/>
                <a:cs typeface="Times New Roman" pitchFamily="34" charset="-120"/>
              </a:rPr>
              <a:t>; nhầm toà nhà gần như không có.</a:t>
            </a:r>
            <a:endParaRPr lang="en-US" sz="155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THỰC NGHIỆM · PHÂN TÍCH UJIINDOORLOC</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Nhầm lẫn tầng và phân bố không gian của sai số</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2A7F8F"/>
          </a:solidFill>
          <a:ln w="12700">
            <a:solidFill>
              <a:srgbClr val="2A7F8F"/>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pic>
        <p:nvPicPr>
          <p:cNvPr id="15" name="Image 0" descr="Ma trận nhầm lẫn">    </p:cNvPr>
          <p:cNvPicPr>
            <a:picLocks noChangeAspect="1"/>
          </p:cNvPicPr>
          <p:nvPr/>
        </p:nvPicPr>
        <p:blipFill>
          <a:blip r:embed="rId1"/>
          <a:stretch>
            <a:fillRect/>
          </a:stretch>
        </p:blipFill>
        <p:spPr>
          <a:xfrm>
            <a:off x="548640" y="1325880"/>
            <a:ext cx="4754880" cy="4937760"/>
          </a:xfrm>
          <a:prstGeom prst="rect">
            <a:avLst/>
          </a:prstGeom>
        </p:spPr>
      </p:pic>
      <p:pic>
        <p:nvPicPr>
          <p:cNvPr id="16" name="Image 1" descr="Bản đồ sai số">    </p:cNvPr>
          <p:cNvPicPr>
            <a:picLocks noChangeAspect="1"/>
          </p:cNvPicPr>
          <p:nvPr/>
        </p:nvPicPr>
        <p:blipFill>
          <a:blip r:embed="rId2"/>
          <a:stretch>
            <a:fillRect/>
          </a:stretch>
        </p:blipFill>
        <p:spPr>
          <a:xfrm>
            <a:off x="5532120" y="1325880"/>
            <a:ext cx="6110935" cy="4024274"/>
          </a:xfrm>
          <a:prstGeom prst="rect">
            <a:avLst/>
          </a:prstGeom>
        </p:spPr>
      </p:pic>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THỰC NGHIỆM · PHÂN TÍCH BƯỚC 8</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Tác động của Bước 8 trên từng vân tay</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2A7F8F"/>
          </a:solidFill>
          <a:ln w="12700">
            <a:solidFill>
              <a:srgbClr val="2A7F8F"/>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pic>
        <p:nvPicPr>
          <p:cNvPr id="15" name="Image 0" descr="Tác động của Bước 8 trên từng vân tay">    </p:cNvPr>
          <p:cNvPicPr>
            <a:picLocks noChangeAspect="1"/>
          </p:cNvPicPr>
          <p:nvPr/>
        </p:nvPicPr>
        <p:blipFill>
          <a:blip r:embed="rId1"/>
          <a:stretch>
            <a:fillRect/>
          </a:stretch>
        </p:blipFill>
        <p:spPr>
          <a:xfrm>
            <a:off x="548640" y="1371600"/>
            <a:ext cx="7863840" cy="3174611"/>
          </a:xfrm>
          <a:prstGeom prst="rect">
            <a:avLst/>
          </a:prstGeom>
        </p:spPr>
      </p:pic>
      <p:sp>
        <p:nvSpPr>
          <p:cNvPr id="16" name="Text 12"/>
          <p:cNvSpPr txBox="1"/>
          <p:nvPr/>
        </p:nvSpPr>
        <p:spPr>
          <a:xfrm>
            <a:off x="8732520" y="1463040"/>
            <a:ext cx="2910535" cy="4754880"/>
          </a:xfrm>
          <a:prstGeom prst="rect">
            <a:avLst/>
          </a:prstGeom>
          <a:noFill/>
          <a:ln/>
        </p:spPr>
        <p:txBody>
          <a:bodyPr wrap="square" lIns="25400" tIns="25400" rIns="25400" bIns="25400" rtlCol="0" anchor="t"/>
          <a:lstStyle/>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Sai số trung bình: </a:t>
            </a:r>
            <a:pPr algn="l" marL="254000" indent="-254000">
              <a:spcAft>
                <a:spcPts val="900"/>
              </a:spcAft>
              <a:buSzPct val="100000"/>
              <a:buChar char="•"/>
            </a:pPr>
            <a:r>
              <a:rPr lang="en-US" sz="1600" b="1" dirty="0">
                <a:solidFill>
                  <a:srgbClr val="1B2A3D"/>
                </a:solidFill>
                <a:latin typeface="Times New Roman" pitchFamily="34" charset="0"/>
                <a:ea typeface="Times New Roman" pitchFamily="34" charset="-122"/>
                <a:cs typeface="Times New Roman" pitchFamily="34" charset="-120"/>
              </a:rPr>
              <a:t>8,06 → 6,87 m</a:t>
            </a:r>
            <a:endParaRPr lang="en-US" sz="1600" dirty="0"/>
          </a:p>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Trung vị: 6,15 → 5,14 m</a:t>
            </a:r>
            <a:endParaRPr lang="en-US" sz="1600" dirty="0"/>
          </a:p>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Phần lớn vân tay được cải thiện (dưới đường chéo)</a:t>
            </a:r>
            <a:endParaRPr lang="en-US" sz="1600" dirty="0"/>
          </a:p>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Vân tay sai số rất lớn ở v4 được kéo về gần hơn</a:t>
            </a:r>
            <a:endParaRPr lang="en-US" sz="16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THỰC NGHIỆM · PHÂN TÍCH BƯỚC 8</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Những gì đã thử trên dev cho Bước 8</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2A7F8F"/>
          </a:solidFill>
          <a:ln w="12700">
            <a:solidFill>
              <a:srgbClr val="2A7F8F"/>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pic>
        <p:nvPicPr>
          <p:cNvPr id="15" name="Image 0" descr="Biến thể">    </p:cNvPr>
          <p:cNvPicPr>
            <a:picLocks noChangeAspect="1"/>
          </p:cNvPicPr>
          <p:nvPr/>
        </p:nvPicPr>
        <p:blipFill>
          <a:blip r:embed="rId1"/>
          <a:stretch>
            <a:fillRect/>
          </a:stretch>
        </p:blipFill>
        <p:spPr>
          <a:xfrm>
            <a:off x="548640" y="1325880"/>
            <a:ext cx="6949440" cy="3134655"/>
          </a:xfrm>
          <a:prstGeom prst="rect">
            <a:avLst/>
          </a:prstGeom>
        </p:spPr>
      </p:pic>
      <p:sp>
        <p:nvSpPr>
          <p:cNvPr id="16" name="Text 12"/>
          <p:cNvSpPr txBox="1"/>
          <p:nvPr/>
        </p:nvSpPr>
        <p:spPr>
          <a:xfrm>
            <a:off x="7772400" y="1463040"/>
            <a:ext cx="3870655" cy="731520"/>
          </a:xfrm>
          <a:prstGeom prst="rect">
            <a:avLst/>
          </a:prstGeom>
          <a:noFill/>
          <a:ln/>
        </p:spPr>
        <p:txBody>
          <a:bodyPr wrap="square" lIns="0" tIns="0" rIns="0" bIns="0" rtlCol="0" anchor="ctr"/>
          <a:lstStyle/>
          <a:p>
            <a:pPr indent="0" marL="0">
              <a:buNone/>
            </a:pPr>
            <a:r>
              <a:rPr lang="en-US" sz="3800" b="1" dirty="0">
                <a:solidFill>
                  <a:srgbClr val="8A8A85"/>
                </a:solidFill>
                <a:latin typeface="Times New Roman" pitchFamily="34" charset="0"/>
                <a:ea typeface="Times New Roman" pitchFamily="34" charset="-122"/>
                <a:cs typeface="Times New Roman" pitchFamily="34" charset="-120"/>
              </a:rPr>
              <a:t>7,65 m</a:t>
            </a:r>
            <a:endParaRPr lang="en-US" sz="3800" dirty="0"/>
          </a:p>
        </p:txBody>
      </p:sp>
      <p:sp>
        <p:nvSpPr>
          <p:cNvPr id="17" name="Text 13"/>
          <p:cNvSpPr txBox="1"/>
          <p:nvPr/>
        </p:nvSpPr>
        <p:spPr>
          <a:xfrm>
            <a:off x="7772400" y="2212848"/>
            <a:ext cx="3870655" cy="548640"/>
          </a:xfrm>
          <a:prstGeom prst="rect">
            <a:avLst/>
          </a:prstGeom>
          <a:noFill/>
          <a:ln/>
        </p:spPr>
        <p:txBody>
          <a:bodyPr wrap="square" lIns="0" tIns="0" rIns="0" bIns="0" rtlCol="0" anchor="t"/>
          <a:lstStyle/>
          <a:p>
            <a:pPr indent="0" marL="0">
              <a:buNone/>
            </a:pPr>
            <a:r>
              <a:rPr lang="en-US" sz="1350" dirty="0">
                <a:solidFill>
                  <a:srgbClr val="8A8A85"/>
                </a:solidFill>
                <a:latin typeface="Times New Roman" pitchFamily="34" charset="0"/>
                <a:ea typeface="Times New Roman" pitchFamily="34" charset="-122"/>
                <a:cs typeface="Times New Roman" pitchFamily="34" charset="-120"/>
              </a:rPr>
              <a:t>dev, Bước 1–7 (v4)</a:t>
            </a:r>
            <a:endParaRPr lang="en-US" sz="1350" dirty="0"/>
          </a:p>
        </p:txBody>
      </p:sp>
      <p:sp>
        <p:nvSpPr>
          <p:cNvPr id="18" name="Text 14"/>
          <p:cNvSpPr txBox="1"/>
          <p:nvPr/>
        </p:nvSpPr>
        <p:spPr>
          <a:xfrm>
            <a:off x="7772400" y="2788920"/>
            <a:ext cx="3870655" cy="731520"/>
          </a:xfrm>
          <a:prstGeom prst="rect">
            <a:avLst/>
          </a:prstGeom>
          <a:noFill/>
          <a:ln/>
        </p:spPr>
        <p:txBody>
          <a:bodyPr wrap="square" lIns="0" tIns="0" rIns="0" bIns="0" rtlCol="0" anchor="ctr"/>
          <a:lstStyle/>
          <a:p>
            <a:pPr indent="0" marL="0">
              <a:buNone/>
            </a:pPr>
            <a:r>
              <a:rPr lang="en-US" sz="3800" b="1" dirty="0">
                <a:solidFill>
                  <a:srgbClr val="2A7F8F"/>
                </a:solidFill>
                <a:latin typeface="Times New Roman" pitchFamily="34" charset="0"/>
                <a:ea typeface="Times New Roman" pitchFamily="34" charset="-122"/>
                <a:cs typeface="Times New Roman" pitchFamily="34" charset="-120"/>
              </a:rPr>
              <a:t>6,83 m</a:t>
            </a:r>
            <a:endParaRPr lang="en-US" sz="3800" dirty="0"/>
          </a:p>
        </p:txBody>
      </p:sp>
      <p:sp>
        <p:nvSpPr>
          <p:cNvPr id="19" name="Text 15"/>
          <p:cNvSpPr txBox="1"/>
          <p:nvPr/>
        </p:nvSpPr>
        <p:spPr>
          <a:xfrm>
            <a:off x="7772400" y="3538728"/>
            <a:ext cx="3870655" cy="548640"/>
          </a:xfrm>
          <a:prstGeom prst="rect">
            <a:avLst/>
          </a:prstGeom>
          <a:noFill/>
          <a:ln/>
        </p:spPr>
        <p:txBody>
          <a:bodyPr wrap="square" lIns="0" tIns="0" rIns="0" bIns="0" rtlCol="0" anchor="t"/>
          <a:lstStyle/>
          <a:p>
            <a:pPr indent="0" marL="0">
              <a:buNone/>
            </a:pPr>
            <a:r>
              <a:rPr lang="en-US" sz="1350" dirty="0">
                <a:solidFill>
                  <a:srgbClr val="8A8A85"/>
                </a:solidFill>
                <a:latin typeface="Times New Roman" pitchFamily="34" charset="0"/>
                <a:ea typeface="Times New Roman" pitchFamily="34" charset="-122"/>
                <a:cs typeface="Times New Roman" pitchFamily="34" charset="-120"/>
              </a:rPr>
              <a:t>dev, mô hình cuối (v6)</a:t>
            </a:r>
            <a:endParaRPr lang="en-US" sz="1350" dirty="0"/>
          </a:p>
        </p:txBody>
      </p:sp>
      <p:sp>
        <p:nvSpPr>
          <p:cNvPr id="20" name="Text 16"/>
          <p:cNvSpPr txBox="1"/>
          <p:nvPr/>
        </p:nvSpPr>
        <p:spPr>
          <a:xfrm>
            <a:off x="7772400" y="4114800"/>
            <a:ext cx="3870655" cy="731520"/>
          </a:xfrm>
          <a:prstGeom prst="rect">
            <a:avLst/>
          </a:prstGeom>
          <a:noFill/>
          <a:ln/>
        </p:spPr>
        <p:txBody>
          <a:bodyPr wrap="square" lIns="0" tIns="0" rIns="0" bIns="0" rtlCol="0" anchor="ctr"/>
          <a:lstStyle/>
          <a:p>
            <a:pPr indent="0" marL="0">
              <a:buNone/>
            </a:pPr>
            <a:r>
              <a:rPr lang="en-US" sz="3800" b="1" dirty="0">
                <a:solidFill>
                  <a:srgbClr val="1F3A5F"/>
                </a:solidFill>
                <a:latin typeface="Times New Roman" pitchFamily="34" charset="0"/>
                <a:ea typeface="Times New Roman" pitchFamily="34" charset="-122"/>
                <a:cs typeface="Times New Roman" pitchFamily="34" charset="-120"/>
              </a:rPr>
              <a:t>6,87 m</a:t>
            </a:r>
            <a:endParaRPr lang="en-US" sz="3800" dirty="0"/>
          </a:p>
        </p:txBody>
      </p:sp>
      <p:sp>
        <p:nvSpPr>
          <p:cNvPr id="21" name="Text 17"/>
          <p:cNvSpPr txBox="1"/>
          <p:nvPr/>
        </p:nvSpPr>
        <p:spPr>
          <a:xfrm>
            <a:off x="7772400" y="4864608"/>
            <a:ext cx="3870655" cy="548640"/>
          </a:xfrm>
          <a:prstGeom prst="rect">
            <a:avLst/>
          </a:prstGeom>
          <a:noFill/>
          <a:ln/>
        </p:spPr>
        <p:txBody>
          <a:bodyPr wrap="square" lIns="0" tIns="0" rIns="0" bIns="0" rtlCol="0" anchor="t"/>
          <a:lstStyle/>
          <a:p>
            <a:pPr indent="0" marL="0">
              <a:buNone/>
            </a:pPr>
            <a:r>
              <a:rPr lang="en-US" sz="1350" dirty="0">
                <a:solidFill>
                  <a:srgbClr val="8A8A85"/>
                </a:solidFill>
                <a:latin typeface="Times New Roman" pitchFamily="34" charset="0"/>
                <a:ea typeface="Times New Roman" pitchFamily="34" charset="-122"/>
                <a:cs typeface="Times New Roman" pitchFamily="34" charset="-120"/>
              </a:rPr>
              <a:t>tập kiểm tra, chấm một lần</a:t>
            </a:r>
            <a:endParaRPr lang="en-US" sz="135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THỰC NGHIỆM · PHIÊN BẢN</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Lịch sử phiên bản và nguyên tắc chọn mô hình</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2A7F8F"/>
          </a:solidFill>
          <a:ln w="12700">
            <a:solidFill>
              <a:srgbClr val="2A7F8F"/>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pic>
        <p:nvPicPr>
          <p:cNvPr id="15" name="Image 0" descr="Phiên bản">    </p:cNvPr>
          <p:cNvPicPr>
            <a:picLocks noChangeAspect="1"/>
          </p:cNvPicPr>
          <p:nvPr/>
        </p:nvPicPr>
        <p:blipFill>
          <a:blip r:embed="rId1"/>
          <a:stretch>
            <a:fillRect/>
          </a:stretch>
        </p:blipFill>
        <p:spPr>
          <a:xfrm>
            <a:off x="548640" y="1325880"/>
            <a:ext cx="6583680" cy="33290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7406640" y="1417320"/>
          <a:ext cx="4236415" cy="914400"/>
        </p:xfrm>
        <a:graphic>
          <a:graphicData uri="http://schemas.openxmlformats.org/drawingml/2006/table">
            <a:tbl>
              <a:tblPr/>
              <a:tblGrid>
                <a:gridCol w="1554480"/>
                <a:gridCol w="1097280"/>
                <a:gridCol w="1143000"/>
              </a:tblGrid>
              <a:tr h="438912">
                <a:tc>
                  <a:txBody>
                    <a:bodyPr/>
                    <a:lstStyle/>
                    <a:p>
                      <a:pPr algn="ctr" indent="0" marL="0">
                        <a:buNone/>
                      </a:pPr>
                      <a:r>
                        <a:rPr lang="en-US" sz="1400" b="1" dirty="0">
                          <a:solidFill>
                            <a:srgbClr val="FFFFFF"/>
                          </a:solidFill>
                          <a:latin typeface="Times New Roman" pitchFamily="34" charset="0"/>
                          <a:ea typeface="Times New Roman" pitchFamily="34" charset="-122"/>
                          <a:cs typeface="Times New Roman" pitchFamily="34" charset="-120"/>
                        </a:rPr>
                        <a:t>Bản</a:t>
                      </a:r>
                      <a:endParaRPr lang="en-US" sz="14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1F3A5F"/>
                    </a:solidFill>
                  </a:tcPr>
                </a:tc>
                <a:tc>
                  <a:txBody>
                    <a:bodyPr/>
                    <a:lstStyle/>
                    <a:p>
                      <a:pPr algn="ctr" indent="0" marL="0">
                        <a:buNone/>
                      </a:pPr>
                      <a:r>
                        <a:rPr lang="en-US" sz="1400" b="1" dirty="0">
                          <a:solidFill>
                            <a:srgbClr val="FFFFFF"/>
                          </a:solidFill>
                          <a:latin typeface="Times New Roman" pitchFamily="34" charset="0"/>
                          <a:ea typeface="Times New Roman" pitchFamily="34" charset="-122"/>
                          <a:cs typeface="Times New Roman" pitchFamily="34" charset="-120"/>
                        </a:rPr>
                        <a:t>Dev</a:t>
                      </a:r>
                      <a:endParaRPr lang="en-US" sz="14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1F3A5F"/>
                    </a:solidFill>
                  </a:tcPr>
                </a:tc>
                <a:tc>
                  <a:txBody>
                    <a:bodyPr/>
                    <a:lstStyle/>
                    <a:p>
                      <a:pPr algn="ctr" indent="0" marL="0">
                        <a:buNone/>
                      </a:pPr>
                      <a:r>
                        <a:rPr lang="en-US" sz="1400" b="1" dirty="0">
                          <a:solidFill>
                            <a:srgbClr val="FFFFFF"/>
                          </a:solidFill>
                          <a:latin typeface="Times New Roman" pitchFamily="34" charset="0"/>
                          <a:ea typeface="Times New Roman" pitchFamily="34" charset="-122"/>
                          <a:cs typeface="Times New Roman" pitchFamily="34" charset="-120"/>
                        </a:rPr>
                        <a:t>Test</a:t>
                      </a:r>
                      <a:endParaRPr lang="en-US" sz="14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1F3A5F"/>
                    </a:solidFill>
                  </a:tcPr>
                </a:tc>
              </a:tr>
              <a:tr h="438912">
                <a:tc>
                  <a:txBody>
                    <a:bodyPr/>
                    <a:lstStyle/>
                    <a:p>
                      <a:pPr algn="l" indent="0" marL="0">
                        <a:buNone/>
                      </a:pPr>
                      <a:r>
                        <a:rPr lang="en-US" sz="1400" dirty="0">
                          <a:solidFill>
                            <a:srgbClr val="1B2A3D"/>
                          </a:solidFill>
                          <a:latin typeface="Times New Roman" pitchFamily="34" charset="0"/>
                          <a:ea typeface="Times New Roman" pitchFamily="34" charset="-122"/>
                          <a:cs typeface="Times New Roman" pitchFamily="34" charset="-120"/>
                        </a:rPr>
                        <a:t>v1</a:t>
                      </a:r>
                      <a:endParaRPr lang="en-US" sz="14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D"/>
                          </a:solidFill>
                          <a:latin typeface="Times New Roman" pitchFamily="34" charset="0"/>
                          <a:ea typeface="Times New Roman" pitchFamily="34" charset="-122"/>
                          <a:cs typeface="Times New Roman" pitchFamily="34" charset="-120"/>
                        </a:rPr>
                        <a:t>8,27</a:t>
                      </a:r>
                      <a:endParaRPr lang="en-US" sz="14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D"/>
                          </a:solidFill>
                          <a:latin typeface="Times New Roman" pitchFamily="34" charset="0"/>
                          <a:ea typeface="Times New Roman" pitchFamily="34" charset="-122"/>
                          <a:cs typeface="Times New Roman" pitchFamily="34" charset="-120"/>
                        </a:rPr>
                        <a:t>7,66</a:t>
                      </a:r>
                      <a:endParaRPr lang="en-US" sz="14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r>
              <a:tr h="438912">
                <a:tc>
                  <a:txBody>
                    <a:bodyPr/>
                    <a:lstStyle/>
                    <a:p>
                      <a:pPr algn="l" indent="0" marL="0">
                        <a:buNone/>
                      </a:pPr>
                      <a:r>
                        <a:rPr lang="en-US" sz="1400" dirty="0">
                          <a:solidFill>
                            <a:srgbClr val="1B2A3D"/>
                          </a:solidFill>
                          <a:latin typeface="Times New Roman" pitchFamily="34" charset="0"/>
                          <a:ea typeface="Times New Roman" pitchFamily="34" charset="-122"/>
                          <a:cs typeface="Times New Roman" pitchFamily="34" charset="-120"/>
                        </a:rPr>
                        <a:t>v2</a:t>
                      </a:r>
                      <a:endParaRPr lang="en-US" sz="14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c>
                  <a:txBody>
                    <a:bodyPr/>
                    <a:lstStyle/>
                    <a:p>
                      <a:pPr algn="r" indent="0" marL="0">
                        <a:buNone/>
                      </a:pPr>
                      <a:r>
                        <a:rPr lang="en-US" sz="1400" dirty="0">
                          <a:solidFill>
                            <a:srgbClr val="1B2A3D"/>
                          </a:solidFill>
                          <a:latin typeface="Times New Roman" pitchFamily="34" charset="0"/>
                          <a:ea typeface="Times New Roman" pitchFamily="34" charset="-122"/>
                          <a:cs typeface="Times New Roman" pitchFamily="34" charset="-120"/>
                        </a:rPr>
                        <a:t>7,70</a:t>
                      </a:r>
                      <a:endParaRPr lang="en-US" sz="14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c>
                  <a:txBody>
                    <a:bodyPr/>
                    <a:lstStyle/>
                    <a:p>
                      <a:pPr algn="r" indent="0" marL="0">
                        <a:buNone/>
                      </a:pPr>
                      <a:r>
                        <a:rPr lang="en-US" sz="1400" dirty="0">
                          <a:solidFill>
                            <a:srgbClr val="1B2A3D"/>
                          </a:solidFill>
                          <a:latin typeface="Times New Roman" pitchFamily="34" charset="0"/>
                          <a:ea typeface="Times New Roman" pitchFamily="34" charset="-122"/>
                          <a:cs typeface="Times New Roman" pitchFamily="34" charset="-120"/>
                        </a:rPr>
                        <a:t>8,18</a:t>
                      </a:r>
                      <a:endParaRPr lang="en-US" sz="14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r>
              <a:tr h="438912">
                <a:tc>
                  <a:txBody>
                    <a:bodyPr/>
                    <a:lstStyle/>
                    <a:p>
                      <a:pPr algn="l" indent="0" marL="0">
                        <a:buNone/>
                      </a:pPr>
                      <a:r>
                        <a:rPr lang="en-US" sz="1400" dirty="0">
                          <a:solidFill>
                            <a:srgbClr val="1B2A3D"/>
                          </a:solidFill>
                          <a:latin typeface="Times New Roman" pitchFamily="34" charset="0"/>
                          <a:ea typeface="Times New Roman" pitchFamily="34" charset="-122"/>
                          <a:cs typeface="Times New Roman" pitchFamily="34" charset="-120"/>
                        </a:rPr>
                        <a:t>v3</a:t>
                      </a:r>
                      <a:endParaRPr lang="en-US" sz="14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D"/>
                          </a:solidFill>
                          <a:latin typeface="Times New Roman" pitchFamily="34" charset="0"/>
                          <a:ea typeface="Times New Roman" pitchFamily="34" charset="-122"/>
                          <a:cs typeface="Times New Roman" pitchFamily="34" charset="-120"/>
                        </a:rPr>
                        <a:t>7,67</a:t>
                      </a:r>
                      <a:endParaRPr lang="en-US" sz="14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D"/>
                          </a:solidFill>
                          <a:latin typeface="Times New Roman" pitchFamily="34" charset="0"/>
                          <a:ea typeface="Times New Roman" pitchFamily="34" charset="-122"/>
                          <a:cs typeface="Times New Roman" pitchFamily="34" charset="-120"/>
                        </a:rPr>
                        <a:t>8,00</a:t>
                      </a:r>
                      <a:endParaRPr lang="en-US" sz="14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r>
              <a:tr h="438912">
                <a:tc>
                  <a:txBody>
                    <a:bodyPr/>
                    <a:lstStyle/>
                    <a:p>
                      <a:pPr algn="l" indent="0" marL="0">
                        <a:buNone/>
                      </a:pPr>
                      <a:r>
                        <a:rPr lang="en-US" sz="1400" dirty="0">
                          <a:solidFill>
                            <a:srgbClr val="1B2A3D"/>
                          </a:solidFill>
                          <a:latin typeface="Times New Roman" pitchFamily="34" charset="0"/>
                          <a:ea typeface="Times New Roman" pitchFamily="34" charset="-122"/>
                          <a:cs typeface="Times New Roman" pitchFamily="34" charset="-120"/>
                        </a:rPr>
                        <a:t>v4</a:t>
                      </a:r>
                      <a:endParaRPr lang="en-US" sz="14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c>
                  <a:txBody>
                    <a:bodyPr/>
                    <a:lstStyle/>
                    <a:p>
                      <a:pPr algn="r" indent="0" marL="0">
                        <a:buNone/>
                      </a:pPr>
                      <a:r>
                        <a:rPr lang="en-US" sz="1400" dirty="0">
                          <a:solidFill>
                            <a:srgbClr val="1B2A3D"/>
                          </a:solidFill>
                          <a:latin typeface="Times New Roman" pitchFamily="34" charset="0"/>
                          <a:ea typeface="Times New Roman" pitchFamily="34" charset="-122"/>
                          <a:cs typeface="Times New Roman" pitchFamily="34" charset="-120"/>
                        </a:rPr>
                        <a:t>7,65</a:t>
                      </a:r>
                      <a:endParaRPr lang="en-US" sz="14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c>
                  <a:txBody>
                    <a:bodyPr/>
                    <a:lstStyle/>
                    <a:p>
                      <a:pPr algn="r" indent="0" marL="0">
                        <a:buNone/>
                      </a:pPr>
                      <a:r>
                        <a:rPr lang="en-US" sz="1400" dirty="0">
                          <a:solidFill>
                            <a:srgbClr val="1B2A3D"/>
                          </a:solidFill>
                          <a:latin typeface="Times New Roman" pitchFamily="34" charset="0"/>
                          <a:ea typeface="Times New Roman" pitchFamily="34" charset="-122"/>
                          <a:cs typeface="Times New Roman" pitchFamily="34" charset="-120"/>
                        </a:rPr>
                        <a:t>8,06</a:t>
                      </a:r>
                      <a:endParaRPr lang="en-US" sz="14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r>
              <a:tr h="438912">
                <a:tc>
                  <a:txBody>
                    <a:bodyPr/>
                    <a:lstStyle/>
                    <a:p>
                      <a:pPr algn="l" indent="0" marL="0">
                        <a:buNone/>
                      </a:pPr>
                      <a:r>
                        <a:rPr lang="en-US" sz="1400" dirty="0">
                          <a:solidFill>
                            <a:srgbClr val="1B2A3D"/>
                          </a:solidFill>
                          <a:latin typeface="Times New Roman" pitchFamily="34" charset="0"/>
                          <a:ea typeface="Times New Roman" pitchFamily="34" charset="-122"/>
                          <a:cs typeface="Times New Roman" pitchFamily="34" charset="-120"/>
                        </a:rPr>
                        <a:t>v5</a:t>
                      </a:r>
                      <a:endParaRPr lang="en-US" sz="14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D"/>
                          </a:solidFill>
                          <a:latin typeface="Times New Roman" pitchFamily="34" charset="0"/>
                          <a:ea typeface="Times New Roman" pitchFamily="34" charset="-122"/>
                          <a:cs typeface="Times New Roman" pitchFamily="34" charset="-120"/>
                        </a:rPr>
                        <a:t>7,08</a:t>
                      </a:r>
                      <a:endParaRPr lang="en-US" sz="14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A3D"/>
                          </a:solidFill>
                          <a:latin typeface="Times New Roman" pitchFamily="34" charset="0"/>
                          <a:ea typeface="Times New Roman" pitchFamily="34" charset="-122"/>
                          <a:cs typeface="Times New Roman" pitchFamily="34" charset="-120"/>
                        </a:rPr>
                        <a:t>7,18</a:t>
                      </a:r>
                      <a:endParaRPr lang="en-US" sz="14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r>
              <a:tr h="438912">
                <a:tc>
                  <a:txBody>
                    <a:bodyPr/>
                    <a:lstStyle/>
                    <a:p>
                      <a:pPr algn="l" indent="0" marL="0">
                        <a:buNone/>
                      </a:pPr>
                      <a:r>
                        <a:rPr lang="en-US" sz="1400" b="1" dirty="0">
                          <a:solidFill>
                            <a:srgbClr val="1B2A3D"/>
                          </a:solidFill>
                          <a:latin typeface="Times New Roman" pitchFamily="34" charset="0"/>
                          <a:ea typeface="Times New Roman" pitchFamily="34" charset="-122"/>
                          <a:cs typeface="Times New Roman" pitchFamily="34" charset="-120"/>
                        </a:rPr>
                        <a:t>v6 (cuối)</a:t>
                      </a:r>
                      <a:endParaRPr lang="en-US" sz="14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EAE3"/>
                    </a:solidFill>
                  </a:tcPr>
                </a:tc>
                <a:tc>
                  <a:txBody>
                    <a:bodyPr/>
                    <a:lstStyle/>
                    <a:p>
                      <a:pPr algn="r" indent="0" marL="0">
                        <a:buNone/>
                      </a:pPr>
                      <a:r>
                        <a:rPr lang="en-US" sz="1400" b="1" dirty="0">
                          <a:solidFill>
                            <a:srgbClr val="1B2A3D"/>
                          </a:solidFill>
                          <a:latin typeface="Times New Roman" pitchFamily="34" charset="0"/>
                          <a:ea typeface="Times New Roman" pitchFamily="34" charset="-122"/>
                          <a:cs typeface="Times New Roman" pitchFamily="34" charset="-120"/>
                        </a:rPr>
                        <a:t>6,83</a:t>
                      </a:r>
                      <a:endParaRPr lang="en-US" sz="14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EAE3"/>
                    </a:solidFill>
                  </a:tcPr>
                </a:tc>
                <a:tc>
                  <a:txBody>
                    <a:bodyPr/>
                    <a:lstStyle/>
                    <a:p>
                      <a:pPr algn="r" indent="0" marL="0">
                        <a:buNone/>
                      </a:pPr>
                      <a:r>
                        <a:rPr lang="en-US" sz="1400" b="1" dirty="0">
                          <a:solidFill>
                            <a:srgbClr val="1B2A3D"/>
                          </a:solidFill>
                          <a:latin typeface="Times New Roman" pitchFamily="34" charset="0"/>
                          <a:ea typeface="Times New Roman" pitchFamily="34" charset="-122"/>
                          <a:cs typeface="Times New Roman" pitchFamily="34" charset="-120"/>
                        </a:rPr>
                        <a:t>6,87</a:t>
                      </a:r>
                      <a:endParaRPr lang="en-US" sz="14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EAE3"/>
                    </a:solidFill>
                  </a:tcPr>
                </a:tc>
              </a:tr>
            </a:tbl>
          </a:graphicData>
        </a:graphic>
      </p:graphicFrame>
      <p:sp>
        <p:nvSpPr>
          <p:cNvPr id="17" name="Shape 12"/>
          <p:cNvSpPr/>
          <p:nvPr/>
        </p:nvSpPr>
        <p:spPr>
          <a:xfrm>
            <a:off x="548640" y="5349240"/>
            <a:ext cx="11094415" cy="868680"/>
          </a:xfrm>
          <a:prstGeom prst="rect">
            <a:avLst/>
          </a:prstGeom>
          <a:solidFill>
            <a:srgbClr val="E6F0F2"/>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18" name="Shape 13"/>
          <p:cNvSpPr/>
          <p:nvPr/>
        </p:nvSpPr>
        <p:spPr>
          <a:xfrm>
            <a:off x="548640" y="5349240"/>
            <a:ext cx="64008" cy="868680"/>
          </a:xfrm>
          <a:prstGeom prst="rect">
            <a:avLst/>
          </a:prstGeom>
          <a:solidFill>
            <a:srgbClr val="2A7F8F"/>
          </a:solidFill>
          <a:ln w="12700">
            <a:solidFill>
              <a:srgbClr val="2A7F8F"/>
            </a:solidFill>
            <a:prstDash val="solid"/>
          </a:ln>
        </p:spPr>
      </p:sp>
      <p:sp>
        <p:nvSpPr>
          <p:cNvPr id="19" name="Text 14"/>
          <p:cNvSpPr txBox="1"/>
          <p:nvPr/>
        </p:nvSpPr>
        <p:spPr>
          <a:xfrm>
            <a:off x="868680" y="5440680"/>
            <a:ext cx="10454335" cy="685800"/>
          </a:xfrm>
          <a:prstGeom prst="rect">
            <a:avLst/>
          </a:prstGeom>
          <a:noFill/>
          <a:ln/>
        </p:spPr>
        <p:txBody>
          <a:bodyPr wrap="square" lIns="0" tIns="0" rIns="0" bIns="0" rtlCol="0" anchor="ctr"/>
          <a:lstStyle/>
          <a:p>
            <a:pPr indent="0" marL="0">
              <a:buNone/>
            </a:pPr>
            <a:r>
              <a:rPr lang="en-US" sz="1600" b="1" dirty="0">
                <a:solidFill>
                  <a:srgbClr val="1B2A3D"/>
                </a:solidFill>
                <a:latin typeface="Times New Roman" pitchFamily="34" charset="0"/>
                <a:ea typeface="Times New Roman" pitchFamily="34" charset="-122"/>
                <a:cs typeface="Times New Roman" pitchFamily="34" charset="-120"/>
              </a:rPr>
              <a:t>Nguyên tắc:</a:t>
            </a:r>
            <a:pPr indent="0" marL="0">
              <a:buNone/>
            </a:pPr>
            <a:r>
              <a:rPr lang="en-US" sz="1600" dirty="0">
                <a:solidFill>
                  <a:srgbClr val="1B2A3D"/>
                </a:solidFill>
                <a:latin typeface="Times New Roman" pitchFamily="34" charset="0"/>
                <a:ea typeface="Times New Roman" pitchFamily="34" charset="-122"/>
                <a:cs typeface="Times New Roman" pitchFamily="34" charset="-120"/>
              </a:rPr>
              <a:t> mọi lựa chọn dựa trên dev; mỗi phiên bản chấm tập kiểm tra đúng một lần. Mô hình cuối </a:t>
            </a:r>
            <a:pPr indent="0" marL="0">
              <a:buNone/>
            </a:pPr>
            <a:r>
              <a:rPr lang="en-US" sz="1600" b="1" dirty="0">
                <a:solidFill>
                  <a:srgbClr val="1B2A3D"/>
                </a:solidFill>
                <a:latin typeface="Times New Roman" pitchFamily="34" charset="0"/>
                <a:ea typeface="Times New Roman" pitchFamily="34" charset="-122"/>
                <a:cs typeface="Times New Roman" pitchFamily="34" charset="-120"/>
              </a:rPr>
              <a:t>v6</a:t>
            </a:r>
            <a:pPr indent="0" marL="0">
              <a:buNone/>
            </a:pPr>
            <a:r>
              <a:rPr lang="en-US" sz="1600" dirty="0">
                <a:solidFill>
                  <a:srgbClr val="1B2A3D"/>
                </a:solidFill>
                <a:latin typeface="Times New Roman" pitchFamily="34" charset="0"/>
                <a:ea typeface="Times New Roman" pitchFamily="34" charset="-122"/>
                <a:cs typeface="Times New Roman" pitchFamily="34" charset="-120"/>
              </a:rPr>
              <a:t>: dev 6,83 m, kiểm tra </a:t>
            </a:r>
            <a:pPr indent="0" marL="0">
              <a:buNone/>
            </a:pPr>
            <a:r>
              <a:rPr lang="en-US" sz="1600" b="1" dirty="0">
                <a:solidFill>
                  <a:srgbClr val="1B2A3D"/>
                </a:solidFill>
                <a:latin typeface="Times New Roman" pitchFamily="34" charset="0"/>
                <a:ea typeface="Times New Roman" pitchFamily="34" charset="-122"/>
                <a:cs typeface="Times New Roman" pitchFamily="34" charset="-120"/>
              </a:rPr>
              <a:t>6,87 m</a:t>
            </a:r>
            <a:pPr indent="0" marL="0">
              <a:buNone/>
            </a:pPr>
            <a:r>
              <a:rPr lang="en-US" sz="1600" dirty="0">
                <a:solidFill>
                  <a:srgbClr val="1B2A3D"/>
                </a:solidFill>
                <a:latin typeface="Times New Roman" pitchFamily="34" charset="0"/>
                <a:ea typeface="Times New Roman" pitchFamily="34" charset="-122"/>
                <a:cs typeface="Times New Roman" pitchFamily="34" charset="-120"/>
              </a:rPr>
              <a:t>.</a:t>
            </a:r>
            <a:endParaRPr lang="en-US" sz="16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THỰC NGHIỆM · CHI PHÍ</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Thống kê khai thác HUI và chi phí tính toán</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2A7F8F"/>
          </a:solidFill>
          <a:ln w="12700">
            <a:solidFill>
              <a:srgbClr val="2A7F8F"/>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pic>
        <p:nvPicPr>
          <p:cNvPr id="15" name="Image 0" descr="Thống kê khai thác">    </p:cNvPr>
          <p:cNvPicPr>
            <a:picLocks noChangeAspect="1"/>
          </p:cNvPicPr>
          <p:nvPr/>
        </p:nvPicPr>
        <p:blipFill>
          <a:blip r:embed="rId1"/>
          <a:stretch>
            <a:fillRect/>
          </a:stretch>
        </p:blipFill>
        <p:spPr>
          <a:xfrm>
            <a:off x="548640" y="1325880"/>
            <a:ext cx="7680960" cy="2767621"/>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503920" y="1417320"/>
          <a:ext cx="3139135" cy="914400"/>
        </p:xfrm>
        <a:graphic>
          <a:graphicData uri="http://schemas.openxmlformats.org/drawingml/2006/table">
            <a:tbl>
              <a:tblPr/>
              <a:tblGrid>
                <a:gridCol w="2377440"/>
                <a:gridCol w="1188720"/>
              </a:tblGrid>
              <a:tr h="384048">
                <a:tc>
                  <a:txBody>
                    <a:bodyP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Bộ dữ liệu</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1F3A5F"/>
                    </a:solidFill>
                  </a:tcPr>
                </a:tc>
                <a:tc>
                  <a:txBody>
                    <a:bodyP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ms / vân tay</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1F3A5F"/>
                    </a:solidFill>
                  </a:tcPr>
                </a:tc>
              </a:tr>
              <a:tr h="384048">
                <a:tc>
                  <a:txBody>
                    <a:bodyPr/>
                    <a:lstStyle/>
                    <a:p>
                      <a:pPr algn="l" indent="0" marL="0">
                        <a:buNone/>
                      </a:pPr>
                      <a:r>
                        <a:rPr lang="en-US" sz="1300" dirty="0">
                          <a:solidFill>
                            <a:srgbClr val="1B2A3D"/>
                          </a:solidFill>
                          <a:latin typeface="Times New Roman" pitchFamily="34" charset="0"/>
                          <a:ea typeface="Times New Roman" pitchFamily="34" charset="-122"/>
                          <a:cs typeface="Times New Roman" pitchFamily="34" charset="-120"/>
                        </a:rPr>
                        <a:t>UJIIndoorLoc</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A3D"/>
                          </a:solidFill>
                          <a:latin typeface="Times New Roman" pitchFamily="34" charset="0"/>
                          <a:ea typeface="Times New Roman" pitchFamily="34" charset="-122"/>
                          <a:cs typeface="Times New Roman" pitchFamily="34" charset="-120"/>
                        </a:rPr>
                        <a:t>266,31</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2A3D"/>
                          </a:solidFill>
                          <a:latin typeface="Times New Roman" pitchFamily="34" charset="0"/>
                          <a:ea typeface="Times New Roman" pitchFamily="34" charset="-122"/>
                          <a:cs typeface="Times New Roman" pitchFamily="34" charset="-120"/>
                        </a:rPr>
                        <a:t>UJI_LIB tầng 3</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c>
                  <a:txBody>
                    <a:bodyPr/>
                    <a:lstStyle/>
                    <a:p>
                      <a:pPr algn="r" indent="0" marL="0">
                        <a:buNone/>
                      </a:pPr>
                      <a:r>
                        <a:rPr lang="en-US" sz="1300" dirty="0">
                          <a:solidFill>
                            <a:srgbClr val="1B2A3D"/>
                          </a:solidFill>
                          <a:latin typeface="Times New Roman" pitchFamily="34" charset="0"/>
                          <a:ea typeface="Times New Roman" pitchFamily="34" charset="-122"/>
                          <a:cs typeface="Times New Roman" pitchFamily="34" charset="-120"/>
                        </a:rPr>
                        <a:t>0,85</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r>
              <a:tr h="384048">
                <a:tc>
                  <a:txBody>
                    <a:bodyPr/>
                    <a:lstStyle/>
                    <a:p>
                      <a:pPr algn="l" indent="0" marL="0">
                        <a:buNone/>
                      </a:pPr>
                      <a:r>
                        <a:rPr lang="en-US" sz="1300" dirty="0">
                          <a:solidFill>
                            <a:srgbClr val="1B2A3D"/>
                          </a:solidFill>
                          <a:latin typeface="Times New Roman" pitchFamily="34" charset="0"/>
                          <a:ea typeface="Times New Roman" pitchFamily="34" charset="-122"/>
                          <a:cs typeface="Times New Roman" pitchFamily="34" charset="-120"/>
                        </a:rPr>
                        <a:t>DLULIB</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A3D"/>
                          </a:solidFill>
                          <a:latin typeface="Times New Roman" pitchFamily="34" charset="0"/>
                          <a:ea typeface="Times New Roman" pitchFamily="34" charset="-122"/>
                          <a:cs typeface="Times New Roman" pitchFamily="34" charset="-120"/>
                        </a:rPr>
                        <a:t>73,41</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2A3D"/>
                          </a:solidFill>
                          <a:latin typeface="Times New Roman" pitchFamily="34" charset="0"/>
                          <a:ea typeface="Times New Roman" pitchFamily="34" charset="-122"/>
                          <a:cs typeface="Times New Roman" pitchFamily="34" charset="-120"/>
                        </a:rPr>
                        <a:t>HCXY</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c>
                  <a:txBody>
                    <a:bodyPr/>
                    <a:lstStyle/>
                    <a:p>
                      <a:pPr algn="r" indent="0" marL="0">
                        <a:buNone/>
                      </a:pPr>
                      <a:r>
                        <a:rPr lang="en-US" sz="1300" dirty="0">
                          <a:solidFill>
                            <a:srgbClr val="1B2A3D"/>
                          </a:solidFill>
                          <a:latin typeface="Times New Roman" pitchFamily="34" charset="0"/>
                          <a:ea typeface="Times New Roman" pitchFamily="34" charset="-122"/>
                          <a:cs typeface="Times New Roman" pitchFamily="34" charset="-120"/>
                        </a:rPr>
                        <a:t>11,58</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r>
              <a:tr h="384048">
                <a:tc>
                  <a:txBody>
                    <a:bodyPr/>
                    <a:lstStyle/>
                    <a:p>
                      <a:pPr algn="l" indent="0" marL="0">
                        <a:buNone/>
                      </a:pPr>
                      <a:r>
                        <a:rPr lang="en-US" sz="1300" dirty="0">
                          <a:solidFill>
                            <a:srgbClr val="1B2A3D"/>
                          </a:solidFill>
                          <a:latin typeface="Times New Roman" pitchFamily="34" charset="0"/>
                          <a:ea typeface="Times New Roman" pitchFamily="34" charset="-122"/>
                          <a:cs typeface="Times New Roman" pitchFamily="34" charset="-120"/>
                        </a:rPr>
                        <a:t>HUS</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A3D"/>
                          </a:solidFill>
                          <a:latin typeface="Times New Roman" pitchFamily="34" charset="0"/>
                          <a:ea typeface="Times New Roman" pitchFamily="34" charset="-122"/>
                          <a:cs typeface="Times New Roman" pitchFamily="34" charset="-120"/>
                        </a:rPr>
                        <a:t>0,05</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2A3D"/>
                          </a:solidFill>
                          <a:latin typeface="Times New Roman" pitchFamily="34" charset="0"/>
                          <a:ea typeface="Times New Roman" pitchFamily="34" charset="-122"/>
                          <a:cs typeface="Times New Roman" pitchFamily="34" charset="-120"/>
                        </a:rPr>
                        <a:t>HUS (khử trùng lặp)</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c>
                  <a:txBody>
                    <a:bodyPr/>
                    <a:lstStyle/>
                    <a:p>
                      <a:pPr algn="r" indent="0" marL="0">
                        <a:buNone/>
                      </a:pPr>
                      <a:r>
                        <a:rPr lang="en-US" sz="1300" dirty="0">
                          <a:solidFill>
                            <a:srgbClr val="1B2A3D"/>
                          </a:solidFill>
                          <a:latin typeface="Times New Roman" pitchFamily="34" charset="0"/>
                          <a:ea typeface="Times New Roman" pitchFamily="34" charset="-122"/>
                          <a:cs typeface="Times New Roman" pitchFamily="34" charset="-120"/>
                        </a:rPr>
                        <a:t>0,08</a:t>
                      </a:r>
                      <a:endParaRPr lang="en-US" sz="1300" dirty="0">
                        <a:latin typeface="Times New Roman" charset="0"/>
                        <a:ea typeface="Times New Roman" charset="0"/>
                        <a:cs typeface="Times New Roman" charset="0"/>
                      </a:endParaRPr>
                    </a:p>
                  </a:txBody>
                  <a:tcPr marL="76200" marR="76200" marT="25400" marB="25400" anchor="ctr">
                    <a:lnL w="6350" cap="flat" cmpd="sng" algn="ctr">
                      <a:solidFill>
                        <a:srgbClr val="D8D3C8"/>
                      </a:solidFill>
                      <a:prstDash val="solid"/>
                      <a:round/>
                      <a:headEnd type="none" w="med" len="med"/>
                      <a:tailEnd type="none" w="med" len="med"/>
                    </a:lnL>
                    <a:lnR w="6350" cap="flat" cmpd="sng" algn="ctr">
                      <a:solidFill>
                        <a:srgbClr val="D8D3C8"/>
                      </a:solidFill>
                      <a:prstDash val="solid"/>
                      <a:round/>
                      <a:headEnd type="none" w="med" len="med"/>
                      <a:tailEnd type="none" w="med" len="med"/>
                    </a:lnR>
                    <a:lnT w="6350" cap="flat" cmpd="sng" algn="ctr">
                      <a:solidFill>
                        <a:srgbClr val="D8D3C8"/>
                      </a:solidFill>
                      <a:prstDash val="solid"/>
                      <a:round/>
                      <a:headEnd type="none" w="med" len="med"/>
                      <a:tailEnd type="none" w="med" len="med"/>
                    </a:lnT>
                    <a:lnB w="6350" cap="flat" cmpd="sng" algn="ctr">
                      <a:solidFill>
                        <a:srgbClr val="D8D3C8"/>
                      </a:solidFill>
                      <a:prstDash val="solid"/>
                      <a:round/>
                      <a:headEnd type="none" w="med" len="med"/>
                      <a:tailEnd type="none" w="med" len="med"/>
                    </a:lnB>
                    <a:solidFill>
                      <a:srgbClr val="F7F6F2"/>
                    </a:solidFill>
                  </a:tcPr>
                </a:tc>
              </a:tr>
            </a:tbl>
          </a:graphicData>
        </a:graphic>
      </p:graphicFrame>
      <p:sp>
        <p:nvSpPr>
          <p:cNvPr id="17" name="Text 12"/>
          <p:cNvSpPr txBox="1"/>
          <p:nvPr/>
        </p:nvSpPr>
        <p:spPr>
          <a:xfrm>
            <a:off x="548640" y="4800600"/>
            <a:ext cx="7680960" cy="1463040"/>
          </a:xfrm>
          <a:prstGeom prst="rect">
            <a:avLst/>
          </a:prstGeom>
          <a:noFill/>
          <a:ln/>
        </p:spPr>
        <p:txBody>
          <a:bodyPr wrap="square" lIns="25400" tIns="25400" rIns="25400" bIns="25400" rtlCol="0" anchor="t"/>
          <a:lstStyle/>
          <a:p>
            <a:pPr algn="l" marL="254000" indent="-254000">
              <a:spcAft>
                <a:spcPts val="900"/>
              </a:spcAft>
              <a:buSzPct val="100000"/>
              <a:buChar char="•"/>
            </a:pPr>
            <a:r>
              <a:rPr lang="en-US" sz="1500" dirty="0">
                <a:solidFill>
                  <a:srgbClr val="1B2A3D"/>
                </a:solidFill>
                <a:latin typeface="Times New Roman" pitchFamily="34" charset="0"/>
                <a:ea typeface="Times New Roman" pitchFamily="34" charset="-122"/>
                <a:cs typeface="Times New Roman" pitchFamily="34" charset="-120"/>
              </a:rPr>
              <a:t>Mô hình chính UJIIndoorLoc: </a:t>
            </a:r>
            <a:pPr algn="l" marL="254000" indent="-254000">
              <a:spcAft>
                <a:spcPts val="900"/>
              </a:spcAft>
              <a:buSzPct val="100000"/>
              <a:buChar char="•"/>
            </a:pPr>
            <a:r>
              <a:rPr lang="en-US" sz="1500" b="1" dirty="0">
                <a:solidFill>
                  <a:srgbClr val="1B2A3D"/>
                </a:solidFill>
                <a:latin typeface="Times New Roman" pitchFamily="34" charset="0"/>
                <a:ea typeface="Times New Roman" pitchFamily="34" charset="-122"/>
                <a:cs typeface="Times New Roman" pitchFamily="34" charset="-120"/>
              </a:rPr>
              <a:t>3 238 416 HUI</a:t>
            </a:r>
            <a:pPr algn="l" marL="254000" indent="-254000">
              <a:spcAft>
                <a:spcPts val="900"/>
              </a:spcAft>
              <a:buSzPct val="100000"/>
              <a:buChar char="•"/>
            </a:pPr>
            <a:r>
              <a:rPr lang="en-US" sz="1500" dirty="0">
                <a:solidFill>
                  <a:srgbClr val="1B2A3D"/>
                </a:solidFill>
                <a:latin typeface="Times New Roman" pitchFamily="34" charset="0"/>
                <a:ea typeface="Times New Roman" pitchFamily="34" charset="-122"/>
                <a:cs typeface="Times New Roman" pitchFamily="34" charset="-120"/>
              </a:rPr>
              <a:t>, 676/933 ô nâng θ</a:t>
            </a:r>
            <a:endParaRPr lang="en-US" sz="1500" dirty="0"/>
          </a:p>
          <a:p>
            <a:pPr algn="l" marL="254000" indent="-254000">
              <a:spcAft>
                <a:spcPts val="900"/>
              </a:spcAft>
              <a:buSzPct val="100000"/>
              <a:buChar char="•"/>
            </a:pPr>
            <a:r>
              <a:rPr lang="en-US" sz="1500" dirty="0">
                <a:solidFill>
                  <a:srgbClr val="1B2A3D"/>
                </a:solidFill>
                <a:latin typeface="Times New Roman" pitchFamily="34" charset="0"/>
                <a:ea typeface="Times New Roman" pitchFamily="34" charset="-122"/>
                <a:cs typeface="Times New Roman" pitchFamily="34" charset="-120"/>
              </a:rPr>
              <a:t>Ba mô hình của Bước 8: </a:t>
            </a:r>
            <a:pPr algn="l" marL="254000" indent="-254000">
              <a:spcAft>
                <a:spcPts val="900"/>
              </a:spcAft>
              <a:buSzPct val="100000"/>
              <a:buChar char="•"/>
            </a:pPr>
            <a:r>
              <a:rPr lang="en-US" sz="1500" b="1" dirty="0">
                <a:solidFill>
                  <a:srgbClr val="1B2A3D"/>
                </a:solidFill>
                <a:latin typeface="Times New Roman" pitchFamily="34" charset="0"/>
                <a:ea typeface="Times New Roman" pitchFamily="34" charset="-122"/>
                <a:cs typeface="Times New Roman" pitchFamily="34" charset="-120"/>
              </a:rPr>
              <a:t>7 332 956 HUI</a:t>
            </a:r>
            <a:endParaRPr lang="en-US" sz="1500" dirty="0"/>
          </a:p>
          <a:p>
            <a:pPr algn="l" marL="254000" indent="-254000">
              <a:spcAft>
                <a:spcPts val="900"/>
              </a:spcAft>
              <a:buSzPct val="100000"/>
              <a:buChar char="•"/>
            </a:pPr>
            <a:r>
              <a:rPr lang="en-US" sz="1500" dirty="0">
                <a:solidFill>
                  <a:srgbClr val="1B2A3D"/>
                </a:solidFill>
                <a:latin typeface="Times New Roman" pitchFamily="34" charset="0"/>
                <a:ea typeface="Times New Roman" pitchFamily="34" charset="-122"/>
                <a:cs typeface="Times New Roman" pitchFamily="34" charset="-120"/>
              </a:rPr>
              <a:t>Chi phí định vị không phụ thuộc số vân tay huấn luyện</a:t>
            </a:r>
            <a:endParaRPr lang="en-US" sz="15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THỰC NGHIỆM · SO SÁNH</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Đặt cạnh các hệ thống dùng k-NN (chỉ để tham chiếu)</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2A7F8F"/>
          </a:solidFill>
          <a:ln w="12700">
            <a:solidFill>
              <a:srgbClr val="2A7F8F"/>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pic>
        <p:nvPicPr>
          <p:cNvPr id="15" name="Image 0" descr="Đặt cạnh các hệ thống dùng k-NN (chỉ để tham chiếu)">    </p:cNvPr>
          <p:cNvPicPr>
            <a:picLocks noChangeAspect="1"/>
          </p:cNvPicPr>
          <p:nvPr/>
        </p:nvPicPr>
        <p:blipFill>
          <a:blip r:embed="rId1"/>
          <a:stretch>
            <a:fillRect/>
          </a:stretch>
        </p:blipFill>
        <p:spPr>
          <a:xfrm>
            <a:off x="548640" y="1371600"/>
            <a:ext cx="7863840" cy="3584119"/>
          </a:xfrm>
          <a:prstGeom prst="rect">
            <a:avLst/>
          </a:prstGeom>
        </p:spPr>
      </p:pic>
      <p:sp>
        <p:nvSpPr>
          <p:cNvPr id="16" name="Text 12"/>
          <p:cNvSpPr txBox="1"/>
          <p:nvPr/>
        </p:nvSpPr>
        <p:spPr>
          <a:xfrm>
            <a:off x="8732520" y="1463040"/>
            <a:ext cx="2910535" cy="4754880"/>
          </a:xfrm>
          <a:prstGeom prst="rect">
            <a:avLst/>
          </a:prstGeom>
          <a:noFill/>
          <a:ln/>
        </p:spPr>
        <p:txBody>
          <a:bodyPr wrap="square" lIns="25400" tIns="25400" rIns="25400" bIns="25400" rtlCol="0" anchor="t"/>
          <a:lstStyle/>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UJIIndoorLoc: đề xuất </a:t>
            </a:r>
            <a:pPr algn="l" marL="254000" indent="-254000">
              <a:spcAft>
                <a:spcPts val="900"/>
              </a:spcAft>
              <a:buSzPct val="100000"/>
              <a:buChar char="•"/>
            </a:pPr>
            <a:r>
              <a:rPr lang="en-US" sz="1600" b="1" dirty="0">
                <a:solidFill>
                  <a:srgbClr val="1B2A3D"/>
                </a:solidFill>
                <a:latin typeface="Times New Roman" pitchFamily="34" charset="0"/>
                <a:ea typeface="Times New Roman" pitchFamily="34" charset="-122"/>
                <a:cs typeface="Times New Roman" pitchFamily="34" charset="-120"/>
              </a:rPr>
              <a:t>6,87 m</a:t>
            </a:r>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 k-NN gốc 9,28 m, k-NN tối ưu 5,36 m</a:t>
            </a:r>
            <a:endParaRPr lang="en-US" sz="1600" dirty="0"/>
          </a:p>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Bộ một tầng: vị trí kiểm tra trùng điểm tham chiếu, lợi thế cho k-NN</a:t>
            </a:r>
            <a:endParaRPr lang="en-US" sz="1600" dirty="0"/>
          </a:p>
          <a:p>
            <a:pPr algn="l" marL="254000" indent="-254000">
              <a:spcAft>
                <a:spcPts val="900"/>
              </a:spcAft>
              <a:buSzPct val="100000"/>
              <a:buChar char="•"/>
            </a:pPr>
            <a:r>
              <a:rPr lang="en-US" sz="1600" dirty="0">
                <a:solidFill>
                  <a:srgbClr val="1B2A3D"/>
                </a:solidFill>
                <a:latin typeface="Times New Roman" pitchFamily="34" charset="0"/>
                <a:ea typeface="Times New Roman" pitchFamily="34" charset="-122"/>
                <a:cs typeface="Times New Roman" pitchFamily="34" charset="-120"/>
              </a:rPr>
              <a:t>Ưu điểm của đề xuất: mọi quyết định đến từ HUI, mô hình không chứa vân tay</a:t>
            </a:r>
            <a:endParaRPr lang="en-US" sz="16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THỰC NGHIỆM · KIỂM CHỨNG</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Mọi con số đều tính lại được độc lập</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2A7F8F"/>
          </a:solidFill>
          <a:ln w="12700">
            <a:solidFill>
              <a:srgbClr val="2A7F8F"/>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E3E0D8"/>
          </a:solidFill>
          <a:ln w="12700">
            <a:solidFill>
              <a:srgbClr val="E3E0D8"/>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5. Kết luận</a:t>
            </a:r>
            <a:endParaRPr lang="en-US" sz="950" dirty="0"/>
          </a:p>
        </p:txBody>
      </p:sp>
      <p:sp>
        <p:nvSpPr>
          <p:cNvPr id="15" name="Shape 12"/>
          <p:cNvSpPr/>
          <p:nvPr/>
        </p:nvSpPr>
        <p:spPr>
          <a:xfrm>
            <a:off x="548640" y="1463040"/>
            <a:ext cx="3515258" cy="3611880"/>
          </a:xfrm>
          <a:prstGeom prst="rect">
            <a:avLst/>
          </a:prstGeom>
          <a:solidFill>
            <a:srgbClr val="E6F0F2"/>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16" name="Shape 13"/>
          <p:cNvSpPr/>
          <p:nvPr/>
        </p:nvSpPr>
        <p:spPr>
          <a:xfrm>
            <a:off x="548640" y="1463040"/>
            <a:ext cx="64008" cy="3611880"/>
          </a:xfrm>
          <a:prstGeom prst="rect">
            <a:avLst/>
          </a:prstGeom>
          <a:solidFill>
            <a:srgbClr val="2A7F8F"/>
          </a:solidFill>
          <a:ln w="12700">
            <a:solidFill>
              <a:srgbClr val="2A7F8F"/>
            </a:solidFill>
            <a:prstDash val="solid"/>
          </a:ln>
        </p:spPr>
      </p:sp>
      <p:sp>
        <p:nvSpPr>
          <p:cNvPr id="17" name="Text 14"/>
          <p:cNvSpPr txBox="1"/>
          <p:nvPr/>
        </p:nvSpPr>
        <p:spPr>
          <a:xfrm>
            <a:off x="822960" y="1645920"/>
            <a:ext cx="2966618" cy="594360"/>
          </a:xfrm>
          <a:prstGeom prst="rect">
            <a:avLst/>
          </a:prstGeom>
          <a:noFill/>
          <a:ln/>
        </p:spPr>
        <p:txBody>
          <a:bodyPr wrap="square" lIns="0" tIns="0" rIns="0" bIns="0" rtlCol="0" anchor="ctr"/>
          <a:lstStyle/>
          <a:p>
            <a:pPr indent="0" marL="0">
              <a:buNone/>
            </a:pPr>
            <a:r>
              <a:rPr lang="en-US" sz="2600" b="1" dirty="0">
                <a:solidFill>
                  <a:srgbClr val="2A7F8F"/>
                </a:solidFill>
                <a:latin typeface="Times New Roman" pitchFamily="34" charset="0"/>
                <a:ea typeface="Times New Roman" pitchFamily="34" charset="-122"/>
                <a:cs typeface="Times New Roman" pitchFamily="34" charset="-120"/>
              </a:rPr>
              <a:t>50 phép kiểm</a:t>
            </a:r>
            <a:endParaRPr lang="en-US" sz="2600" dirty="0"/>
          </a:p>
        </p:txBody>
      </p:sp>
      <p:sp>
        <p:nvSpPr>
          <p:cNvPr id="18" name="Text 15"/>
          <p:cNvSpPr txBox="1"/>
          <p:nvPr/>
        </p:nvSpPr>
        <p:spPr>
          <a:xfrm>
            <a:off x="822960" y="2240280"/>
            <a:ext cx="2966618" cy="411480"/>
          </a:xfrm>
          <a:prstGeom prst="rect">
            <a:avLst/>
          </a:prstGeom>
          <a:noFill/>
          <a:ln/>
        </p:spPr>
        <p:txBody>
          <a:bodyPr wrap="square" lIns="0" tIns="0" rIns="0" bIns="0" rtlCol="0" anchor="ctr"/>
          <a:lstStyle/>
          <a:p>
            <a:pPr indent="0" marL="0">
              <a:buNone/>
            </a:pPr>
            <a:r>
              <a:rPr lang="en-US" sz="1400" b="1" dirty="0">
                <a:solidFill>
                  <a:srgbClr val="8A8A85"/>
                </a:solidFill>
                <a:latin typeface="Times New Roman" pitchFamily="34" charset="0"/>
                <a:ea typeface="Times New Roman" pitchFamily="34" charset="-122"/>
                <a:cs typeface="Times New Roman" pitchFamily="34" charset="-120"/>
              </a:rPr>
              <a:t>0 thất bại</a:t>
            </a:r>
            <a:endParaRPr lang="en-US" sz="1400" dirty="0"/>
          </a:p>
        </p:txBody>
      </p:sp>
      <p:sp>
        <p:nvSpPr>
          <p:cNvPr id="19" name="Text 16"/>
          <p:cNvSpPr txBox="1"/>
          <p:nvPr/>
        </p:nvSpPr>
        <p:spPr>
          <a:xfrm>
            <a:off x="822960" y="2743200"/>
            <a:ext cx="2966618" cy="2194560"/>
          </a:xfrm>
          <a:prstGeom prst="rect">
            <a:avLst/>
          </a:prstGeom>
          <a:noFill/>
          <a:ln/>
        </p:spPr>
        <p:txBody>
          <a:bodyPr wrap="square" lIns="0" tIns="0" rIns="0" bIns="0" rtlCol="0" anchor="t"/>
          <a:lstStyle/>
          <a:p>
            <a:pPr indent="0" marL="0">
              <a:buNone/>
            </a:pPr>
            <a:r>
              <a:rPr lang="en-US" sz="1500" dirty="0">
                <a:solidFill>
                  <a:srgbClr val="1B2A3D"/>
                </a:solidFill>
                <a:latin typeface="Times New Roman" pitchFamily="34" charset="0"/>
                <a:ea typeface="Times New Roman" pitchFamily="34" charset="-122"/>
                <a:cs typeface="Times New Roman" pitchFamily="34" charset="-120"/>
              </a:rPr>
              <a:t>Tính lại ngưỡng, lợi ích, HUI vượt ngưỡng, điểm khớp, tầng, toạ độ; với mô hình cuối: toạ độ = tổng có trọng số các ô, ô nằm đúng tầng, v4 tái lập khít.</a:t>
            </a:r>
            <a:endParaRPr lang="en-US" sz="1500" dirty="0"/>
          </a:p>
        </p:txBody>
      </p:sp>
      <p:sp>
        <p:nvSpPr>
          <p:cNvPr id="20" name="Shape 17"/>
          <p:cNvSpPr/>
          <p:nvPr/>
        </p:nvSpPr>
        <p:spPr>
          <a:xfrm>
            <a:off x="4338218" y="1463040"/>
            <a:ext cx="3515258" cy="3611880"/>
          </a:xfrm>
          <a:prstGeom prst="rect">
            <a:avLst/>
          </a:prstGeom>
          <a:solidFill>
            <a:srgbClr val="FBFAF7"/>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21" name="Shape 18"/>
          <p:cNvSpPr/>
          <p:nvPr/>
        </p:nvSpPr>
        <p:spPr>
          <a:xfrm>
            <a:off x="4338218" y="1463040"/>
            <a:ext cx="64008" cy="3611880"/>
          </a:xfrm>
          <a:prstGeom prst="rect">
            <a:avLst/>
          </a:prstGeom>
          <a:solidFill>
            <a:srgbClr val="1F3A5F"/>
          </a:solidFill>
          <a:ln w="12700">
            <a:solidFill>
              <a:srgbClr val="1F3A5F"/>
            </a:solidFill>
            <a:prstDash val="solid"/>
          </a:ln>
        </p:spPr>
      </p:sp>
      <p:sp>
        <p:nvSpPr>
          <p:cNvPr id="22" name="Text 19"/>
          <p:cNvSpPr txBox="1"/>
          <p:nvPr/>
        </p:nvSpPr>
        <p:spPr>
          <a:xfrm>
            <a:off x="4612538" y="1645920"/>
            <a:ext cx="2966618" cy="594360"/>
          </a:xfrm>
          <a:prstGeom prst="rect">
            <a:avLst/>
          </a:prstGeom>
          <a:noFill/>
          <a:ln/>
        </p:spPr>
        <p:txBody>
          <a:bodyPr wrap="square" lIns="0" tIns="0" rIns="0" bIns="0" rtlCol="0" anchor="ctr"/>
          <a:lstStyle/>
          <a:p>
            <a:pPr indent="0" marL="0">
              <a:buNone/>
            </a:pPr>
            <a:r>
              <a:rPr lang="en-US" sz="2600" b="1" dirty="0">
                <a:solidFill>
                  <a:srgbClr val="1F3A5F"/>
                </a:solidFill>
                <a:latin typeface="Times New Roman" pitchFamily="34" charset="0"/>
                <a:ea typeface="Times New Roman" pitchFamily="34" charset="-122"/>
                <a:cs typeface="Times New Roman" pitchFamily="34" charset="-120"/>
              </a:rPr>
              <a:t>Sổ Excel</a:t>
            </a:r>
            <a:endParaRPr lang="en-US" sz="2600" dirty="0"/>
          </a:p>
        </p:txBody>
      </p:sp>
      <p:sp>
        <p:nvSpPr>
          <p:cNvPr id="23" name="Text 20"/>
          <p:cNvSpPr txBox="1"/>
          <p:nvPr/>
        </p:nvSpPr>
        <p:spPr>
          <a:xfrm>
            <a:off x="4612538" y="2240280"/>
            <a:ext cx="2966618" cy="411480"/>
          </a:xfrm>
          <a:prstGeom prst="rect">
            <a:avLst/>
          </a:prstGeom>
          <a:noFill/>
          <a:ln/>
        </p:spPr>
        <p:txBody>
          <a:bodyPr wrap="square" lIns="0" tIns="0" rIns="0" bIns="0" rtlCol="0" anchor="ctr"/>
          <a:lstStyle/>
          <a:p>
            <a:pPr indent="0" marL="0">
              <a:buNone/>
            </a:pPr>
            <a:r>
              <a:rPr lang="en-US" sz="1400" b="1" dirty="0">
                <a:solidFill>
                  <a:srgbClr val="8A8A85"/>
                </a:solidFill>
                <a:latin typeface="Times New Roman" pitchFamily="34" charset="0"/>
                <a:ea typeface="Times New Roman" pitchFamily="34" charset="-122"/>
                <a:cs typeface="Times New Roman" pitchFamily="34" charset="-120"/>
              </a:rPr>
              <a:t>so_lieu/kiem_chung_mean.xlsx</a:t>
            </a:r>
            <a:endParaRPr lang="en-US" sz="1400" dirty="0"/>
          </a:p>
        </p:txBody>
      </p:sp>
      <p:sp>
        <p:nvSpPr>
          <p:cNvPr id="24" name="Text 21"/>
          <p:cNvSpPr txBox="1"/>
          <p:nvPr/>
        </p:nvSpPr>
        <p:spPr>
          <a:xfrm>
            <a:off x="4612538" y="2743200"/>
            <a:ext cx="2966618" cy="2194560"/>
          </a:xfrm>
          <a:prstGeom prst="rect">
            <a:avLst/>
          </a:prstGeom>
          <a:noFill/>
          <a:ln/>
        </p:spPr>
        <p:txBody>
          <a:bodyPr wrap="square" lIns="0" tIns="0" rIns="0" bIns="0" rtlCol="0" anchor="t"/>
          <a:lstStyle/>
          <a:p>
            <a:pPr indent="0" marL="0">
              <a:buNone/>
            </a:pPr>
            <a:r>
              <a:rPr lang="en-US" sz="1500" dirty="0">
                <a:solidFill>
                  <a:srgbClr val="1B2A3D"/>
                </a:solidFill>
                <a:latin typeface="Times New Roman" pitchFamily="34" charset="0"/>
                <a:ea typeface="Times New Roman" pitchFamily="34" charset="-122"/>
                <a:cs typeface="Times New Roman" pitchFamily="34" charset="-120"/>
              </a:rPr>
              <a:t>Mỗi tập kiểm tra một sheet: sai số từng mẫu bằng SQRT, trung bình bằng AVERAGE, so với số báo cáo; ví dụ dựng lại toạ độ bằng SUMPRODUCT.</a:t>
            </a:r>
            <a:endParaRPr lang="en-US" sz="1500" dirty="0"/>
          </a:p>
        </p:txBody>
      </p:sp>
      <p:sp>
        <p:nvSpPr>
          <p:cNvPr id="25" name="Shape 22"/>
          <p:cNvSpPr/>
          <p:nvPr/>
        </p:nvSpPr>
        <p:spPr>
          <a:xfrm>
            <a:off x="8127797" y="1463040"/>
            <a:ext cx="3515258" cy="3611880"/>
          </a:xfrm>
          <a:prstGeom prst="rect">
            <a:avLst/>
          </a:prstGeom>
          <a:solidFill>
            <a:srgbClr val="FBFAF7"/>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26" name="Shape 23"/>
          <p:cNvSpPr/>
          <p:nvPr/>
        </p:nvSpPr>
        <p:spPr>
          <a:xfrm>
            <a:off x="8127797" y="1463040"/>
            <a:ext cx="64008" cy="3611880"/>
          </a:xfrm>
          <a:prstGeom prst="rect">
            <a:avLst/>
          </a:prstGeom>
          <a:solidFill>
            <a:srgbClr val="1F3A5F"/>
          </a:solidFill>
          <a:ln w="12700">
            <a:solidFill>
              <a:srgbClr val="1F3A5F"/>
            </a:solidFill>
            <a:prstDash val="solid"/>
          </a:ln>
        </p:spPr>
      </p:sp>
      <p:sp>
        <p:nvSpPr>
          <p:cNvPr id="27" name="Text 24"/>
          <p:cNvSpPr txBox="1"/>
          <p:nvPr/>
        </p:nvSpPr>
        <p:spPr>
          <a:xfrm>
            <a:off x="8402117" y="1645920"/>
            <a:ext cx="2966618" cy="594360"/>
          </a:xfrm>
          <a:prstGeom prst="rect">
            <a:avLst/>
          </a:prstGeom>
          <a:noFill/>
          <a:ln/>
        </p:spPr>
        <p:txBody>
          <a:bodyPr wrap="square" lIns="0" tIns="0" rIns="0" bIns="0" rtlCol="0" anchor="ctr"/>
          <a:lstStyle/>
          <a:p>
            <a:pPr indent="0" marL="0">
              <a:buNone/>
            </a:pPr>
            <a:r>
              <a:rPr lang="en-US" sz="2600" b="1" dirty="0">
                <a:solidFill>
                  <a:srgbClr val="1F3A5F"/>
                </a:solidFill>
                <a:latin typeface="Times New Roman" pitchFamily="34" charset="0"/>
                <a:ea typeface="Times New Roman" pitchFamily="34" charset="-122"/>
                <a:cs typeface="Times New Roman" pitchFamily="34" charset="-120"/>
              </a:rPr>
              <a:t>Script Python</a:t>
            </a:r>
            <a:endParaRPr lang="en-US" sz="2600" dirty="0"/>
          </a:p>
        </p:txBody>
      </p:sp>
      <p:sp>
        <p:nvSpPr>
          <p:cNvPr id="28" name="Text 25"/>
          <p:cNvSpPr txBox="1"/>
          <p:nvPr/>
        </p:nvSpPr>
        <p:spPr>
          <a:xfrm>
            <a:off x="8402117" y="2240280"/>
            <a:ext cx="2966618" cy="411480"/>
          </a:xfrm>
          <a:prstGeom prst="rect">
            <a:avLst/>
          </a:prstGeom>
          <a:noFill/>
          <a:ln/>
        </p:spPr>
        <p:txBody>
          <a:bodyPr wrap="square" lIns="0" tIns="0" rIns="0" bIns="0" rtlCol="0" anchor="ctr"/>
          <a:lstStyle/>
          <a:p>
            <a:pPr indent="0" marL="0">
              <a:buNone/>
            </a:pPr>
            <a:r>
              <a:rPr lang="en-US" sz="1400" b="1" dirty="0">
                <a:solidFill>
                  <a:srgbClr val="8A8A85"/>
                </a:solidFill>
                <a:latin typeface="Times New Roman" pitchFamily="34" charset="0"/>
                <a:ea typeface="Times New Roman" pitchFamily="34" charset="-122"/>
                <a:cs typeface="Times New Roman" pitchFamily="34" charset="-120"/>
              </a:rPr>
              <a:t>so_lieu/kiem_tra_mean.py</a:t>
            </a:r>
            <a:endParaRPr lang="en-US" sz="1400" dirty="0"/>
          </a:p>
        </p:txBody>
      </p:sp>
      <p:sp>
        <p:nvSpPr>
          <p:cNvPr id="29" name="Text 26"/>
          <p:cNvSpPr txBox="1"/>
          <p:nvPr/>
        </p:nvSpPr>
        <p:spPr>
          <a:xfrm>
            <a:off x="8402117" y="2743200"/>
            <a:ext cx="2966618" cy="2194560"/>
          </a:xfrm>
          <a:prstGeom prst="rect">
            <a:avLst/>
          </a:prstGeom>
          <a:noFill/>
          <a:ln/>
        </p:spPr>
        <p:txBody>
          <a:bodyPr wrap="square" lIns="0" tIns="0" rIns="0" bIns="0" rtlCol="0" anchor="t"/>
          <a:lstStyle/>
          <a:p>
            <a:pPr indent="0" marL="0">
              <a:buNone/>
            </a:pPr>
            <a:r>
              <a:rPr lang="en-US" sz="1500" dirty="0">
                <a:solidFill>
                  <a:srgbClr val="1B2A3D"/>
                </a:solidFill>
                <a:latin typeface="Times New Roman" pitchFamily="34" charset="0"/>
                <a:ea typeface="Times New Roman" pitchFamily="34" charset="-122"/>
                <a:cs typeface="Times New Roman" pitchFamily="34" charset="-120"/>
              </a:rPr>
              <a:t>Chỉ dùng thư viện chuẩn: tính lại sai số trung bình, trung vị, đúng tòa–tầng; in KHỚP hoặc LỆCH cho từng tập.</a:t>
            </a:r>
            <a:endParaRPr lang="en-US" sz="1500" dirty="0"/>
          </a:p>
        </p:txBody>
      </p:sp>
      <p:sp>
        <p:nvSpPr>
          <p:cNvPr id="30" name="Shape 27"/>
          <p:cNvSpPr/>
          <p:nvPr/>
        </p:nvSpPr>
        <p:spPr>
          <a:xfrm>
            <a:off x="548640" y="5303520"/>
            <a:ext cx="11094415" cy="868680"/>
          </a:xfrm>
          <a:prstGeom prst="rect">
            <a:avLst/>
          </a:prstGeom>
          <a:solidFill>
            <a:srgbClr val="1F3A5F"/>
          </a:solidFill>
          <a:ln w="12700">
            <a:solidFill>
              <a:srgbClr val="1F3A5F"/>
            </a:solidFill>
            <a:prstDash val="solid"/>
          </a:ln>
        </p:spPr>
      </p:sp>
      <p:sp>
        <p:nvSpPr>
          <p:cNvPr id="31" name="Text 28"/>
          <p:cNvSpPr txBox="1"/>
          <p:nvPr/>
        </p:nvSpPr>
        <p:spPr>
          <a:xfrm>
            <a:off x="868680" y="5440680"/>
            <a:ext cx="10454335" cy="594360"/>
          </a:xfrm>
          <a:prstGeom prst="rect">
            <a:avLst/>
          </a:prstGeom>
          <a:noFill/>
          <a:ln/>
        </p:spPr>
        <p:txBody>
          <a:bodyPr wrap="square" lIns="0" tIns="0" rIns="0" bIns="0" rtlCol="0" anchor="ctr"/>
          <a:lstStyle/>
          <a:p>
            <a:pPr indent="0" marL="0">
              <a:buNone/>
            </a:pPr>
            <a:r>
              <a:rPr lang="en-US" sz="1700" b="1" dirty="0">
                <a:solidFill>
                  <a:srgbClr val="FFFFFF"/>
                </a:solidFill>
                <a:latin typeface="Times New Roman" pitchFamily="34" charset="0"/>
                <a:ea typeface="Times New Roman" pitchFamily="34" charset="-122"/>
                <a:cs typeface="Times New Roman" pitchFamily="34" charset="-120"/>
              </a:rPr>
              <a:t>Kết quả:</a:t>
            </a:r>
            <a:pPr indent="0" marL="0">
              <a:buNone/>
            </a:pPr>
            <a:r>
              <a:rPr lang="en-US" sz="1700" dirty="0">
                <a:solidFill>
                  <a:srgbClr val="FFFFFF"/>
                </a:solidFill>
                <a:latin typeface="Times New Roman" pitchFamily="34" charset="0"/>
                <a:ea typeface="Times New Roman" pitchFamily="34" charset="-122"/>
                <a:cs typeface="Times New Roman" pitchFamily="34" charset="-120"/>
              </a:rPr>
              <a:t> cả 9/9 tập kiểm tra KHỚP; chênh lệch giữa sai số tính lại và sai số báo cáo dưới 0,00005 m.</a:t>
            </a:r>
            <a:endParaRPr lang="en-US" sz="17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1188720"/>
            <a:ext cx="2743200" cy="1463040"/>
          </a:xfrm>
          <a:prstGeom prst="rect">
            <a:avLst/>
          </a:prstGeom>
          <a:noFill/>
          <a:ln/>
        </p:spPr>
        <p:txBody>
          <a:bodyPr wrap="square" lIns="0" tIns="0" rIns="0" bIns="0" rtlCol="0" anchor="ctr"/>
          <a:lstStyle/>
          <a:p>
            <a:pPr indent="0" marL="0">
              <a:buNone/>
            </a:pPr>
            <a:r>
              <a:rPr lang="en-US" sz="11000" b="1" dirty="0">
                <a:solidFill>
                  <a:srgbClr val="7FB3BF"/>
                </a:solidFill>
                <a:latin typeface="Times New Roman" pitchFamily="34" charset="0"/>
                <a:ea typeface="Times New Roman" pitchFamily="34" charset="-122"/>
                <a:cs typeface="Times New Roman" pitchFamily="34" charset="-120"/>
              </a:rPr>
              <a:t>05</a:t>
            </a:r>
            <a:endParaRPr lang="en-US" sz="11000" dirty="0"/>
          </a:p>
        </p:txBody>
      </p:sp>
      <p:sp>
        <p:nvSpPr>
          <p:cNvPr id="3" name="Text 1"/>
          <p:cNvSpPr txBox="1"/>
          <p:nvPr/>
        </p:nvSpPr>
        <p:spPr>
          <a:xfrm>
            <a:off x="548640" y="2743200"/>
            <a:ext cx="7772400" cy="914400"/>
          </a:xfrm>
          <a:prstGeom prst="rect">
            <a:avLst/>
          </a:prstGeom>
          <a:noFill/>
          <a:ln/>
        </p:spPr>
        <p:txBody>
          <a:bodyPr wrap="square" lIns="0" tIns="0" rIns="0" bIns="0" rtlCol="0" anchor="ctr"/>
          <a:lstStyle/>
          <a:p>
            <a:pPr indent="0" marL="0">
              <a:buNone/>
            </a:pPr>
            <a:r>
              <a:rPr lang="en-US" sz="3800" b="1" dirty="0">
                <a:solidFill>
                  <a:srgbClr val="FFFFFF"/>
                </a:solidFill>
                <a:latin typeface="Times New Roman" pitchFamily="34" charset="0"/>
                <a:ea typeface="Times New Roman" pitchFamily="34" charset="-122"/>
                <a:cs typeface="Times New Roman" pitchFamily="34" charset="-120"/>
              </a:rPr>
              <a:t>Kết luận</a:t>
            </a:r>
            <a:endParaRPr lang="en-US" sz="3800" dirty="0"/>
          </a:p>
        </p:txBody>
      </p:sp>
      <p:sp>
        <p:nvSpPr>
          <p:cNvPr id="4" name="Shape 2"/>
          <p:cNvSpPr/>
          <p:nvPr/>
        </p:nvSpPr>
        <p:spPr>
          <a:xfrm>
            <a:off x="548640" y="3794760"/>
            <a:ext cx="2377440" cy="0"/>
          </a:xfrm>
          <a:prstGeom prst="line">
            <a:avLst/>
          </a:prstGeom>
          <a:noFill/>
          <a:ln w="25400">
            <a:solidFill>
              <a:srgbClr val="C9A227"/>
            </a:solidFill>
            <a:prstDash val="solid"/>
          </a:ln>
        </p:spPr>
      </p:sp>
      <p:sp>
        <p:nvSpPr>
          <p:cNvPr id="5" name="Text 3"/>
          <p:cNvSpPr txBox="1"/>
          <p:nvPr/>
        </p:nvSpPr>
        <p:spPr>
          <a:xfrm>
            <a:off x="548640" y="3977640"/>
            <a:ext cx="7315200" cy="2194560"/>
          </a:xfrm>
          <a:prstGeom prst="rect">
            <a:avLst/>
          </a:prstGeom>
          <a:noFill/>
          <a:ln/>
        </p:spPr>
        <p:txBody>
          <a:bodyPr wrap="square" lIns="0" tIns="0" rIns="0" bIns="0" rtlCol="0" anchor="t"/>
          <a:lstStyle/>
          <a:p>
            <a:pPr indent="0" marL="0">
              <a:spcAft>
                <a:spcPts val="600"/>
              </a:spcAft>
              <a:buNone/>
            </a:pPr>
            <a:r>
              <a:rPr lang="en-US" sz="1800" dirty="0">
                <a:solidFill>
                  <a:srgbClr val="DCE6EE"/>
                </a:solidFill>
                <a:latin typeface="Times New Roman" pitchFamily="34" charset="0"/>
                <a:ea typeface="Times New Roman" pitchFamily="34" charset="-122"/>
                <a:cs typeface="Times New Roman" pitchFamily="34" charset="-120"/>
              </a:rPr>
              <a:t>Kết quả đạt được</a:t>
            </a:r>
            <a:endParaRPr lang="en-US" sz="1800" dirty="0"/>
          </a:p>
          <a:p>
            <a:pPr indent="0" marL="0">
              <a:spcAft>
                <a:spcPts val="600"/>
              </a:spcAft>
              <a:buNone/>
            </a:pPr>
            <a:r>
              <a:rPr lang="en-US" sz="1800" dirty="0">
                <a:solidFill>
                  <a:srgbClr val="DCE6EE"/>
                </a:solidFill>
                <a:latin typeface="Times New Roman" pitchFamily="34" charset="0"/>
                <a:ea typeface="Times New Roman" pitchFamily="34" charset="-122"/>
                <a:cs typeface="Times New Roman" pitchFamily="34" charset="-120"/>
              </a:rPr>
              <a:t>Hạn chế cần nói rõ</a:t>
            </a:r>
            <a:endParaRPr lang="en-US" sz="1800" dirty="0"/>
          </a:p>
          <a:p>
            <a:pPr indent="0" marL="0">
              <a:spcAft>
                <a:spcPts val="600"/>
              </a:spcAft>
              <a:buNone/>
            </a:pPr>
            <a:r>
              <a:rPr lang="en-US" sz="1800" dirty="0">
                <a:solidFill>
                  <a:srgbClr val="DCE6EE"/>
                </a:solidFill>
                <a:latin typeface="Times New Roman" pitchFamily="34" charset="0"/>
                <a:ea typeface="Times New Roman" pitchFamily="34" charset="-122"/>
                <a:cs typeface="Times New Roman" pitchFamily="34" charset="-120"/>
              </a:rPr>
              <a:t>Hướng phát triển</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219456"/>
            <a:ext cx="8229600" cy="274320"/>
          </a:xfrm>
          <a:prstGeom prst="rect">
            <a:avLst/>
          </a:prstGeom>
          <a:noFill/>
          <a:ln/>
        </p:spPr>
        <p:txBody>
          <a:bodyPr wrap="square" lIns="0" tIns="0" rIns="0" bIns="0" rtlCol="0" anchor="ctr"/>
          <a:lstStyle/>
          <a:p>
            <a:pPr indent="0" marL="0">
              <a:buNone/>
            </a:pPr>
            <a:r>
              <a:rPr lang="en-US" sz="1200" b="1" spc="150" kern="0" dirty="0">
                <a:solidFill>
                  <a:srgbClr val="2A7F8F"/>
                </a:solidFill>
                <a:latin typeface="Times New Roman" pitchFamily="34" charset="0"/>
                <a:ea typeface="Times New Roman" pitchFamily="34" charset="-122"/>
                <a:cs typeface="Times New Roman" pitchFamily="34" charset="-120"/>
              </a:rPr>
              <a:t>KẾT LUẬN</a:t>
            </a:r>
            <a:endParaRPr lang="en-US" sz="1200" dirty="0"/>
          </a:p>
        </p:txBody>
      </p:sp>
      <p:sp>
        <p:nvSpPr>
          <p:cNvPr id="3" name="Text 2"/>
          <p:cNvSpPr/>
          <p:nvPr>
            <p:ph idx="102" type="title" hasCustomPrompt="1"/>
          </p:nvPr>
        </p:nvSpPr>
        <p:spPr>
          <a:xfrm>
            <a:off x="548640" y="502920"/>
            <a:ext cx="11094415" cy="685800"/>
          </a:xfrm>
          <a:prstGeom prst="rect">
            <a:avLst/>
          </a:prstGeom>
          <a:noFill/>
          <a:ln/>
        </p:spPr>
        <p:txBody>
          <a:bodyPr wrap="square" lIns="0" tIns="0" rIns="0" bIns="0" rtlCol="0" anchor="t"/>
          <a:lstStyle/>
          <a:p>
            <a:pPr algn="l" indent="0" marL="0">
              <a:buNone/>
            </a:pPr>
            <a:r>
              <a:rPr lang="en-US" sz="2700" b="1" dirty="0">
                <a:solidFill>
                  <a:srgbClr val="1F3A5F"/>
                </a:solidFill>
                <a:latin typeface="Times New Roman" pitchFamily="34" charset="0"/>
                <a:ea typeface="Times New Roman" pitchFamily="34" charset="-122"/>
                <a:cs typeface="Times New Roman" pitchFamily="34" charset="-120"/>
              </a:rPr>
              <a:t>Kết luận và hướng phát triển</a:t>
            </a:r>
            <a:endParaRPr lang="en-US" sz="2700" dirty="0"/>
          </a:p>
        </p:txBody>
      </p:sp>
      <p:sp>
        <p:nvSpPr>
          <p:cNvPr id="4" name="Shape 2"/>
          <p:cNvSpPr/>
          <p:nvPr/>
        </p:nvSpPr>
        <p:spPr>
          <a:xfrm>
            <a:off x="548640" y="6492240"/>
            <a:ext cx="1600200" cy="45720"/>
          </a:xfrm>
          <a:prstGeom prst="rect">
            <a:avLst/>
          </a:prstGeom>
          <a:solidFill>
            <a:srgbClr val="E3E0D8"/>
          </a:solidFill>
          <a:ln w="12700">
            <a:solidFill>
              <a:srgbClr val="E3E0D8"/>
            </a:solidFill>
            <a:prstDash val="solid"/>
          </a:ln>
        </p:spPr>
      </p:sp>
      <p:sp>
        <p:nvSpPr>
          <p:cNvPr id="5" name="Text 3"/>
          <p:cNvSpPr txBox="1"/>
          <p:nvPr/>
        </p:nvSpPr>
        <p:spPr>
          <a:xfrm>
            <a:off x="548640"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1. Mở đầu</a:t>
            </a:r>
            <a:endParaRPr lang="en-US" sz="950" dirty="0"/>
          </a:p>
        </p:txBody>
      </p:sp>
      <p:sp>
        <p:nvSpPr>
          <p:cNvPr id="6" name="Shape 4"/>
          <p:cNvSpPr/>
          <p:nvPr/>
        </p:nvSpPr>
        <p:spPr>
          <a:xfrm>
            <a:off x="2221992" y="6492240"/>
            <a:ext cx="1600200" cy="45720"/>
          </a:xfrm>
          <a:prstGeom prst="rect">
            <a:avLst/>
          </a:prstGeom>
          <a:solidFill>
            <a:srgbClr val="E3E0D8"/>
          </a:solidFill>
          <a:ln w="12700">
            <a:solidFill>
              <a:srgbClr val="E3E0D8"/>
            </a:solidFill>
            <a:prstDash val="solid"/>
          </a:ln>
        </p:spPr>
      </p:sp>
      <p:sp>
        <p:nvSpPr>
          <p:cNvPr id="7" name="Text 5"/>
          <p:cNvSpPr txBox="1"/>
          <p:nvPr/>
        </p:nvSpPr>
        <p:spPr>
          <a:xfrm>
            <a:off x="2221992"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2. Cơ sở lý thuyết</a:t>
            </a:r>
            <a:endParaRPr lang="en-US" sz="950" dirty="0"/>
          </a:p>
        </p:txBody>
      </p:sp>
      <p:sp>
        <p:nvSpPr>
          <p:cNvPr id="8" name="Shape 6"/>
          <p:cNvSpPr/>
          <p:nvPr/>
        </p:nvSpPr>
        <p:spPr>
          <a:xfrm>
            <a:off x="3895344" y="6492240"/>
            <a:ext cx="1600200" cy="45720"/>
          </a:xfrm>
          <a:prstGeom prst="rect">
            <a:avLst/>
          </a:prstGeom>
          <a:solidFill>
            <a:srgbClr val="E3E0D8"/>
          </a:solidFill>
          <a:ln w="12700">
            <a:solidFill>
              <a:srgbClr val="E3E0D8"/>
            </a:solidFill>
            <a:prstDash val="solid"/>
          </a:ln>
        </p:spPr>
      </p:sp>
      <p:sp>
        <p:nvSpPr>
          <p:cNvPr id="9" name="Text 7"/>
          <p:cNvSpPr txBox="1"/>
          <p:nvPr/>
        </p:nvSpPr>
        <p:spPr>
          <a:xfrm>
            <a:off x="3895344"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3. Mô hình đề xuất</a:t>
            </a:r>
            <a:endParaRPr lang="en-US" sz="950" dirty="0"/>
          </a:p>
        </p:txBody>
      </p:sp>
      <p:sp>
        <p:nvSpPr>
          <p:cNvPr id="10" name="Shape 8"/>
          <p:cNvSpPr/>
          <p:nvPr/>
        </p:nvSpPr>
        <p:spPr>
          <a:xfrm>
            <a:off x="5568696" y="6492240"/>
            <a:ext cx="1600200" cy="45720"/>
          </a:xfrm>
          <a:prstGeom prst="rect">
            <a:avLst/>
          </a:prstGeom>
          <a:solidFill>
            <a:srgbClr val="E3E0D8"/>
          </a:solidFill>
          <a:ln w="12700">
            <a:solidFill>
              <a:srgbClr val="E3E0D8"/>
            </a:solidFill>
            <a:prstDash val="solid"/>
          </a:ln>
        </p:spPr>
      </p:sp>
      <p:sp>
        <p:nvSpPr>
          <p:cNvPr id="11" name="Text 9"/>
          <p:cNvSpPr txBox="1"/>
          <p:nvPr/>
        </p:nvSpPr>
        <p:spPr>
          <a:xfrm>
            <a:off x="5568696" y="6537960"/>
            <a:ext cx="1600200" cy="228600"/>
          </a:xfrm>
          <a:prstGeom prst="rect">
            <a:avLst/>
          </a:prstGeom>
          <a:noFill/>
          <a:ln/>
        </p:spPr>
        <p:txBody>
          <a:bodyPr wrap="square" lIns="0" tIns="0" rIns="0" bIns="0" rtlCol="0" anchor="ctr"/>
          <a:lstStyle/>
          <a:p>
            <a:pPr indent="0" marL="0">
              <a:buNone/>
            </a:pPr>
            <a:r>
              <a:rPr lang="en-US" sz="950" dirty="0">
                <a:solidFill>
                  <a:srgbClr val="8A8A85"/>
                </a:solidFill>
                <a:latin typeface="Times New Roman" pitchFamily="34" charset="0"/>
                <a:ea typeface="Times New Roman" pitchFamily="34" charset="-122"/>
                <a:cs typeface="Times New Roman" pitchFamily="34" charset="-120"/>
              </a:rPr>
              <a:t>4. Thực nghiệm</a:t>
            </a:r>
            <a:endParaRPr lang="en-US" sz="950" dirty="0"/>
          </a:p>
        </p:txBody>
      </p:sp>
      <p:sp>
        <p:nvSpPr>
          <p:cNvPr id="12" name="Shape 10"/>
          <p:cNvSpPr/>
          <p:nvPr/>
        </p:nvSpPr>
        <p:spPr>
          <a:xfrm>
            <a:off x="7242048" y="6492240"/>
            <a:ext cx="1600200" cy="45720"/>
          </a:xfrm>
          <a:prstGeom prst="rect">
            <a:avLst/>
          </a:prstGeom>
          <a:solidFill>
            <a:srgbClr val="2A7F8F"/>
          </a:solidFill>
          <a:ln w="12700">
            <a:solidFill>
              <a:srgbClr val="2A7F8F"/>
            </a:solidFill>
            <a:prstDash val="solid"/>
          </a:ln>
        </p:spPr>
      </p:sp>
      <p:sp>
        <p:nvSpPr>
          <p:cNvPr id="13" name="Text 11"/>
          <p:cNvSpPr txBox="1"/>
          <p:nvPr/>
        </p:nvSpPr>
        <p:spPr>
          <a:xfrm>
            <a:off x="7242048" y="6537960"/>
            <a:ext cx="1600200" cy="228600"/>
          </a:xfrm>
          <a:prstGeom prst="rect">
            <a:avLst/>
          </a:prstGeom>
          <a:noFill/>
          <a:ln/>
        </p:spPr>
        <p:txBody>
          <a:bodyPr wrap="square" lIns="0" tIns="0" rIns="0" bIns="0" rtlCol="0" anchor="ctr"/>
          <a:lstStyle/>
          <a:p>
            <a:pPr indent="0" marL="0">
              <a:buNone/>
            </a:pPr>
            <a:r>
              <a:rPr lang="en-US" sz="950" b="1" dirty="0">
                <a:solidFill>
                  <a:srgbClr val="1F3A5F"/>
                </a:solidFill>
                <a:latin typeface="Times New Roman" pitchFamily="34" charset="0"/>
                <a:ea typeface="Times New Roman" pitchFamily="34" charset="-122"/>
                <a:cs typeface="Times New Roman" pitchFamily="34" charset="-120"/>
              </a:rPr>
              <a:t>5. Kết luận</a:t>
            </a:r>
            <a:endParaRPr lang="en-US" sz="950" dirty="0"/>
          </a:p>
        </p:txBody>
      </p:sp>
      <p:sp>
        <p:nvSpPr>
          <p:cNvPr id="15" name="Shape 12"/>
          <p:cNvSpPr/>
          <p:nvPr/>
        </p:nvSpPr>
        <p:spPr>
          <a:xfrm>
            <a:off x="548640" y="1417320"/>
            <a:ext cx="3545738" cy="4754880"/>
          </a:xfrm>
          <a:prstGeom prst="rect">
            <a:avLst/>
          </a:prstGeom>
          <a:solidFill>
            <a:srgbClr val="FBFAF7"/>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16" name="Shape 13"/>
          <p:cNvSpPr/>
          <p:nvPr/>
        </p:nvSpPr>
        <p:spPr>
          <a:xfrm>
            <a:off x="548640" y="1417320"/>
            <a:ext cx="64008" cy="4754880"/>
          </a:xfrm>
          <a:prstGeom prst="rect">
            <a:avLst/>
          </a:prstGeom>
          <a:solidFill>
            <a:srgbClr val="2A7F8F"/>
          </a:solidFill>
          <a:ln w="12700">
            <a:solidFill>
              <a:srgbClr val="2A7F8F"/>
            </a:solidFill>
            <a:prstDash val="solid"/>
          </a:ln>
        </p:spPr>
      </p:sp>
      <p:sp>
        <p:nvSpPr>
          <p:cNvPr id="17" name="Text 14"/>
          <p:cNvSpPr txBox="1"/>
          <p:nvPr/>
        </p:nvSpPr>
        <p:spPr>
          <a:xfrm>
            <a:off x="777240" y="1554480"/>
            <a:ext cx="3088538" cy="411480"/>
          </a:xfrm>
          <a:prstGeom prst="rect">
            <a:avLst/>
          </a:prstGeom>
          <a:noFill/>
          <a:ln/>
        </p:spPr>
        <p:txBody>
          <a:bodyPr wrap="square" lIns="0" tIns="0" rIns="0" bIns="0" rtlCol="0" anchor="ctr"/>
          <a:lstStyle/>
          <a:p>
            <a:pPr indent="0" marL="0">
              <a:buNone/>
            </a:pPr>
            <a:r>
              <a:rPr lang="en-US" sz="1800" b="1" dirty="0">
                <a:solidFill>
                  <a:srgbClr val="2A7F8F"/>
                </a:solidFill>
                <a:latin typeface="Times New Roman" pitchFamily="34" charset="0"/>
                <a:ea typeface="Times New Roman" pitchFamily="34" charset="-122"/>
                <a:cs typeface="Times New Roman" pitchFamily="34" charset="-120"/>
              </a:rPr>
              <a:t>Kết quả đạt được</a:t>
            </a:r>
            <a:endParaRPr lang="en-US" sz="1800" dirty="0"/>
          </a:p>
        </p:txBody>
      </p:sp>
      <p:sp>
        <p:nvSpPr>
          <p:cNvPr id="18" name="Text 15"/>
          <p:cNvSpPr txBox="1"/>
          <p:nvPr/>
        </p:nvSpPr>
        <p:spPr>
          <a:xfrm>
            <a:off x="822960" y="2103120"/>
            <a:ext cx="3088538" cy="3931920"/>
          </a:xfrm>
          <a:prstGeom prst="rect">
            <a:avLst/>
          </a:prstGeom>
          <a:noFill/>
          <a:ln/>
        </p:spPr>
        <p:txBody>
          <a:bodyPr wrap="square" lIns="25400" tIns="25400" rIns="25400" bIns="25400" rtlCol="0" anchor="t"/>
          <a:lstStyle/>
          <a:p>
            <a:pPr algn="l" marL="254000" indent="-254000">
              <a:spcAft>
                <a:spcPts val="900"/>
              </a:spcAft>
              <a:buSzPct val="100000"/>
              <a:buChar char="•"/>
            </a:pPr>
            <a:r>
              <a:rPr lang="en-US" sz="2000" dirty="0">
                <a:solidFill>
                  <a:srgbClr val="1B2A3D"/>
                </a:solidFill>
                <a:latin typeface="Times New Roman" pitchFamily="34" charset="0"/>
                <a:ea typeface="Times New Roman" pitchFamily="34" charset="-122"/>
                <a:cs typeface="Times New Roman" pitchFamily="34" charset="-120"/>
              </a:rPr>
              <a:t>HUIM là thuật toán định vị chính; </a:t>
            </a:r>
            <a:pPr algn="l" marL="254000" indent="-254000">
              <a:spcAft>
                <a:spcPts val="900"/>
              </a:spcAft>
              <a:buSzPct val="100000"/>
              <a:buChar char="•"/>
            </a:pPr>
            <a:r>
              <a:rPr lang="en-US" sz="2000" b="1" dirty="0">
                <a:solidFill>
                  <a:srgbClr val="1B2A3D"/>
                </a:solidFill>
                <a:latin typeface="Times New Roman" pitchFamily="34" charset="0"/>
                <a:ea typeface="Times New Roman" pitchFamily="34" charset="-122"/>
                <a:cs typeface="Times New Roman" pitchFamily="34" charset="-120"/>
              </a:rPr>
              <a:t>không k-NN</a:t>
            </a:r>
            <a:pPr algn="l" marL="254000" indent="-254000">
              <a:spcAft>
                <a:spcPts val="900"/>
              </a:spcAft>
              <a:buSzPct val="100000"/>
              <a:buChar char="•"/>
            </a:pPr>
            <a:r>
              <a:rPr lang="en-US" sz="2000" dirty="0">
                <a:solidFill>
                  <a:srgbClr val="1B2A3D"/>
                </a:solidFill>
                <a:latin typeface="Times New Roman" pitchFamily="34" charset="0"/>
                <a:ea typeface="Times New Roman" pitchFamily="34" charset="-122"/>
                <a:cs typeface="Times New Roman" pitchFamily="34" charset="-120"/>
              </a:rPr>
              <a:t>, không lưu vân tay</a:t>
            </a:r>
            <a:endParaRPr lang="en-US" sz="2000" dirty="0"/>
          </a:p>
          <a:p>
            <a:pPr algn="l" marL="254000" indent="-254000">
              <a:spcAft>
                <a:spcPts val="900"/>
              </a:spcAft>
              <a:buSzPct val="100000"/>
              <a:buChar char="•"/>
            </a:pPr>
            <a:r>
              <a:rPr lang="en-US" sz="2000" b="1" dirty="0">
                <a:solidFill>
                  <a:srgbClr val="1B2A3D"/>
                </a:solidFill>
                <a:latin typeface="Times New Roman" pitchFamily="34" charset="0"/>
                <a:ea typeface="Times New Roman" pitchFamily="34" charset="-122"/>
                <a:cs typeface="Times New Roman" pitchFamily="34" charset="-120"/>
              </a:rPr>
              <a:t>9/9</a:t>
            </a:r>
            <a:pPr algn="l" marL="254000" indent="-254000">
              <a:spcAft>
                <a:spcPts val="900"/>
              </a:spcAft>
              <a:buSzPct val="100000"/>
              <a:buChar char="•"/>
            </a:pPr>
            <a:r>
              <a:rPr lang="en-US" sz="2000" dirty="0">
                <a:solidFill>
                  <a:srgbClr val="1B2A3D"/>
                </a:solidFill>
                <a:latin typeface="Times New Roman" pitchFamily="34" charset="0"/>
                <a:ea typeface="Times New Roman" pitchFamily="34" charset="-122"/>
                <a:cs typeface="Times New Roman" pitchFamily="34" charset="-120"/>
              </a:rPr>
              <a:t> tập kiểm tra dưới 7 m</a:t>
            </a:r>
            <a:endParaRPr lang="en-US" sz="2000" dirty="0"/>
          </a:p>
          <a:p>
            <a:pPr algn="l" marL="254000" indent="-254000">
              <a:spcAft>
                <a:spcPts val="900"/>
              </a:spcAft>
              <a:buSzPct val="100000"/>
              <a:buChar char="•"/>
            </a:pPr>
            <a:r>
              <a:rPr lang="en-US" sz="2000" dirty="0">
                <a:solidFill>
                  <a:srgbClr val="1B2A3D"/>
                </a:solidFill>
                <a:latin typeface="Times New Roman" pitchFamily="34" charset="0"/>
                <a:ea typeface="Times New Roman" pitchFamily="34" charset="-122"/>
                <a:cs typeface="Times New Roman" pitchFamily="34" charset="-120"/>
              </a:rPr>
              <a:t>UJIIndoorLoc </a:t>
            </a:r>
            <a:pPr algn="l" marL="254000" indent="-254000">
              <a:spcAft>
                <a:spcPts val="900"/>
              </a:spcAft>
              <a:buSzPct val="100000"/>
              <a:buChar char="•"/>
            </a:pPr>
            <a:r>
              <a:rPr lang="en-US" sz="2000" b="1" dirty="0">
                <a:solidFill>
                  <a:srgbClr val="1B2A3D"/>
                </a:solidFill>
                <a:latin typeface="Times New Roman" pitchFamily="34" charset="0"/>
                <a:ea typeface="Times New Roman" pitchFamily="34" charset="-122"/>
                <a:cs typeface="Times New Roman" pitchFamily="34" charset="-120"/>
              </a:rPr>
              <a:t>6,87 m</a:t>
            </a:r>
            <a:pPr algn="l" marL="254000" indent="-254000">
              <a:spcAft>
                <a:spcPts val="900"/>
              </a:spcAft>
              <a:buSzPct val="100000"/>
              <a:buChar char="•"/>
            </a:pPr>
            <a:r>
              <a:rPr lang="en-US" sz="2000" dirty="0">
                <a:solidFill>
                  <a:srgbClr val="1B2A3D"/>
                </a:solidFill>
                <a:latin typeface="Times New Roman" pitchFamily="34" charset="0"/>
                <a:ea typeface="Times New Roman" pitchFamily="34" charset="-122"/>
                <a:cs typeface="Times New Roman" pitchFamily="34" charset="-120"/>
              </a:rPr>
              <a:t> (v4: 8,06 m)</a:t>
            </a:r>
            <a:endParaRPr lang="en-US" sz="2000" dirty="0"/>
          </a:p>
          <a:p>
            <a:pPr algn="l" marL="254000" indent="-254000">
              <a:spcAft>
                <a:spcPts val="900"/>
              </a:spcAft>
              <a:buSzPct val="100000"/>
              <a:buChar char="•"/>
            </a:pPr>
            <a:r>
              <a:rPr lang="en-US" sz="2000" dirty="0">
                <a:solidFill>
                  <a:srgbClr val="1B2A3D"/>
                </a:solidFill>
                <a:latin typeface="Times New Roman" pitchFamily="34" charset="0"/>
                <a:ea typeface="Times New Roman" pitchFamily="34" charset="-122"/>
                <a:cs typeface="Times New Roman" pitchFamily="34" charset="-120"/>
              </a:rPr>
              <a:t>50 phép kiểm chứng, 0 thất bại</a:t>
            </a:r>
            <a:endParaRPr lang="en-US" sz="2000" dirty="0"/>
          </a:p>
        </p:txBody>
      </p:sp>
      <p:sp>
        <p:nvSpPr>
          <p:cNvPr id="19" name="Shape 16"/>
          <p:cNvSpPr/>
          <p:nvPr/>
        </p:nvSpPr>
        <p:spPr>
          <a:xfrm>
            <a:off x="4322978" y="1417320"/>
            <a:ext cx="3545738" cy="4754880"/>
          </a:xfrm>
          <a:prstGeom prst="rect">
            <a:avLst/>
          </a:prstGeom>
          <a:solidFill>
            <a:srgbClr val="FBFAF7"/>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20" name="Shape 17"/>
          <p:cNvSpPr/>
          <p:nvPr/>
        </p:nvSpPr>
        <p:spPr>
          <a:xfrm>
            <a:off x="4322978" y="1417320"/>
            <a:ext cx="64008" cy="4754880"/>
          </a:xfrm>
          <a:prstGeom prst="rect">
            <a:avLst/>
          </a:prstGeom>
          <a:solidFill>
            <a:srgbClr val="B5532A"/>
          </a:solidFill>
          <a:ln w="12700">
            <a:solidFill>
              <a:srgbClr val="B5532A"/>
            </a:solidFill>
            <a:prstDash val="solid"/>
          </a:ln>
        </p:spPr>
      </p:sp>
      <p:sp>
        <p:nvSpPr>
          <p:cNvPr id="21" name="Text 18"/>
          <p:cNvSpPr txBox="1"/>
          <p:nvPr/>
        </p:nvSpPr>
        <p:spPr>
          <a:xfrm>
            <a:off x="4551578" y="1554480"/>
            <a:ext cx="3088538" cy="411480"/>
          </a:xfrm>
          <a:prstGeom prst="rect">
            <a:avLst/>
          </a:prstGeom>
          <a:noFill/>
          <a:ln/>
        </p:spPr>
        <p:txBody>
          <a:bodyPr wrap="square" lIns="0" tIns="0" rIns="0" bIns="0" rtlCol="0" anchor="ctr"/>
          <a:lstStyle/>
          <a:p>
            <a:pPr indent="0" marL="0">
              <a:buNone/>
            </a:pPr>
            <a:r>
              <a:rPr lang="en-US" sz="1800" b="1" dirty="0">
                <a:solidFill>
                  <a:srgbClr val="B5532A"/>
                </a:solidFill>
                <a:latin typeface="Times New Roman" pitchFamily="34" charset="0"/>
                <a:ea typeface="Times New Roman" pitchFamily="34" charset="-122"/>
                <a:cs typeface="Times New Roman" pitchFamily="34" charset="-120"/>
              </a:rPr>
              <a:t>Hạn chế</a:t>
            </a:r>
            <a:endParaRPr lang="en-US" sz="1800" dirty="0"/>
          </a:p>
        </p:txBody>
      </p:sp>
      <p:sp>
        <p:nvSpPr>
          <p:cNvPr id="22" name="Text 19"/>
          <p:cNvSpPr txBox="1"/>
          <p:nvPr/>
        </p:nvSpPr>
        <p:spPr>
          <a:xfrm>
            <a:off x="4597298" y="2103120"/>
            <a:ext cx="3088538" cy="3931920"/>
          </a:xfrm>
          <a:prstGeom prst="rect">
            <a:avLst/>
          </a:prstGeom>
          <a:noFill/>
          <a:ln/>
        </p:spPr>
        <p:txBody>
          <a:bodyPr wrap="square" lIns="25400" tIns="25400" rIns="25400" bIns="25400" rtlCol="0" anchor="t"/>
          <a:lstStyle/>
          <a:p>
            <a:pPr algn="l" marL="254000" indent="-254000">
              <a:spcAft>
                <a:spcPts val="900"/>
              </a:spcAft>
              <a:buSzPct val="100000"/>
              <a:buChar char="•"/>
            </a:pPr>
            <a:r>
              <a:rPr lang="en-US" sz="2000" dirty="0">
                <a:solidFill>
                  <a:srgbClr val="1B2A3D"/>
                </a:solidFill>
                <a:latin typeface="Times New Roman" pitchFamily="34" charset="0"/>
                <a:ea typeface="Times New Roman" pitchFamily="34" charset="-122"/>
                <a:cs typeface="Times New Roman" pitchFamily="34" charset="-120"/>
              </a:rPr>
              <a:t>Biên dưới 7 m nhỏ: sai số chuẩn </a:t>
            </a:r>
            <a:pPr algn="l" marL="254000" indent="-254000">
              <a:spcAft>
                <a:spcPts val="900"/>
              </a:spcAft>
              <a:buSzPct val="100000"/>
              <a:buChar char="•"/>
            </a:pPr>
            <a:r>
              <a:rPr lang="en-US" sz="2000" b="1" dirty="0">
                <a:solidFill>
                  <a:srgbClr val="1B2A3D"/>
                </a:solidFill>
                <a:latin typeface="Times New Roman" pitchFamily="34" charset="0"/>
                <a:ea typeface="Times New Roman" pitchFamily="34" charset="-122"/>
                <a:cs typeface="Times New Roman" pitchFamily="34" charset="-120"/>
              </a:rPr>
              <a:t>0,20 m</a:t>
            </a:r>
            <a:endParaRPr lang="en-US" sz="2000" dirty="0"/>
          </a:p>
          <a:p>
            <a:pPr algn="l" marL="254000" indent="-254000">
              <a:spcAft>
                <a:spcPts val="900"/>
              </a:spcAft>
              <a:buSzPct val="100000"/>
              <a:buChar char="•"/>
            </a:pPr>
            <a:r>
              <a:rPr lang="en-US" sz="2000" dirty="0">
                <a:solidFill>
                  <a:srgbClr val="1B2A3D"/>
                </a:solidFill>
                <a:latin typeface="Times New Roman" pitchFamily="34" charset="0"/>
                <a:ea typeface="Times New Roman" pitchFamily="34" charset="-122"/>
                <a:cs typeface="Times New Roman" pitchFamily="34" charset="-120"/>
              </a:rPr>
              <a:t>Bước 8 dùng bộ hồi quy để cân bằng chứng HUI</a:t>
            </a:r>
            <a:endParaRPr lang="en-US" sz="2000" dirty="0"/>
          </a:p>
          <a:p>
            <a:pPr algn="l" marL="254000" indent="-254000">
              <a:spcAft>
                <a:spcPts val="900"/>
              </a:spcAft>
              <a:buSzPct val="100000"/>
              <a:buChar char="•"/>
            </a:pPr>
            <a:r>
              <a:rPr lang="en-US" sz="2000" dirty="0">
                <a:solidFill>
                  <a:srgbClr val="1B2A3D"/>
                </a:solidFill>
                <a:latin typeface="Times New Roman" pitchFamily="34" charset="0"/>
                <a:ea typeface="Times New Roman" pitchFamily="34" charset="-122"/>
                <a:cs typeface="Times New Roman" pitchFamily="34" charset="-120"/>
              </a:rPr>
              <a:t>Chi phí khai thác và định vị lớn khi θ thấp</a:t>
            </a:r>
            <a:endParaRPr lang="en-US" sz="2000" dirty="0"/>
          </a:p>
        </p:txBody>
      </p:sp>
      <p:sp>
        <p:nvSpPr>
          <p:cNvPr id="23" name="Shape 20"/>
          <p:cNvSpPr/>
          <p:nvPr/>
        </p:nvSpPr>
        <p:spPr>
          <a:xfrm>
            <a:off x="8097317" y="1417320"/>
            <a:ext cx="3545738" cy="4754880"/>
          </a:xfrm>
          <a:prstGeom prst="rect">
            <a:avLst/>
          </a:prstGeom>
          <a:solidFill>
            <a:srgbClr val="FBFAF7"/>
          </a:solidFill>
          <a:ln w="9525">
            <a:solidFill>
              <a:srgbClr val="D8D3C8"/>
            </a:solidFill>
            <a:prstDash val="solid"/>
          </a:ln>
          <a:effectLst>
            <a:outerShdw sx="100000" sy="100000" kx="0" ky="0" algn="bl" rotWithShape="0" blurRad="50800" dist="19050" dir="5400000">
              <a:srgbClr val="000000">
                <a:alpha val="12000"/>
              </a:srgbClr>
            </a:outerShdw>
          </a:effectLst>
        </p:spPr>
      </p:sp>
      <p:sp>
        <p:nvSpPr>
          <p:cNvPr id="24" name="Shape 21"/>
          <p:cNvSpPr/>
          <p:nvPr/>
        </p:nvSpPr>
        <p:spPr>
          <a:xfrm>
            <a:off x="8097317" y="1417320"/>
            <a:ext cx="64008" cy="4754880"/>
          </a:xfrm>
          <a:prstGeom prst="rect">
            <a:avLst/>
          </a:prstGeom>
          <a:solidFill>
            <a:srgbClr val="1F3A5F"/>
          </a:solidFill>
          <a:ln w="12700">
            <a:solidFill>
              <a:srgbClr val="1F3A5F"/>
            </a:solidFill>
            <a:prstDash val="solid"/>
          </a:ln>
        </p:spPr>
      </p:sp>
      <p:sp>
        <p:nvSpPr>
          <p:cNvPr id="25" name="Text 22"/>
          <p:cNvSpPr txBox="1"/>
          <p:nvPr/>
        </p:nvSpPr>
        <p:spPr>
          <a:xfrm>
            <a:off x="8325917" y="1554480"/>
            <a:ext cx="3088538" cy="411480"/>
          </a:xfrm>
          <a:prstGeom prst="rect">
            <a:avLst/>
          </a:prstGeom>
          <a:noFill/>
          <a:ln/>
        </p:spPr>
        <p:txBody>
          <a:bodyPr wrap="square" lIns="0" tIns="0" rIns="0" bIns="0" rtlCol="0" anchor="ctr"/>
          <a:lstStyle/>
          <a:p>
            <a:pPr indent="0" marL="0">
              <a:buNone/>
            </a:pPr>
            <a:r>
              <a:rPr lang="en-US" sz="1800" b="1" dirty="0">
                <a:solidFill>
                  <a:srgbClr val="1F3A5F"/>
                </a:solidFill>
                <a:latin typeface="Times New Roman" pitchFamily="34" charset="0"/>
                <a:ea typeface="Times New Roman" pitchFamily="34" charset="-122"/>
                <a:cs typeface="Times New Roman" pitchFamily="34" charset="-120"/>
              </a:rPr>
              <a:t>Hướng phát triển</a:t>
            </a:r>
            <a:endParaRPr lang="en-US" sz="1800" dirty="0"/>
          </a:p>
        </p:txBody>
      </p:sp>
      <p:sp>
        <p:nvSpPr>
          <p:cNvPr id="26" name="Text 23"/>
          <p:cNvSpPr txBox="1"/>
          <p:nvPr/>
        </p:nvSpPr>
        <p:spPr>
          <a:xfrm>
            <a:off x="8371637" y="2103120"/>
            <a:ext cx="3088538" cy="3931920"/>
          </a:xfrm>
          <a:prstGeom prst="rect">
            <a:avLst/>
          </a:prstGeom>
          <a:noFill/>
          <a:ln/>
        </p:spPr>
        <p:txBody>
          <a:bodyPr wrap="square" lIns="25400" tIns="25400" rIns="25400" bIns="25400" rtlCol="0" anchor="t"/>
          <a:lstStyle/>
          <a:p>
            <a:pPr algn="l" marL="254000" indent="-254000">
              <a:spcAft>
                <a:spcPts val="900"/>
              </a:spcAft>
              <a:buSzPct val="100000"/>
              <a:buChar char="•"/>
            </a:pPr>
            <a:r>
              <a:rPr lang="en-US" sz="2000" dirty="0">
                <a:solidFill>
                  <a:srgbClr val="1B2A3D"/>
                </a:solidFill>
                <a:latin typeface="Times New Roman" pitchFamily="34" charset="0"/>
                <a:ea typeface="Times New Roman" pitchFamily="34" charset="-122"/>
                <a:cs typeface="Times New Roman" pitchFamily="34" charset="-120"/>
              </a:rPr>
              <a:t>Lợi ích nội bất biến hơn với thiết bị</a:t>
            </a:r>
            <a:endParaRPr lang="en-US" sz="2000" dirty="0"/>
          </a:p>
          <a:p>
            <a:pPr algn="l" marL="254000" indent="-254000">
              <a:spcAft>
                <a:spcPts val="900"/>
              </a:spcAft>
              <a:buSzPct val="100000"/>
              <a:buChar char="•"/>
            </a:pPr>
            <a:r>
              <a:rPr lang="en-US" sz="2000" dirty="0">
                <a:solidFill>
                  <a:srgbClr val="1B2A3D"/>
                </a:solidFill>
                <a:latin typeface="Times New Roman" pitchFamily="34" charset="0"/>
                <a:ea typeface="Times New Roman" pitchFamily="34" charset="-122"/>
                <a:cs typeface="Times New Roman" pitchFamily="34" charset="-120"/>
              </a:rPr>
              <a:t>HUI nhiều mức không gian; quy tắc kết hợp tường minh</a:t>
            </a:r>
            <a:endParaRPr lang="en-US" sz="2000" dirty="0"/>
          </a:p>
          <a:p>
            <a:pPr algn="l" marL="254000" indent="-254000">
              <a:spcAft>
                <a:spcPts val="900"/>
              </a:spcAft>
              <a:buSzPct val="100000"/>
              <a:buChar char="•"/>
            </a:pPr>
            <a:r>
              <a:rPr lang="en-US" sz="2000" dirty="0">
                <a:solidFill>
                  <a:srgbClr val="1B2A3D"/>
                </a:solidFill>
                <a:latin typeface="Times New Roman" pitchFamily="34" charset="0"/>
                <a:ea typeface="Times New Roman" pitchFamily="34" charset="-122"/>
                <a:cs typeface="Times New Roman" pitchFamily="34" charset="-120"/>
              </a:rPr>
              <a:t>HUI đóng, HUI cực đại; EFIM biên dịch</a:t>
            </a:r>
            <a:endParaRPr lang="en-US" sz="2000" dirty="0"/>
          </a:p>
        </p:txBody>
      </p:sp>
      <p:sp>
        <p:nvSpPr>
          <p:cNvPr id="25" name="Slide Number Placeholder 0"/>
          <p:cNvSpPr>
            <a:spLocks noGrp="1"/>
          </p:cNvSpPr>
          <p:nvPr>
            <p:ph type="sldNum" sz="quarter" idx="4294967295"/>
          </p:nvPr>
        </p:nvSpPr>
        <p:spPr>
          <a:xfrm>
            <a:off x="10911535" y="6455664"/>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A8A85"/>
                </a:solidFill>
                <a:latin typeface="Times New Roman"/>
                <a:ea typeface="Times New Roman"/>
                <a:cs typeface="Times New Roman"/>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011680"/>
            <a:ext cx="6949440" cy="1645920"/>
          </a:xfrm>
          <a:prstGeom prst="rect">
            <a:avLst/>
          </a:prstGeom>
          <a:noFill/>
          <a:ln/>
        </p:spPr>
        <p:txBody>
          <a:bodyPr wrap="square" lIns="0" tIns="0" rIns="0" bIns="0" rtlCol="0" anchor="t"/>
          <a:lstStyle/>
          <a:p>
            <a:pPr indent="0" marL="0">
              <a:buNone/>
            </a:pPr>
            <a:r>
              <a:rPr lang="en-US" sz="3800" b="1" dirty="0">
                <a:solidFill>
                  <a:srgbClr val="FFFFFF"/>
                </a:solidFill>
                <a:latin typeface="Times New Roman" pitchFamily="34" charset="0"/>
                <a:ea typeface="Times New Roman" pitchFamily="34" charset="-122"/>
                <a:cs typeface="Times New Roman" pitchFamily="34" charset="-120"/>
              </a:rPr>
              <a:t>Xin trân trọng cảm ơn hội đồng và quý thầy cô</a:t>
            </a:r>
            <a:endParaRPr lang="en-US" sz="3800" dirty="0"/>
          </a:p>
        </p:txBody>
      </p:sp>
      <p:sp>
        <p:nvSpPr>
          <p:cNvPr id="3" name="Shape 1"/>
          <p:cNvSpPr/>
          <p:nvPr/>
        </p:nvSpPr>
        <p:spPr>
          <a:xfrm>
            <a:off x="548640" y="3840480"/>
            <a:ext cx="2377440" cy="0"/>
          </a:xfrm>
          <a:prstGeom prst="line">
            <a:avLst/>
          </a:prstGeom>
          <a:noFill/>
          <a:ln w="31750">
            <a:solidFill>
              <a:srgbClr val="C9A227"/>
            </a:solidFill>
            <a:prstDash val="solid"/>
          </a:ln>
        </p:spPr>
      </p:sp>
      <p:sp>
        <p:nvSpPr>
          <p:cNvPr id="4" name="Text 2"/>
          <p:cNvSpPr txBox="1"/>
          <p:nvPr/>
        </p:nvSpPr>
        <p:spPr>
          <a:xfrm>
            <a:off x="548640" y="4023360"/>
            <a:ext cx="6949440" cy="548640"/>
          </a:xfrm>
          <a:prstGeom prst="rect">
            <a:avLst/>
          </a:prstGeom>
          <a:noFill/>
          <a:ln/>
        </p:spPr>
        <p:txBody>
          <a:bodyPr wrap="square" lIns="0" tIns="0" rIns="0" bIns="0" rtlCol="0" anchor="ctr"/>
          <a:lstStyle/>
          <a:p>
            <a:pPr indent="0" marL="0">
              <a:buNone/>
            </a:pPr>
            <a:r>
              <a:rPr lang="en-US" sz="2100" i="1" dirty="0">
                <a:solidFill>
                  <a:srgbClr val="DCE6EE"/>
                </a:solidFill>
                <a:latin typeface="Times New Roman" pitchFamily="34" charset="0"/>
                <a:ea typeface="Times New Roman" pitchFamily="34" charset="-122"/>
                <a:cs typeface="Times New Roman" pitchFamily="34" charset="-120"/>
              </a:rPr>
              <a:t>Rất mong nhận được ý kiến đóng góp</a:t>
            </a:r>
            <a:endParaRPr lang="en-US" sz="2100" dirty="0"/>
          </a:p>
        </p:txBody>
      </p:sp>
      <p:sp>
        <p:nvSpPr>
          <p:cNvPr id="5" name="Text 3"/>
          <p:cNvSpPr txBox="1"/>
          <p:nvPr/>
        </p:nvSpPr>
        <p:spPr>
          <a:xfrm>
            <a:off x="548640" y="4846320"/>
            <a:ext cx="6949440" cy="365760"/>
          </a:xfrm>
          <a:prstGeom prst="rect">
            <a:avLst/>
          </a:prstGeom>
          <a:noFill/>
          <a:ln/>
        </p:spPr>
        <p:txBody>
          <a:bodyPr wrap="square" lIns="0" tIns="0" rIns="0" bIns="0" rtlCol="0" anchor="ctr"/>
          <a:lstStyle/>
          <a:p>
            <a:pPr indent="0" marL="0">
              <a:buNone/>
            </a:pPr>
            <a:r>
              <a:rPr lang="en-US" sz="1600" dirty="0">
                <a:solidFill>
                  <a:srgbClr val="FFFFFF"/>
                </a:solidFill>
                <a:latin typeface="Times New Roman" pitchFamily="34" charset="0"/>
                <a:ea typeface="Times New Roman" pitchFamily="34" charset="-122"/>
                <a:cs typeface="Times New Roman" pitchFamily="34" charset="-120"/>
              </a:rPr>
              <a:t>Mã nguồn, số liệu, sơ đồ và sổ kiểm chứng: thư mục BAOCAO</a:t>
            </a:r>
            <a:endParaRPr lang="en-US" sz="1600" dirty="0"/>
          </a:p>
        </p:txBody>
      </p:sp>
    </p:spTree>
  </p:cSld>
  <p:clrMapOvr>
    <a:masterClrMapping/>
  </p:clrMapOvr>
</p:sld>
</file>

<file path=ppt/theme/theme1.xml><?xml version="1.0" encoding="utf-8"?>
<a:theme xmlns:a="http://schemas.openxmlformats.org/drawingml/2006/main" name="HUIM IPS">
  <a:themeElements>
    <a:clrScheme name="HUIM IPS">
      <a:dk1>
        <a:srgbClr val="1B2A3D"/>
      </a:dk1>
      <a:lt1>
        <a:srgbClr val="FFFFFF"/>
      </a:lt1>
      <a:dk2>
        <a:srgbClr val="1F3A5F"/>
      </a:dk2>
      <a:lt2>
        <a:srgbClr val="F6F4EF"/>
      </a:lt2>
      <a:accent1>
        <a:srgbClr val="2A7F8F"/>
      </a:accent1>
      <a:accent2>
        <a:srgbClr val="B5532A"/>
      </a:accent2>
      <a:accent3>
        <a:srgbClr val="8A8A85"/>
      </a:accent3>
      <a:accent4>
        <a:srgbClr val="C9A227"/>
      </a:accent4>
      <a:accent5>
        <a:srgbClr val="4C6A88"/>
      </a:accent5>
      <a:accent6>
        <a:srgbClr val="9BB7C4"/>
      </a:accent6>
      <a:hlink>
        <a:srgbClr val="2A7F8F"/>
      </a:hlink>
      <a:folHlink>
        <a:srgbClr val="4C6A88"/>
      </a:folHlink>
    </a:clrScheme>
    <a:fontScheme name="HUIM IPS">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Ứng dụng HUIM trong hệ thống định vị trong nhà</dc:title>
  <dc:subject>Bảo vệ luận văn thạc sĩ Khoa học máy tính</dc:subject>
  <dc:creator>PptxGenJS</dc:creator>
  <cp:lastModifiedBy>PptxGenJS</cp:lastModifiedBy>
  <cp:revision>1</cp:revision>
  <dcterms:created xsi:type="dcterms:W3CDTF">2026-10-18T07:39:54Z</dcterms:created>
  <dcterms:modified xsi:type="dcterms:W3CDTF">2026-10-18T07:39:54Z</dcterms:modified>
</cp:coreProperties>
</file>