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đơn tốt nhất theo dev</c:v>
                </c:pt>
              </c:strCache>
            </c:strRef>
          </c:tx>
          <c:spPr>
            <a:solidFill>
              <a:srgbClr val="86B6EF"/>
            </a:solidFill>
          </c:spPr>
          <c:cat>
            <c:strRef>
              <c:f>Sheet1!$A$2:$A$5</c:f>
              <c:strCache>
                <c:ptCount val="4"/>
                <c:pt idx="0">
                  <c:v>UJI_LIB tầng 3 · θ đơn 1,5 % · ensemble 0,25 % / 1 % / 1,5 %</c:v>
                </c:pt>
                <c:pt idx="1">
                  <c:v>DLULIB · θ đơn 0,25 % · ensemble 0,25 % / 1 %</c:v>
                </c:pt>
                <c:pt idx="2">
                  <c:v>HCXY · θ đơn 1 % · ensemble 1 % / 3 %</c:v>
                </c:pt>
                <c:pt idx="3">
                  <c:v>HUS · θ đơn 20 % · ensemble 20 % / 50 %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1.182</c:v>
                </c:pt>
                <c:pt idx="1">
                  <c:v>3.432</c:v>
                </c:pt>
                <c:pt idx="2">
                  <c:v>1.568</c:v>
                </c:pt>
                <c:pt idx="3">
                  <c:v>0.391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 tốt nhất theo dev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UJI_LIB tầng 3 · θ đơn 1,5 % · ensemble 0,25 % / 1 % / 1,5 %</c:v>
                </c:pt>
                <c:pt idx="1">
                  <c:v>DLULIB · θ đơn 0,25 % · ensemble 0,25 % / 1 %</c:v>
                </c:pt>
                <c:pt idx="2">
                  <c:v>HCXY · θ đơn 1 % · ensemble 1 % / 3 %</c:v>
                </c:pt>
                <c:pt idx="3">
                  <c:v>HUS · θ đơn 20 % · ensemble 20 % / 50 %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1.144</c:v>
                </c:pt>
                <c:pt idx="1">
                  <c:v>3.432</c:v>
                </c:pt>
                <c:pt idx="2">
                  <c:v>1.576</c:v>
                </c:pt>
                <c:pt idx="3">
                  <c:v>0.393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Sai số trên tập test thứ nhất (m)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ban đầu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Sheet1!$A$2:$A$7</c:f>
              <c:strCache>
                <c:ptCount val="6"/>
                <c:pt idx="0">
                  <c:v>UJI_LIB tầng 3 · Test-01 · θ 1 % → 0,25 % / 1 % / 1,5 %</c:v>
                </c:pt>
                <c:pt idx="1">
                  <c:v>UJI_LIB tầng 3 · Test-02 · θ 1 % → 0,25 % / 1 % / 1,5 %</c:v>
                </c:pt>
                <c:pt idx="2">
                  <c:v>DLULIB · Testing · θ 1 % → 0,25 % / 1 %</c:v>
                </c:pt>
                <c:pt idx="3">
                  <c:v>HCXY · test_HCXY · θ 6,1237 % → 1 % / 3 %</c:v>
                </c:pt>
                <c:pt idx="4">
                  <c:v>HUS · testcase1 · θ 20 % → 20 %</c:v>
                </c:pt>
                <c:pt idx="5">
                  <c:v>HUS · testcase2 · θ 20 % → 20 %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1.206</c:v>
                </c:pt>
                <c:pt idx="1">
                  <c:v>2.038</c:v>
                </c:pt>
                <c:pt idx="2">
                  <c:v>3.433</c:v>
                </c:pt>
                <c:pt idx="3">
                  <c:v>2.119</c:v>
                </c:pt>
                <c:pt idx="4">
                  <c:v>0.391</c:v>
                </c:pt>
                <c:pt idx="5">
                  <c:v>0.254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tốt nhất theo dev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Sheet1!$A$2:$A$7</c:f>
              <c:strCache>
                <c:ptCount val="6"/>
                <c:pt idx="0">
                  <c:v>UJI_LIB tầng 3 · Test-01 · θ 1 % → 0,25 % / 1 % / 1,5 %</c:v>
                </c:pt>
                <c:pt idx="1">
                  <c:v>UJI_LIB tầng 3 · Test-02 · θ 1 % → 0,25 % / 1 % / 1,5 %</c:v>
                </c:pt>
                <c:pt idx="2">
                  <c:v>DLULIB · Testing · θ 1 % → 0,25 % / 1 %</c:v>
                </c:pt>
                <c:pt idx="3">
                  <c:v>HCXY · test_HCXY · θ 6,1237 % → 1 % / 3 %</c:v>
                </c:pt>
                <c:pt idx="4">
                  <c:v>HUS · testcase1 · θ 20 % → 20 %</c:v>
                </c:pt>
                <c:pt idx="5">
                  <c:v>HUS · testcase2 · θ 20 % → 20 %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1.144</c:v>
                </c:pt>
                <c:pt idx="1">
                  <c:v>2.064</c:v>
                </c:pt>
                <c:pt idx="2">
                  <c:v>3.432</c:v>
                </c:pt>
                <c:pt idx="3">
                  <c:v>1.576</c:v>
                </c:pt>
                <c:pt idx="4">
                  <c:v>0.391</c:v>
                </c:pt>
                <c:pt idx="5">
                  <c:v>0.254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Sai số trung bình trên tập test (m)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ban đầu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Sheet1!$A$2:$A$6</c:f>
              <c:strCache>
                <c:ptCount val="5"/>
                <c:pt idx="0">
                  <c:v>UJIIndoorLoc · θ 1,9294 % → 0,5 %</c:v>
                </c:pt>
                <c:pt idx="1">
                  <c:v>UJI_LIB tầng 3 · Test-01 · θ 1 % → 0,25 % / 1 % / 1,5 %</c:v>
                </c:pt>
                <c:pt idx="2">
                  <c:v>DLULIB · Testing · θ 1 % → 0,25 % / 1 %</c:v>
                </c:pt>
                <c:pt idx="3">
                  <c:v>HCXY · test_HCXY · θ 6,1237 % → 1 % / 3 %</c:v>
                </c:pt>
                <c:pt idx="4">
                  <c:v>HUS · testcase1 · θ 20 % → 20 %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19.36</c:v>
                </c:pt>
                <c:pt idx="1">
                  <c:v>1.206</c:v>
                </c:pt>
                <c:pt idx="2">
                  <c:v>3.433</c:v>
                </c:pt>
                <c:pt idx="3">
                  <c:v>2.119</c:v>
                </c:pt>
                <c:pt idx="4">
                  <c:v>0.391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tốt nhất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Sheet1!$A$2:$A$6</c:f>
              <c:strCache>
                <c:ptCount val="5"/>
                <c:pt idx="0">
                  <c:v>UJIIndoorLoc · θ 1,9294 % → 0,5 %</c:v>
                </c:pt>
                <c:pt idx="1">
                  <c:v>UJI_LIB tầng 3 · Test-01 · θ 1 % → 0,25 % / 1 % / 1,5 %</c:v>
                </c:pt>
                <c:pt idx="2">
                  <c:v>DLULIB · Testing · θ 1 % → 0,25 % / 1 %</c:v>
                </c:pt>
                <c:pt idx="3">
                  <c:v>HCXY · test_HCXY · θ 6,1237 % → 1 % / 3 %</c:v>
                </c:pt>
                <c:pt idx="4">
                  <c:v>HUS · testcase1 · θ 20 % → 20 %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5.279</c:v>
                </c:pt>
                <c:pt idx="1">
                  <c:v>1.144</c:v>
                </c:pt>
                <c:pt idx="2">
                  <c:v>3.432</c:v>
                </c:pt>
                <c:pt idx="3">
                  <c:v>1.576</c:v>
                </c:pt>
                <c:pt idx="4">
                  <c:v>0.391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Sai số trung bình trên tập test (m)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DE2FB"/>
                </a:solidFill>
                <a:latin typeface="Calibri"/>
              </a:rPr>
              <a:t>BÁO CÁO BÀI TÌM HIỂU · 4 bộ dữ liệu Wi-Fi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HUIM cho định vị trong nhà bằng vân tay 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CDE2FB"/>
                </a:solidFill>
                <a:latin typeface="Calibri"/>
              </a:rPr>
              <a:t>UJI_LIB tầng 3 · DLULIB · HCXY · HUS - chọn Access Point bằng HUIM, tối ưu sai số theo mét, chỉ dùng cấu hình có HUIM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468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291840"/>
            <a:ext cx="2240280" cy="116586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1,14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437126"/>
            <a:ext cx="2240280" cy="979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DE2FB"/>
                </a:solidFill>
                <a:latin typeface="Calibri"/>
              </a:rPr>
              <a:t>UJI_LIB tầng 3 · tập test Test-01
ban đầu 1,21 m
θ = 0,25 % / 1 % / 1,5 %, 168 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15468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291840"/>
            <a:ext cx="2240280" cy="116586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3,43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437126"/>
            <a:ext cx="2240280" cy="979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DE2FB"/>
                </a:solidFill>
                <a:latin typeface="Calibri"/>
              </a:rPr>
              <a:t>DLULIB · tập test Testing
ban đầu 3,43 m
θ = 0,25 % / 1 %, 17 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5468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2240280" cy="116586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1,58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37126"/>
            <a:ext cx="2240280" cy="979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DE2FB"/>
                </a:solidFill>
                <a:latin typeface="Calibri"/>
              </a:rPr>
              <a:t>HCXY · tập test test_HCXY
ban đầu 2,12 m
θ = 1 % / 3 %, 193 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315468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3291840"/>
            <a:ext cx="2240280" cy="116586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0,39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4437126"/>
            <a:ext cx="2240280" cy="9793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DE2FB"/>
                </a:solidFill>
                <a:latin typeface="Calibri"/>
              </a:rPr>
              <a:t>HUS · tập test testcase1
ban đầu 0,39 m
θ = 20 %, 5 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DE2FB"/>
                </a:solidFill>
                <a:latin typeface="Calibri"/>
              </a:rPr>
              <a:t>16/10/2026 · chọn cấu hình trên 6 fold dev tách từ tập train; tập test (các file test của bộ dữ liệu) chỉ dùng để báo cáo · UJIIndoorLoc: xem BAOCAO/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Dữ liệu và tập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Mọi con số "trên tập test" là sai số trên các file test đi kèm bộ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2331720" cy="123444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D366B"/>
                </a:solidFill>
                <a:latin typeface="Cambria"/>
              </a:rPr>
              <a:t>306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12364"/>
            <a:ext cx="2331720" cy="10369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UJI_LIB tầng 3
train 11.520 dòng, 24 vị trí
test: Test-01 (7.200 mẫu) + Test-02 (7.200 mẫu)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39"/>
            <a:ext cx="2331720" cy="123444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D366B"/>
                </a:solidFill>
                <a:latin typeface="Cambria"/>
              </a:rPr>
              <a:t>17 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12364"/>
            <a:ext cx="2331720" cy="10369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DLULIB
train 13.000 dòng, 650 vị trí
test: Testing (6.500 mẫu)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39"/>
            <a:ext cx="2331720" cy="123444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D366B"/>
                </a:solidFill>
                <a:latin typeface="Cambria"/>
              </a:rPr>
              <a:t>345 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12364"/>
            <a:ext cx="2331720" cy="10369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HCXY
train 11.370 dòng, 379 vị trí
test: test_HCXY (860 mẫu)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544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91639"/>
            <a:ext cx="2331720" cy="123444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D366B"/>
                </a:solidFill>
                <a:latin typeface="Cambria"/>
              </a:rPr>
              <a:t>5 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12364"/>
            <a:ext cx="2331720" cy="10369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HUS
train 20.091 dòng, 205 vị trí
test: testcase1 (205 mẫu) + testcase2 (205 mẫu)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B0B0B"/>
                </a:solidFill>
                <a:latin typeface="Calibri"/>
              </a:rPr>
              <a:t>Chọn mọi thứ trên </a:t>
            </a:r>
            <a:r>
              <a:rPr sz="1500" b="1">
                <a:solidFill>
                  <a:srgbClr val="0B0B0B"/>
                </a:solidFill>
                <a:latin typeface="Calibri"/>
              </a:rPr>
              <a:t>6 fold dev tách từ tập train</a:t>
            </a:r>
            <a:r>
              <a:rPr sz="1500" b="0">
                <a:solidFill>
                  <a:srgbClr val="0B0B0B"/>
                </a:solidFill>
                <a:latin typeface="Calibri"/>
              </a:rPr>
              <a:t> (nhóm theo tháng / lần lấy mẫu / vị trí / ngẫu nhiên, giống cách tập test khác train)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B0B0B"/>
                </a:solidFill>
                <a:latin typeface="Calibri"/>
              </a:rPr>
              <a:t>HUS: 409 dòng test là </a:t>
            </a:r>
            <a:r>
              <a:rPr sz="1500" b="1">
                <a:solidFill>
                  <a:srgbClr val="0B0B0B"/>
                </a:solidFill>
                <a:latin typeface="Calibri"/>
              </a:rPr>
              <a:t>bản chép y hệt dòng train</a:t>
            </a:r>
            <a:r>
              <a:rPr sz="1500" b="0">
                <a:solidFill>
                  <a:srgbClr val="0B0B0B"/>
                </a:solidFill>
                <a:latin typeface="Calibri"/>
              </a:rPr>
              <a:t> → bỏ một bản chép khỏi train cho mỗi dòng test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B0B0B"/>
                </a:solidFill>
                <a:latin typeface="Calibri"/>
              </a:rPr>
              <a:t>syl, tuji, UJI_LIB_DB_Floor_5 rỗng; UJIIndoorLoc đã làm ở BAOCAO/ (5,28 m trên tập 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so_lieu/01_du_lieu.csv; giao thức: báo cáo Word mục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Luồng HUIM-IPS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vân tay → giao dịch utility → HUIM (θ) → tập AP → k-NN → sai số trên tập test</a:t>
            </a:r>
          </a:p>
        </p:txBody>
      </p:sp>
      <p:pic>
        <p:nvPicPr>
          <p:cNvPr id="4" name="Picture 3" descr="H01_so_do_luong_HUIM_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881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Union HUI chính xác ở mọi 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Chỉ cần MỘT HUI cho mỗi AP - hạ θ tới 0,05 % mà không liệt kê hết HUI</a:t>
            </a:r>
          </a:p>
        </p:txBody>
      </p:sp>
      <p:pic>
        <p:nvPicPr>
          <p:cNvPr id="4" name="Picture 3" descr="H02_so_AP_theo_minU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8503920" cy="31362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98280" y="1554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59" y="1691639"/>
            <a:ext cx="2286000" cy="868680"/>
          </a:xfrm>
          <a:prstGeom prst="rect">
            <a:avLst/>
          </a:prstGeom>
          <a:noFill/>
        </p:spPr>
        <p:txBody>
          <a:bodyPr wrap="square" lIns="45720" rIns="4572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D366B"/>
                </a:solidFill>
                <a:latin typeface="Cambria"/>
              </a:rPr>
              <a:t>128/128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59" y="2510028"/>
            <a:ext cx="2286000" cy="7296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mức θ EFIM chạy xong: union trùng khớp từng 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35204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300" b="0">
                <a:solidFill>
                  <a:srgbClr val="0B0B0B"/>
                </a:solidFill>
                <a:latin typeface="Calibri"/>
              </a:rPr>
              <a:t>HUS: mọi vân tay thấy cả 5 AP → tập 5 AP có utility = 100 % → union luôn 5 AP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300" b="0">
                <a:solidFill>
                  <a:srgbClr val="0B0B0B"/>
                </a:solidFill>
                <a:latin typeface="Calibri"/>
              </a:rPr>
              <a:t>DLULIB: 17 AP, union đủ 17 AP từ θ ≈ 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so_lieu/02_kiem_chung_union_vs_EFIM.csv, 03_so_AP_theo_minUtil.csv; src/huim/union_search.py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Chi phí khai phá theo 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Tìm union chính xác so với EFIM liệt kê đầy đủ (X: EFIM dừng ở 600 s / 10⁶ HUI)</a:t>
            </a:r>
          </a:p>
        </p:txBody>
      </p:sp>
      <p:pic>
        <p:nvPicPr>
          <p:cNvPr id="4" name="Picture 3" descr="H03_thoi_gian_union_vs_EF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119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so_lieu/03_so_AP_theo_minUtil.csv, 04_EFIM_so_HUI_thoi_gian_bo_nho.csv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Bước 3 · HUIM chung, quét minUtil 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Nét liền: tập test · nét chấm: dev (dùng để chọn) · đỏ: θ được chọn</a:t>
            </a:r>
          </a:p>
        </p:txBody>
      </p:sp>
      <p:pic>
        <p:nvPicPr>
          <p:cNvPr id="4" name="Picture 3" descr="H04_sai_so_theo_minU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2371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so_lieu/05_buoc3_HUIM_chung.csv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Đánh đổi số AP và sai số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Mỗi điểm là một (phạm vi, model, θ); vòng đỏ: cấu hình đơn tốt nhất theo dev</a:t>
            </a:r>
          </a:p>
        </p:txBody>
      </p:sp>
      <p:pic>
        <p:nvPicPr>
          <p:cNvPr id="4" name="Picture 3" descr="H05_danh_doi_AP_sai_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209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so_lieu/05_..., 06_buoc4_HUIM_theo_vung.csv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Bước 4 · HUIM theo vùng /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Đoán vùng trước, rồi định vị bằng AP và vân tay của vùng đó</a:t>
            </a:r>
          </a:p>
        </p:txBody>
      </p:sp>
      <p:pic>
        <p:nvPicPr>
          <p:cNvPr id="4" name="Picture 3" descr="H06_theo_vung_vs_ch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331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so_lieu/06_buoc4_HUIM_theo_vung.csv · vùng: 3 tầng (DLULIB), 3 cụm k-means (UJI_LIB, HCXY)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Bước 5 · Chọn lại bộ định vị trên AP HUIM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Biểu diễn × khoảng cách × k × trọng số × lệch thiết bị × ensemble, trên dev</a:t>
            </a:r>
          </a:p>
        </p:txBody>
      </p:sp>
      <p:pic>
        <p:nvPicPr>
          <p:cNvPr id="4" name="Picture 3" descr="H07_bo_dinh_vi_chon_l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160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so_lieu/07_..., 07b_buoc5_cac_giai_doan_chon_bo_dinh_vi.csv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Bước 6 · Quy tắc chọn AP từ HUI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union / top-n / frequent / weighted trên tập HUI đầy đủ của EFIM</a:t>
            </a:r>
          </a:p>
        </p:txBody>
      </p:sp>
      <p:pic>
        <p:nvPicPr>
          <p:cNvPr id="4" name="Picture 3" descr="H08_quy_tac_chon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152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so_lieu/08_buoc6_quy_tac_chon_AP.csv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Bước 7 · Ensemble nhiều cấu hình HUIM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toạ độ = trung bình / trung vị của các thành viên; tầng = đa số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1732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300" b="1">
                <a:solidFill>
                  <a:srgbClr val="0B0B0B"/>
                </a:solidFill>
                <a:latin typeface="Calibri"/>
              </a:rPr>
              <a:t>UJI_LIB tầng 3: </a:t>
            </a:r>
            <a:r>
              <a:rPr sz="1300" b="0">
                <a:solidFill>
                  <a:srgbClr val="0B0B0B"/>
                </a:solidFill>
                <a:latin typeface="Calibri"/>
              </a:rPr>
              <a:t>ensemble tốt nhất so với cấu hình đơn tốt nhất: −0,034 m trên dev, −0,038 m trên tập test - được chọn.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300" b="1">
                <a:solidFill>
                  <a:srgbClr val="0B0B0B"/>
                </a:solidFill>
                <a:latin typeface="Calibri"/>
              </a:rPr>
              <a:t>DLULIB: </a:t>
            </a:r>
            <a:r>
              <a:rPr sz="1300" b="0">
                <a:solidFill>
                  <a:srgbClr val="0B0B0B"/>
                </a:solidFill>
                <a:latin typeface="Calibri"/>
              </a:rPr>
              <a:t>ensemble tốt nhất so với cấu hình đơn tốt nhất: −0,002 m trên dev, −0,001 m trên tập test - được chọn.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300" b="1">
                <a:solidFill>
                  <a:srgbClr val="0B0B0B"/>
                </a:solidFill>
                <a:latin typeface="Calibri"/>
              </a:rPr>
              <a:t>HCXY: </a:t>
            </a:r>
            <a:r>
              <a:rPr sz="1300" b="0">
                <a:solidFill>
                  <a:srgbClr val="0B0B0B"/>
                </a:solidFill>
                <a:latin typeface="Calibri"/>
              </a:rPr>
              <a:t>ensemble tốt nhất so với cấu hình đơn tốt nhất: −0,001 m trên dev, +0,008 m trên tập test - được chọn.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300" b="1">
                <a:solidFill>
                  <a:srgbClr val="0B0B0B"/>
                </a:solidFill>
                <a:latin typeface="Calibri"/>
              </a:rPr>
              <a:t>HUS: </a:t>
            </a:r>
            <a:r>
              <a:rPr sz="1300" b="0">
                <a:solidFill>
                  <a:srgbClr val="0B0B0B"/>
                </a:solidFill>
                <a:latin typeface="Calibri"/>
              </a:rPr>
              <a:t>ensemble tốt nhất so với cấu hình đơn tốt nhất: +0,001 m trên dev, +0,002 m trên tập test - không được chọn.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so_lieu/09_buoc7_ensemble.csv; chi tiết 5 ensemble tốt nhất mỗi bộ: diagram/H09_ensemble.png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Kết quả trên tập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Cấu hình HUIM ban đầu và cấu hình tốt nhất theo dev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so_lieu/12_ket_qua_theo_tap_test.csv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Phân phối sai số trên tập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ban đầu (xám) và tốt nhất (xanh); θ trong tiêu đề mỗi ô</a:t>
            </a:r>
          </a:p>
        </p:txBody>
      </p:sp>
      <p:pic>
        <p:nvPicPr>
          <p:cNvPr id="4" name="Picture 3" descr="H11_CDF_sai_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733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so_lieu/13_du_doan_tung_mau_tap_test.csv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Sai số theo vùng /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tập test thứ nhất: ban đầu và tốt nhất; θ trong tiêu đề mỗi ô</a:t>
            </a:r>
          </a:p>
        </p:txBody>
      </p:sp>
      <p:pic>
        <p:nvPicPr>
          <p:cNvPr id="4" name="Picture 3" descr="H15_sai_so_theo_vung_t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3973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so_lieu/13_du_doan_tung_mau_tap_test.csv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Sai số trên bản đồ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sai số trung bình tại mỗi vị trí test, cấu hình tốt nhất; θ trong tiêu đề mỗi ô</a:t>
            </a:r>
          </a:p>
        </p:txBody>
      </p:sp>
      <p:pic>
        <p:nvPicPr>
          <p:cNvPr id="4" name="Picture 3" descr="H12_ban_do_sai_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776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so_lieu/13_du_doan_tung_mau_tap_test.csv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Thời gian và bộ nhớ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định vị ≤ 1.111 vân tay test một lô, trung vị 3 lần, máy rảnh</a:t>
            </a:r>
          </a:p>
        </p:txBody>
      </p:sp>
      <p:pic>
        <p:nvPicPr>
          <p:cNvPr id="4" name="Picture 3" descr="H13_thoi_gian_bo_nho_dinh_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5880"/>
            <a:ext cx="9787569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so_lieu/10_buoc8_thoi_gian_bo_nho.csv; khai phá: so_lieu/03_..., 04_... (Hình 3, 14)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Năm bộ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HUIM ban đầu và tốt nhất trên tập test (UJIIndoorLoc: BAOCAO/)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17320"/>
          <a:ext cx="71323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5544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0B0B0B"/>
                </a:solidFill>
                <a:latin typeface="Calibri"/>
              </a:rPr>
              <a:t>UJI_LIB tầng 3: </a:t>
            </a:r>
            <a:r>
              <a:rPr sz="1400" b="0">
                <a:solidFill>
                  <a:srgbClr val="0B0B0B"/>
                </a:solidFill>
                <a:latin typeface="Calibri"/>
              </a:rPr>
              <a:t>Test-01 -5,2 %, Test-02 +1,3 %; 83 → 168 AP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0B0B0B"/>
                </a:solidFill>
                <a:latin typeface="Calibri"/>
              </a:rPr>
              <a:t>DLULIB: </a:t>
            </a:r>
            <a:r>
              <a:rPr sz="1400" b="0">
                <a:solidFill>
                  <a:srgbClr val="0B0B0B"/>
                </a:solidFill>
                <a:latin typeface="Calibri"/>
              </a:rPr>
              <a:t>Testing không đổi; 17 → 17 AP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0B0B0B"/>
                </a:solidFill>
                <a:latin typeface="Calibri"/>
              </a:rPr>
              <a:t>HCXY: </a:t>
            </a:r>
            <a:r>
              <a:rPr sz="1400" b="0">
                <a:solidFill>
                  <a:srgbClr val="0B0B0B"/>
                </a:solidFill>
                <a:latin typeface="Calibri"/>
              </a:rPr>
              <a:t>test_HCXY -25,6 %; 67 → 193 AP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400" b="1">
                <a:solidFill>
                  <a:srgbClr val="0B0B0B"/>
                </a:solidFill>
                <a:latin typeface="Calibri"/>
              </a:rPr>
              <a:t>HUS: </a:t>
            </a:r>
            <a:r>
              <a:rPr sz="1400" b="0">
                <a:solidFill>
                  <a:srgbClr val="0B0B0B"/>
                </a:solidFill>
                <a:latin typeface="Calibri"/>
              </a:rPr>
              <a:t>testcase1 không đổi, testcase2 không đổi; 5 → 5 AP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0B0B0B"/>
                </a:solidFill>
                <a:latin typeface="Calibri"/>
              </a:rPr>
              <a:t>Ít AP (DLULIB 17, HUS 5): cấu hình tốt nhất giữ đủ mọi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Nguồn: so_lieu/12_ket_qua_theo_tap_test.csv, BAOCAO/so_lieu/00_cau_hinh_cuoi_cung.json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D366B"/>
                </a:solidFill>
                <a:latin typeface="Cambria"/>
              </a:rPr>
              <a:t>Hạn chế cần nói rõ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Chỉ so sánh các biến thể HUIM với nhau - không kết luận HUIM tốt hơn cách chọn AP khác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HUI khai phá trên toàn tập train nên dev hơi lạc quan (như nhau cho mọi cấu hình); tập test sạch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Vùng của UJI_LIB / HCXY là 3 cụm k-means - số vùng không được tối ưu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Quy tắc bước 6 cần tập HUI đầy đủ → chỉ làm được ở θ EFIM liệt kê xong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HCXY không ghi đơn vị toạ độ (đọc là mét); DLULIB, HUS không có tài liệu mô tả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0B0B0B"/>
                </a:solidFill>
                <a:latin typeface="Calibri"/>
              </a:rPr>
              <a:t>Thời gian đo bằng Python thuần trên một máy; chỉ dùng để so sánh trong báo cáo này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Tìm union chính xác khớp EFIM ở </a:t>
            </a:r>
            <a:r>
              <a:rPr sz="1700" b="1">
                <a:solidFill>
                  <a:srgbClr val="FFFFFF"/>
                </a:solidFill>
                <a:latin typeface="Calibri"/>
              </a:rPr>
              <a:t>128/128</a:t>
            </a:r>
            <a:r>
              <a:rPr sz="1700" b="0">
                <a:solidFill>
                  <a:srgbClr val="FFFFFF"/>
                </a:solidFill>
                <a:latin typeface="Calibri"/>
              </a:rPr>
              <a:t> mức θ EFIM chạy xong; cả lưới θ tới 0,05 % mất tối đa 9,3 phút cho một (bộ dữ liệu, model, phạm vi)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UJI_LIB tầng 3: </a:t>
            </a: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  <a:r>
              <a:rPr sz="1700" b="1">
                <a:solidFill>
                  <a:srgbClr val="FFFFFF"/>
                </a:solidFill>
                <a:latin typeface="Calibri"/>
              </a:rPr>
              <a:t>1,21 m → 1,14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Test-01</a:t>
            </a:r>
            <a:r>
              <a:rPr sz="1700" b="0">
                <a:solidFill>
                  <a:srgbClr val="FFFFFF"/>
                </a:solidFill>
                <a:latin typeface="Calibri"/>
              </a:rPr>
              <a:t>; </a:t>
            </a:r>
            <a:r>
              <a:rPr sz="1700" b="1">
                <a:solidFill>
                  <a:srgbClr val="FFFFFF"/>
                </a:solidFill>
                <a:latin typeface="Calibri"/>
              </a:rPr>
              <a:t>2,04 m → 2,06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Test-02</a:t>
            </a:r>
            <a:r>
              <a:rPr sz="1700" b="0">
                <a:solidFill>
                  <a:srgbClr val="FFFFFF"/>
                </a:solidFill>
                <a:latin typeface="Calibri"/>
              </a:rPr>
              <a:t> (168 AP)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DLULIB: </a:t>
            </a: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  <a:r>
              <a:rPr sz="1700" b="1">
                <a:solidFill>
                  <a:srgbClr val="FFFFFF"/>
                </a:solidFill>
                <a:latin typeface="Calibri"/>
              </a:rPr>
              <a:t>3,43 m → 3,43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Testing</a:t>
            </a:r>
            <a:r>
              <a:rPr sz="1700" b="0">
                <a:solidFill>
                  <a:srgbClr val="FFFFFF"/>
                </a:solidFill>
                <a:latin typeface="Calibri"/>
              </a:rPr>
              <a:t> (17 AP)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HCXY: </a:t>
            </a: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  <a:r>
              <a:rPr sz="1700" b="1">
                <a:solidFill>
                  <a:srgbClr val="FFFFFF"/>
                </a:solidFill>
                <a:latin typeface="Calibri"/>
              </a:rPr>
              <a:t>2,12 m → 1,58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test_HCXY</a:t>
            </a:r>
            <a:r>
              <a:rPr sz="1700" b="0">
                <a:solidFill>
                  <a:srgbClr val="FFFFFF"/>
                </a:solidFill>
                <a:latin typeface="Calibri"/>
              </a:rPr>
              <a:t> (193 AP)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HUS: </a:t>
            </a: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  <a:r>
              <a:rPr sz="1700" b="1">
                <a:solidFill>
                  <a:srgbClr val="FFFFFF"/>
                </a:solidFill>
                <a:latin typeface="Calibri"/>
              </a:rPr>
              <a:t>0,39 m → 0,39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testcase1</a:t>
            </a:r>
            <a:r>
              <a:rPr sz="1700" b="0">
                <a:solidFill>
                  <a:srgbClr val="FFFFFF"/>
                </a:solidFill>
                <a:latin typeface="Calibri"/>
              </a:rPr>
              <a:t>; </a:t>
            </a:r>
            <a:r>
              <a:rPr sz="1700" b="1">
                <a:solidFill>
                  <a:srgbClr val="FFFFFF"/>
                </a:solidFill>
                <a:latin typeface="Calibri"/>
              </a:rPr>
              <a:t>0,25 m → 0,25 m</a:t>
            </a:r>
            <a:r>
              <a:rPr sz="1700" b="0">
                <a:solidFill>
                  <a:srgbClr val="FFFFFF"/>
                </a:solidFill>
                <a:latin typeface="Calibri"/>
              </a:rPr>
              <a:t> trên testcase2</a:t>
            </a:r>
            <a:r>
              <a:rPr sz="1700" b="0">
                <a:solidFill>
                  <a:srgbClr val="FFFFFF"/>
                </a:solidFill>
                <a:latin typeface="Calibri"/>
              </a:rPr>
              <a:t> (5 AP)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700" b="0">
                <a:solidFill>
                  <a:srgbClr val="FFFFFF"/>
                </a:solidFill>
                <a:latin typeface="Calibri"/>
              </a:rPr>
              <a:t>Bộ có ít AP: cấu hình HUIM tốt nhất là giữ mọi AP - HUIM không bớt được AP mà không mất độ chính xác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DE2FB"/>
                </a:solidFill>
                <a:latin typeface="Calibri"/>
              </a:rPr>
              <a:t>Chạy lại: python BAOCAO1/ma_nguon/00_chay_lai_toan_bo.py  ·  đọc BAOCAO1/00_HUONG_DAN_DOC.md trước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